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61" r:id="rId3"/>
    <p:sldId id="298" r:id="rId41"/>
    <p:sldId id="262" r:id="rId4"/>
    <p:sldId id="267" r:id="rId9"/>
    <p:sldId id="282" r:id="rId13"/>
    <p:sldId id="285" r:id="rId18"/>
    <p:sldId id="287" r:id="rId20"/>
    <p:sldId id="270" r:id="rId21"/>
    <p:sldId id="292" r:id="rId27"/>
    <p:sldId id="297" r:id="rId35"/>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259" r:id="rId5"/>
    <p:sldId id="257" r:id="rId6"/>
    <p:sldId id="258" r:id="rId7"/>
    <p:sldId id="276" r:id="rId8"/>
    <p:sldId id="280" r:id="rId10"/>
    <p:sldId id="281" r:id="rId11"/>
    <p:sldId id="268" r:id="rId12"/>
    <p:sldId id="269" r:id="rId14"/>
    <p:sldId id="263" r:id="rId15"/>
    <p:sldId id="283" r:id="rId16"/>
    <p:sldId id="284" r:id="rId17"/>
    <p:sldId id="286" r:id="rId19"/>
    <p:sldId id="271" r:id="rId22"/>
    <p:sldId id="289" r:id="rId23"/>
    <p:sldId id="288" r:id="rId24"/>
    <p:sldId id="290" r:id="rId25"/>
    <p:sldId id="291" r:id="rId26"/>
    <p:sldId id="273" r:id="rId28"/>
    <p:sldId id="277" r:id="rId29"/>
    <p:sldId id="278" r:id="rId30"/>
    <p:sldId id="293" r:id="rId31"/>
    <p:sldId id="294" r:id="rId32"/>
    <p:sldId id="295" r:id="rId33"/>
    <p:sldId id="296"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7303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Title slide. This work learns a resource-allocation policy for O-RAN entirely offline from real network traces, with an explicit safety constraint on URLLC latency violations. No online exploration on a live network.</a:t>
            </a:r>
          </a:p>
          <a:p/>
          <a:p>
            <a:r>
              <a:t>Revised deck. Storyline: why the problem matters, what the three surveys jointly say, what my rejected Offline Safe-CQL paper shows and misses, what the reviewers reveal, which directions are worth pursuing, how to validate them, and the decisions I need from you today. Detailed survey slides are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Six parts. First, where I stand: what the three surveys jointly imply, then a critical audit of my rejected paper and of the reviews. Second, what I will build: ranked research directions and the datasets/simulators to support them. Third, how I will validate and what I need decided today. The survey details from the previous version are kept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read three recent surveys, each looking at the problem through a different lens. Haque et al. tell us what must be guaranteed: URLLC requirements across PHY, MAC and cross-layer design, with ML and 6G perspectives. Lu et al. tell us how a DRL agent can actually control the RAN in O-RAN, from MDP modelling to safe deployment. Adhikari et al. focus on how eMBB and URLLC share the same resources, which is exactly my application setting. The next three slides go through each survey's structure in that order.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Machine-type traffic changes the requirements: VoIP tolerates 50 ms, automation needs 1 ms. NGMN defines reliability as packets delivered within the deadline. The core tension is that short packets lower latency but lose coding gain, while redundancy adds reliability but costs latency. Figure: Haque Fig. 1 (ITU triangle), PDF p. 2. The timeline summarises Fig. 3 (p. 4); paste Fig. 3 instead if you prefer the original.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Link to my paper: the 'URLLC' slice in the Colosseum dataset has a 20 ms threshold and I allowed 3 % violations, i.e. 97 % reliability. Haque gives 99.999 % at 1 ms (PDF p. 1) and 1−10⁻⁵ to 1−10⁻⁹ (p. 2). In the revision I will call it a latency-sensitive slice, or justify the URLLC label.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 Fig. 6 (PDF p. 9) shows why grant-free access is faster: no scheduling request or grant before data. Coexistence: under the 3GPP framework URLLC interrupts eMBB immediately and without notification, which the survey calls the coexistence problem. Resource optimisation: the authors ask for joint models of queuing delay, end-to-end delay and error probability.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VI. Paste Fig. 7(a) from PDF p. 12: URLLC mini-slots with their own control bits cut into the eMBB data, which is puncturing seen at the frame level. Decoding complexity figures are from Table IV (p. 14), relative to turbo = 100 %. Field trial worth quoting: 60 kHz spacing with 0.25 ms slots reached 99.999 % at under 1 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IX and Table IX (PDF p. 25). Stress row 2: a DNN trained with a primal-dual method that learns Lagrange multipliers is the closest conceptual cousin of my Lagrangian approach, but it learns a static allocation, not a sequential policy. ASTEROID is the only work that handles a long-term URLLC constraint explicitly, and it is online.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 Paste Table I (PDF p. 3): earlier survey groups rated Low/Medium/High on RL/DRL, O-RAN architecture, use cases, foundation models, trustworthy AI and deployment; this paper is High on all six. Point 4 is the core argument: RAN control is sequential decision-making, not prediction.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I-C. Paste only the top row of Fig. 1 (PDF p. 4), which shows the survey structure: Context, Methodology, Application, Advanced paradigms, Deployment, Path forward. The middle and bottom rows (use cases and O-RAN stack) come back on later slides.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II-A to II-C. Keep it brisk: the supervisors know RL. The O-RAN-specific point is the POMDP: RICs see telemetry that is sampled, aggregated and delayed, so the agent never sees the true state. PPO is the most used algorithm in the DRL-for-O-RAN literature; SAC is the standard continuous-control baseline.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Sections II-G and II-H, equations (24)–(26). Left: the central risk of offline RL is distribution shift: the critic overestimates actions that the dataset barely contains, and bootstrapping amplifies the error. CQL answers by lowering Q-values of unsupported actions. Right: the CMDP avoids hand-tuned penalty weights, but Lagrangian methods satisfy the constraint only in expectation and at convergence. Combining both is exactly the gap Safe-CQL targets.</a:t>
            </a:r>
          </a:p>
          <a:p/>
          <a:p>
            <a:r>
              <a:t>Revision note: this is exactly the limit of Safe-CQL. Being offline removes training-time exposure, but the final Lagrangian policy satisfies the budget only on average (Lu, Section II-H, PDF p. 11), and only for actions the logs support.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Sections II-E, II-F, II-I and II-J. Horizontal FRL: the same xApp trained at many base stations. Vertical FRL: different stakeholders see different parts of the same network, such as RAN telemetry at the RIC and core data at the SMO. The sim-to-real gap is defined as the return lost on the real network by the simulator-optimal policy; it is always non-negative.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Section III. Paste Fig. 3 (PDF p. 13). Table II (p. 15) is the textual version of the three rows on the right. E2 is the key interface for an xApp: the KPM service model defines observations and the RC (RAN Control) service model defines feasible actions. O2 manages the O-Cloud, which is the compute substrate, not an interface itself.</a:t>
            </a:r>
          </a:p>
          <a:p/>
          <a:p>
            <a:r>
              <a:t>Revision note: Reviewer 2 is right. Lu (PDF p. 14) gives 10 ms to 1 s for the Near-RT RIC and more than 1 s for the Non-RT RIC. My decision step is 5 s, so either I present the agent as an rApp (slice configuration through A1/O1) or I redesign the loop for 1 s or less.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Section IV and Table III (PDF p. 16). The survey compares the literature along these five dimensions. PandORA is the key evidence: changing only the reward, the action space or the decision period changes which DRL agent comes out best, so formulation choices must be reported.</a:t>
            </a:r>
          </a:p>
          <a:p/>
          <a:p>
            <a:r>
              <a:t>Revision note: Reviewer 1's Markov comment belongs here. My state excludes the current configuration; in my logs the configuration never changes within a reservation, so the previous action cannot be learned from. I must state the decision model explicitly (contextual bandit or POMDP with history).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 Paste Fig. 4 (PDF p. 20), the bottom panel shows use cases by timescale. Table V (p. 26) gives the state, action and reward template per domain if a supervisor asks. The four works on the right are the closest to my setting and the ones I must position against.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VI. Paste Fig. 5 (PDF p. 27). Example of the xApp conflict problem: a traffic-steering xApp and an energy-saving xApp issue contradictory decisions on the same radio resources. The game-theoretic warning is useful for a multi-cell extension of my work: agents that each look good in isolation can be unstable or unfair together.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VII. Paste Fig. 6 (PDF p. 31): inputs, then the foundation-model layer, then the DRL controller, then RIC actions with verification. The survey insists that these models augment DRL. Relevant for later work: world models and decision transformers are another way to exploit offline logs.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VIII, Table VIII (PDF p. 36). Optional: paste Fig. 7 (p. 36) on a backup slide. Safety is the dimension that concerns me most: SafeSlice uses a risk-sensitive reward plus action projection online, and 2OffRAN trains a handover policy fully offline and validates it with off-policy evaluation before deployment.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Section IX. Offline training needs more than a dataset: telemetry, control commands and outcomes must be re-aligned into transitions, and the behaviour policy recorded. Sim-to-real runs in four stages. Shadow mode lets a candidate policy read live observations while the incumbent keeps control. RLOps adds versioning of data, environment and model, staged rollout and rollback.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 Paste FIGURE 1 (PDF p. 3), the 6G service scenarios. Table 2 (p. 5) shows that earlier surveys cover URLLC alone or the two services separately; only this one covers both coexistence and resource allocation. mURLLC means massive URLLC; MBRLLC combines high rate with low latency and high reliability.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 Paste FIGURE 3 (p. 6, puncturing) in the top frame and FIGURE 5 (p. 7, OMA vs NOMA) in the bottom one. Puncturing is the special case of superposition where the URLLC power factor equals 1. NOMA is more spectrally efficient, but successive interference cancellation at the receiver adds delay that conflicts with URLLC latency.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II-A, from Anand et al. Paste FIGURE 4 (PDF p. 6), cropping the caption. The linear model is the only one where the joint scheduler decomposes cleanly. Under the threshold model, eMBB loses nothing until puncturing passes a level, then loses the whole codeword. Each eMBB user's QoS therefore caps how much URLLC load the cell can carry.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III-A to III-C, Tables 4–7. Paste FIGURE 6 (PDF p. 13), which shows resource blocks of different time–frequency shapes per service. The scheduling result is the one to remember: joint link adaptation and scheduling bring URLLC from 1.3 to 1 ms at the 99.999th percentile, for about 10 % less eMBB throughput.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III-D and III-E, Table 8 (PDF p. 18) and Table 9 (p. 20). Alsenwi et al. is the closest work to mine: DRL maximising eMBB rate under URLLC constraints, but trained online in simulation. Careful with vocabulary: when this survey says offline, it means offline optimisation with perfect CSI, not offline reinforcement learning.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III-F, III-G and IV. Paste FIGURE 7 (PDF p. 21), the RIS-assisted coexistence scenario. The RIS result is strong for eMBB, but optimising the phase shifts and estimating CSI adds latency that matters for URLLC. The table gives the application requirements quoted in Section IV.</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V. The five challenges are the survey's own. On the right is my position and three concrete changes I take from this survey: state which rate-loss model my simulator implies, sweep the URLLC load, and add coexistence baselines including an online constrained DRL in the style of Alsenwi et al. Next section: positioning decisions.</a:t>
            </a:r>
          </a:p>
          <a:p/>
          <a:p>
            <a:r>
              <a:t>Revision note: the dark card was missing in the previous version, which made the white text invisible. The bottom of the card lists what the audit changes in my claim.</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These five points summarise the whole deck. One: the decisive weakness is the dataset, where each reservation keeps one configuration, so sequential effects cannot be learned. Two: safety is a constraint in the optimisation, met on average and measured with off-policy proxies. Three: from my own Fig. 1, the static (39, RR) configuration is already within budget at every load, so it may match the agent; this is a one-day check. Four: the timescale and URLLC claims must be corrected. Five: my recommended thesis core is constrained offline-to-online learning in a simulator where I log decisions myself.</a:t>
            </a:r>
          </a:p>
          <a:p>
            <a:r>
              <a:t>Likely question: is the paper dead? Not necessarily; it depends on the static-baseline result (slide 20).</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One row per survey, with the columns reduced to what drives decisions. Page numbers refer to the supplied PDFs. Haque fixes what must be guaranteed, Adhikari how services share resources, Lu who decides, when, and from which data. The full comparison table, with limitations and datasets, is in docs/research_review.md, Deliverable 2.</a:t>
            </a:r>
          </a:p>
          <a:p>
            <a:r>
              <a:t>Caveat: absence from a survey is not a gap. Yang et al. (2024) already apply CQL/IQL to RAN slicing offline, and 2OffRAN (ICMLCN 2025) does offline RL with off-policy evaluation for handover.</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These are my synthesis, not statements of any single survey. Point 1 is the structural tension the surveys expose: the URLLC literature decides per TTI or mini-slot, while RIC applications act at 10 ms or slower. The defensible role of my agent is to configure, not to schedule. Point 3 is Lu's own requirement for DRL datasets, and it is the reason the Colosseum traces are not enough.</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Reminder of the rejected paper. The pipeline audits the Colosseum commercial traffic twinning traces, finds that the scheduler (not the PRB split) drives the URLLC latency tail, formulates a CMDP and trains CQL with a tabular cost model and an adaptive Lagrange multiplier. Numbers are copied from Table II of the paper. Note the asymmetry in seeds and the cost sitting exactly at the budget.</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My own reviewer-style audit, in addition to the three reviews. The λ point comes from Fig. 3 of the paper: the curve in (a) is still increasing at epoch 100 and the cost in (b) is still above the 0.03 budget, so the text should not say 'converges'. The 'sequential RL is needed' row matters: with an immediate cost and no observed action switches, a contextual-bandit formulation may be the honest one.</a:t>
            </a:r>
          </a:p>
          <a:p>
            <a:r>
              <a:t>Likely question: why not just rerun Safe-CQL with more seeds? Yes, that is part of the plan (P1), but it does not fix the data problem.</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prompt for this slide: separate a reward penalty, a constraint in the optimisation, empirical satisfaction, a formal guarantee, and training versus deployment safety. Safe-CQL has the constraint in the optimisation and is trivially safe during training. Satisfaction is only average and measured through proxies; there is no guarantee and nothing at deployment time.</a:t>
            </a:r>
          </a:p>
          <a:p>
            <a:r>
              <a:t>Likely question: is CQL itself a safety mechanism? No. CQL is conservative about value estimates of unsupported actions, which reduces extrapolation error but does not bound constraint violations.</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I do not simply agree with every comment. Reviewer 1's Markov point is formally right, but calling it fatal is overstated, and his fix (add the previous action) is impossible on these logs because the previous action always equals the current one. His tabular-cost point is partly contestable: the KPMs arrive at about 4 Hz, so high-resolution channel dynamics are not observable in this dataset anyway. Reviewer 2's two points are justified; the static data is the most fundamental issue, and Lu (p. 48) says the same about KPM-only traces.</a:t>
            </a:r>
          </a:p>
          <a:p>
            <a:r>
              <a:t>Likely question: can we argue that the configurations were randomised per reservation, like an experiment? Partly. That supports one-step effect estimates, but the paper itself shows configuration–load confounding (p. 4), and it gives nothing about switching.</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Reviewer 3 is the harshest on writing. Two defects are visible in my copy: Section V-B starts with the fragment 'γ = 0.7 (Fig. 2).' and there is 'cost;In short' on p. 6. The missing reference '[?]' is not in the PDF I have, so the reviewed version may differ. On novelty: CPQ (Xu et al., AAAI 2022) is already a safe offline Q-learning method, and Yang et al. (2024) apply CQL and IQL to RAN slicing.</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This is the core scientific problem. Each reservation of the dataset keeps one configuration, which the paper acknowledges on p. 5: no estimator observes a mid-episode switch. A learned policy switches configurations from one window to the next, which is never in the data. The same property holds for the ColO-RAN dataset according to its maintainers. Lu writes that production traces are useful for system identification, calibration or traffic generation, but not as a complete DRL benchmark unless paired with decision logs (p. 48).</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table reproduces the values printed in Fig. 1 of my paper. Every RR row is within budget except (30, RR) at low load (0.18), which probably comes from few samples; the paper does not show cell counts. (39, RR) gives the most eMBB PRBs and is within budget everywhere. This is a hypothesis, not a result: I have not yet computed its throughput on the held-out cluster. The per-load oracle is a small linear programme over the empirical reward and cost tables (8 actions × load bins). Also note: Fig. 1 has four load levels while Eq. 10 describes three; this must be made consistent.</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Ordered by scientific importance and cost. P0 items can be done this month and decide the fate of the paper. P1 items answer the reviewers directly. P3 is the bridge to the thesis core. Effort estimates are mine, assuming the existing pipeline.</a:t>
            </a:r>
          </a:p>
          <a:p>
            <a:r>
              <a:t>Likely question: which venue for a revised version? See slide 29.</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Built from the three surveys plus verified related work. 2OffRAN (Navarro et al., ICMLCN 2025) trains a handover agent offline and evaluates it with off-policy methods; SafeSlice (Nagib et al., ICMLCN 2025) does safe slicing online with action projection. I have only read their abstracts and the survey descriptions, so I am not making detailed comparisons yet.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Scores are my judgement on a 1–5 scale: novelty evidence, scientific importance, feasibility, experimental credibility, alignment with my current work. Novelty scores are provisional until a systematic search is done. Details for each direction (question, contribution, data, baselines, risks, effort) are in docs/research_review.md, Deliverable 4.</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Why this direction: it reuses everything I built (audit, CQL, Lagrangian, cost model) as the offline stage, and it fixes the two fundamental objections, static data and timescale, by generating my own decision logs in ns-3 5G-LENA with randomised switching behaviour policies whose propensities I know. The online stage is where safety becomes measurable: cumulative violations while fine-tuning. Feasibility: four to six months for a first paper if the simulator set-up (slide 27) is ready in the first two. Main failure mode: offline pre-training gives little gain because online constrained learning is already fast in simulation; that would still be a reportable result.</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Verified from the dataset documentation: the twinning dataset uses one base station with 10 MHz (50 PRBs), 8 static UEs, UEs 1–4 on the eMBB slice and UEs 5–8 on the URLLC slice, traffic twinned from LTE traces of three base stations in Madrid, and CC-BY-SA-4.0. The ColO-RAN and COMMAG details come from their repositories and maintainer comments; I still need to check their licences. Observational traces without logged scheduler actions only allow association and one-step analysis on the logged support.</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The levels must not be presented as interchangeable. My paper is at level 2. Level 3 gives counterfactuals and switching, which level 2 cannot. Level 4 adds the real E2 interface and loop timing: ns-O-RAN (Lacava et al., WNS3 2023) connects ns-3 to the OSC Near-RT RIC through e2sim but, at publication, only handover control; NORI (SBrT 2025) claims 5G-LENA support and E2 metric collection. I have only read their abstracts. Claiming O-RAN realism from level 3 alone would be wrong, since 5G-LENA does not implement the O-RAN architecture.</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Verified facts: 5G-LENA v4.1 (July 2025) works with ns-3.45 and offers RR, PF and MR schedulers with temporal fairness, a 5QI-aware QoS scheduler, OFDMA and TDMA, and several numerologies. An RL scheduler example with ns3-gym came out of GSoC 2024. Slicing is not a built-in feature: it must be emulated with bandwidth parts or a custom RB-mask scheduler, which is engineering work. Data flow: ns-3 aggregates KPMs every decision period, passes them through shared memory to the Python agent, and applies the returned slice quota and scheduler at the next slot boundary.</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Baselines are chosen per claim rather than all at once. OSRL (Liu et al. 2023) provides BCQ-Lag, CPQ and COptiDICE implementations. For statistics I will follow Agarwal et al. (NeurIPS 2021): interquartile mean and bootstrap confidence intervals, plus the fraction of seeds that violate the budget. p99.9 needs at least about 10⁴ packets per condition. Trace-driven results only support associational and one-step conclusions; causal statements require the simulator.</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What I need from this meeting: a decision on the four questions. My recommendation: configuration-level scope; run P0 before deciding the paper's fate; use the LTE traces as traffic and calibration input, not as the main evidence; start with ns-3 5G-LENA and add E2 later. Venues are suggestions based on where comparable work appeared (SafeSlice and 2OffRAN at ICMLCN 2025); I have not checked current deadlines and acceptance is not guaranteed anywhere.</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Survey page numbers cited on the slides refer to the PDF pages of the supplied files. References [11], [12], [16] and [17] were checked at abstract level only.</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Everything after this divider is the survey material from the previous version, unchanged, for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3C"/>
        </a:solidFill>
        <a:effectLst/>
      </p:bgPr>
    </p:bg>
    <p:spTree>
      <p:nvGrpSpPr>
        <p:cNvPr id="1" name=""/>
        <p:cNvGrpSpPr/>
        <p:nvPr/>
      </p:nvGrpSpPr>
      <p:grpSpPr>
        <a:xfrm>
          <a:off x="0" y="0"/>
          <a:ext cx="0" cy="0"/>
          <a:chOff x="0" y="0"/>
          <a:chExt cx="0" cy="0"/>
        </a:xfrm>
      </p:grpSpPr>
      <p:sp>
        <p:nvSpPr>
          <p:cNvPr id="2" name="Shape 0"/>
          <p:cNvSpPr/>
          <p:nvPr/>
        </p:nvSpPr>
        <p:spPr>
          <a:xfrm>
            <a:off x="9601200" y="172960"/>
            <a:ext cx="2011680" cy="2011680"/>
          </a:xfrm>
          <a:prstGeom prst="ellipse">
            <a:avLst/>
          </a:prstGeom>
          <a:ln w="12700">
            <a:solidFill>
              <a:srgbClr val="028090">
                <a:alpha val="45000"/>
              </a:srgbClr>
            </a:solidFill>
            <a:prstDash val="solid"/>
          </a:ln>
        </p:spPr>
        <p:txBody>
          <a:bodyPr/>
          <a:lstStyle/>
          <a:p>
            <a:endParaRPr lang="en-US"/>
          </a:p>
        </p:txBody>
      </p:sp>
      <p:sp>
        <p:nvSpPr>
          <p:cNvPr id="3" name="Shape 1"/>
          <p:cNvSpPr/>
          <p:nvPr/>
        </p:nvSpPr>
        <p:spPr>
          <a:xfrm>
            <a:off x="9115425" y="0"/>
            <a:ext cx="2962276" cy="2395728"/>
          </a:xfrm>
          <a:prstGeom prst="ellipse">
            <a:avLst/>
          </a:prstGeom>
          <a:ln w="12700">
            <a:solidFill>
              <a:srgbClr val="028090">
                <a:alpha val="45000"/>
              </a:srgbClr>
            </a:solidFill>
            <a:prstDash val="solid"/>
          </a:ln>
        </p:spPr>
        <p:txBody>
          <a:bodyPr/>
          <a:lstStyle/>
          <a:p>
            <a:endParaRPr lang="en-US"/>
          </a:p>
        </p:txBody>
      </p:sp>
      <p:sp>
        <p:nvSpPr>
          <p:cNvPr id="6" name="Shape 4"/>
          <p:cNvSpPr/>
          <p:nvPr/>
        </p:nvSpPr>
        <p:spPr>
          <a:xfrm>
            <a:off x="822960" y="777240"/>
            <a:ext cx="822960" cy="822960"/>
          </a:xfrm>
          <a:prstGeom prst="ellipse">
            <a:avLst/>
          </a:prstGeom>
          <a:solidFill>
            <a:srgbClr val="028090"/>
          </a:solidFill>
          <a:ln/>
          <a:effectLst>
            <a:outerShdw blurRad="63500" dist="25400" dir="5400000" algn="bl" rotWithShape="0">
              <a:srgbClr val="000000">
                <a:alpha val="1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1008126" y="962406"/>
            <a:ext cx="452628" cy="452628"/>
          </a:xfrm>
          <a:prstGeom prst="rect">
            <a:avLst/>
          </a:prstGeom>
        </p:spPr>
      </p:pic>
      <p:sp>
        <p:nvSpPr>
          <p:cNvPr id="8" name="Text 5"/>
          <p:cNvSpPr/>
          <p:nvPr/>
        </p:nvSpPr>
        <p:spPr>
          <a:xfrm>
            <a:off x="1783080" y="896112"/>
            <a:ext cx="5486400" cy="548640"/>
          </a:xfrm>
          <a:prstGeom prst="rect">
            <a:avLst/>
          </a:prstGeom>
          <a:noFill/>
          <a:ln/>
        </p:spPr>
        <p:txBody>
          <a:bodyPr wrap="square" lIns="0" tIns="0" rIns="0" bIns="0" rtlCol="0" anchor="ctr"/>
          <a:lstStyle/>
          <a:p>
            <a:r>
              <a:rPr lang="en-US" sz="1500" b="1" kern="0" spc="200" dirty="0">
                <a:solidFill>
                  <a:srgbClr val="02C39A"/>
                </a:solidFill>
                <a:latin typeface="Calibri" pitchFamily="34" charset="0"/>
                <a:ea typeface="Calibri" pitchFamily="34" charset="-122"/>
                <a:cs typeface="Calibri" pitchFamily="34" charset="-120"/>
              </a:rPr>
              <a:t>Research landscape · audit · next steps</a:t>
            </a:r>
          </a:p>
        </p:txBody>
      </p:sp>
      <p:sp>
        <p:nvSpPr>
          <p:cNvPr id="9" name="Text 6"/>
          <p:cNvSpPr/>
          <p:nvPr/>
        </p:nvSpPr>
        <p:spPr>
          <a:xfrm>
            <a:off x="822960" y="1965960"/>
            <a:ext cx="10515600" cy="868680"/>
          </a:xfrm>
          <a:prstGeom prst="rect">
            <a:avLst/>
          </a:prstGeom>
          <a:noFill/>
          <a:ln/>
        </p:spPr>
        <p:txBody>
          <a:bodyPr wrap="square" lIns="0" tIns="0" rIns="0" bIns="0" rtlCol="0" anchor="ctr"/>
          <a:lstStyle/>
          <a:p>
            <a:pPr marL="0" indent="0">
              <a:buNone/>
            </a:pPr>
            <a:r>
              <a:rPr lang="fr-FR" sz="4000" b="1" dirty="0">
                <a:solidFill>
                  <a:srgbClr val="FFFFFF"/>
                </a:solidFill>
                <a:latin typeface="Cambria" pitchFamily="34" charset="0"/>
                <a:ea typeface="Cambria" pitchFamily="34" charset="-122"/>
              </a:rPr>
              <a:t>M</a:t>
            </a:r>
            <a:r>
              <a:rPr lang="en-US" sz="4000" b="1" dirty="0">
                <a:solidFill>
                  <a:srgbClr val="FFFFFF"/>
                </a:solidFill>
                <a:latin typeface="Cambria" pitchFamily="34" charset="0"/>
                <a:ea typeface="Cambria" pitchFamily="34" charset="-122"/>
              </a:rPr>
              <a:t>eeting presentation</a:t>
            </a:r>
            <a:endParaRPr lang="en-US" sz="4000" dirty="0"/>
          </a:p>
        </p:txBody>
      </p:sp>
      <p:sp>
        <p:nvSpPr>
          <p:cNvPr id="10" name="Text 7"/>
          <p:cNvSpPr/>
          <p:nvPr/>
        </p:nvSpPr>
        <p:spPr>
          <a:xfrm>
            <a:off x="822960" y="2788920"/>
            <a:ext cx="10515600" cy="640080"/>
          </a:xfrm>
          <a:prstGeom prst="rect">
            <a:avLst/>
          </a:prstGeom>
          <a:noFill/>
          <a:ln/>
        </p:spPr>
        <p:txBody>
          <a:bodyPr wrap="square" lIns="0" tIns="0" rIns="0" bIns="0" rtlCol="0" anchor="ctr"/>
          <a:lstStyle/>
          <a:p>
            <a:pPr marL="0" indent="0">
              <a:buNone/>
            </a:pPr>
            <a:r>
              <a:rPr lang="en-US" sz="3000" dirty="0">
                <a:solidFill>
                  <a:srgbClr val="00A896"/>
                </a:solidFill>
                <a:latin typeface="Cambria" pitchFamily="34" charset="0"/>
                <a:ea typeface="Cambria" pitchFamily="34" charset="-122"/>
                <a:cs typeface="Cambria" pitchFamily="34" charset="-120"/>
              </a:rPr>
              <a:t>Dynamic resource allocation for 5G and future 6G</a:t>
            </a:r>
            <a:endParaRPr lang="en-US" sz="3000" dirty="0"/>
          </a:p>
        </p:txBody>
      </p:sp>
      <p:sp>
        <p:nvSpPr>
          <p:cNvPr id="11" name="Text 8"/>
          <p:cNvSpPr/>
          <p:nvPr/>
        </p:nvSpPr>
        <p:spPr>
          <a:xfrm>
            <a:off x="822960" y="3401568"/>
            <a:ext cx="10515600" cy="548640"/>
          </a:xfrm>
          <a:prstGeom prst="rect">
            <a:avLst/>
          </a:prstGeom>
          <a:noFill/>
          <a:ln/>
        </p:spPr>
        <p:txBody>
          <a:bodyPr wrap="square" lIns="0" tIns="0" rIns="0" bIns="0" rtlCol="0" anchor="ctr"/>
          <a:lstStyle/>
          <a:p>
            <a:pPr marL="0" indent="0">
              <a:buNone/>
            </a:pPr>
            <a:r>
              <a:rPr lang="fr-FR" sz="2400" i="1" dirty="0">
                <a:solidFill>
                  <a:srgbClr val="CBD5E1"/>
                </a:solidFill>
                <a:latin typeface="Cambria" pitchFamily="34" charset="0"/>
                <a:ea typeface="Cambria" pitchFamily="34" charset="-122"/>
              </a:rPr>
              <a:t>Landscape, paper audit and next steps</a:t>
            </a:r>
            <a:r>
              <a:rPr lang="en-US" sz="2400" i="1" dirty="0">
                <a:solidFill>
                  <a:srgbClr val="CBD5E1"/>
                </a:solidFill>
                <a:latin typeface="Cambria" pitchFamily="34" charset="0"/>
                <a:ea typeface="Cambria" pitchFamily="34" charset="-122"/>
              </a:rPr>
              <a:t/>
            </a:r>
            <a:endParaRPr lang="en-US" sz="2400" dirty="0"/>
          </a:p>
        </p:txBody>
      </p:sp>
      <p:sp>
        <p:nvSpPr>
          <p:cNvPr id="12" name="Shape 9"/>
          <p:cNvSpPr/>
          <p:nvPr/>
        </p:nvSpPr>
        <p:spPr>
          <a:xfrm>
            <a:off x="841248" y="4160520"/>
            <a:ext cx="3108960" cy="18288"/>
          </a:xfrm>
          <a:prstGeom prst="rect">
            <a:avLst/>
          </a:prstGeom>
          <a:solidFill>
            <a:srgbClr val="028090"/>
          </a:solidFill>
          <a:ln/>
        </p:spPr>
        <p:txBody>
          <a:bodyPr/>
          <a:lstStyle/>
          <a:p>
            <a:endParaRPr lang="en-US"/>
          </a:p>
        </p:txBody>
      </p:sp>
      <p:sp>
        <p:nvSpPr>
          <p:cNvPr id="13" name="Text 10"/>
          <p:cNvSpPr/>
          <p:nvPr/>
        </p:nvSpPr>
        <p:spPr>
          <a:xfrm>
            <a:off x="822960" y="4343400"/>
            <a:ext cx="7315200" cy="822960"/>
          </a:xfrm>
          <a:prstGeom prst="rect">
            <a:avLst/>
          </a:prstGeom>
          <a:noFill/>
          <a:ln/>
        </p:spPr>
        <p:txBody>
          <a:bodyPr wrap="square" lIns="0" tIns="0" rIns="0" bIns="0" rtlCol="0" anchor="ctr"/>
          <a:lstStyle/>
          <a:p>
            <a:pPr marL="0" indent="0">
              <a:lnSpc>
                <a:spcPct val="115000"/>
              </a:lnSpc>
              <a:buNone/>
            </a:pPr>
            <a:r>
              <a:rPr lang="en-US" sz="1600" b="1" dirty="0">
                <a:solidFill>
                  <a:srgbClr val="FFFFFF"/>
                </a:solidFill>
                <a:latin typeface="Calibri" pitchFamily="34" charset="0"/>
                <a:ea typeface="Calibri" pitchFamily="34" charset="-122"/>
                <a:cs typeface="Calibri" pitchFamily="34" charset="-120"/>
              </a:rPr>
              <a:t>PhD student	   Ben Cheikh Ali</a:t>
            </a:r>
          </a:p>
          <a:p>
            <a:pPr marL="0" indent="0">
              <a:lnSpc>
                <a:spcPct val="115000"/>
              </a:lnSpc>
              <a:buNone/>
            </a:pPr>
            <a:endParaRPr lang="en-US" sz="1600" dirty="0"/>
          </a:p>
          <a:p>
            <a:pPr>
              <a:lnSpc>
                <a:spcPct val="100000"/>
              </a:lnSpc>
            </a:pPr>
            <a:r>
              <a:rPr lang="en-US" sz="1600" b="1" dirty="0">
                <a:solidFill>
                  <a:srgbClr val="FFFFFF"/>
                </a:solidFill>
                <a:latin typeface="Calibri" pitchFamily="34" charset="0"/>
                <a:ea typeface="Calibri" pitchFamily="34" charset="-122"/>
                <a:cs typeface="Calibri" pitchFamily="34" charset="-120"/>
              </a:rPr>
              <a:t> Supervisors</a:t>
            </a:r>
            <a:r>
              <a:rPr lang="en-US" sz="1600" dirty="0">
                <a:solidFill>
                  <a:srgbClr val="9FB3C8"/>
                </a:solidFill>
                <a:latin typeface="Calibri" pitchFamily="34" charset="0"/>
                <a:ea typeface="Calibri" pitchFamily="34" charset="-122"/>
                <a:cs typeface="Calibri" pitchFamily="34" charset="-120"/>
              </a:rPr>
              <a:t>                   Hakima Chaouchi   ·   Anis Laouiti    · Nour-El-Houda Yellas </a:t>
            </a:r>
          </a:p>
        </p:txBody>
      </p:sp>
      <p:sp>
        <p:nvSpPr>
          <p:cNvPr id="14" name="Text 11"/>
          <p:cNvSpPr/>
          <p:nvPr/>
        </p:nvSpPr>
        <p:spPr>
          <a:xfrm>
            <a:off x="822960" y="5989320"/>
            <a:ext cx="10058400" cy="365760"/>
          </a:xfrm>
          <a:prstGeom prst="rect">
            <a:avLst/>
          </a:prstGeom>
          <a:noFill/>
          <a:ln/>
        </p:spPr>
        <p:txBody>
          <a:bodyPr wrap="square" lIns="0" tIns="0" rIns="0" bIns="0" rtlCol="0" anchor="ctr"/>
          <a:lstStyle/>
          <a:p>
            <a:pPr marL="0" indent="0">
              <a:buNone/>
            </a:pPr>
            <a:r>
              <a:rPr lang="en-US" sz="1300" dirty="0">
                <a:solidFill>
                  <a:srgbClr val="7E93A8"/>
                </a:solidFill>
                <a:latin typeface="Calibri" pitchFamily="34" charset="0"/>
                <a:ea typeface="Calibri" pitchFamily="34" charset="-122"/>
                <a:cs typeface="Calibri" pitchFamily="34" charset="-120"/>
              </a:rPr>
              <a:t>RS2M Department · Télécom SudParis · Palaiseau, France</a:t>
            </a:r>
            <a:endParaRPr lang="en-US" sz="1300" dirty="0"/>
          </a:p>
        </p:txBody>
      </p:sp>
      <p:pic>
        <p:nvPicPr>
          <p:cNvPr id="16" name="Image 15">
            <a:extLst>
              <a:ext uri="{FF2B5EF4-FFF2-40B4-BE49-F238E27FC236}">
                <a16:creationId xmlns:a16="http://schemas.microsoft.com/office/drawing/2014/main" id="{EF5A5CC8-BBB5-DA33-D4E5-D79C30FED670}"/>
              </a:ext>
            </a:extLst>
          </p:cNvPr>
          <p:cNvPicPr>
            <a:picLocks noChangeAspect="1"/>
          </p:cNvPicPr>
          <p:nvPr/>
        </p:nvPicPr>
        <p:blipFill>
          <a:blip r:embed="rId4"/>
          <a:stretch>
            <a:fillRect/>
          </a:stretch>
        </p:blipFill>
        <p:spPr>
          <a:xfrm>
            <a:off x="10143096" y="502920"/>
            <a:ext cx="909916" cy="13981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640080" y="411480"/>
            <a:ext cx="7315200" cy="320040"/>
          </a:xfrm>
          <a:prstGeom prst="rect">
            <a:avLst/>
          </a:prstGeom>
          <a:noFill/>
          <a:ln/>
        </p:spPr>
        <p:txBody>
          <a:bodyPr wrap="square" lIns="0" tIns="0" rIns="0" bIns="0" rtlCol="0" anchor="ctr"/>
          <a:lstStyle/>
          <a:p>
            <a:pPr marL="0" indent="0">
              <a:buNone/>
            </a:pPr>
            <a:r>
              <a:rPr lang="en-US" sz="1400" b="1" kern="0" spc="200" dirty="0">
                <a:solidFill>
                  <a:srgbClr val="2BB3A3"/>
                </a:solidFill>
                <a:latin typeface="Calibri" pitchFamily="34" charset="0"/>
                <a:ea typeface="Calibri" pitchFamily="34" charset="-122"/>
                <a:cs typeface="Calibri" pitchFamily="34" charset="-120"/>
              </a:rPr>
              <a:t>Today's storyline</a:t>
            </a:r>
            <a:endParaRPr lang="en-US" sz="1400" dirty="0"/>
          </a:p>
        </p:txBody>
      </p:sp>
      <p:sp>
        <p:nvSpPr>
          <p:cNvPr id="6" name="Text 4"/>
          <p:cNvSpPr txBox="1"/>
          <p:nvPr/>
        </p:nvSpPr>
        <p:spPr>
          <a:xfrm>
            <a:off x="1435608" y="1828800"/>
            <a:ext cx="2095500" cy="320040"/>
          </a:xfrm>
          <a:prstGeom prst="rect">
            <a:avLst/>
          </a:prstGeom>
          <a:noFill/>
          <a:ln/>
        </p:spPr>
        <p:txBody>
          <a:bodyPr wrap="square" lIns="0" tIns="0" rIns="0" bIns="0" rtlCol="0" anchor="ctr"/>
          <a:lstStyle/>
          <a:p>
            <a:pPr marL="0" indent="0">
              <a:buNone/>
            </a:pPr>
            <a:r>
              <a:rPr lang="en-US" sz="1200" b="1" kern="0" spc="150" dirty="0">
                <a:solidFill>
                  <a:srgbClr val="9FB4C2"/>
                </a:solidFill>
                <a:latin typeface="Calibri" pitchFamily="34" charset="0"/>
                <a:ea typeface="Calibri" pitchFamily="34" charset="-122"/>
                <a:cs typeface="Calibri" pitchFamily="34" charset="-120"/>
              </a:rPr>
              <a:t>WHERE I STAND</a:t>
            </a:r>
            <a:endParaRPr lang="en-US" sz="1200" dirty="0"/>
          </a:p>
        </p:txBody>
      </p:sp>
      <p:sp>
        <p:nvSpPr>
          <p:cNvPr id="7" name="Shape 5"/>
          <p:cNvSpPr/>
          <p:nvPr/>
        </p:nvSpPr>
        <p:spPr>
          <a:xfrm>
            <a:off x="640080" y="2286000"/>
            <a:ext cx="3429000" cy="1645920"/>
          </a:xfrm>
          <a:prstGeom prst="roundRect">
            <a:avLst>
              <a:gd name="adj" fmla="val 4444"/>
            </a:avLst>
          </a:prstGeom>
          <a:solidFill>
            <a:srgbClr val="123A4E"/>
          </a:solidFill>
          <a:ln w="12700">
            <a:solidFill>
              <a:srgbClr val="123A4E"/>
            </a:solidFill>
            <a:prstDash val="solid"/>
          </a:ln>
        </p:spPr>
        <p:txBody>
          <a:bodyPr/>
          <a:lstStyle/>
          <a:p>
            <a:endParaRPr lang="en-US"/>
          </a:p>
        </p:txBody>
      </p:sp>
      <p:sp>
        <p:nvSpPr>
          <p:cNvPr id="8" name="Shape 6"/>
          <p:cNvSpPr/>
          <p:nvPr/>
        </p:nvSpPr>
        <p:spPr>
          <a:xfrm>
            <a:off x="868680" y="2542032"/>
            <a:ext cx="566928" cy="566928"/>
          </a:xfrm>
          <a:prstGeom prst="ellipse">
            <a:avLst/>
          </a:prstGeom>
          <a:solidFill>
            <a:srgbClr val="1A8A99"/>
          </a:solidFill>
          <a:ln w="12700">
            <a:solidFill>
              <a:srgbClr val="1A8A99"/>
            </a:solidFill>
            <a:prstDash val="solid"/>
          </a:ln>
        </p:spPr>
        <p:txBody>
          <a:bodyPr/>
          <a:lstStyle/>
          <a:p>
            <a:endParaRPr lang="en-US"/>
          </a:p>
        </p:txBody>
      </p:sp>
      <p:sp>
        <p:nvSpPr>
          <p:cNvPr id="9" name="Text 7"/>
          <p:cNvSpPr txBox="1"/>
          <p:nvPr/>
        </p:nvSpPr>
        <p:spPr>
          <a:xfrm>
            <a:off x="868680" y="25420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0" name="Text 8"/>
          <p:cNvSpPr txBox="1"/>
          <p:nvPr/>
        </p:nvSpPr>
        <p:spPr>
          <a:xfrm>
            <a:off x="1600200" y="248716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Research landscape</a:t>
            </a:r>
            <a:endParaRPr lang="en-US" sz="1800" dirty="0"/>
          </a:p>
        </p:txBody>
      </p:sp>
      <p:sp>
        <p:nvSpPr>
          <p:cNvPr id="11" name="Text 9"/>
          <p:cNvSpPr txBox="1"/>
          <p:nvPr/>
        </p:nvSpPr>
        <p:spPr>
          <a:xfrm>
            <a:off x="868680" y="324612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Three surveys, read for what they imply for my work, not summarised one by one.</a:t>
            </a:r>
            <a:endParaRPr lang="en-US" sz="1250" dirty="0"/>
          </a:p>
        </p:txBody>
      </p:sp>
      <p:sp>
        <p:nvSpPr>
          <p:cNvPr id="12" name="Shape 10"/>
          <p:cNvSpPr/>
          <p:nvPr/>
        </p:nvSpPr>
        <p:spPr>
          <a:xfrm>
            <a:off x="640080" y="4206240"/>
            <a:ext cx="3429000" cy="1645920"/>
          </a:xfrm>
          <a:prstGeom prst="roundRect">
            <a:avLst>
              <a:gd name="adj" fmla="val 4444"/>
            </a:avLst>
          </a:prstGeom>
          <a:solidFill>
            <a:srgbClr val="123A4E"/>
          </a:solidFill>
          <a:ln w="12700">
            <a:solidFill>
              <a:srgbClr val="123A4E"/>
            </a:solidFill>
            <a:prstDash val="solid"/>
          </a:ln>
        </p:spPr>
        <p:txBody>
          <a:bodyPr/>
          <a:lstStyle/>
          <a:p>
            <a:endParaRPr lang="en-US"/>
          </a:p>
        </p:txBody>
      </p:sp>
      <p:sp>
        <p:nvSpPr>
          <p:cNvPr id="13" name="Shape 11"/>
          <p:cNvSpPr/>
          <p:nvPr/>
        </p:nvSpPr>
        <p:spPr>
          <a:xfrm>
            <a:off x="868680" y="4462272"/>
            <a:ext cx="566928" cy="566928"/>
          </a:xfrm>
          <a:prstGeom prst="ellipse">
            <a:avLst/>
          </a:prstGeom>
          <a:solidFill>
            <a:srgbClr val="1A8A99"/>
          </a:solidFill>
          <a:ln w="12700">
            <a:solidFill>
              <a:srgbClr val="1A8A99"/>
            </a:solidFill>
            <a:prstDash val="solid"/>
          </a:ln>
        </p:spPr>
        <p:txBody>
          <a:bodyPr/>
          <a:lstStyle/>
          <a:p>
            <a:endParaRPr lang="en-US"/>
          </a:p>
        </p:txBody>
      </p:sp>
      <p:sp>
        <p:nvSpPr>
          <p:cNvPr id="14" name="Text 12"/>
          <p:cNvSpPr txBox="1"/>
          <p:nvPr/>
        </p:nvSpPr>
        <p:spPr>
          <a:xfrm>
            <a:off x="868680" y="446227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txBox="1"/>
          <p:nvPr/>
        </p:nvSpPr>
        <p:spPr>
          <a:xfrm>
            <a:off x="1600200" y="440740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Paper &amp; reviewer audit</a:t>
            </a:r>
            <a:endParaRPr lang="en-US" sz="1800" dirty="0"/>
          </a:p>
        </p:txBody>
      </p:sp>
      <p:sp>
        <p:nvSpPr>
          <p:cNvPr id="16" name="Text 14"/>
          <p:cNvSpPr txBox="1"/>
          <p:nvPr/>
        </p:nvSpPr>
        <p:spPr>
          <a:xfrm>
            <a:off x="868680" y="516636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What Offline Safe-CQL shows, what it does not, and what three reviewers flagged.</a:t>
            </a:r>
            <a:endParaRPr lang="en-US" sz="1250" dirty="0"/>
          </a:p>
        </p:txBody>
      </p:sp>
      <p:sp>
        <p:nvSpPr>
          <p:cNvPr id="17" name="Text 15"/>
          <p:cNvSpPr txBox="1"/>
          <p:nvPr/>
        </p:nvSpPr>
        <p:spPr>
          <a:xfrm>
            <a:off x="4991100" y="1847850"/>
            <a:ext cx="2209800" cy="320040"/>
          </a:xfrm>
          <a:prstGeom prst="rect">
            <a:avLst/>
          </a:prstGeom>
          <a:noFill/>
          <a:ln/>
        </p:spPr>
        <p:txBody>
          <a:bodyPr wrap="square" lIns="0" tIns="0" rIns="0" bIns="0" rtlCol="0" anchor="ctr"/>
          <a:lstStyle/>
          <a:p>
            <a:pPr marL="0" indent="0">
              <a:buNone/>
            </a:pPr>
            <a:r>
              <a:rPr lang="en-US" sz="1200" b="1" kern="0" spc="150" dirty="0">
                <a:solidFill>
                  <a:srgbClr val="9FB4C2"/>
                </a:solidFill>
                <a:latin typeface="Calibri" pitchFamily="34" charset="0"/>
                <a:ea typeface="Calibri" pitchFamily="34" charset="-122"/>
                <a:cs typeface="Calibri" pitchFamily="34" charset="-120"/>
              </a:rPr>
              <a:t>WHAT I WILL BUILD</a:t>
            </a:r>
            <a:endParaRPr lang="en-US" sz="1200" dirty="0"/>
          </a:p>
        </p:txBody>
      </p:sp>
      <p:sp>
        <p:nvSpPr>
          <p:cNvPr id="18" name="Shape 16"/>
          <p:cNvSpPr/>
          <p:nvPr/>
        </p:nvSpPr>
        <p:spPr>
          <a:xfrm>
            <a:off x="4343400" y="2286000"/>
            <a:ext cx="3429000" cy="1645920"/>
          </a:xfrm>
          <a:prstGeom prst="roundRect">
            <a:avLst>
              <a:gd name="adj" fmla="val 4444"/>
            </a:avLst>
          </a:prstGeom>
          <a:solidFill>
            <a:srgbClr val="123A4E"/>
          </a:solidFill>
          <a:ln w="12700">
            <a:solidFill>
              <a:srgbClr val="123A4E"/>
            </a:solidFill>
            <a:prstDash val="solid"/>
          </a:ln>
        </p:spPr>
        <p:txBody>
          <a:bodyPr/>
          <a:lstStyle/>
          <a:p>
            <a:endParaRPr lang="en-US"/>
          </a:p>
        </p:txBody>
      </p:sp>
      <p:sp>
        <p:nvSpPr>
          <p:cNvPr id="19" name="Shape 17"/>
          <p:cNvSpPr/>
          <p:nvPr/>
        </p:nvSpPr>
        <p:spPr>
          <a:xfrm>
            <a:off x="4572000" y="2542032"/>
            <a:ext cx="566928" cy="566928"/>
          </a:xfrm>
          <a:prstGeom prst="ellipse">
            <a:avLst/>
          </a:prstGeom>
          <a:solidFill>
            <a:srgbClr val="1A8A99"/>
          </a:solidFill>
          <a:ln w="12700">
            <a:solidFill>
              <a:srgbClr val="1A8A99"/>
            </a:solidFill>
            <a:prstDash val="solid"/>
          </a:ln>
        </p:spPr>
        <p:txBody>
          <a:bodyPr/>
          <a:lstStyle/>
          <a:p>
            <a:endParaRPr lang="en-US"/>
          </a:p>
        </p:txBody>
      </p:sp>
      <p:sp>
        <p:nvSpPr>
          <p:cNvPr id="20" name="Text 18"/>
          <p:cNvSpPr txBox="1"/>
          <p:nvPr/>
        </p:nvSpPr>
        <p:spPr>
          <a:xfrm>
            <a:off x="4572000" y="25420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9"/>
          <p:cNvSpPr txBox="1"/>
          <p:nvPr/>
        </p:nvSpPr>
        <p:spPr>
          <a:xfrm>
            <a:off x="5303520" y="248716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Research directions</a:t>
            </a:r>
            <a:endParaRPr lang="en-US" sz="1800" dirty="0"/>
          </a:p>
        </p:txBody>
      </p:sp>
      <p:sp>
        <p:nvSpPr>
          <p:cNvPr id="22" name="Text 20"/>
          <p:cNvSpPr txBox="1"/>
          <p:nvPr/>
        </p:nvSpPr>
        <p:spPr>
          <a:xfrm>
            <a:off x="4572000" y="324612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Ranked directions; recommended core: constrained offline→online learning.</a:t>
            </a:r>
            <a:endParaRPr lang="en-US" sz="1250" dirty="0"/>
          </a:p>
        </p:txBody>
      </p:sp>
      <p:sp>
        <p:nvSpPr>
          <p:cNvPr id="23" name="Shape 21"/>
          <p:cNvSpPr/>
          <p:nvPr/>
        </p:nvSpPr>
        <p:spPr>
          <a:xfrm>
            <a:off x="4343400" y="4206240"/>
            <a:ext cx="3429000" cy="1645920"/>
          </a:xfrm>
          <a:prstGeom prst="roundRect">
            <a:avLst>
              <a:gd name="adj" fmla="val 4444"/>
            </a:avLst>
          </a:prstGeom>
          <a:solidFill>
            <a:srgbClr val="123A4E"/>
          </a:solidFill>
          <a:ln w="12700">
            <a:solidFill>
              <a:srgbClr val="123A4E"/>
            </a:solidFill>
            <a:prstDash val="solid"/>
          </a:ln>
        </p:spPr>
        <p:txBody>
          <a:bodyPr/>
          <a:lstStyle/>
          <a:p>
            <a:endParaRPr lang="en-US"/>
          </a:p>
        </p:txBody>
      </p:sp>
      <p:sp>
        <p:nvSpPr>
          <p:cNvPr id="24" name="Shape 22"/>
          <p:cNvSpPr/>
          <p:nvPr/>
        </p:nvSpPr>
        <p:spPr>
          <a:xfrm>
            <a:off x="4572000" y="4462272"/>
            <a:ext cx="566928" cy="566928"/>
          </a:xfrm>
          <a:prstGeom prst="ellipse">
            <a:avLst/>
          </a:prstGeom>
          <a:solidFill>
            <a:srgbClr val="1A8A99"/>
          </a:solidFill>
          <a:ln w="12700">
            <a:solidFill>
              <a:srgbClr val="1A8A99"/>
            </a:solidFill>
            <a:prstDash val="solid"/>
          </a:ln>
        </p:spPr>
        <p:txBody>
          <a:bodyPr/>
          <a:lstStyle/>
          <a:p>
            <a:endParaRPr lang="en-US"/>
          </a:p>
        </p:txBody>
      </p:sp>
      <p:sp>
        <p:nvSpPr>
          <p:cNvPr id="25" name="Text 23"/>
          <p:cNvSpPr txBox="1"/>
          <p:nvPr/>
        </p:nvSpPr>
        <p:spPr>
          <a:xfrm>
            <a:off x="4572000" y="446227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6" name="Text 24"/>
          <p:cNvSpPr txBox="1"/>
          <p:nvPr/>
        </p:nvSpPr>
        <p:spPr>
          <a:xfrm>
            <a:off x="5303520" y="440740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Datasets &amp; simulators</a:t>
            </a:r>
            <a:endParaRPr lang="en-US" sz="1800" dirty="0"/>
          </a:p>
        </p:txBody>
      </p:sp>
      <p:sp>
        <p:nvSpPr>
          <p:cNvPr id="27" name="Text 25"/>
          <p:cNvSpPr txBox="1"/>
          <p:nvPr/>
        </p:nvSpPr>
        <p:spPr>
          <a:xfrm>
            <a:off x="4572000" y="516636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What each dataset supports; ns-3 5G-LENA staged set-up.</a:t>
            </a:r>
            <a:endParaRPr lang="en-US" sz="1250" dirty="0"/>
          </a:p>
        </p:txBody>
      </p:sp>
      <p:sp>
        <p:nvSpPr>
          <p:cNvPr id="28" name="Text 26"/>
          <p:cNvSpPr txBox="1"/>
          <p:nvPr/>
        </p:nvSpPr>
        <p:spPr>
          <a:xfrm>
            <a:off x="8737472" y="1865376"/>
            <a:ext cx="2209799" cy="320040"/>
          </a:xfrm>
          <a:prstGeom prst="rect">
            <a:avLst/>
          </a:prstGeom>
          <a:noFill/>
          <a:ln/>
        </p:spPr>
        <p:txBody>
          <a:bodyPr wrap="square" lIns="0" tIns="0" rIns="0" bIns="0" rtlCol="0" anchor="ctr"/>
          <a:lstStyle/>
          <a:p>
            <a:pPr marL="0" indent="0">
              <a:buNone/>
            </a:pPr>
            <a:r>
              <a:rPr lang="en-US" sz="1200" b="1" kern="0" spc="150" dirty="0">
                <a:solidFill>
                  <a:srgbClr val="9FB4C2"/>
                </a:solidFill>
                <a:latin typeface="Calibri" pitchFamily="34" charset="0"/>
                <a:ea typeface="Calibri" pitchFamily="34" charset="-122"/>
                <a:cs typeface="Calibri" pitchFamily="34" charset="-120"/>
              </a:rPr>
              <a:t>VALIDATE &amp; DECIDE</a:t>
            </a:r>
            <a:endParaRPr lang="en-US" sz="1200" dirty="0"/>
          </a:p>
        </p:txBody>
      </p:sp>
      <p:sp>
        <p:nvSpPr>
          <p:cNvPr id="29" name="Shape 27"/>
          <p:cNvSpPr/>
          <p:nvPr/>
        </p:nvSpPr>
        <p:spPr>
          <a:xfrm>
            <a:off x="8046720" y="2286000"/>
            <a:ext cx="3429000" cy="1645920"/>
          </a:xfrm>
          <a:prstGeom prst="roundRect">
            <a:avLst>
              <a:gd name="adj" fmla="val 4444"/>
            </a:avLst>
          </a:prstGeom>
          <a:solidFill>
            <a:srgbClr val="123A4E"/>
          </a:solidFill>
          <a:ln w="12700">
            <a:solidFill>
              <a:srgbClr val="123A4E"/>
            </a:solidFill>
            <a:prstDash val="solid"/>
          </a:ln>
        </p:spPr>
        <p:txBody>
          <a:bodyPr/>
          <a:lstStyle/>
          <a:p>
            <a:endParaRPr lang="en-US"/>
          </a:p>
        </p:txBody>
      </p:sp>
      <p:sp>
        <p:nvSpPr>
          <p:cNvPr id="30" name="Shape 28"/>
          <p:cNvSpPr/>
          <p:nvPr/>
        </p:nvSpPr>
        <p:spPr>
          <a:xfrm>
            <a:off x="8275320" y="2542032"/>
            <a:ext cx="566928" cy="566928"/>
          </a:xfrm>
          <a:prstGeom prst="ellipse">
            <a:avLst/>
          </a:prstGeom>
          <a:solidFill>
            <a:srgbClr val="1A8A99"/>
          </a:solidFill>
          <a:ln w="12700">
            <a:solidFill>
              <a:srgbClr val="1A8A99"/>
            </a:solidFill>
            <a:prstDash val="solid"/>
          </a:ln>
        </p:spPr>
        <p:txBody>
          <a:bodyPr/>
          <a:lstStyle/>
          <a:p>
            <a:endParaRPr lang="en-US"/>
          </a:p>
        </p:txBody>
      </p:sp>
      <p:sp>
        <p:nvSpPr>
          <p:cNvPr id="31" name="Text 29"/>
          <p:cNvSpPr txBox="1"/>
          <p:nvPr/>
        </p:nvSpPr>
        <p:spPr>
          <a:xfrm>
            <a:off x="8275320" y="25420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32" name="Text 30"/>
          <p:cNvSpPr txBox="1"/>
          <p:nvPr/>
        </p:nvSpPr>
        <p:spPr>
          <a:xfrm>
            <a:off x="9006840" y="248716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Evaluation protocol</a:t>
            </a:r>
            <a:endParaRPr lang="en-US" sz="1800" dirty="0"/>
          </a:p>
        </p:txBody>
      </p:sp>
      <p:sp>
        <p:nvSpPr>
          <p:cNvPr id="33" name="Text 31"/>
          <p:cNvSpPr txBox="1"/>
          <p:nvPr/>
        </p:nvSpPr>
        <p:spPr>
          <a:xfrm>
            <a:off x="8275320" y="324612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Baselines per claim, tail metrics, seeds and confidence intervals.</a:t>
            </a:r>
            <a:endParaRPr lang="en-US" sz="1250" dirty="0"/>
          </a:p>
        </p:txBody>
      </p:sp>
      <p:sp>
        <p:nvSpPr>
          <p:cNvPr id="34" name="Shape 32"/>
          <p:cNvSpPr/>
          <p:nvPr/>
        </p:nvSpPr>
        <p:spPr>
          <a:xfrm>
            <a:off x="8046720" y="4206240"/>
            <a:ext cx="3429000" cy="1645920"/>
          </a:xfrm>
          <a:prstGeom prst="roundRect">
            <a:avLst>
              <a:gd name="adj" fmla="val 4444"/>
            </a:avLst>
          </a:prstGeom>
          <a:solidFill>
            <a:srgbClr val="123A4E"/>
          </a:solidFill>
          <a:ln w="12700">
            <a:solidFill>
              <a:srgbClr val="123A4E"/>
            </a:solidFill>
            <a:prstDash val="solid"/>
          </a:ln>
        </p:spPr>
        <p:txBody>
          <a:bodyPr/>
          <a:lstStyle/>
          <a:p>
            <a:endParaRPr lang="en-US"/>
          </a:p>
        </p:txBody>
      </p:sp>
      <p:sp>
        <p:nvSpPr>
          <p:cNvPr id="35" name="Shape 33"/>
          <p:cNvSpPr/>
          <p:nvPr/>
        </p:nvSpPr>
        <p:spPr>
          <a:xfrm>
            <a:off x="8275320" y="4462272"/>
            <a:ext cx="566928" cy="566928"/>
          </a:xfrm>
          <a:prstGeom prst="ellipse">
            <a:avLst/>
          </a:prstGeom>
          <a:solidFill>
            <a:srgbClr val="1A8A99"/>
          </a:solidFill>
          <a:ln w="12700">
            <a:solidFill>
              <a:srgbClr val="1A8A99"/>
            </a:solidFill>
            <a:prstDash val="solid"/>
          </a:ln>
        </p:spPr>
        <p:txBody>
          <a:bodyPr/>
          <a:lstStyle/>
          <a:p>
            <a:endParaRPr lang="en-US"/>
          </a:p>
        </p:txBody>
      </p:sp>
      <p:sp>
        <p:nvSpPr>
          <p:cNvPr id="36" name="Text 34"/>
          <p:cNvSpPr txBox="1"/>
          <p:nvPr/>
        </p:nvSpPr>
        <p:spPr>
          <a:xfrm>
            <a:off x="8275320" y="446227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37" name="Text 35"/>
          <p:cNvSpPr txBox="1"/>
          <p:nvPr/>
        </p:nvSpPr>
        <p:spPr>
          <a:xfrm>
            <a:off x="9006840" y="4407408"/>
            <a:ext cx="2286000" cy="6858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Decisions &amp; publication</a:t>
            </a:r>
            <a:endParaRPr lang="en-US" sz="1800" dirty="0"/>
          </a:p>
        </p:txBody>
      </p:sp>
      <p:sp>
        <p:nvSpPr>
          <p:cNvPr id="38" name="Text 36"/>
          <p:cNvSpPr txBox="1"/>
          <p:nvPr/>
        </p:nvSpPr>
        <p:spPr>
          <a:xfrm>
            <a:off x="8275320" y="5166360"/>
            <a:ext cx="2971800" cy="566928"/>
          </a:xfrm>
          <a:prstGeom prst="rect">
            <a:avLst/>
          </a:prstGeom>
          <a:noFill/>
          <a:ln/>
        </p:spPr>
        <p:txBody>
          <a:bodyPr wrap="square" lIns="0" tIns="0" rIns="0" bIns="0" rtlCol="0" anchor="t"/>
          <a:lstStyle/>
          <a:p>
            <a:pPr marL="0" indent="0">
              <a:buNone/>
            </a:pPr>
            <a:r>
              <a:rPr lang="en-US" sz="1250" dirty="0">
                <a:solidFill>
                  <a:srgbClr val="9FB4C2"/>
                </a:solidFill>
                <a:latin typeface="Calibri" pitchFamily="34" charset="0"/>
                <a:ea typeface="Calibri" pitchFamily="34" charset="-122"/>
                <a:cs typeface="Calibri" pitchFamily="34" charset="-120"/>
              </a:rPr>
              <a:t>What I need you to decide today; target venues.</a:t>
            </a:r>
            <a:endParaRPr lang="en-US" sz="1250" dirty="0"/>
          </a:p>
        </p:txBody>
      </p:sp>
      <p:sp>
        <p:nvSpPr>
          <p:cNvPr id="39" name="Text 37"/>
          <p:cNvSpPr txBox="1"/>
          <p:nvPr/>
        </p:nvSpPr>
        <p:spPr>
          <a:xfrm>
            <a:off x="640080" y="6263640"/>
            <a:ext cx="6400800" cy="274320"/>
          </a:xfrm>
          <a:prstGeom prst="rect">
            <a:avLst/>
          </a:prstGeom>
          <a:noFill/>
          <a:ln/>
        </p:spPr>
        <p:txBody>
          <a:bodyPr wrap="square" lIns="0" tIns="0" rIns="0" bIns="0" rtlCol="0" anchor="ctr"/>
          <a:lstStyle/>
          <a:p>
            <a:pPr marL="0" indent="0">
              <a:buNone/>
            </a:pPr>
            <a:r>
              <a:rPr lang="en-US" sz="1100" dirty="0">
                <a:solidFill>
                  <a:srgbClr val="6F8796"/>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40" name="Text 38"/>
          <p:cNvSpPr txBox="1"/>
          <p:nvPr/>
        </p:nvSpPr>
        <p:spPr>
          <a:xfrm>
            <a:off x="11064240" y="6263640"/>
            <a:ext cx="457200" cy="274320"/>
          </a:xfrm>
          <a:prstGeom prst="rect">
            <a:avLst/>
          </a:prstGeom>
          <a:noFill/>
          <a:ln/>
        </p:spPr>
        <p:txBody>
          <a:bodyPr wrap="square" lIns="0" tIns="0" rIns="0" bIns="0" rtlCol="0" anchor="ctr"/>
          <a:lstStyle/>
          <a:p>
            <a:pPr marL="0" indent="0" algn="r">
              <a:buNone/>
            </a:pPr>
            <a:r>
              <a:rPr lang="en-US" sz="1100" dirty="0">
                <a:solidFill>
                  <a:srgbClr val="6F8796"/>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7315200" cy="320040"/>
          </a:xfrm>
          <a:prstGeom prst="rect">
            <a:avLst/>
          </a:prstGeom>
          <a:noFill/>
          <a:ln/>
        </p:spPr>
        <p:txBody>
          <a:bodyPr wrap="square" lIns="0" tIns="0" rIns="0" bIns="0" rtlCol="0" anchor="ctr"/>
          <a:lstStyle/>
          <a:p>
            <a:pPr marL="0" indent="0">
              <a:buNone/>
            </a:pPr>
            <a:r>
              <a:rPr lang="en-US" sz="1400" b="1" kern="0" spc="200" dirty="0">
                <a:solidFill>
                  <a:srgbClr val="2BB3A3"/>
                </a:solidFill>
                <a:latin typeface="Calibri" pitchFamily="34" charset="0"/>
                <a:ea typeface="Calibri" pitchFamily="34" charset="-122"/>
                <a:cs typeface="Calibri" pitchFamily="34" charset="-120"/>
              </a:rPr>
              <a:t>Research landscape</a:t>
            </a:r>
            <a:endParaRPr lang="en-US" sz="1400" dirty="0"/>
          </a:p>
        </p:txBody>
      </p:sp>
      <p:sp>
        <p:nvSpPr>
          <p:cNvPr id="3" name="Text 1"/>
          <p:cNvSpPr txBox="1"/>
          <p:nvPr/>
        </p:nvSpPr>
        <p:spPr>
          <a:xfrm>
            <a:off x="640080" y="822960"/>
            <a:ext cx="10515600" cy="640080"/>
          </a:xfrm>
          <a:prstGeom prst="rect">
            <a:avLst/>
          </a:prstGeom>
          <a:noFill/>
          <a:ln/>
        </p:spPr>
        <p:txBody>
          <a:bodyPr wrap="square" lIns="0" tIns="0" rIns="0" bIns="0" rtlCol="0" anchor="ctr"/>
          <a:lstStyle/>
          <a:p>
            <a:r>
              <a:rPr lang="en-US" sz="3000" b="1" dirty="0">
                <a:solidFill>
                  <a:srgbClr val="12394D"/>
                </a:solidFill>
                <a:latin typeface="Cambria" pitchFamily="34" charset="0"/>
                <a:ea typeface="Cambria" pitchFamily="34" charset="-122"/>
                <a:cs typeface="Cambria" pitchFamily="34" charset="-120"/>
              </a:rPr>
              <a:t>Three complementary surveys</a:t>
            </a:r>
            <a:endParaRPr lang="en-US" sz="3000" dirty="0"/>
          </a:p>
        </p:txBody>
      </p:sp>
      <p:sp>
        <p:nvSpPr>
          <p:cNvPr id="4" name="Shape 2"/>
          <p:cNvSpPr/>
          <p:nvPr/>
        </p:nvSpPr>
        <p:spPr>
          <a:xfrm>
            <a:off x="640080" y="1783080"/>
            <a:ext cx="3429000" cy="3520440"/>
          </a:xfrm>
          <a:prstGeom prst="roundRect">
            <a:avLst>
              <a:gd name="adj" fmla="val 2133"/>
            </a:avLst>
          </a:prstGeom>
          <a:solidFill>
            <a:srgbClr val="12394D"/>
          </a:solidFill>
          <a:ln w="12700">
            <a:solidFill>
              <a:srgbClr val="12394D"/>
            </a:solidFill>
            <a:prstDash val="solid"/>
          </a:ln>
        </p:spPr>
        <p:txBody>
          <a:bodyPr/>
          <a:lstStyle/>
          <a:p>
            <a:endParaRPr lang="en-US"/>
          </a:p>
        </p:txBody>
      </p:sp>
      <p:sp>
        <p:nvSpPr>
          <p:cNvPr id="5" name="Shape 3"/>
          <p:cNvSpPr/>
          <p:nvPr/>
        </p:nvSpPr>
        <p:spPr>
          <a:xfrm>
            <a:off x="868680" y="2039112"/>
            <a:ext cx="566928" cy="566928"/>
          </a:xfrm>
          <a:prstGeom prst="ellipse">
            <a:avLst/>
          </a:prstGeom>
          <a:solidFill>
            <a:srgbClr val="1A8A99"/>
          </a:solidFill>
          <a:ln w="12700">
            <a:solidFill>
              <a:srgbClr val="1A8A99"/>
            </a:solidFill>
            <a:prstDash val="solid"/>
          </a:ln>
        </p:spPr>
        <p:txBody>
          <a:bodyPr/>
          <a:lstStyle/>
          <a:p>
            <a:endParaRPr lang="en-US"/>
          </a:p>
        </p:txBody>
      </p:sp>
      <p:sp>
        <p:nvSpPr>
          <p:cNvPr id="6" name="Text 4"/>
          <p:cNvSpPr txBox="1"/>
          <p:nvPr/>
        </p:nvSpPr>
        <p:spPr>
          <a:xfrm>
            <a:off x="868680" y="2039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600200" y="2002536"/>
            <a:ext cx="2286000" cy="365760"/>
          </a:xfrm>
          <a:prstGeom prst="rect">
            <a:avLst/>
          </a:prstGeom>
          <a:noFill/>
          <a:ln/>
        </p:spPr>
        <p:txBody>
          <a:bodyPr wrap="square" lIns="0" tIns="0" rIns="0" bIns="0" rtlCol="0" anchor="ctr">
            <a:normAutofit fontScale="85000" lnSpcReduction="10000"/>
          </a:bodyPr>
          <a:lstStyle/>
          <a:p>
            <a:pPr marL="0" indent="0">
              <a:buNone/>
            </a:pPr>
            <a:r>
              <a:rPr lang="en-US" sz="1700" b="1" dirty="0">
                <a:solidFill>
                  <a:srgbClr val="FFFFFF"/>
                </a:solidFill>
                <a:latin typeface="Cambria" pitchFamily="34" charset="0"/>
                <a:ea typeface="Cambria" pitchFamily="34" charset="-122"/>
                <a:cs typeface="Cambria" pitchFamily="34" charset="-120"/>
              </a:rPr>
              <a:t>5G URLLC &amp; 6G challenges</a:t>
            </a:r>
            <a:endParaRPr lang="en-US" sz="1700" dirty="0"/>
          </a:p>
        </p:txBody>
      </p:sp>
      <p:sp>
        <p:nvSpPr>
          <p:cNvPr id="8" name="Text 6"/>
          <p:cNvSpPr txBox="1"/>
          <p:nvPr/>
        </p:nvSpPr>
        <p:spPr>
          <a:xfrm>
            <a:off x="1600200" y="2368296"/>
            <a:ext cx="2286000" cy="274320"/>
          </a:xfrm>
          <a:prstGeom prst="rect">
            <a:avLst/>
          </a:prstGeom>
          <a:noFill/>
          <a:ln/>
        </p:spPr>
        <p:txBody>
          <a:bodyPr wrap="square" lIns="0" tIns="0" rIns="0" bIns="0" rtlCol="0" anchor="ctr"/>
          <a:lstStyle/>
          <a:p>
            <a:pPr marL="0" indent="0">
              <a:buNone/>
            </a:pPr>
            <a:r>
              <a:rPr lang="en-US" sz="1100" dirty="0">
                <a:solidFill>
                  <a:srgbClr val="9FB1BE"/>
                </a:solidFill>
                <a:latin typeface="Calibri" pitchFamily="34" charset="0"/>
                <a:ea typeface="Calibri" pitchFamily="34" charset="-122"/>
                <a:cs typeface="Calibri" pitchFamily="34" charset="-120"/>
              </a:rPr>
              <a:t>Haque et al. · IEEE COMST · 2025</a:t>
            </a:r>
            <a:endParaRPr lang="en-US" sz="1100" dirty="0"/>
          </a:p>
        </p:txBody>
      </p:sp>
      <p:sp>
        <p:nvSpPr>
          <p:cNvPr id="9" name="Text 7"/>
          <p:cNvSpPr txBox="1"/>
          <p:nvPr/>
        </p:nvSpPr>
        <p:spPr>
          <a:xfrm>
            <a:off x="868680" y="2834640"/>
            <a:ext cx="2971800" cy="274320"/>
          </a:xfrm>
          <a:prstGeom prst="rect">
            <a:avLst/>
          </a:prstGeom>
          <a:noFill/>
          <a:ln/>
        </p:spPr>
        <p:txBody>
          <a:bodyPr wrap="square" lIns="0" tIns="0" rIns="0" bIns="0" rtlCol="0" anchor="ctr"/>
          <a:lstStyle/>
          <a:p>
            <a:pPr marL="0" indent="0">
              <a:buNone/>
            </a:pPr>
            <a:r>
              <a:rPr lang="en-US" sz="1150" b="1" kern="0" spc="100" dirty="0">
                <a:solidFill>
                  <a:srgbClr val="2BB3A3"/>
                </a:solidFill>
                <a:latin typeface="Calibri" pitchFamily="34" charset="0"/>
                <a:ea typeface="Calibri" pitchFamily="34" charset="-122"/>
                <a:cs typeface="Calibri" pitchFamily="34" charset="-120"/>
              </a:rPr>
              <a:t>WHAT MUST BE GUARANTEED</a:t>
            </a:r>
            <a:endParaRPr lang="en-US" sz="1150" dirty="0"/>
          </a:p>
        </p:txBody>
      </p:sp>
      <p:sp>
        <p:nvSpPr>
          <p:cNvPr id="10" name="Text 8"/>
          <p:cNvSpPr txBox="1"/>
          <p:nvPr/>
        </p:nvSpPr>
        <p:spPr>
          <a:xfrm>
            <a:off x="868680" y="3154680"/>
            <a:ext cx="2971800" cy="1508760"/>
          </a:xfrm>
          <a:prstGeom prst="rect">
            <a:avLst/>
          </a:prstGeom>
          <a:noFill/>
          <a:ln/>
        </p:spPr>
        <p:txBody>
          <a:bodyPr wrap="square" lIns="0" tIns="0" rIns="0" bIns="0" rtlCol="0" anchor="t"/>
          <a:lstStyle/>
          <a:p>
            <a:pPr marL="0" indent="0">
              <a:buNone/>
            </a:pPr>
            <a:r>
              <a:rPr lang="en-US" sz="1400" dirty="0">
                <a:solidFill>
                  <a:srgbClr val="C3D3DD"/>
                </a:solidFill>
                <a:latin typeface="Calibri" pitchFamily="34" charset="0"/>
                <a:ea typeface="Calibri" pitchFamily="34" charset="-122"/>
                <a:cs typeface="Calibri" pitchFamily="34" charset="-120"/>
              </a:rPr>
              <a:t>The most comprehensive coverage of URLLC: spans PHY, MAC and cross-layer design, and integrates machine learning and 6G perspectives.</a:t>
            </a:r>
            <a:endParaRPr lang="en-US" sz="1400" dirty="0"/>
          </a:p>
        </p:txBody>
      </p:sp>
      <p:sp>
        <p:nvSpPr>
          <p:cNvPr id="11" name="Text 9"/>
          <p:cNvSpPr txBox="1"/>
          <p:nvPr/>
        </p:nvSpPr>
        <p:spPr>
          <a:xfrm>
            <a:off x="868680" y="4526280"/>
            <a:ext cx="2971800" cy="274320"/>
          </a:xfrm>
          <a:prstGeom prst="rect">
            <a:avLst/>
          </a:prstGeom>
          <a:noFill/>
          <a:ln/>
        </p:spPr>
        <p:txBody>
          <a:bodyPr wrap="square" lIns="0" tIns="0" rIns="0" bIns="0" rtlCol="0" anchor="ctr"/>
          <a:lstStyle/>
          <a:p>
            <a:pPr marL="0" indent="0">
              <a:buNone/>
            </a:pPr>
            <a:r>
              <a:rPr lang="en-US" sz="1100" i="1" dirty="0">
                <a:solidFill>
                  <a:srgbClr val="8FD3C9"/>
                </a:solidFill>
                <a:latin typeface="Calibri" pitchFamily="34" charset="0"/>
                <a:ea typeface="Calibri" pitchFamily="34" charset="-122"/>
                <a:cs typeface="Calibri" pitchFamily="34" charset="-120"/>
              </a:rPr>
              <a:t>PHY · MAC · Cross-layer · ML · 6G</a:t>
            </a:r>
            <a:endParaRPr lang="en-US" sz="1100" dirty="0"/>
          </a:p>
        </p:txBody>
      </p:sp>
      <p:sp>
        <p:nvSpPr>
          <p:cNvPr id="12" name="Text 10"/>
          <p:cNvSpPr txBox="1"/>
          <p:nvPr/>
        </p:nvSpPr>
        <p:spPr>
          <a:xfrm>
            <a:off x="2834640" y="4892040"/>
            <a:ext cx="1005840" cy="274320"/>
          </a:xfrm>
          <a:prstGeom prst="rect">
            <a:avLst/>
          </a:prstGeom>
          <a:noFill/>
          <a:ln/>
        </p:spPr>
        <p:txBody>
          <a:bodyPr wrap="square" lIns="0" tIns="0" rIns="0" bIns="0"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Slide 32  →</a:t>
            </a:r>
            <a:endParaRPr lang="en-US" sz="1150" dirty="0"/>
          </a:p>
        </p:txBody>
      </p:sp>
      <p:sp>
        <p:nvSpPr>
          <p:cNvPr id="13" name="Shape 11"/>
          <p:cNvSpPr/>
          <p:nvPr/>
        </p:nvSpPr>
        <p:spPr>
          <a:xfrm>
            <a:off x="4343400" y="1783080"/>
            <a:ext cx="3429000" cy="3520440"/>
          </a:xfrm>
          <a:prstGeom prst="roundRect">
            <a:avLst>
              <a:gd name="adj" fmla="val 2133"/>
            </a:avLst>
          </a:prstGeom>
          <a:solidFill>
            <a:srgbClr val="12394D"/>
          </a:solidFill>
          <a:ln w="12700">
            <a:solidFill>
              <a:srgbClr val="12394D"/>
            </a:solidFill>
            <a:prstDash val="solid"/>
          </a:ln>
        </p:spPr>
        <p:txBody>
          <a:bodyPr/>
          <a:lstStyle/>
          <a:p>
            <a:endParaRPr lang="en-US"/>
          </a:p>
        </p:txBody>
      </p:sp>
      <p:sp>
        <p:nvSpPr>
          <p:cNvPr id="14" name="Shape 12"/>
          <p:cNvSpPr/>
          <p:nvPr/>
        </p:nvSpPr>
        <p:spPr>
          <a:xfrm>
            <a:off x="4572000" y="2039112"/>
            <a:ext cx="566928" cy="566928"/>
          </a:xfrm>
          <a:prstGeom prst="ellipse">
            <a:avLst/>
          </a:prstGeom>
          <a:solidFill>
            <a:srgbClr val="1A8A99"/>
          </a:solidFill>
          <a:ln w="12700">
            <a:solidFill>
              <a:srgbClr val="1A8A99"/>
            </a:solidFill>
            <a:prstDash val="solid"/>
          </a:ln>
        </p:spPr>
        <p:txBody>
          <a:bodyPr/>
          <a:lstStyle/>
          <a:p>
            <a:endParaRPr lang="en-US"/>
          </a:p>
        </p:txBody>
      </p:sp>
      <p:sp>
        <p:nvSpPr>
          <p:cNvPr id="15" name="Text 13"/>
          <p:cNvSpPr txBox="1"/>
          <p:nvPr/>
        </p:nvSpPr>
        <p:spPr>
          <a:xfrm>
            <a:off x="4572000" y="2039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4"/>
          <p:cNvSpPr txBox="1"/>
          <p:nvPr/>
        </p:nvSpPr>
        <p:spPr>
          <a:xfrm>
            <a:off x="5303520" y="2002536"/>
            <a:ext cx="2286000" cy="365760"/>
          </a:xfrm>
          <a:prstGeom prst="rect">
            <a:avLst/>
          </a:prstGeom>
          <a:noFill/>
          <a:ln/>
        </p:spPr>
        <p:txBody>
          <a:bodyPr wrap="square" lIns="0" tIns="0" rIns="0" bIns="0" rtlCol="0" anchor="ctr">
            <a:normAutofit/>
          </a:bodyPr>
          <a:lstStyle/>
          <a:p>
            <a:pPr marL="0" indent="0">
              <a:buNone/>
            </a:pPr>
            <a:r>
              <a:rPr lang="en-US" sz="1700" b="1" dirty="0">
                <a:solidFill>
                  <a:srgbClr val="FFFFFF"/>
                </a:solidFill>
                <a:latin typeface="Cambria" pitchFamily="34" charset="0"/>
                <a:ea typeface="Cambria" pitchFamily="34" charset="-122"/>
                <a:cs typeface="Cambria" pitchFamily="34" charset="-120"/>
              </a:rPr>
              <a:t>DRL for 6G AI-RAN</a:t>
            </a:r>
            <a:endParaRPr lang="en-US" sz="1700" dirty="0"/>
          </a:p>
        </p:txBody>
      </p:sp>
      <p:sp>
        <p:nvSpPr>
          <p:cNvPr id="17" name="Text 15"/>
          <p:cNvSpPr txBox="1"/>
          <p:nvPr/>
        </p:nvSpPr>
        <p:spPr>
          <a:xfrm>
            <a:off x="5303520" y="2368296"/>
            <a:ext cx="2286000" cy="274320"/>
          </a:xfrm>
          <a:prstGeom prst="rect">
            <a:avLst/>
          </a:prstGeom>
          <a:noFill/>
          <a:ln/>
        </p:spPr>
        <p:txBody>
          <a:bodyPr wrap="square" lIns="0" tIns="0" rIns="0" bIns="0" rtlCol="0" anchor="ctr"/>
          <a:lstStyle/>
          <a:p>
            <a:pPr marL="0" indent="0">
              <a:buNone/>
            </a:pPr>
            <a:r>
              <a:rPr lang="en-US" sz="1100" dirty="0">
                <a:solidFill>
                  <a:srgbClr val="9FB1BE"/>
                </a:solidFill>
                <a:latin typeface="Calibri" pitchFamily="34" charset="0"/>
                <a:ea typeface="Calibri" pitchFamily="34" charset="-122"/>
                <a:cs typeface="Calibri" pitchFamily="34" charset="-120"/>
              </a:rPr>
              <a:t>Lu et al. · arXiv · 2026</a:t>
            </a:r>
            <a:endParaRPr lang="en-US" sz="1100" dirty="0"/>
          </a:p>
        </p:txBody>
      </p:sp>
      <p:sp>
        <p:nvSpPr>
          <p:cNvPr id="18" name="Text 16"/>
          <p:cNvSpPr txBox="1"/>
          <p:nvPr/>
        </p:nvSpPr>
        <p:spPr>
          <a:xfrm>
            <a:off x="4572000" y="2834640"/>
            <a:ext cx="2971800" cy="274320"/>
          </a:xfrm>
          <a:prstGeom prst="rect">
            <a:avLst/>
          </a:prstGeom>
          <a:noFill/>
          <a:ln/>
        </p:spPr>
        <p:txBody>
          <a:bodyPr wrap="square" lIns="0" tIns="0" rIns="0" bIns="0" rtlCol="0" anchor="ctr"/>
          <a:lstStyle/>
          <a:p>
            <a:pPr marL="0" indent="0">
              <a:buNone/>
            </a:pPr>
            <a:r>
              <a:rPr lang="en-US" sz="1150" b="1" kern="0" spc="100" dirty="0">
                <a:solidFill>
                  <a:srgbClr val="2BB3A3"/>
                </a:solidFill>
                <a:latin typeface="Calibri" pitchFamily="34" charset="0"/>
                <a:ea typeface="Calibri" pitchFamily="34" charset="-122"/>
                <a:cs typeface="Calibri" pitchFamily="34" charset="-120"/>
              </a:rPr>
              <a:t>HOW AN AI AGENT CONTROLS THE RAN</a:t>
            </a:r>
            <a:endParaRPr lang="en-US" sz="1150" dirty="0"/>
          </a:p>
        </p:txBody>
      </p:sp>
      <p:sp>
        <p:nvSpPr>
          <p:cNvPr id="19" name="Text 17"/>
          <p:cNvSpPr txBox="1"/>
          <p:nvPr/>
        </p:nvSpPr>
        <p:spPr>
          <a:xfrm>
            <a:off x="4572000" y="3154680"/>
            <a:ext cx="2971800" cy="1508760"/>
          </a:xfrm>
          <a:prstGeom prst="rect">
            <a:avLst/>
          </a:prstGeom>
          <a:noFill/>
          <a:ln/>
        </p:spPr>
        <p:txBody>
          <a:bodyPr wrap="square" lIns="0" tIns="0" rIns="0" bIns="0" rtlCol="0" anchor="t"/>
          <a:lstStyle/>
          <a:p>
            <a:pPr marL="0" indent="0">
              <a:buNone/>
            </a:pPr>
            <a:r>
              <a:rPr lang="en-US" sz="1400" dirty="0">
                <a:solidFill>
                  <a:srgbClr val="C3D3DD"/>
                </a:solidFill>
                <a:latin typeface="Calibri" pitchFamily="34" charset="0"/>
                <a:ea typeface="Calibri" pitchFamily="34" charset="-122"/>
                <a:cs typeface="Calibri" pitchFamily="34" charset="-120"/>
              </a:rPr>
              <a:t>End-to-end DRL for O-RAN: RL fundamentals and MDP modelling, multi-agent and federated DRL, foundation models, trustworthy DRL and the training-to-deployment lifecycle.</a:t>
            </a:r>
            <a:endParaRPr lang="en-US" sz="1400" dirty="0"/>
          </a:p>
        </p:txBody>
      </p:sp>
      <p:sp>
        <p:nvSpPr>
          <p:cNvPr id="20" name="Text 18"/>
          <p:cNvSpPr txBox="1"/>
          <p:nvPr/>
        </p:nvSpPr>
        <p:spPr>
          <a:xfrm>
            <a:off x="4572000" y="4526280"/>
            <a:ext cx="2971800" cy="274320"/>
          </a:xfrm>
          <a:prstGeom prst="rect">
            <a:avLst/>
          </a:prstGeom>
          <a:noFill/>
          <a:ln/>
        </p:spPr>
        <p:txBody>
          <a:bodyPr wrap="square" lIns="0" tIns="0" rIns="0" bIns="0" rtlCol="0" anchor="ctr"/>
          <a:lstStyle/>
          <a:p>
            <a:pPr marL="0" indent="0">
              <a:buNone/>
            </a:pPr>
            <a:r>
              <a:rPr lang="en-US" sz="1100" i="1" dirty="0">
                <a:solidFill>
                  <a:srgbClr val="8FD3C9"/>
                </a:solidFill>
                <a:latin typeface="Calibri" pitchFamily="34" charset="0"/>
                <a:ea typeface="Calibri" pitchFamily="34" charset="-122"/>
                <a:cs typeface="Calibri" pitchFamily="34" charset="-120"/>
              </a:rPr>
              <a:t>MDP · MARL / FL · Safe RL · Deployment</a:t>
            </a:r>
            <a:endParaRPr lang="en-US" sz="1100" dirty="0"/>
          </a:p>
        </p:txBody>
      </p:sp>
      <p:sp>
        <p:nvSpPr>
          <p:cNvPr id="21" name="Text 19"/>
          <p:cNvSpPr txBox="1"/>
          <p:nvPr/>
        </p:nvSpPr>
        <p:spPr>
          <a:xfrm>
            <a:off x="6537960" y="4892040"/>
            <a:ext cx="1005840" cy="274320"/>
          </a:xfrm>
          <a:prstGeom prst="rect">
            <a:avLst/>
          </a:prstGeom>
          <a:noFill/>
          <a:ln/>
        </p:spPr>
        <p:txBody>
          <a:bodyPr wrap="square" lIns="0" tIns="0" rIns="0" bIns="0"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Slide 33  →</a:t>
            </a:r>
            <a:endParaRPr lang="en-US" sz="1150" dirty="0"/>
          </a:p>
        </p:txBody>
      </p:sp>
      <p:sp>
        <p:nvSpPr>
          <p:cNvPr id="22" name="Shape 20"/>
          <p:cNvSpPr/>
          <p:nvPr/>
        </p:nvSpPr>
        <p:spPr>
          <a:xfrm>
            <a:off x="8046720" y="1783080"/>
            <a:ext cx="3429000" cy="3520440"/>
          </a:xfrm>
          <a:prstGeom prst="roundRect">
            <a:avLst>
              <a:gd name="adj" fmla="val 2133"/>
            </a:avLst>
          </a:prstGeom>
          <a:solidFill>
            <a:srgbClr val="12394D"/>
          </a:solidFill>
          <a:ln w="12700">
            <a:solidFill>
              <a:srgbClr val="12394D"/>
            </a:solidFill>
            <a:prstDash val="solid"/>
          </a:ln>
        </p:spPr>
        <p:txBody>
          <a:bodyPr/>
          <a:lstStyle/>
          <a:p>
            <a:endParaRPr lang="en-US"/>
          </a:p>
        </p:txBody>
      </p:sp>
      <p:sp>
        <p:nvSpPr>
          <p:cNvPr id="23" name="Shape 21"/>
          <p:cNvSpPr/>
          <p:nvPr/>
        </p:nvSpPr>
        <p:spPr>
          <a:xfrm>
            <a:off x="8275320" y="2039112"/>
            <a:ext cx="566928" cy="566928"/>
          </a:xfrm>
          <a:prstGeom prst="ellipse">
            <a:avLst/>
          </a:prstGeom>
          <a:solidFill>
            <a:srgbClr val="1A8A99"/>
          </a:solidFill>
          <a:ln w="12700">
            <a:solidFill>
              <a:srgbClr val="1A8A99"/>
            </a:solidFill>
            <a:prstDash val="solid"/>
          </a:ln>
        </p:spPr>
        <p:txBody>
          <a:bodyPr/>
          <a:lstStyle/>
          <a:p>
            <a:endParaRPr lang="en-US"/>
          </a:p>
        </p:txBody>
      </p:sp>
      <p:sp>
        <p:nvSpPr>
          <p:cNvPr id="24" name="Text 22"/>
          <p:cNvSpPr txBox="1"/>
          <p:nvPr/>
        </p:nvSpPr>
        <p:spPr>
          <a:xfrm>
            <a:off x="8275320" y="203911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5" name="Text 23"/>
          <p:cNvSpPr txBox="1"/>
          <p:nvPr/>
        </p:nvSpPr>
        <p:spPr>
          <a:xfrm>
            <a:off x="9006840" y="2002536"/>
            <a:ext cx="2286000" cy="365760"/>
          </a:xfrm>
          <a:prstGeom prst="rect">
            <a:avLst/>
          </a:prstGeom>
          <a:noFill/>
          <a:ln/>
        </p:spPr>
        <p:txBody>
          <a:bodyPr wrap="square" lIns="0" tIns="0" rIns="0" bIns="0" rtlCol="0" anchor="ctr">
            <a:normAutofit fontScale="85000" lnSpcReduction="10000"/>
          </a:bodyPr>
          <a:lstStyle/>
          <a:p>
            <a:pPr marL="0" indent="0">
              <a:buNone/>
            </a:pPr>
            <a:r>
              <a:rPr lang="en-US" sz="1700" b="1" dirty="0">
                <a:solidFill>
                  <a:srgbClr val="FFFFFF"/>
                </a:solidFill>
                <a:latin typeface="Cambria" pitchFamily="34" charset="0"/>
                <a:ea typeface="Cambria" pitchFamily="34" charset="-122"/>
                <a:cs typeface="Cambria" pitchFamily="34" charset="-120"/>
              </a:rPr>
              <a:t>eMBB–URLLC coexistence</a:t>
            </a:r>
            <a:endParaRPr lang="en-US" sz="1700" dirty="0"/>
          </a:p>
        </p:txBody>
      </p:sp>
      <p:sp>
        <p:nvSpPr>
          <p:cNvPr id="26" name="Text 24"/>
          <p:cNvSpPr txBox="1"/>
          <p:nvPr/>
        </p:nvSpPr>
        <p:spPr>
          <a:xfrm>
            <a:off x="9006840" y="2368296"/>
            <a:ext cx="2286000" cy="274320"/>
          </a:xfrm>
          <a:prstGeom prst="rect">
            <a:avLst/>
          </a:prstGeom>
          <a:noFill/>
          <a:ln/>
        </p:spPr>
        <p:txBody>
          <a:bodyPr wrap="square" lIns="0" tIns="0" rIns="0" bIns="0" rtlCol="0" anchor="ctr"/>
          <a:lstStyle/>
          <a:p>
            <a:pPr marL="0" indent="0">
              <a:buNone/>
            </a:pPr>
            <a:r>
              <a:rPr lang="en-US" sz="1100" dirty="0">
                <a:solidFill>
                  <a:srgbClr val="9FB1BE"/>
                </a:solidFill>
                <a:latin typeface="Calibri" pitchFamily="34" charset="0"/>
                <a:ea typeface="Calibri" pitchFamily="34" charset="-122"/>
                <a:cs typeface="Calibri" pitchFamily="34" charset="-120"/>
              </a:rPr>
              <a:t>Adhikari et al. · IEEE Access · 2024</a:t>
            </a:r>
            <a:endParaRPr lang="en-US" sz="1100" dirty="0"/>
          </a:p>
        </p:txBody>
      </p:sp>
      <p:sp>
        <p:nvSpPr>
          <p:cNvPr id="27" name="Text 25"/>
          <p:cNvSpPr txBox="1"/>
          <p:nvPr/>
        </p:nvSpPr>
        <p:spPr>
          <a:xfrm>
            <a:off x="8275320" y="2834640"/>
            <a:ext cx="2971800" cy="274320"/>
          </a:xfrm>
          <a:prstGeom prst="rect">
            <a:avLst/>
          </a:prstGeom>
          <a:noFill/>
          <a:ln/>
        </p:spPr>
        <p:txBody>
          <a:bodyPr wrap="square" lIns="0" tIns="0" rIns="0" bIns="0" rtlCol="0" anchor="ctr"/>
          <a:lstStyle/>
          <a:p>
            <a:pPr marL="0" indent="0">
              <a:buNone/>
            </a:pPr>
            <a:r>
              <a:rPr lang="en-US" sz="1150" b="1" kern="0" spc="100" dirty="0">
                <a:solidFill>
                  <a:srgbClr val="2BB3A3"/>
                </a:solidFill>
                <a:latin typeface="Calibri" pitchFamily="34" charset="0"/>
                <a:ea typeface="Calibri" pitchFamily="34" charset="-122"/>
                <a:cs typeface="Calibri" pitchFamily="34" charset="-120"/>
              </a:rPr>
              <a:t>HOW THE SERVICES SHARE RESOURCES</a:t>
            </a:r>
            <a:endParaRPr lang="en-US" sz="1150" dirty="0"/>
          </a:p>
        </p:txBody>
      </p:sp>
      <p:sp>
        <p:nvSpPr>
          <p:cNvPr id="28" name="Text 26"/>
          <p:cNvSpPr txBox="1"/>
          <p:nvPr/>
        </p:nvSpPr>
        <p:spPr>
          <a:xfrm>
            <a:off x="8275320" y="3154680"/>
            <a:ext cx="2971800" cy="1508760"/>
          </a:xfrm>
          <a:prstGeom prst="rect">
            <a:avLst/>
          </a:prstGeom>
          <a:noFill/>
          <a:ln/>
        </p:spPr>
        <p:txBody>
          <a:bodyPr wrap="square" lIns="0" tIns="0" rIns="0" bIns="0" rtlCol="0" anchor="t"/>
          <a:lstStyle/>
          <a:p>
            <a:pPr marL="0" indent="0">
              <a:buNone/>
            </a:pPr>
            <a:r>
              <a:rPr lang="en-US" sz="1400" dirty="0">
                <a:solidFill>
                  <a:srgbClr val="C3D3DD"/>
                </a:solidFill>
                <a:latin typeface="Calibri" pitchFamily="34" charset="0"/>
                <a:ea typeface="Calibri" pitchFamily="34" charset="-122"/>
                <a:cs typeface="Calibri" pitchFamily="34" charset="-120"/>
              </a:rPr>
              <a:t>Shows that earlier surveys treat eMBB and URLLC separately or partially, the first survey dedicated to their coexistence and joint resource allocation in 6G.</a:t>
            </a:r>
            <a:endParaRPr lang="en-US" sz="1400" dirty="0"/>
          </a:p>
        </p:txBody>
      </p:sp>
      <p:sp>
        <p:nvSpPr>
          <p:cNvPr id="29" name="Text 27"/>
          <p:cNvSpPr txBox="1"/>
          <p:nvPr/>
        </p:nvSpPr>
        <p:spPr>
          <a:xfrm>
            <a:off x="8275320" y="4526280"/>
            <a:ext cx="2971800" cy="274320"/>
          </a:xfrm>
          <a:prstGeom prst="rect">
            <a:avLst/>
          </a:prstGeom>
          <a:noFill/>
          <a:ln/>
        </p:spPr>
        <p:txBody>
          <a:bodyPr wrap="square" lIns="0" tIns="0" rIns="0" bIns="0" rtlCol="0" anchor="ctr"/>
          <a:lstStyle/>
          <a:p>
            <a:pPr marL="0" indent="0">
              <a:buNone/>
            </a:pPr>
            <a:r>
              <a:rPr lang="en-US" sz="1100" i="1" dirty="0">
                <a:solidFill>
                  <a:srgbClr val="8FD3C9"/>
                </a:solidFill>
                <a:latin typeface="Calibri" pitchFamily="34" charset="0"/>
                <a:ea typeface="Calibri" pitchFamily="34" charset="-122"/>
                <a:cs typeface="Calibri" pitchFamily="34" charset="-120"/>
              </a:rPr>
              <a:t>Puncturing · Slicing · TTI · ML / FL · RIS-UAV</a:t>
            </a:r>
            <a:endParaRPr lang="en-US" sz="1100" dirty="0"/>
          </a:p>
        </p:txBody>
      </p:sp>
      <p:sp>
        <p:nvSpPr>
          <p:cNvPr id="30" name="Text 28"/>
          <p:cNvSpPr txBox="1"/>
          <p:nvPr/>
        </p:nvSpPr>
        <p:spPr>
          <a:xfrm>
            <a:off x="10241280" y="4892040"/>
            <a:ext cx="1005840" cy="274320"/>
          </a:xfrm>
          <a:prstGeom prst="rect">
            <a:avLst/>
          </a:prstGeom>
          <a:noFill/>
          <a:ln/>
        </p:spPr>
        <p:txBody>
          <a:bodyPr wrap="square" lIns="0" tIns="0" rIns="0" bIns="0"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Slide 34  →</a:t>
            </a:r>
            <a:endParaRPr lang="en-US" sz="1150" dirty="0"/>
          </a:p>
        </p:txBody>
      </p:sp>
      <p:sp>
        <p:nvSpPr>
          <p:cNvPr id="31" name="Shape 29"/>
          <p:cNvSpPr/>
          <p:nvPr/>
        </p:nvSpPr>
        <p:spPr>
          <a:xfrm>
            <a:off x="640080" y="5532120"/>
            <a:ext cx="10835640" cy="457200"/>
          </a:xfrm>
          <a:prstGeom prst="roundRect">
            <a:avLst>
              <a:gd name="adj" fmla="val 12000"/>
            </a:avLst>
          </a:prstGeom>
          <a:solidFill>
            <a:srgbClr val="E6F4F2"/>
          </a:solidFill>
          <a:ln w="12700">
            <a:solidFill>
              <a:srgbClr val="E6F4F2"/>
            </a:solidFill>
            <a:prstDash val="solid"/>
          </a:ln>
        </p:spPr>
        <p:txBody>
          <a:bodyPr/>
          <a:lstStyle/>
          <a:p>
            <a:endParaRPr lang="en-US"/>
          </a:p>
        </p:txBody>
      </p:sp>
      <p:sp>
        <p:nvSpPr>
          <p:cNvPr id="32" name="Text 30"/>
          <p:cNvSpPr txBox="1"/>
          <p:nvPr/>
        </p:nvSpPr>
        <p:spPr>
          <a:xfrm>
            <a:off x="640080" y="5532120"/>
            <a:ext cx="10652760" cy="457200"/>
          </a:xfrm>
          <a:prstGeom prst="rect">
            <a:avLst/>
          </a:prstGeom>
          <a:noFill/>
          <a:ln/>
        </p:spPr>
        <p:txBody>
          <a:bodyPr wrap="square" lIns="0" tIns="0" rIns="0" bIns="0" rtlCol="0" anchor="ctr"/>
          <a:lstStyle/>
          <a:p>
            <a:pPr marL="0" indent="0">
              <a:buNone/>
            </a:pPr>
            <a:r>
              <a:rPr lang="en-US" sz="1350" b="1" dirty="0">
                <a:solidFill>
                  <a:srgbClr val="12394D"/>
                </a:solidFill>
                <a:latin typeface="Calibri" pitchFamily="34" charset="0"/>
                <a:ea typeface="Calibri" pitchFamily="34" charset="-122"/>
                <a:cs typeface="Calibri" pitchFamily="34" charset="-120"/>
              </a:rPr>
              <a:t>   Together:  </a:t>
            </a:r>
            <a:r>
              <a:rPr lang="en-US" sz="1350" dirty="0">
                <a:solidFill>
                  <a:srgbClr val="12394D"/>
                </a:solidFill>
                <a:latin typeface="Calibri" pitchFamily="34" charset="0"/>
                <a:ea typeface="Calibri" pitchFamily="34" charset="-122"/>
                <a:cs typeface="Calibri" pitchFamily="34" charset="-120"/>
              </a:rPr>
              <a:t>what must be guaranteed end-to-end  ·  how a learning agent can control the RAN safely  ·  how eMBB and URLLC share the same resources</a:t>
            </a:r>
            <a:endParaRPr lang="en-US" sz="1350" dirty="0"/>
          </a:p>
        </p:txBody>
      </p:sp>
      <p:sp>
        <p:nvSpPr>
          <p:cNvPr id="33" name="Text 31"/>
          <p:cNvSpPr txBox="1"/>
          <p:nvPr/>
        </p:nvSpPr>
        <p:spPr>
          <a:xfrm>
            <a:off x="640080" y="6355080"/>
            <a:ext cx="6400800" cy="274320"/>
          </a:xfrm>
          <a:prstGeom prst="rect">
            <a:avLst/>
          </a:prstGeom>
          <a:noFill/>
          <a:ln/>
        </p:spPr>
        <p:txBody>
          <a:bodyPr wrap="square" lIns="0" tIns="0" rIns="0" bIns="0" rtlCol="0" anchor="ctr"/>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34" name="Text 32"/>
          <p:cNvSpPr txBox="1"/>
          <p:nvPr/>
        </p:nvSpPr>
        <p:spPr>
          <a:xfrm>
            <a:off x="11018520" y="6355080"/>
            <a:ext cx="457200" cy="274320"/>
          </a:xfrm>
          <a:prstGeom prst="rect">
            <a:avLst/>
          </a:prstGeom>
          <a:noFill/>
          <a:ln/>
        </p:spPr>
        <p:txBody>
          <a:bodyPr wrap="square" lIns="0" tIns="0" rIns="0" bIns="0" rtlCol="0" anchor="ctr"/>
          <a:lstStyle/>
          <a:p>
            <a:pPr marL="0" indent="0" algn="r">
              <a:buNone/>
            </a:pPr>
            <a:r>
              <a:rPr lang="en-US" sz="1100" dirty="0">
                <a:solidFill>
                  <a:srgbClr val="5F7A8A"/>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1BF2DBC-4F8A-A523-E458-A9AA94711F2A}"/>
              </a:ext>
            </a:extLst>
          </p:cNvPr>
          <p:cNvPicPr>
            <a:picLocks noChangeAspect="1"/>
          </p:cNvPicPr>
          <p:nvPr/>
        </p:nvPicPr>
        <p:blipFill>
          <a:blip r:embed="rId2"/>
          <a:stretch>
            <a:fillRect/>
          </a:stretch>
        </p:blipFill>
        <p:spPr>
          <a:xfrm>
            <a:off x="127754" y="185285"/>
            <a:ext cx="11936491" cy="6487430"/>
          </a:xfrm>
          <a:prstGeom prst="rect">
            <a:avLst/>
          </a:prstGeom>
        </p:spPr>
      </p:pic>
      <p:sp>
        <p:nvSpPr>
          <p:cNvPr id="5" name="Text 32">
            <a:extLst>
              <a:ext uri="{FF2B5EF4-FFF2-40B4-BE49-F238E27FC236}">
                <a16:creationId xmlns:a16="http://schemas.microsoft.com/office/drawing/2014/main" id="{A9881419-86F8-43BC-0AD4-D18DBD5A9C67}"/>
              </a:ext>
            </a:extLst>
          </p:cNvPr>
          <p:cNvSpPr txBox="1"/>
          <p:nvPr/>
        </p:nvSpPr>
        <p:spPr>
          <a:xfrm>
            <a:off x="11018520" y="6355080"/>
            <a:ext cx="457200" cy="274320"/>
          </a:xfrm>
          <a:prstGeom prst="rect">
            <a:avLst/>
          </a:prstGeom>
          <a:noFill/>
          <a:ln/>
        </p:spPr>
        <p:txBody>
          <a:bodyPr wrap="square" lIns="0" tIns="0" rIns="0" bIns="0" rtlCol="0" anchor="ctr"/>
          <a:lstStyle/>
          <a:p>
            <a:pPr marL="0" indent="0" algn="r">
              <a:buNone/>
            </a:pPr>
            <a:r>
              <a:rPr lang="fr-FR" sz="1100" dirty="0">
                <a:solidFill>
                  <a:srgbClr val="5F7A8A"/>
                </a:solidFill>
                <a:latin typeface="Calibri" pitchFamily="34" charset="0"/>
                <a:ea typeface="Calibri" pitchFamily="34" charset="-122"/>
                <a:cs typeface="Calibri" pitchFamily="34" charset="-120"/>
              </a:rPr>
              <a:t>32</a:t>
            </a:r>
            <a:endParaRPr lang="en-US" sz="1100" dirty="0"/>
          </a:p>
        </p:txBody>
      </p:sp>
    </p:spTree>
    <p:extLst>
      <p:ext uri="{BB962C8B-B14F-4D97-AF65-F5344CB8AC3E}">
        <p14:creationId xmlns:p14="http://schemas.microsoft.com/office/powerpoint/2010/main" val="3134014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1579F83-A7D9-F2A9-A299-025EAFAD1B7D}"/>
              </a:ext>
            </a:extLst>
          </p:cNvPr>
          <p:cNvPicPr>
            <a:picLocks noChangeAspect="1"/>
          </p:cNvPicPr>
          <p:nvPr/>
        </p:nvPicPr>
        <p:blipFill>
          <a:blip r:embed="rId2"/>
          <a:stretch>
            <a:fillRect/>
          </a:stretch>
        </p:blipFill>
        <p:spPr>
          <a:xfrm>
            <a:off x="933450" y="189500"/>
            <a:ext cx="10053861" cy="6308798"/>
          </a:xfrm>
          <a:prstGeom prst="rect">
            <a:avLst/>
          </a:prstGeom>
        </p:spPr>
      </p:pic>
      <p:sp>
        <p:nvSpPr>
          <p:cNvPr id="7" name="Text 32">
            <a:extLst>
              <a:ext uri="{FF2B5EF4-FFF2-40B4-BE49-F238E27FC236}">
                <a16:creationId xmlns:a16="http://schemas.microsoft.com/office/drawing/2014/main" id="{C36B91F0-E462-3122-5276-F3CCE5C255E6}"/>
              </a:ext>
            </a:extLst>
          </p:cNvPr>
          <p:cNvSpPr txBox="1"/>
          <p:nvPr/>
        </p:nvSpPr>
        <p:spPr>
          <a:xfrm>
            <a:off x="11018520" y="6355080"/>
            <a:ext cx="457200" cy="274320"/>
          </a:xfrm>
          <a:prstGeom prst="rect">
            <a:avLst/>
          </a:prstGeom>
          <a:noFill/>
          <a:ln/>
        </p:spPr>
        <p:txBody>
          <a:bodyPr wrap="square" lIns="0" tIns="0" rIns="0" bIns="0" rtlCol="0" anchor="ctr"/>
          <a:lstStyle/>
          <a:p>
            <a:pPr marL="0" indent="0" algn="r">
              <a:buNone/>
            </a:pPr>
            <a:r>
              <a:rPr lang="fr-FR" sz="1100" dirty="0">
                <a:solidFill>
                  <a:srgbClr val="5F7A8A"/>
                </a:solidFill>
                <a:latin typeface="Calibri" pitchFamily="34" charset="0"/>
                <a:ea typeface="Calibri" pitchFamily="34" charset="-122"/>
                <a:cs typeface="Calibri" pitchFamily="34" charset="-120"/>
              </a:rPr>
              <a:t>33</a:t>
            </a:r>
            <a:endParaRPr lang="en-US" sz="1100" dirty="0"/>
          </a:p>
        </p:txBody>
      </p:sp>
    </p:spTree>
    <p:extLst>
      <p:ext uri="{BB962C8B-B14F-4D97-AF65-F5344CB8AC3E}">
        <p14:creationId xmlns:p14="http://schemas.microsoft.com/office/powerpoint/2010/main" val="163306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298959C-76E6-2233-5A27-A7769A7AB306}"/>
              </a:ext>
            </a:extLst>
          </p:cNvPr>
          <p:cNvPicPr>
            <a:picLocks noChangeAspect="1"/>
          </p:cNvPicPr>
          <p:nvPr/>
        </p:nvPicPr>
        <p:blipFill>
          <a:blip r:embed="rId2"/>
          <a:stretch>
            <a:fillRect/>
          </a:stretch>
        </p:blipFill>
        <p:spPr>
          <a:xfrm>
            <a:off x="502893" y="648207"/>
            <a:ext cx="11186213" cy="5704967"/>
          </a:xfrm>
          <a:prstGeom prst="rect">
            <a:avLst/>
          </a:prstGeom>
        </p:spPr>
      </p:pic>
      <p:sp>
        <p:nvSpPr>
          <p:cNvPr id="5" name="Text 32">
            <a:extLst>
              <a:ext uri="{FF2B5EF4-FFF2-40B4-BE49-F238E27FC236}">
                <a16:creationId xmlns:a16="http://schemas.microsoft.com/office/drawing/2014/main" id="{91B278F5-33A4-C38D-B312-40F95CEF89DA}"/>
              </a:ext>
            </a:extLst>
          </p:cNvPr>
          <p:cNvSpPr txBox="1"/>
          <p:nvPr/>
        </p:nvSpPr>
        <p:spPr>
          <a:xfrm>
            <a:off x="11018520" y="6355080"/>
            <a:ext cx="457200" cy="274320"/>
          </a:xfrm>
          <a:prstGeom prst="rect">
            <a:avLst/>
          </a:prstGeom>
          <a:noFill/>
          <a:ln/>
        </p:spPr>
        <p:txBody>
          <a:bodyPr wrap="square" lIns="0" tIns="0" rIns="0" bIns="0" rtlCol="0" anchor="ctr"/>
          <a:lstStyle/>
          <a:p>
            <a:pPr marL="0" indent="0" algn="r">
              <a:buNone/>
            </a:pPr>
            <a:r>
              <a:rPr lang="fr-FR" sz="1100" dirty="0">
                <a:solidFill>
                  <a:srgbClr val="5F7A8A"/>
                </a:solidFill>
                <a:latin typeface="Calibri" pitchFamily="34" charset="0"/>
                <a:ea typeface="Calibri" pitchFamily="34" charset="-122"/>
                <a:cs typeface="Calibri" pitchFamily="34" charset="-120"/>
              </a:rPr>
              <a:t>34</a:t>
            </a:r>
            <a:endParaRPr lang="en-US" sz="1100" dirty="0"/>
          </a:p>
        </p:txBody>
      </p:sp>
    </p:spTree>
    <p:extLst>
      <p:ext uri="{BB962C8B-B14F-4D97-AF65-F5344CB8AC3E}">
        <p14:creationId xmlns:p14="http://schemas.microsoft.com/office/powerpoint/2010/main" val="2442244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Why URLLC is a different kind of service</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Latency and reliability pull against each other: URLLC needs a new design, not a tuned 4G.</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35</a:t>
            </a:r>
            <a:endParaRPr lang="en-US" sz="1100" dirty="0"/>
          </a:p>
        </p:txBody>
      </p:sp>
      <p:sp>
        <p:nvSpPr>
          <p:cNvPr id="11" name="Text 8"/>
          <p:cNvSpPr txBox="1"/>
          <p:nvPr/>
        </p:nvSpPr>
        <p:spPr>
          <a:xfrm>
            <a:off x="6144768" y="2175766"/>
            <a:ext cx="5394960" cy="1600197"/>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From human to machine traffic</a:t>
            </a:r>
            <a:endParaRPr lang="en-US" sz="1500" dirty="0"/>
          </a:p>
          <a:p>
            <a:pPr marL="0" indent="0">
              <a:spcAft>
                <a:spcPts val="1000"/>
              </a:spcAft>
              <a:buNone/>
            </a:pPr>
            <a:r>
              <a:rPr lang="en-US" sz="1300" dirty="0">
                <a:solidFill>
                  <a:srgbClr val="5F7A8A"/>
                </a:solidFill>
                <a:latin typeface="Calibri" pitchFamily="34" charset="0"/>
                <a:ea typeface="Calibri" pitchFamily="34" charset="-122"/>
                <a:cs typeface="Calibri" pitchFamily="34" charset="-120"/>
              </a:rPr>
              <a:t>VoIP tolerates 50 ms and 2×10⁻² errors; automation control needs 1 ms and 99.9999 %</a:t>
            </a:r>
            <a:endParaRPr lang="en-US" sz="1500" dirty="0"/>
          </a:p>
          <a:p>
            <a:pPr marL="0" indent="0">
              <a:buNone/>
            </a:pPr>
            <a:r>
              <a:rPr lang="en-US" sz="1500" b="1" dirty="0">
                <a:solidFill>
                  <a:srgbClr val="12394D"/>
                </a:solidFill>
                <a:latin typeface="Calibri" pitchFamily="34" charset="0"/>
                <a:ea typeface="Calibri" pitchFamily="34" charset="-122"/>
                <a:cs typeface="Calibri" pitchFamily="34" charset="-120"/>
              </a:rPr>
              <a:t>Two definitions (NGMN)</a:t>
            </a:r>
            <a:endParaRPr lang="en-US" sz="1500" dirty="0"/>
          </a:p>
          <a:p>
            <a:pPr marL="0" indent="0">
              <a:spcAft>
                <a:spcPts val="1000"/>
              </a:spcAft>
              <a:buNone/>
            </a:pPr>
            <a:r>
              <a:rPr lang="en-US" sz="1300" dirty="0">
                <a:solidFill>
                  <a:srgbClr val="5F7A8A"/>
                </a:solidFill>
                <a:latin typeface="Calibri" pitchFamily="34" charset="0"/>
                <a:ea typeface="Calibri" pitchFamily="34" charset="-122"/>
                <a:cs typeface="Calibri" pitchFamily="34" charset="-120"/>
              </a:rPr>
              <a:t>Reliability: share of packets delivered within the deadline · Latency: measured between application service access points</a:t>
            </a:r>
            <a:endParaRPr lang="en-US" sz="1500" dirty="0"/>
          </a:p>
        </p:txBody>
      </p:sp>
      <p:sp>
        <p:nvSpPr>
          <p:cNvPr id="12" name="Text 9"/>
          <p:cNvSpPr txBox="1"/>
          <p:nvPr/>
        </p:nvSpPr>
        <p:spPr>
          <a:xfrm>
            <a:off x="640080" y="4370832"/>
            <a:ext cx="54864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FROM URC AND ULL TO URLLC</a:t>
            </a:r>
            <a:endParaRPr lang="en-US" sz="1200" dirty="0"/>
          </a:p>
        </p:txBody>
      </p:sp>
      <p:sp>
        <p:nvSpPr>
          <p:cNvPr id="13" name="Shape 10"/>
          <p:cNvSpPr/>
          <p:nvPr/>
        </p:nvSpPr>
        <p:spPr>
          <a:xfrm>
            <a:off x="731520" y="4773168"/>
            <a:ext cx="10698480" cy="0"/>
          </a:xfrm>
          <a:prstGeom prst="line">
            <a:avLst/>
          </a:prstGeom>
          <a:noFill/>
          <a:ln w="15875">
            <a:solidFill>
              <a:srgbClr val="B9CCD6"/>
            </a:solidFill>
            <a:prstDash val="solid"/>
          </a:ln>
        </p:spPr>
        <p:txBody>
          <a:bodyPr/>
          <a:lstStyle/>
          <a:p>
            <a:endParaRPr lang="en-US"/>
          </a:p>
        </p:txBody>
      </p:sp>
      <p:sp>
        <p:nvSpPr>
          <p:cNvPr id="14" name="Shape 11"/>
          <p:cNvSpPr/>
          <p:nvPr/>
        </p:nvSpPr>
        <p:spPr>
          <a:xfrm>
            <a:off x="6583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15" name="Text 12"/>
          <p:cNvSpPr txBox="1"/>
          <p:nvPr/>
        </p:nvSpPr>
        <p:spPr>
          <a:xfrm>
            <a:off x="6400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1996</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Ultra-low latency in wired links</a:t>
            </a:r>
            <a:endParaRPr lang="en-US" sz="1300" dirty="0"/>
          </a:p>
        </p:txBody>
      </p:sp>
      <p:sp>
        <p:nvSpPr>
          <p:cNvPr id="16" name="Shape 13"/>
          <p:cNvSpPr/>
          <p:nvPr/>
        </p:nvSpPr>
        <p:spPr>
          <a:xfrm>
            <a:off x="24871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17" name="Text 14"/>
          <p:cNvSpPr txBox="1"/>
          <p:nvPr/>
        </p:nvSpPr>
        <p:spPr>
          <a:xfrm>
            <a:off x="24688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2003–05</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Ultra-reliability in optical networks</a:t>
            </a:r>
            <a:endParaRPr lang="en-US" sz="1300" dirty="0"/>
          </a:p>
        </p:txBody>
      </p:sp>
      <p:sp>
        <p:nvSpPr>
          <p:cNvPr id="18" name="Shape 15"/>
          <p:cNvSpPr/>
          <p:nvPr/>
        </p:nvSpPr>
        <p:spPr>
          <a:xfrm>
            <a:off x="43159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19" name="Text 16"/>
          <p:cNvSpPr txBox="1"/>
          <p:nvPr/>
        </p:nvSpPr>
        <p:spPr>
          <a:xfrm>
            <a:off x="42976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2011</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URC in wireless (diversity)</a:t>
            </a:r>
            <a:endParaRPr lang="en-US" sz="1300" dirty="0"/>
          </a:p>
        </p:txBody>
      </p:sp>
      <p:sp>
        <p:nvSpPr>
          <p:cNvPr id="20" name="Shape 17"/>
          <p:cNvSpPr/>
          <p:nvPr/>
        </p:nvSpPr>
        <p:spPr>
          <a:xfrm>
            <a:off x="61447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21" name="Text 18"/>
          <p:cNvSpPr txBox="1"/>
          <p:nvPr/>
        </p:nvSpPr>
        <p:spPr>
          <a:xfrm>
            <a:off x="61264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Rel-15</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Scenarios: edge, slicing</a:t>
            </a:r>
            <a:endParaRPr lang="en-US" sz="1300" dirty="0"/>
          </a:p>
        </p:txBody>
      </p:sp>
      <p:sp>
        <p:nvSpPr>
          <p:cNvPr id="22" name="Shape 19"/>
          <p:cNvSpPr/>
          <p:nvPr/>
        </p:nvSpPr>
        <p:spPr>
          <a:xfrm>
            <a:off x="79735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23" name="Text 20"/>
          <p:cNvSpPr txBox="1"/>
          <p:nvPr/>
        </p:nvSpPr>
        <p:spPr>
          <a:xfrm>
            <a:off x="79552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Rel-16</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Redundancy, sub-slot HARQ, compact DCI</a:t>
            </a:r>
            <a:endParaRPr lang="en-US" sz="1300" dirty="0"/>
          </a:p>
        </p:txBody>
      </p:sp>
      <p:sp>
        <p:nvSpPr>
          <p:cNvPr id="24" name="Shape 21"/>
          <p:cNvSpPr/>
          <p:nvPr/>
        </p:nvSpPr>
        <p:spPr>
          <a:xfrm>
            <a:off x="9802368" y="4681728"/>
            <a:ext cx="182880" cy="182880"/>
          </a:xfrm>
          <a:prstGeom prst="ellipse">
            <a:avLst/>
          </a:prstGeom>
          <a:solidFill>
            <a:srgbClr val="1A8A99"/>
          </a:solidFill>
          <a:ln w="12700">
            <a:solidFill>
              <a:srgbClr val="1A8A99"/>
            </a:solidFill>
            <a:prstDash val="solid"/>
          </a:ln>
        </p:spPr>
        <p:txBody>
          <a:bodyPr/>
          <a:lstStyle/>
          <a:p>
            <a:endParaRPr lang="en-US"/>
          </a:p>
        </p:txBody>
      </p:sp>
      <p:sp>
        <p:nvSpPr>
          <p:cNvPr id="25" name="Text 22"/>
          <p:cNvSpPr txBox="1"/>
          <p:nvPr/>
        </p:nvSpPr>
        <p:spPr>
          <a:xfrm>
            <a:off x="9784080" y="4919472"/>
            <a:ext cx="1737360" cy="548640"/>
          </a:xfrm>
          <a:prstGeom prst="rect">
            <a:avLst/>
          </a:prstGeom>
          <a:noFill/>
          <a:ln/>
        </p:spPr>
        <p:txBody>
          <a:bodyPr wrap="square" lIns="0" tIns="0" rIns="0" bIns="0" rtlCol="0" anchor="t"/>
          <a:lstStyle/>
          <a:p>
            <a:pPr marL="0" indent="0">
              <a:buNone/>
            </a:pPr>
            <a:r>
              <a:rPr lang="en-US" sz="1300" b="1" dirty="0">
                <a:solidFill>
                  <a:srgbClr val="12394D"/>
                </a:solidFill>
                <a:latin typeface="Calibri" pitchFamily="34" charset="0"/>
                <a:ea typeface="Calibri" pitchFamily="34" charset="-122"/>
                <a:cs typeface="Calibri" pitchFamily="34" charset="-120"/>
              </a:rPr>
              <a:t>Rel-17</a:t>
            </a:r>
            <a:endParaRPr lang="en-US" sz="1300" dirty="0"/>
          </a:p>
          <a:p>
            <a:pPr marL="0" indent="0">
              <a:buNone/>
            </a:pPr>
            <a:r>
              <a:rPr lang="en-US" sz="1150" dirty="0">
                <a:solidFill>
                  <a:srgbClr val="5F7A8A"/>
                </a:solidFill>
                <a:latin typeface="Calibri" pitchFamily="34" charset="0"/>
                <a:ea typeface="Calibri" pitchFamily="34" charset="-122"/>
                <a:cs typeface="Calibri" pitchFamily="34" charset="-120"/>
              </a:rPr>
              <a:t>Feedback, prioritisation, intra-UE mux</a:t>
            </a:r>
            <a:endParaRPr lang="en-US" sz="1300" dirty="0"/>
          </a:p>
        </p:txBody>
      </p:sp>
      <p:pic>
        <p:nvPicPr>
          <p:cNvPr id="26" name="Image 25">
            <a:extLst>
              <a:ext uri="{FF2B5EF4-FFF2-40B4-BE49-F238E27FC236}">
                <a16:creationId xmlns:a16="http://schemas.microsoft.com/office/drawing/2014/main" id="{970F5739-46E7-D2B7-67D3-E8AAEDFDDFFF}"/>
              </a:ext>
            </a:extLst>
          </p:cNvPr>
          <p:cNvPicPr>
            <a:picLocks noChangeAspect="1"/>
          </p:cNvPicPr>
          <p:nvPr/>
        </p:nvPicPr>
        <p:blipFill>
          <a:blip r:embed="rId3"/>
          <a:stretch>
            <a:fillRect/>
          </a:stretch>
        </p:blipFill>
        <p:spPr>
          <a:xfrm>
            <a:off x="1387958" y="1311576"/>
            <a:ext cx="2818282" cy="28563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05840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804672"/>
            <a:ext cx="10881360" cy="594360"/>
          </a:xfrm>
          <a:prstGeom prst="rect">
            <a:avLst/>
          </a:prstGeom>
          <a:noFill/>
          <a:ln/>
        </p:spPr>
        <p:txBody>
          <a:bodyPr wrap="square" lIns="0" tIns="0" rIns="0" bIns="0" rtlCol="0" anchor="t"/>
          <a:lstStyle/>
          <a:p>
            <a:pPr marL="0" indent="0">
              <a:buNone/>
            </a:pPr>
            <a:r>
              <a:rPr lang="en-US" sz="2800" b="1" dirty="0">
                <a:solidFill>
                  <a:srgbClr val="12394D"/>
                </a:solidFill>
                <a:latin typeface="Cambria" pitchFamily="34" charset="0"/>
                <a:ea typeface="Cambria" pitchFamily="34" charset="-122"/>
                <a:cs typeface="Cambria" pitchFamily="34" charset="-120"/>
              </a:rPr>
              <a:t>URLLC as a family of requirements</a:t>
            </a:r>
            <a:endParaRPr lang="en-US" sz="2800" dirty="0"/>
          </a:p>
        </p:txBody>
      </p:sp>
      <p:sp>
        <p:nvSpPr>
          <p:cNvPr id="4" name="Shape 2"/>
          <p:cNvSpPr/>
          <p:nvPr/>
        </p:nvSpPr>
        <p:spPr>
          <a:xfrm>
            <a:off x="640080" y="5577840"/>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77840"/>
            <a:ext cx="10469880" cy="502920"/>
          </a:xfrm>
          <a:prstGeom prst="rect">
            <a:avLst/>
          </a:prstGeom>
          <a:noFill/>
          <a:ln/>
        </p:spPr>
        <p:txBody>
          <a:bodyPr wrap="square" lIns="0" tIns="0" rIns="0" bIns="0" rtlCol="0" anchor="ctr"/>
          <a:lstStyle/>
          <a:p>
            <a:pPr marL="0" indent="0" algn="ctr">
              <a:buNone/>
            </a:pPr>
            <a:r>
              <a:rPr lang="en-US" sz="1350" b="1" dirty="0">
                <a:solidFill>
                  <a:srgbClr val="1A8A99"/>
                </a:solidFill>
                <a:latin typeface="Calibri" pitchFamily="34" charset="0"/>
                <a:ea typeface="Calibri" pitchFamily="34" charset="-122"/>
                <a:cs typeface="Calibri" pitchFamily="34" charset="-120"/>
              </a:rPr>
              <a:t>  </a:t>
            </a:r>
            <a:r>
              <a:rPr lang="en-US" sz="1350" b="1" dirty="0">
                <a:solidFill>
                  <a:srgbClr val="12394D"/>
                </a:solidFill>
                <a:latin typeface="Calibri" pitchFamily="34" charset="0"/>
                <a:ea typeface="Calibri" pitchFamily="34" charset="-122"/>
                <a:cs typeface="Calibri" pitchFamily="34" charset="-120"/>
              </a:rPr>
              <a:t>3GPP targets (1 ms, 1−10⁻⁵) are a baseline; my paper's slice (20 ms, 3 % budget) is latency-sensitive, not URLLC-grade.</a:t>
            </a:r>
            <a:endParaRPr lang="en-US" sz="1350" b="1"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fr-FR" sz="1100" dirty="0">
                <a:solidFill>
                  <a:srgbClr val="5F7A8A"/>
                </a:solidFill>
                <a:latin typeface="Calibri" pitchFamily="34" charset="0"/>
                <a:ea typeface="Calibri" pitchFamily="34" charset="-122"/>
                <a:cs typeface="Calibri" pitchFamily="34" charset="-120"/>
              </a:rPr>
              <a:t>5</a:t>
            </a:r>
            <a:endParaRPr lang="en-US" sz="1100" dirty="0"/>
          </a:p>
        </p:txBody>
      </p:sp>
      <p:sp>
        <p:nvSpPr>
          <p:cNvPr id="10" name="Shape 7"/>
          <p:cNvSpPr/>
          <p:nvPr/>
        </p:nvSpPr>
        <p:spPr>
          <a:xfrm>
            <a:off x="7498080" y="1737360"/>
            <a:ext cx="4023360" cy="3611880"/>
          </a:xfrm>
          <a:prstGeom prst="roundRect">
            <a:avLst>
              <a:gd name="adj" fmla="val 1519"/>
            </a:avLst>
          </a:prstGeom>
          <a:solidFill>
            <a:srgbClr val="F0F5F7"/>
          </a:solidFill>
          <a:ln w="12700">
            <a:solidFill>
              <a:srgbClr val="F0F5F7"/>
            </a:solidFill>
            <a:prstDash val="solid"/>
          </a:ln>
        </p:spPr>
        <p:txBody>
          <a:bodyPr/>
          <a:lstStyle/>
          <a:p>
            <a:endParaRPr lang="en-US"/>
          </a:p>
        </p:txBody>
      </p:sp>
      <p:sp>
        <p:nvSpPr>
          <p:cNvPr id="11" name="Text 8"/>
          <p:cNvSpPr txBox="1"/>
          <p:nvPr/>
        </p:nvSpPr>
        <p:spPr>
          <a:xfrm>
            <a:off x="7772400" y="1920240"/>
            <a:ext cx="356616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WHY IT IS HARD</a:t>
            </a:r>
            <a:endParaRPr lang="en-US" sz="1200" dirty="0"/>
          </a:p>
        </p:txBody>
      </p:sp>
      <p:sp>
        <p:nvSpPr>
          <p:cNvPr id="12" name="Text 9"/>
          <p:cNvSpPr txBox="1"/>
          <p:nvPr/>
        </p:nvSpPr>
        <p:spPr>
          <a:xfrm>
            <a:off x="7772400" y="2286000"/>
            <a:ext cx="3520440" cy="3474720"/>
          </a:xfrm>
          <a:prstGeom prst="rect">
            <a:avLst/>
          </a:prstGeom>
          <a:noFill/>
          <a:ln/>
        </p:spPr>
        <p:txBody>
          <a:bodyPr wrap="square" lIns="0" tIns="0" rIns="0" bIns="0" rtlCol="0" anchor="t"/>
          <a:lstStyle/>
          <a:p>
            <a:pPr marL="0" indent="0">
              <a:buNone/>
            </a:pPr>
            <a:r>
              <a:rPr lang="en-US" sz="1600" b="1" dirty="0">
                <a:solidFill>
                  <a:srgbClr val="12394D"/>
                </a:solidFill>
                <a:latin typeface="Calibri" pitchFamily="34" charset="0"/>
                <a:ea typeface="Calibri" pitchFamily="34" charset="-122"/>
                <a:cs typeface="Calibri" pitchFamily="34" charset="-120"/>
              </a:rPr>
              <a:t>Short packets</a:t>
            </a:r>
            <a:endParaRPr lang="en-US" sz="1600" dirty="0"/>
          </a:p>
          <a:p>
            <a:pPr marL="0" indent="0">
              <a:spcAft>
                <a:spcPts val="1200"/>
              </a:spcAft>
              <a:buNone/>
            </a:pPr>
            <a:r>
              <a:rPr lang="en-US" sz="1400" dirty="0">
                <a:solidFill>
                  <a:srgbClr val="5F7A8A"/>
                </a:solidFill>
                <a:latin typeface="Calibri" pitchFamily="34" charset="0"/>
                <a:ea typeface="Calibri" pitchFamily="34" charset="-122"/>
                <a:cs typeface="Calibri" pitchFamily="34" charset="-120"/>
              </a:rPr>
              <a:t>20 bytes cut latency but remove coding gain.</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Redundancy</a:t>
            </a:r>
            <a:endParaRPr lang="en-US" sz="1600" dirty="0"/>
          </a:p>
          <a:p>
            <a:pPr marL="0" indent="0">
              <a:spcAft>
                <a:spcPts val="1200"/>
              </a:spcAft>
              <a:buNone/>
            </a:pPr>
            <a:r>
              <a:rPr lang="en-US" sz="1400" dirty="0">
                <a:solidFill>
                  <a:srgbClr val="5F7A8A"/>
                </a:solidFill>
                <a:latin typeface="Calibri" pitchFamily="34" charset="0"/>
                <a:ea typeface="Calibri" pitchFamily="34" charset="-122"/>
                <a:cs typeface="Calibri" pitchFamily="34" charset="-120"/>
              </a:rPr>
              <a:t>Retransmissions and parity buy reliability at the cost of latency.</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End-to-end</a:t>
            </a:r>
            <a:endParaRPr lang="en-US" sz="1600" dirty="0"/>
          </a:p>
          <a:p>
            <a:pPr marL="0" indent="0">
              <a:spcAft>
                <a:spcPts val="1200"/>
              </a:spcAft>
              <a:buNone/>
            </a:pPr>
            <a:r>
              <a:rPr lang="en-US" sz="1400" dirty="0">
                <a:solidFill>
                  <a:srgbClr val="5F7A8A"/>
                </a:solidFill>
                <a:latin typeface="Calibri" pitchFamily="34" charset="0"/>
                <a:ea typeface="Calibri" pitchFamily="34" charset="-122"/>
                <a:cs typeface="Calibri" pitchFamily="34" charset="-120"/>
              </a:rPr>
              <a:t>The link is manageable; E2E sums UL/DL, processing, queuing, backhaul and core delays.</a:t>
            </a:r>
            <a:endParaRPr lang="en-US" sz="1600" dirty="0"/>
          </a:p>
        </p:txBody>
      </p:sp>
      <p:pic>
        <p:nvPicPr>
          <p:cNvPr id="14" name="Image 13">
            <a:extLst>
              <a:ext uri="{FF2B5EF4-FFF2-40B4-BE49-F238E27FC236}">
                <a16:creationId xmlns:a16="http://schemas.microsoft.com/office/drawing/2014/main" id="{5C6AC1B9-9CA3-C851-C162-756A0C9453AF}"/>
              </a:ext>
            </a:extLst>
          </p:cNvPr>
          <p:cNvPicPr>
            <a:picLocks noChangeAspect="1"/>
          </p:cNvPicPr>
          <p:nvPr/>
        </p:nvPicPr>
        <p:blipFill>
          <a:blip r:embed="rId3"/>
          <a:stretch>
            <a:fillRect/>
          </a:stretch>
        </p:blipFill>
        <p:spPr>
          <a:xfrm>
            <a:off x="499469" y="1472185"/>
            <a:ext cx="5238365" cy="1836438"/>
          </a:xfrm>
          <a:prstGeom prst="rect">
            <a:avLst/>
          </a:prstGeom>
        </p:spPr>
      </p:pic>
      <p:pic>
        <p:nvPicPr>
          <p:cNvPr id="9" name="Image 8">
            <a:extLst>
              <a:ext uri="{FF2B5EF4-FFF2-40B4-BE49-F238E27FC236}">
                <a16:creationId xmlns:a16="http://schemas.microsoft.com/office/drawing/2014/main" id="{4107A55A-F8A0-AA79-3910-12BCE09EC1D7}"/>
              </a:ext>
            </a:extLst>
          </p:cNvPr>
          <p:cNvPicPr>
            <a:picLocks noChangeAspect="1"/>
          </p:cNvPicPr>
          <p:nvPr/>
        </p:nvPicPr>
        <p:blipFill>
          <a:blip r:embed="rId4"/>
          <a:stretch>
            <a:fillRect/>
          </a:stretch>
        </p:blipFill>
        <p:spPr>
          <a:xfrm>
            <a:off x="670560" y="3308623"/>
            <a:ext cx="4692290" cy="21150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Three design challenges: overhead, coexistence, resource use</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Coexistence with eMBB is named as a core URLLC challenge: survey 3 is dedicated to it.</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36</a:t>
            </a:r>
            <a:endParaRPr lang="en-US" sz="1100" dirty="0"/>
          </a:p>
        </p:txBody>
      </p:sp>
      <p:sp>
        <p:nvSpPr>
          <p:cNvPr id="11" name="Shape 8"/>
          <p:cNvSpPr/>
          <p:nvPr/>
        </p:nvSpPr>
        <p:spPr>
          <a:xfrm>
            <a:off x="6126480" y="1691640"/>
            <a:ext cx="384048" cy="384048"/>
          </a:xfrm>
          <a:prstGeom prst="ellipse">
            <a:avLst/>
          </a:prstGeom>
          <a:solidFill>
            <a:srgbClr val="1A8A99"/>
          </a:solidFill>
          <a:ln w="12700">
            <a:solidFill>
              <a:srgbClr val="1A8A99"/>
            </a:solidFill>
            <a:prstDash val="solid"/>
          </a:ln>
        </p:spPr>
        <p:txBody>
          <a:bodyPr/>
          <a:lstStyle/>
          <a:p>
            <a:endParaRPr lang="en-US"/>
          </a:p>
        </p:txBody>
      </p:sp>
      <p:sp>
        <p:nvSpPr>
          <p:cNvPr id="12" name="Text 9"/>
          <p:cNvSpPr txBox="1"/>
          <p:nvPr/>
        </p:nvSpPr>
        <p:spPr>
          <a:xfrm>
            <a:off x="6126480" y="1691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3" name="Text 10"/>
          <p:cNvSpPr txBox="1"/>
          <p:nvPr/>
        </p:nvSpPr>
        <p:spPr>
          <a:xfrm>
            <a:off x="6675120" y="1664208"/>
            <a:ext cx="4846320" cy="12344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Control-signalling overhead</a:t>
            </a:r>
            <a:endParaRPr lang="en-US" sz="1500" dirty="0"/>
          </a:p>
          <a:p>
            <a:pPr marL="0" indent="0">
              <a:spcAft>
                <a:spcPts val="1000"/>
              </a:spcAft>
              <a:buNone/>
            </a:pPr>
            <a:r>
              <a:rPr lang="en-US" sz="1300" dirty="0">
                <a:solidFill>
                  <a:srgbClr val="5F7A8A"/>
                </a:solidFill>
                <a:latin typeface="Calibri" pitchFamily="34" charset="0"/>
                <a:ea typeface="Calibri" pitchFamily="34" charset="-122"/>
                <a:cs typeface="Calibri" pitchFamily="34" charset="-120"/>
              </a:rPr>
              <a:t>A request–grant handshake delays every packet. Options: SPS (periodic traffic only), grant-free access, NOMA, SDMA or RSMA</a:t>
            </a:r>
            <a:endParaRPr lang="en-US" sz="1500" dirty="0"/>
          </a:p>
        </p:txBody>
      </p:sp>
      <p:sp>
        <p:nvSpPr>
          <p:cNvPr id="14" name="Shape 11"/>
          <p:cNvSpPr/>
          <p:nvPr/>
        </p:nvSpPr>
        <p:spPr>
          <a:xfrm>
            <a:off x="6126480" y="2926080"/>
            <a:ext cx="384048" cy="384048"/>
          </a:xfrm>
          <a:prstGeom prst="ellipse">
            <a:avLst/>
          </a:prstGeom>
          <a:solidFill>
            <a:srgbClr val="1A8A99"/>
          </a:solidFill>
          <a:ln w="12700">
            <a:solidFill>
              <a:srgbClr val="1A8A99"/>
            </a:solidFill>
            <a:prstDash val="solid"/>
          </a:ln>
        </p:spPr>
        <p:txBody>
          <a:bodyPr/>
          <a:lstStyle/>
          <a:p>
            <a:endParaRPr lang="en-US"/>
          </a:p>
        </p:txBody>
      </p:sp>
      <p:sp>
        <p:nvSpPr>
          <p:cNvPr id="15" name="Text 12"/>
          <p:cNvSpPr txBox="1"/>
          <p:nvPr/>
        </p:nvSpPr>
        <p:spPr>
          <a:xfrm>
            <a:off x="6126480" y="2926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6" name="Text 13"/>
          <p:cNvSpPr txBox="1"/>
          <p:nvPr/>
        </p:nvSpPr>
        <p:spPr>
          <a:xfrm>
            <a:off x="6675120" y="2898648"/>
            <a:ext cx="4846320" cy="12344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Coexistence with eMBB</a:t>
            </a:r>
            <a:endParaRPr lang="en-US" sz="1500" dirty="0"/>
          </a:p>
          <a:p>
            <a:pPr marL="0" indent="0">
              <a:spcAft>
                <a:spcPts val="1000"/>
              </a:spcAft>
              <a:buNone/>
            </a:pPr>
            <a:r>
              <a:rPr lang="en-US" sz="1300" dirty="0">
                <a:solidFill>
                  <a:srgbClr val="5F7A8A"/>
                </a:solidFill>
                <a:latin typeface="Calibri" pitchFamily="34" charset="0"/>
                <a:ea typeface="Calibri" pitchFamily="34" charset="-122"/>
                <a:cs typeface="Calibri" pitchFamily="34" charset="-120"/>
              </a:rPr>
              <a:t>URLLC pre-empts eMBB immediately and without notification: the "coexistence problem", mostly studied as eMBB–URLLC</a:t>
            </a:r>
            <a:endParaRPr lang="en-US" sz="1500" dirty="0"/>
          </a:p>
        </p:txBody>
      </p:sp>
      <p:sp>
        <p:nvSpPr>
          <p:cNvPr id="17" name="Shape 14"/>
          <p:cNvSpPr/>
          <p:nvPr/>
        </p:nvSpPr>
        <p:spPr>
          <a:xfrm>
            <a:off x="6126480" y="4160520"/>
            <a:ext cx="384048" cy="384048"/>
          </a:xfrm>
          <a:prstGeom prst="ellipse">
            <a:avLst/>
          </a:prstGeom>
          <a:solidFill>
            <a:srgbClr val="1A8A99"/>
          </a:solidFill>
          <a:ln w="12700">
            <a:solidFill>
              <a:srgbClr val="1A8A99"/>
            </a:solidFill>
            <a:prstDash val="solid"/>
          </a:ln>
        </p:spPr>
        <p:txBody>
          <a:bodyPr/>
          <a:lstStyle/>
          <a:p>
            <a:endParaRPr lang="en-US"/>
          </a:p>
        </p:txBody>
      </p:sp>
      <p:sp>
        <p:nvSpPr>
          <p:cNvPr id="18" name="Text 15"/>
          <p:cNvSpPr txBox="1"/>
          <p:nvPr/>
        </p:nvSpPr>
        <p:spPr>
          <a:xfrm>
            <a:off x="6126480" y="41605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Text 16"/>
          <p:cNvSpPr txBox="1"/>
          <p:nvPr/>
        </p:nvSpPr>
        <p:spPr>
          <a:xfrm>
            <a:off x="6675120" y="4133088"/>
            <a:ext cx="4846320" cy="12344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Resource optimisation</a:t>
            </a:r>
            <a:endParaRPr lang="en-US" sz="1500" dirty="0"/>
          </a:p>
          <a:p>
            <a:pPr marL="0" indent="0">
              <a:spcAft>
                <a:spcPts val="1000"/>
              </a:spcAft>
              <a:buNone/>
            </a:pPr>
            <a:r>
              <a:rPr lang="en-US" sz="1300" dirty="0">
                <a:solidFill>
                  <a:srgbClr val="5F7A8A"/>
                </a:solidFill>
                <a:latin typeface="Calibri" pitchFamily="34" charset="0"/>
                <a:ea typeface="Calibri" pitchFamily="34" charset="-122"/>
                <a:cs typeface="Calibri" pitchFamily="34" charset="-120"/>
              </a:rPr>
              <a:t>Fixed allocation wastes spectrum; retransmissions waste it on good channels; joint queue–delay–error models are missing</a:t>
            </a:r>
            <a:endParaRPr lang="en-US" sz="1500" dirty="0"/>
          </a:p>
        </p:txBody>
      </p:sp>
      <p:pic>
        <p:nvPicPr>
          <p:cNvPr id="20" name="Image 19">
            <a:extLst>
              <a:ext uri="{FF2B5EF4-FFF2-40B4-BE49-F238E27FC236}">
                <a16:creationId xmlns:a16="http://schemas.microsoft.com/office/drawing/2014/main" id="{441A566D-FF0D-F670-FD01-5BC670663542}"/>
              </a:ext>
            </a:extLst>
          </p:cNvPr>
          <p:cNvPicPr>
            <a:picLocks noChangeAspect="1"/>
          </p:cNvPicPr>
          <p:nvPr/>
        </p:nvPicPr>
        <p:blipFill>
          <a:blip r:embed="rId3"/>
          <a:stretch>
            <a:fillRect/>
          </a:stretch>
        </p:blipFill>
        <p:spPr>
          <a:xfrm>
            <a:off x="535808" y="1365185"/>
            <a:ext cx="4846320" cy="38898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PHY layer: every tool shortens or protects, at a cost</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PHY tools buy latency or reliability with control overhead, complexity or extra resources.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37</a:t>
            </a:r>
            <a:endParaRPr lang="en-US" sz="1100" dirty="0"/>
          </a:p>
        </p:txBody>
      </p:sp>
      <p:sp>
        <p:nvSpPr>
          <p:cNvPr id="9" name="Shape 6"/>
          <p:cNvSpPr/>
          <p:nvPr/>
        </p:nvSpPr>
        <p:spPr>
          <a:xfrm>
            <a:off x="640080" y="1645920"/>
            <a:ext cx="5120640" cy="3749040"/>
          </a:xfrm>
          <a:prstGeom prst="roundRect">
            <a:avLst>
              <a:gd name="adj" fmla="val 1463"/>
            </a:avLst>
          </a:prstGeom>
          <a:solidFill>
            <a:srgbClr val="F7FAFB"/>
          </a:solidFill>
          <a:ln w="15875">
            <a:solidFill>
              <a:srgbClr val="9FB4C2"/>
            </a:solidFill>
            <a:prstDash val="dash"/>
          </a:ln>
        </p:spPr>
        <p:txBody>
          <a:bodyPr/>
          <a:lstStyle/>
          <a:p>
            <a:endParaRPr lang="en-US"/>
          </a:p>
        </p:txBody>
      </p:sp>
      <p:sp>
        <p:nvSpPr>
          <p:cNvPr id="11" name="Text 8"/>
          <p:cNvSpPr txBox="1"/>
          <p:nvPr/>
        </p:nvSpPr>
        <p:spPr>
          <a:xfrm>
            <a:off x="6126480" y="1645920"/>
            <a:ext cx="5394960" cy="379476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Mini-slots and wider numerology (15×2ᵘ kHz)</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Transmit mid-slot with shorter symbols · price: more control overhead</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Short-packet design (JPLLO, sparse vector coding)</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Less pilot overhead · price: harder detection without CSI</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Polar codes</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No error floor at short lengths; SC decoding ≈ 1.5 % of turbo complexity, SCL ≈ 100 % (Table IV)</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Massive MIMO and diversity</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Channel hardening makes the link near-deterministic · price: antennas and resources</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OTFS waveforms, mmWave</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Robust to Doppler, huge bandwidth · price: complexity, blockage</a:t>
            </a:r>
            <a:endParaRPr lang="en-US" sz="1450" dirty="0"/>
          </a:p>
        </p:txBody>
      </p:sp>
      <p:pic>
        <p:nvPicPr>
          <p:cNvPr id="12" name="Image 11">
            <a:extLst>
              <a:ext uri="{FF2B5EF4-FFF2-40B4-BE49-F238E27FC236}">
                <a16:creationId xmlns:a16="http://schemas.microsoft.com/office/drawing/2014/main" id="{86A3B778-D3D4-B90D-3CB0-837883E9EBA5}"/>
              </a:ext>
            </a:extLst>
          </p:cNvPr>
          <p:cNvPicPr>
            <a:picLocks noChangeAspect="1"/>
          </p:cNvPicPr>
          <p:nvPr/>
        </p:nvPicPr>
        <p:blipFill>
          <a:blip r:embed="rId3"/>
          <a:stretch>
            <a:fillRect/>
          </a:stretch>
        </p:blipFill>
        <p:spPr>
          <a:xfrm>
            <a:off x="829891" y="2347851"/>
            <a:ext cx="4741018" cy="25533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05840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804672"/>
            <a:ext cx="10881360" cy="594360"/>
          </a:xfrm>
          <a:prstGeom prst="rect">
            <a:avLst/>
          </a:prstGeom>
          <a:noFill/>
          <a:ln/>
        </p:spPr>
        <p:txBody>
          <a:bodyPr wrap="square" lIns="0" tIns="0" rIns="0" bIns="0" rtlCol="0" anchor="t"/>
          <a:lstStyle/>
          <a:p>
            <a:r>
              <a:rPr lang="en-US" sz="2800" b="1" dirty="0">
                <a:solidFill>
                  <a:srgbClr val="12394D"/>
                </a:solidFill>
                <a:latin typeface="Cambria" pitchFamily="34" charset="0"/>
                <a:ea typeface="Cambria" pitchFamily="34" charset="-122"/>
                <a:cs typeface="Cambria" pitchFamily="34" charset="-120"/>
              </a:rPr>
              <a:t>MAC and cross-layer: where scheduling decides the trade-off</a:t>
            </a:r>
            <a:endParaRPr lang="en-US" sz="2800" dirty="0"/>
          </a:p>
        </p:txBody>
      </p:sp>
      <p:sp>
        <p:nvSpPr>
          <p:cNvPr id="4" name="Shape 2"/>
          <p:cNvSpPr/>
          <p:nvPr/>
        </p:nvSpPr>
        <p:spPr>
          <a:xfrm>
            <a:off x="640080" y="5577840"/>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77840"/>
            <a:ext cx="10469880" cy="502920"/>
          </a:xfrm>
          <a:prstGeom prst="rect">
            <a:avLst/>
          </a:prstGeom>
          <a:noFill/>
          <a:ln/>
        </p:spPr>
        <p:txBody>
          <a:bodyPr wrap="square" lIns="0" tIns="0" rIns="0" bIns="0" rtlCol="0" anchor="ctr"/>
          <a:lstStyle/>
          <a:p>
            <a:pPr marL="0" indent="0">
              <a:buNone/>
            </a:pPr>
            <a:r>
              <a:rPr lang="en-US" sz="1350" b="1" dirty="0">
                <a:solidFill>
                  <a:srgbClr val="1A8A99"/>
                </a:solidFill>
                <a:latin typeface="Calibri" pitchFamily="34" charset="0"/>
                <a:ea typeface="Calibri" pitchFamily="34" charset="-122"/>
                <a:cs typeface="Calibri" pitchFamily="34" charset="-120"/>
              </a:rPr>
              <a:t>Takeaway  </a:t>
            </a:r>
            <a:r>
              <a:rPr lang="en-US" sz="1350" dirty="0">
                <a:solidFill>
                  <a:srgbClr val="12394D"/>
                </a:solidFill>
                <a:latin typeface="Calibri" pitchFamily="34" charset="0"/>
                <a:ea typeface="Calibri" pitchFamily="34" charset="-122"/>
                <a:cs typeface="Calibri" pitchFamily="34" charset="-120"/>
              </a:rPr>
              <a:t>Reliability is always paid for in latency, spectrum or eMBB throughput, so the trade-off must be optimised jointly.</a:t>
            </a:r>
            <a:endParaRPr lang="en-US" sz="135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fr-FR" sz="1100" dirty="0">
                <a:solidFill>
                  <a:srgbClr val="5F7A8A"/>
                </a:solidFill>
                <a:latin typeface="Calibri" pitchFamily="34" charset="0"/>
                <a:ea typeface="Calibri" pitchFamily="34" charset="-122"/>
                <a:cs typeface="Calibri" pitchFamily="34" charset="-120"/>
              </a:rPr>
              <a:t>38</a:t>
            </a:r>
            <a:r>
              <a:rPr lang="en-US" sz="1100" dirty="0">
                <a:solidFill>
                  <a:srgbClr val="5F7A8A"/>
                </a:solidFill>
                <a:latin typeface="Calibri" pitchFamily="34" charset="0"/>
                <a:ea typeface="Calibri" pitchFamily="34" charset="-122"/>
                <a:cs typeface="Calibri" pitchFamily="34" charset="-120"/>
              </a:rPr>
              <a:t/>
            </a:r>
            <a:endParaRPr lang="en-US" sz="1100" dirty="0"/>
          </a:p>
        </p:txBody>
      </p:sp>
      <p:sp>
        <p:nvSpPr>
          <p:cNvPr id="8" name="Shape 6"/>
          <p:cNvSpPr/>
          <p:nvPr/>
        </p:nvSpPr>
        <p:spPr>
          <a:xfrm>
            <a:off x="657333" y="1737360"/>
            <a:ext cx="3474720" cy="361188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9" name="Text 7"/>
          <p:cNvSpPr txBox="1"/>
          <p:nvPr/>
        </p:nvSpPr>
        <p:spPr>
          <a:xfrm>
            <a:off x="914400" y="1920240"/>
            <a:ext cx="2926080" cy="274320"/>
          </a:xfrm>
          <a:prstGeom prst="rect">
            <a:avLst/>
          </a:prstGeom>
          <a:noFill/>
          <a:ln/>
        </p:spPr>
        <p:txBody>
          <a:bodyPr wrap="square" lIns="0" tIns="0" rIns="0" bIns="0" rtlCol="0" anchor="t"/>
          <a:lstStyle/>
          <a:p>
            <a:pPr marL="0" indent="0">
              <a:buNone/>
            </a:pPr>
            <a:r>
              <a:rPr lang="fr-FR" sz="1200" b="1" kern="0" spc="100" dirty="0">
                <a:solidFill>
                  <a:srgbClr val="1A8A99"/>
                </a:solidFill>
                <a:latin typeface="Calibri" pitchFamily="34" charset="0"/>
                <a:ea typeface="Calibri" pitchFamily="34" charset="-122"/>
                <a:cs typeface="Calibri" pitchFamily="34" charset="-120"/>
              </a:rPr>
              <a:t>S</a:t>
            </a:r>
            <a:r>
              <a:rPr lang="en-US" sz="1200" b="1" kern="0" spc="100" dirty="0">
                <a:solidFill>
                  <a:srgbClr val="1A8A99"/>
                </a:solidFill>
                <a:latin typeface="Calibri" pitchFamily="34" charset="0"/>
                <a:ea typeface="Calibri" pitchFamily="34" charset="-122"/>
                <a:cs typeface="Calibri" pitchFamily="34" charset="-120"/>
              </a:rPr>
              <a:t>CHEDULING</a:t>
            </a:r>
            <a:endParaRPr lang="en-US" sz="1200" dirty="0"/>
          </a:p>
        </p:txBody>
      </p:sp>
      <p:sp>
        <p:nvSpPr>
          <p:cNvPr id="11" name="Shape 9"/>
          <p:cNvSpPr/>
          <p:nvPr/>
        </p:nvSpPr>
        <p:spPr>
          <a:xfrm>
            <a:off x="4343400" y="1737360"/>
            <a:ext cx="3474720" cy="361188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12" name="Text 10"/>
          <p:cNvSpPr txBox="1"/>
          <p:nvPr/>
        </p:nvSpPr>
        <p:spPr>
          <a:xfrm>
            <a:off x="4617720" y="1920240"/>
            <a:ext cx="2926080" cy="274320"/>
          </a:xfrm>
          <a:prstGeom prst="rect">
            <a:avLst/>
          </a:prstGeom>
          <a:noFill/>
          <a:ln/>
        </p:spPr>
        <p:txBody>
          <a:bodyPr wrap="square" lIns="0" tIns="0" rIns="0" bIns="0" rtlCol="0" anchor="t"/>
          <a:lstStyle/>
          <a:p>
            <a:pPr marL="0" indent="0">
              <a:buNone/>
            </a:pPr>
            <a:r>
              <a:rPr lang="fr-FR" sz="1200" b="1" kern="0" spc="100" dirty="0">
                <a:solidFill>
                  <a:srgbClr val="1A8A99"/>
                </a:solidFill>
                <a:latin typeface="Calibri" pitchFamily="34" charset="0"/>
                <a:ea typeface="Calibri" pitchFamily="34" charset="-122"/>
                <a:cs typeface="Calibri" pitchFamily="34" charset="-120"/>
              </a:rPr>
              <a:t>A</a:t>
            </a:r>
            <a:r>
              <a:rPr lang="en-US" sz="1200" b="1" kern="0" spc="100" dirty="0">
                <a:solidFill>
                  <a:srgbClr val="1A8A99"/>
                </a:solidFill>
                <a:latin typeface="Calibri" pitchFamily="34" charset="0"/>
                <a:ea typeface="Calibri" pitchFamily="34" charset="-122"/>
                <a:cs typeface="Calibri" pitchFamily="34" charset="-120"/>
              </a:rPr>
              <a:t>CCESS AND CONNECTIVITY</a:t>
            </a:r>
            <a:endParaRPr lang="en-US" sz="1200" dirty="0"/>
          </a:p>
        </p:txBody>
      </p:sp>
      <p:sp>
        <p:nvSpPr>
          <p:cNvPr id="13" name="Text 11"/>
          <p:cNvSpPr txBox="1"/>
          <p:nvPr/>
        </p:nvSpPr>
        <p:spPr>
          <a:xfrm>
            <a:off x="4617720" y="2377440"/>
            <a:ext cx="2971800" cy="3474720"/>
          </a:xfrm>
          <a:prstGeom prst="rect">
            <a:avLst/>
          </a:prstGeom>
          <a:noFill/>
          <a:ln/>
        </p:spPr>
        <p:txBody>
          <a:bodyPr wrap="square" lIns="0" tIns="0" rIns="0" bIns="0" rtlCol="0" anchor="t"/>
          <a:lstStyle/>
          <a:p>
            <a:pPr marL="0" indent="0">
              <a:buNone/>
            </a:pPr>
            <a:r>
              <a:rPr lang="en-US" sz="1600" b="1" dirty="0">
                <a:solidFill>
                  <a:srgbClr val="12394D"/>
                </a:solidFill>
                <a:latin typeface="Calibri" pitchFamily="34" charset="0"/>
                <a:ea typeface="Calibri" pitchFamily="34" charset="-122"/>
                <a:cs typeface="Calibri" pitchFamily="34" charset="-120"/>
              </a:rPr>
              <a:t>Grant-free access, SPS</a:t>
            </a:r>
            <a:endParaRPr lang="en-US" sz="1600" dirty="0"/>
          </a:p>
          <a:p>
            <a:pPr marL="0" indent="0">
              <a:spcAft>
                <a:spcPts val="2200"/>
              </a:spcAft>
              <a:buNone/>
            </a:pPr>
            <a:r>
              <a:rPr lang="en-US" sz="1400" dirty="0">
                <a:solidFill>
                  <a:srgbClr val="5F7A8A"/>
                </a:solidFill>
                <a:latin typeface="Calibri" pitchFamily="34" charset="0"/>
                <a:ea typeface="Calibri" pitchFamily="34" charset="-122"/>
                <a:cs typeface="Calibri" pitchFamily="34" charset="-120"/>
              </a:rPr>
              <a:t>No handshake, but waste on sporadic traffic</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Preemptive scheduling</a:t>
            </a:r>
            <a:endParaRPr lang="en-US" sz="1600" dirty="0"/>
          </a:p>
          <a:p>
            <a:pPr marL="0" indent="0">
              <a:spcAft>
                <a:spcPts val="2200"/>
              </a:spcAft>
              <a:buNone/>
            </a:pPr>
            <a:r>
              <a:rPr lang="en-US" sz="1400" dirty="0">
                <a:solidFill>
                  <a:srgbClr val="5F7A8A"/>
                </a:solidFill>
                <a:latin typeface="Calibri" pitchFamily="34" charset="0"/>
                <a:ea typeface="Calibri" pitchFamily="34" charset="-122"/>
                <a:cs typeface="Calibri" pitchFamily="34" charset="-120"/>
              </a:rPr>
              <a:t>URLLC served at once, eMBB pays</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Multi-connectivity</a:t>
            </a:r>
            <a:endParaRPr lang="en-US" sz="1600" dirty="0"/>
          </a:p>
          <a:p>
            <a:pPr marL="0" indent="0">
              <a:spcAft>
                <a:spcPts val="2200"/>
              </a:spcAft>
              <a:buNone/>
            </a:pPr>
            <a:r>
              <a:rPr lang="en-US" sz="1400" dirty="0">
                <a:solidFill>
                  <a:srgbClr val="5F7A8A"/>
                </a:solidFill>
                <a:latin typeface="Calibri" pitchFamily="34" charset="0"/>
                <a:ea typeface="Calibri" pitchFamily="34" charset="-122"/>
                <a:cs typeface="Calibri" pitchFamily="34" charset="-120"/>
              </a:rPr>
              <a:t>&gt;10× better outage for ~2× resources</a:t>
            </a:r>
            <a:endParaRPr lang="en-US" sz="1600" dirty="0"/>
          </a:p>
        </p:txBody>
      </p:sp>
      <p:sp>
        <p:nvSpPr>
          <p:cNvPr id="14" name="Shape 12"/>
          <p:cNvSpPr/>
          <p:nvPr/>
        </p:nvSpPr>
        <p:spPr>
          <a:xfrm>
            <a:off x="8046720" y="1737360"/>
            <a:ext cx="3474720" cy="361188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15" name="Text 13"/>
          <p:cNvSpPr txBox="1"/>
          <p:nvPr/>
        </p:nvSpPr>
        <p:spPr>
          <a:xfrm>
            <a:off x="8321040" y="1920240"/>
            <a:ext cx="292608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CROSS-LAYER</a:t>
            </a:r>
            <a:endParaRPr lang="en-US" sz="1200" dirty="0"/>
          </a:p>
        </p:txBody>
      </p:sp>
      <p:sp>
        <p:nvSpPr>
          <p:cNvPr id="16" name="Text 14"/>
          <p:cNvSpPr txBox="1"/>
          <p:nvPr/>
        </p:nvSpPr>
        <p:spPr>
          <a:xfrm>
            <a:off x="8321040" y="2377440"/>
            <a:ext cx="2971800" cy="3474720"/>
          </a:xfrm>
          <a:prstGeom prst="rect">
            <a:avLst/>
          </a:prstGeom>
          <a:noFill/>
          <a:ln/>
        </p:spPr>
        <p:txBody>
          <a:bodyPr wrap="square" lIns="0" tIns="0" rIns="0" bIns="0" rtlCol="0" anchor="t"/>
          <a:lstStyle/>
          <a:p>
            <a:pPr marL="0" indent="0">
              <a:buNone/>
            </a:pPr>
            <a:r>
              <a:rPr lang="en-US" sz="1600" b="1" dirty="0">
                <a:solidFill>
                  <a:srgbClr val="12394D"/>
                </a:solidFill>
                <a:latin typeface="Calibri" pitchFamily="34" charset="0"/>
                <a:ea typeface="Calibri" pitchFamily="34" charset="-122"/>
                <a:cs typeface="Calibri" pitchFamily="34" charset="-120"/>
              </a:rPr>
              <a:t>HARQ</a:t>
            </a:r>
            <a:endParaRPr lang="en-US" sz="1600" dirty="0"/>
          </a:p>
          <a:p>
            <a:pPr marL="0" indent="0">
              <a:spcAft>
                <a:spcPts val="2200"/>
              </a:spcAft>
              <a:buNone/>
            </a:pPr>
            <a:r>
              <a:rPr lang="en-US" sz="1400" dirty="0">
                <a:solidFill>
                  <a:srgbClr val="5F7A8A"/>
                </a:solidFill>
                <a:latin typeface="Calibri" pitchFamily="34" charset="0"/>
                <a:ea typeface="Calibri" pitchFamily="34" charset="-122"/>
                <a:cs typeface="Calibri" pitchFamily="34" charset="-120"/>
              </a:rPr>
              <a:t>Only 1 retransmission fits in 1 ms</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Proactive packet dropping</a:t>
            </a:r>
            <a:endParaRPr lang="en-US" sz="1600" dirty="0"/>
          </a:p>
          <a:p>
            <a:pPr>
              <a:spcAft>
                <a:spcPts val="1400"/>
              </a:spcAft>
            </a:pPr>
            <a:r>
              <a:rPr lang="en-US" sz="1400" dirty="0">
                <a:solidFill>
                  <a:srgbClr val="5F7A8A"/>
                </a:solidFill>
                <a:latin typeface="Calibri" pitchFamily="34" charset="0"/>
                <a:ea typeface="Calibri" pitchFamily="34" charset="-122"/>
                <a:cs typeface="Calibri" pitchFamily="34" charset="-120"/>
              </a:rPr>
              <a:t>Keeps power finite when the deadline is below the coherence time</a:t>
            </a:r>
            <a:endParaRPr lang="en-US" sz="1600" dirty="0"/>
          </a:p>
          <a:p>
            <a:pPr marL="0" indent="0">
              <a:buNone/>
            </a:pPr>
            <a:r>
              <a:rPr lang="en-US" sz="1600" b="1" dirty="0">
                <a:solidFill>
                  <a:srgbClr val="12394D"/>
                </a:solidFill>
                <a:latin typeface="Calibri" pitchFamily="34" charset="0"/>
                <a:ea typeface="Calibri" pitchFamily="34" charset="-122"/>
                <a:cs typeface="Calibri" pitchFamily="34" charset="-120"/>
              </a:rPr>
              <a:t>Queue + CSI-aware allocation</a:t>
            </a:r>
            <a:endParaRPr lang="en-US" sz="1600" dirty="0"/>
          </a:p>
          <a:p>
            <a:pPr marL="0" indent="0">
              <a:spcAft>
                <a:spcPts val="2200"/>
              </a:spcAft>
              <a:buNone/>
            </a:pPr>
            <a:r>
              <a:rPr lang="en-US" sz="1400" dirty="0">
                <a:solidFill>
                  <a:srgbClr val="5F7A8A"/>
                </a:solidFill>
                <a:latin typeface="Calibri" pitchFamily="34" charset="0"/>
                <a:ea typeface="Calibri" pitchFamily="34" charset="-122"/>
                <a:cs typeface="Calibri" pitchFamily="34" charset="-120"/>
              </a:rPr>
              <a:t>Joint models, high complexity</a:t>
            </a:r>
            <a:endParaRPr lang="en-US" sz="1600" dirty="0"/>
          </a:p>
        </p:txBody>
      </p:sp>
      <p:sp>
        <p:nvSpPr>
          <p:cNvPr id="18" name="Text 8">
            <a:extLst>
              <a:ext uri="{FF2B5EF4-FFF2-40B4-BE49-F238E27FC236}">
                <a16:creationId xmlns:a16="http://schemas.microsoft.com/office/drawing/2014/main" id="{E200FA3A-60DB-EDDE-2FE5-93F9FFBC3755}"/>
              </a:ext>
            </a:extLst>
          </p:cNvPr>
          <p:cNvSpPr txBox="1"/>
          <p:nvPr/>
        </p:nvSpPr>
        <p:spPr>
          <a:xfrm>
            <a:off x="914400" y="2468880"/>
            <a:ext cx="2971800" cy="3108960"/>
          </a:xfrm>
          <a:prstGeom prst="rect">
            <a:avLst/>
          </a:prstGeom>
          <a:noFill/>
          <a:ln/>
        </p:spPr>
        <p:txBody>
          <a:bodyPr wrap="square" lIns="0" tIns="0" rIns="0" bIns="0" rtlCol="0" anchor="t"/>
          <a:lstStyle/>
          <a:p>
            <a:pPr marL="0" indent="0">
              <a:buNone/>
            </a:pPr>
            <a:r>
              <a:rPr lang="en-US" sz="1600" b="1" dirty="0">
                <a:solidFill>
                  <a:srgbClr val="12394D"/>
                </a:solidFill>
                <a:latin typeface="Calibri" pitchFamily="34" charset="0"/>
                <a:ea typeface="Calibri" pitchFamily="34" charset="-122"/>
                <a:cs typeface="Calibri" pitchFamily="34" charset="-120"/>
              </a:rPr>
              <a:t>eMBB on slots, URLLC on mini-slots</a:t>
            </a:r>
          </a:p>
          <a:p>
            <a:pPr marL="0" indent="0">
              <a:spcAft>
                <a:spcPts val="1400"/>
              </a:spcAft>
              <a:buNone/>
            </a:pPr>
            <a:r>
              <a:rPr lang="en-US" sz="1400" dirty="0">
                <a:solidFill>
                  <a:srgbClr val="5F7A8A"/>
                </a:solidFill>
                <a:latin typeface="Calibri" pitchFamily="34" charset="0"/>
                <a:ea typeface="Calibri" pitchFamily="34" charset="-122"/>
                <a:cs typeface="Calibri" pitchFamily="34" charset="-120"/>
              </a:rPr>
              <a:t>1 ms slots vs 0.125 ms mini-slots</a:t>
            </a:r>
            <a:endParaRPr lang="en-US" sz="1400" dirty="0"/>
          </a:p>
          <a:p>
            <a:pPr marL="0" indent="0">
              <a:buNone/>
            </a:pPr>
            <a:endParaRPr lang="en-US" sz="1600" b="1" dirty="0">
              <a:solidFill>
                <a:srgbClr val="12394D"/>
              </a:solidFill>
              <a:latin typeface="Calibri" pitchFamily="34" charset="0"/>
              <a:ea typeface="Calibri" pitchFamily="34" charset="-122"/>
              <a:cs typeface="Calibri" pitchFamily="34" charset="-120"/>
            </a:endParaRPr>
          </a:p>
          <a:p>
            <a:pPr marL="0" indent="0">
              <a:buNone/>
            </a:pPr>
            <a:r>
              <a:rPr lang="en-US" sz="1600" b="1" dirty="0">
                <a:solidFill>
                  <a:srgbClr val="12394D"/>
                </a:solidFill>
                <a:latin typeface="Calibri" pitchFamily="34" charset="0"/>
                <a:ea typeface="Calibri" pitchFamily="34" charset="-122"/>
                <a:cs typeface="Calibri" pitchFamily="34" charset="-120"/>
              </a:rPr>
              <a:t>Puncturing loss models</a:t>
            </a:r>
          </a:p>
          <a:p>
            <a:pPr marL="0" indent="0">
              <a:spcAft>
                <a:spcPts val="1400"/>
              </a:spcAft>
              <a:buNone/>
            </a:pPr>
            <a:r>
              <a:rPr lang="en-US" sz="1400" dirty="0">
                <a:solidFill>
                  <a:srgbClr val="5F7A8A"/>
                </a:solidFill>
                <a:latin typeface="Calibri" pitchFamily="34" charset="0"/>
                <a:ea typeface="Calibri" pitchFamily="34" charset="-122"/>
                <a:cs typeface="Calibri" pitchFamily="34" charset="-120"/>
              </a:rPr>
              <a:t>Linear, convex or threshold</a:t>
            </a:r>
            <a:endParaRPr lang="en-US" sz="1400" dirty="0"/>
          </a:p>
          <a:p>
            <a:pPr marL="0" indent="0">
              <a:buNone/>
            </a:pPr>
            <a:r>
              <a:rPr lang="en-US" sz="1600" b="1" dirty="0">
                <a:solidFill>
                  <a:srgbClr val="12394D"/>
                </a:solidFill>
                <a:latin typeface="Calibri" pitchFamily="34" charset="0"/>
                <a:ea typeface="Calibri" pitchFamily="34" charset="-122"/>
                <a:cs typeface="Calibri" pitchFamily="34" charset="-120"/>
              </a:rPr>
              <a:t>LTE schedulers fall short</a:t>
            </a:r>
            <a:endParaRPr lang="en-US" sz="1600" dirty="0"/>
          </a:p>
          <a:p>
            <a:pPr marL="0" indent="0">
              <a:spcAft>
                <a:spcPts val="1400"/>
              </a:spcAft>
              <a:buNone/>
            </a:pPr>
            <a:r>
              <a:rPr lang="en-US" sz="1400" dirty="0">
                <a:solidFill>
                  <a:srgbClr val="5F7A8A"/>
                </a:solidFill>
                <a:latin typeface="Calibri" pitchFamily="34" charset="0"/>
                <a:ea typeface="Calibri" pitchFamily="34" charset="-122"/>
                <a:cs typeface="Calibri" pitchFamily="34" charset="-120"/>
              </a:rPr>
              <a:t>M-LWDF, EXP/PF, FLS react too coarsely to deadlines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ML for URLLC: predictive, constrained, but online</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The RL works reviewed here are trained online, in simulation: none learns from network logs under a URLLC constraint.</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6</a:t>
            </a:r>
            <a:endParaRPr lang="en-US" sz="1100" dirty="0"/>
          </a:p>
        </p:txBody>
      </p:sp>
      <p:sp>
        <p:nvSpPr>
          <p:cNvPr id="9" name="Shape 6"/>
          <p:cNvSpPr/>
          <p:nvPr/>
        </p:nvSpPr>
        <p:spPr>
          <a:xfrm>
            <a:off x="640080" y="1691640"/>
            <a:ext cx="384048" cy="384048"/>
          </a:xfrm>
          <a:prstGeom prst="ellipse">
            <a:avLst/>
          </a:prstGeom>
          <a:solidFill>
            <a:srgbClr val="1A8A99"/>
          </a:solidFill>
          <a:ln w="12700">
            <a:solidFill>
              <a:srgbClr val="1A8A99"/>
            </a:solidFill>
            <a:prstDash val="solid"/>
          </a:ln>
        </p:spPr>
        <p:txBody>
          <a:bodyPr/>
          <a:lstStyle/>
          <a:p>
            <a:endParaRPr lang="en-US"/>
          </a:p>
        </p:txBody>
      </p:sp>
      <p:sp>
        <p:nvSpPr>
          <p:cNvPr id="10" name="Text 7"/>
          <p:cNvSpPr txBox="1"/>
          <p:nvPr/>
        </p:nvSpPr>
        <p:spPr>
          <a:xfrm>
            <a:off x="640080" y="1691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1" name="Text 8"/>
          <p:cNvSpPr txBox="1"/>
          <p:nvPr/>
        </p:nvSpPr>
        <p:spPr>
          <a:xfrm>
            <a:off x="1188720" y="1664208"/>
            <a:ext cx="585216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Supervised: predict before it happens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Early HARQ (predict decoding failure), random-forest TTI selection, XGBoost forecasts of URLLC arrivals for proactive scheduling</a:t>
            </a:r>
            <a:endParaRPr lang="en-US" sz="1450" dirty="0"/>
          </a:p>
        </p:txBody>
      </p:sp>
      <p:sp>
        <p:nvSpPr>
          <p:cNvPr id="12" name="Shape 9"/>
          <p:cNvSpPr/>
          <p:nvPr/>
        </p:nvSpPr>
        <p:spPr>
          <a:xfrm>
            <a:off x="640080" y="2633472"/>
            <a:ext cx="384048" cy="384048"/>
          </a:xfrm>
          <a:prstGeom prst="ellipse">
            <a:avLst/>
          </a:prstGeom>
          <a:solidFill>
            <a:srgbClr val="1A8A99"/>
          </a:solidFill>
          <a:ln w="12700">
            <a:solidFill>
              <a:srgbClr val="1A8A99"/>
            </a:solidFill>
            <a:prstDash val="solid"/>
          </a:ln>
        </p:spPr>
        <p:txBody>
          <a:bodyPr/>
          <a:lstStyle/>
          <a:p>
            <a:endParaRPr lang="en-US"/>
          </a:p>
        </p:txBody>
      </p:sp>
      <p:sp>
        <p:nvSpPr>
          <p:cNvPr id="13" name="Text 10"/>
          <p:cNvSpPr txBox="1"/>
          <p:nvPr/>
        </p:nvSpPr>
        <p:spPr>
          <a:xfrm>
            <a:off x="640080" y="2633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1"/>
          <p:cNvSpPr txBox="1"/>
          <p:nvPr/>
        </p:nvSpPr>
        <p:spPr>
          <a:xfrm>
            <a:off x="1188720" y="2606040"/>
            <a:ext cx="585216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Unsupervised: learn constrained allocations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DNN trained primal-dual to learn Lagrange multipliers for power and bandwidth; k-means access control</a:t>
            </a:r>
            <a:endParaRPr lang="en-US" sz="1450" dirty="0"/>
          </a:p>
        </p:txBody>
      </p:sp>
      <p:sp>
        <p:nvSpPr>
          <p:cNvPr id="15" name="Shape 12"/>
          <p:cNvSpPr/>
          <p:nvPr/>
        </p:nvSpPr>
        <p:spPr>
          <a:xfrm>
            <a:off x="640080" y="3575304"/>
            <a:ext cx="384048" cy="384048"/>
          </a:xfrm>
          <a:prstGeom prst="ellipse">
            <a:avLst/>
          </a:prstGeom>
          <a:solidFill>
            <a:srgbClr val="1A8A99"/>
          </a:solidFill>
          <a:ln w="12700">
            <a:solidFill>
              <a:srgbClr val="1A8A99"/>
            </a:solidFill>
            <a:prstDash val="solid"/>
          </a:ln>
        </p:spPr>
        <p:txBody>
          <a:bodyPr/>
          <a:lstStyle/>
          <a:p>
            <a:endParaRPr lang="en-US"/>
          </a:p>
        </p:txBody>
      </p:sp>
      <p:sp>
        <p:nvSpPr>
          <p:cNvPr id="16" name="Text 13"/>
          <p:cNvSpPr txBox="1"/>
          <p:nvPr/>
        </p:nvSpPr>
        <p:spPr>
          <a:xfrm>
            <a:off x="640080" y="35753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txBox="1"/>
          <p:nvPr/>
        </p:nvSpPr>
        <p:spPr>
          <a:xfrm>
            <a:off x="1188720" y="3547872"/>
            <a:ext cx="585216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Reinforcement: adapt to dynamics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DDPG for eMBB/URLLC bandwidth and overlap; model-free DRL to limit puncturing; POMDP for NOMA uplink; O-RAN actor-critic</a:t>
            </a:r>
            <a:endParaRPr lang="en-US" sz="1450" dirty="0"/>
          </a:p>
        </p:txBody>
      </p:sp>
      <p:sp>
        <p:nvSpPr>
          <p:cNvPr id="18" name="Shape 15"/>
          <p:cNvSpPr/>
          <p:nvPr/>
        </p:nvSpPr>
        <p:spPr>
          <a:xfrm>
            <a:off x="640080" y="4517136"/>
            <a:ext cx="384048" cy="384048"/>
          </a:xfrm>
          <a:prstGeom prst="ellipse">
            <a:avLst/>
          </a:prstGeom>
          <a:solidFill>
            <a:srgbClr val="1A8A99"/>
          </a:solidFill>
          <a:ln w="12700">
            <a:solidFill>
              <a:srgbClr val="1A8A99"/>
            </a:solidFill>
            <a:prstDash val="solid"/>
          </a:ln>
        </p:spPr>
        <p:txBody>
          <a:bodyPr/>
          <a:lstStyle/>
          <a:p>
            <a:endParaRPr lang="en-US"/>
          </a:p>
        </p:txBody>
      </p:sp>
      <p:sp>
        <p:nvSpPr>
          <p:cNvPr id="19" name="Text 16"/>
          <p:cNvSpPr txBox="1"/>
          <p:nvPr/>
        </p:nvSpPr>
        <p:spPr>
          <a:xfrm>
            <a:off x="640080" y="45171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1188720" y="4489704"/>
            <a:ext cx="585216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Federated RL: learn across sites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ASTEROID: offloading under long-term URLLC constraints; coordination of two O-RAN xApps</a:t>
            </a:r>
            <a:endParaRPr lang="en-US" sz="1450" dirty="0"/>
          </a:p>
        </p:txBody>
      </p:sp>
      <p:sp>
        <p:nvSpPr>
          <p:cNvPr id="23" name="Text 20"/>
          <p:cNvSpPr txBox="1"/>
          <p:nvPr/>
        </p:nvSpPr>
        <p:spPr>
          <a:xfrm>
            <a:off x="7680960" y="2240280"/>
            <a:ext cx="3566160" cy="82296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No offline learning, no explicit safety during training</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05840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1 · Haque et al. · 5G URLLC &amp; 6G era</a:t>
            </a:r>
            <a:endParaRPr lang="en-US" sz="1400" dirty="0"/>
          </a:p>
        </p:txBody>
      </p:sp>
      <p:sp>
        <p:nvSpPr>
          <p:cNvPr id="3" name="Text 1"/>
          <p:cNvSpPr txBox="1"/>
          <p:nvPr/>
        </p:nvSpPr>
        <p:spPr>
          <a:xfrm>
            <a:off x="640080" y="804672"/>
            <a:ext cx="10881360" cy="594360"/>
          </a:xfrm>
          <a:prstGeom prst="rect">
            <a:avLst/>
          </a:prstGeom>
          <a:noFill/>
          <a:ln/>
        </p:spPr>
        <p:txBody>
          <a:bodyPr wrap="square" lIns="0" tIns="0" rIns="0" bIns="0" rtlCol="0" anchor="t"/>
          <a:lstStyle/>
          <a:p>
            <a:pPr marL="0" indent="0">
              <a:buNone/>
            </a:pPr>
            <a:r>
              <a:rPr lang="en-US" sz="2800" b="1" dirty="0">
                <a:solidFill>
                  <a:srgbClr val="12394D"/>
                </a:solidFill>
                <a:latin typeface="Cambria" pitchFamily="34" charset="0"/>
                <a:ea typeface="Cambria" pitchFamily="34" charset="-122"/>
                <a:cs typeface="Cambria" pitchFamily="34" charset="-120"/>
              </a:rPr>
              <a:t>ML is the main lever for 6G URLLC</a:t>
            </a:r>
            <a:endParaRPr lang="en-US" sz="28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fr-FR" sz="1100" dirty="0">
                <a:solidFill>
                  <a:srgbClr val="5F7A8A"/>
                </a:solidFill>
                <a:latin typeface="Calibri" pitchFamily="34" charset="0"/>
                <a:ea typeface="Calibri" pitchFamily="34" charset="-122"/>
                <a:cs typeface="Calibri" pitchFamily="34" charset="-120"/>
              </a:rPr>
              <a:t>39</a:t>
            </a:r>
            <a:r>
              <a:rPr lang="en-US" sz="1100" dirty="0">
                <a:solidFill>
                  <a:srgbClr val="5F7A8A"/>
                </a:solidFill>
                <a:latin typeface="Calibri" pitchFamily="34" charset="0"/>
                <a:ea typeface="Calibri" pitchFamily="34" charset="-122"/>
                <a:cs typeface="Calibri" pitchFamily="34" charset="-120"/>
              </a:rPr>
              <a:t/>
            </a:r>
            <a:endParaRPr lang="en-US" sz="1100" dirty="0"/>
          </a:p>
        </p:txBody>
      </p:sp>
      <p:sp>
        <p:nvSpPr>
          <p:cNvPr id="9" name="Shape 7"/>
          <p:cNvSpPr/>
          <p:nvPr/>
        </p:nvSpPr>
        <p:spPr>
          <a:xfrm>
            <a:off x="502920" y="2043684"/>
            <a:ext cx="658368" cy="594360"/>
          </a:xfrm>
          <a:prstGeom prst="ellipse">
            <a:avLst/>
          </a:prstGeom>
          <a:solidFill>
            <a:srgbClr val="1A8A99"/>
          </a:solidFill>
          <a:ln w="12700">
            <a:solidFill>
              <a:srgbClr val="1A8A99"/>
            </a:solidFill>
            <a:prstDash val="solid"/>
          </a:ln>
        </p:spPr>
        <p:txBody>
          <a:bodyPr/>
          <a:lstStyle/>
          <a:p>
            <a:r>
              <a:rPr lang="fr-FR" dirty="0">
                <a:solidFill>
                  <a:schemeClr val="bg1"/>
                </a:solidFill>
              </a:rPr>
              <a:t>6G</a:t>
            </a:r>
            <a:endParaRPr lang="en-US" dirty="0">
              <a:solidFill>
                <a:schemeClr val="bg1"/>
              </a:solidFill>
            </a:endParaRPr>
          </a:p>
        </p:txBody>
      </p:sp>
      <p:sp>
        <p:nvSpPr>
          <p:cNvPr id="18" name="Shape 16"/>
          <p:cNvSpPr/>
          <p:nvPr/>
        </p:nvSpPr>
        <p:spPr>
          <a:xfrm>
            <a:off x="6949440" y="1737360"/>
            <a:ext cx="4572000" cy="4315968"/>
          </a:xfrm>
          <a:prstGeom prst="roundRect">
            <a:avLst>
              <a:gd name="adj" fmla="val 1519"/>
            </a:avLst>
          </a:prstGeom>
          <a:solidFill>
            <a:srgbClr val="F0F5F7"/>
          </a:solidFill>
          <a:ln w="12700">
            <a:solidFill>
              <a:srgbClr val="F0F5F7"/>
            </a:solidFill>
            <a:prstDash val="solid"/>
          </a:ln>
        </p:spPr>
        <p:txBody>
          <a:bodyPr/>
          <a:lstStyle/>
          <a:p>
            <a:endParaRPr lang="en-US"/>
          </a:p>
        </p:txBody>
      </p:sp>
      <p:sp>
        <p:nvSpPr>
          <p:cNvPr id="19" name="Text 17"/>
          <p:cNvSpPr txBox="1"/>
          <p:nvPr/>
        </p:nvSpPr>
        <p:spPr>
          <a:xfrm>
            <a:off x="7223760" y="1920240"/>
            <a:ext cx="402336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6G RAISES THE BAR</a:t>
            </a:r>
            <a:endParaRPr lang="en-US" sz="1200" dirty="0"/>
          </a:p>
        </p:txBody>
      </p:sp>
      <p:sp>
        <p:nvSpPr>
          <p:cNvPr id="20" name="Text 18"/>
          <p:cNvSpPr txBox="1"/>
          <p:nvPr/>
        </p:nvSpPr>
        <p:spPr>
          <a:xfrm>
            <a:off x="7223760" y="2286000"/>
            <a:ext cx="2011680" cy="548640"/>
          </a:xfrm>
          <a:prstGeom prst="rect">
            <a:avLst/>
          </a:prstGeom>
          <a:noFill/>
          <a:ln/>
        </p:spPr>
        <p:txBody>
          <a:bodyPr wrap="square" lIns="0" tIns="0" rIns="0" bIns="0" rtlCol="0" anchor="t"/>
          <a:lstStyle/>
          <a:p>
            <a:pPr marL="0" indent="0">
              <a:buNone/>
            </a:pPr>
            <a:r>
              <a:rPr lang="en-US" sz="3000" b="1" dirty="0">
                <a:solidFill>
                  <a:srgbClr val="12394D"/>
                </a:solidFill>
                <a:latin typeface="Cambria" pitchFamily="34" charset="0"/>
                <a:ea typeface="Cambria" pitchFamily="34" charset="-122"/>
                <a:cs typeface="Cambria" pitchFamily="34" charset="-120"/>
              </a:rPr>
              <a:t>0.1 ms</a:t>
            </a:r>
            <a:endParaRPr lang="en-US" sz="3000" dirty="0"/>
          </a:p>
        </p:txBody>
      </p:sp>
      <p:sp>
        <p:nvSpPr>
          <p:cNvPr id="21" name="Text 19"/>
          <p:cNvSpPr txBox="1"/>
          <p:nvPr/>
        </p:nvSpPr>
        <p:spPr>
          <a:xfrm>
            <a:off x="7223760" y="2834640"/>
            <a:ext cx="2011680" cy="274320"/>
          </a:xfrm>
          <a:prstGeom prst="rect">
            <a:avLst/>
          </a:prstGeom>
          <a:noFill/>
          <a:ln/>
        </p:spPr>
        <p:txBody>
          <a:bodyPr wrap="square" lIns="0" tIns="0" rIns="0" bIns="0" rtlCol="0" anchor="t"/>
          <a:lstStyle/>
          <a:p>
            <a:pPr marL="0" indent="0">
              <a:buNone/>
            </a:pPr>
            <a:r>
              <a:rPr lang="en-US" sz="1150" dirty="0">
                <a:solidFill>
                  <a:srgbClr val="5F7A8A"/>
                </a:solidFill>
                <a:latin typeface="Calibri" pitchFamily="34" charset="0"/>
                <a:ea typeface="Calibri" pitchFamily="34" charset="-122"/>
                <a:cs typeface="Calibri" pitchFamily="34" charset="-120"/>
              </a:rPr>
              <a:t>user-plane latency</a:t>
            </a:r>
            <a:endParaRPr lang="en-US" sz="1150" dirty="0"/>
          </a:p>
        </p:txBody>
      </p:sp>
      <p:sp>
        <p:nvSpPr>
          <p:cNvPr id="22" name="Text 20"/>
          <p:cNvSpPr txBox="1"/>
          <p:nvPr/>
        </p:nvSpPr>
        <p:spPr>
          <a:xfrm>
            <a:off x="9235440" y="2286000"/>
            <a:ext cx="2194560" cy="548640"/>
          </a:xfrm>
          <a:prstGeom prst="rect">
            <a:avLst/>
          </a:prstGeom>
          <a:noFill/>
          <a:ln/>
        </p:spPr>
        <p:txBody>
          <a:bodyPr wrap="square" lIns="0" tIns="0" rIns="0" bIns="0" rtlCol="0" anchor="t"/>
          <a:lstStyle/>
          <a:p>
            <a:pPr marL="0" indent="0">
              <a:buNone/>
            </a:pPr>
            <a:r>
              <a:rPr lang="en-US" sz="3000" b="1" dirty="0">
                <a:solidFill>
                  <a:srgbClr val="12394D"/>
                </a:solidFill>
                <a:latin typeface="Cambria" pitchFamily="34" charset="0"/>
                <a:ea typeface="Cambria" pitchFamily="34" charset="-122"/>
                <a:cs typeface="Cambria" pitchFamily="34" charset="-120"/>
              </a:rPr>
              <a:t>99.99999 %</a:t>
            </a:r>
            <a:endParaRPr lang="en-US" sz="3000" dirty="0"/>
          </a:p>
        </p:txBody>
      </p:sp>
      <p:sp>
        <p:nvSpPr>
          <p:cNvPr id="23" name="Text 21"/>
          <p:cNvSpPr txBox="1"/>
          <p:nvPr/>
        </p:nvSpPr>
        <p:spPr>
          <a:xfrm>
            <a:off x="9235440" y="2834640"/>
            <a:ext cx="2103120" cy="274320"/>
          </a:xfrm>
          <a:prstGeom prst="rect">
            <a:avLst/>
          </a:prstGeom>
          <a:noFill/>
          <a:ln/>
        </p:spPr>
        <p:txBody>
          <a:bodyPr wrap="square" lIns="0" tIns="0" rIns="0" bIns="0" rtlCol="0" anchor="t"/>
          <a:lstStyle/>
          <a:p>
            <a:pPr marL="0" indent="0">
              <a:buNone/>
            </a:pPr>
            <a:r>
              <a:rPr lang="en-US" sz="1150" dirty="0">
                <a:solidFill>
                  <a:srgbClr val="5F7A8A"/>
                </a:solidFill>
                <a:latin typeface="Calibri" pitchFamily="34" charset="0"/>
                <a:ea typeface="Calibri" pitchFamily="34" charset="-122"/>
                <a:cs typeface="Calibri" pitchFamily="34" charset="-120"/>
              </a:rPr>
              <a:t>reliability</a:t>
            </a:r>
            <a:endParaRPr lang="en-US" sz="1150" dirty="0"/>
          </a:p>
        </p:txBody>
      </p:sp>
      <p:sp>
        <p:nvSpPr>
          <p:cNvPr id="24" name="Text 22"/>
          <p:cNvSpPr txBox="1"/>
          <p:nvPr/>
        </p:nvSpPr>
        <p:spPr>
          <a:xfrm>
            <a:off x="7223760" y="4634800"/>
            <a:ext cx="4069080" cy="1920240"/>
          </a:xfrm>
          <a:prstGeom prst="rect">
            <a:avLst/>
          </a:prstGeom>
          <a:noFill/>
          <a:ln/>
        </p:spPr>
        <p:txBody>
          <a:bodyPr wrap="square" lIns="0" tIns="0" rIns="0" bIns="0" rtlCol="0" anchor="t"/>
          <a:lstStyle/>
          <a:p>
            <a:pPr marL="0" indent="0">
              <a:spcAft>
                <a:spcPts val="400"/>
              </a:spcAft>
              <a:buNone/>
            </a:pPr>
            <a:r>
              <a:rPr lang="en-US" sz="1300" b="1" dirty="0">
                <a:solidFill>
                  <a:srgbClr val="12394D"/>
                </a:solidFill>
                <a:latin typeface="Calibri" pitchFamily="34" charset="0"/>
                <a:ea typeface="Calibri" pitchFamily="34" charset="-122"/>
                <a:cs typeface="Calibri" pitchFamily="34" charset="-120"/>
              </a:rPr>
              <a:t>Directions named by the survey</a:t>
            </a:r>
            <a:endParaRPr lang="en-US" sz="1300" dirty="0"/>
          </a:p>
          <a:p>
            <a:pPr marL="342900" indent="-342900">
              <a:spcAft>
                <a:spcPts val="400"/>
              </a:spcAft>
              <a:buSzPct val="100000"/>
              <a:buChar char="•"/>
            </a:pPr>
            <a:r>
              <a:rPr lang="en-US" sz="1300" dirty="0">
                <a:solidFill>
                  <a:srgbClr val="2A3F4C"/>
                </a:solidFill>
                <a:latin typeface="Calibri" pitchFamily="34" charset="0"/>
                <a:ea typeface="Calibri" pitchFamily="34" charset="-122"/>
                <a:cs typeface="Calibri" pitchFamily="34" charset="-120"/>
              </a:rPr>
              <a:t>From reactive to proactive design</a:t>
            </a:r>
            <a:endParaRPr lang="en-US" sz="1300" dirty="0"/>
          </a:p>
          <a:p>
            <a:pPr marL="342900" indent="-342900">
              <a:spcAft>
                <a:spcPts val="400"/>
              </a:spcAft>
              <a:buSzPct val="100000"/>
              <a:buChar char="•"/>
            </a:pPr>
            <a:r>
              <a:rPr lang="en-US" sz="1300" dirty="0">
                <a:solidFill>
                  <a:srgbClr val="2A3F4C"/>
                </a:solidFill>
                <a:latin typeface="Calibri" pitchFamily="34" charset="0"/>
                <a:ea typeface="Calibri" pitchFamily="34" charset="-122"/>
                <a:cs typeface="Calibri" pitchFamily="34" charset="-120"/>
              </a:rPr>
              <a:t>Data-driven approximation of receiver blocks</a:t>
            </a:r>
            <a:endParaRPr lang="en-US" sz="1300" dirty="0"/>
          </a:p>
          <a:p>
            <a:pPr marL="342900" indent="-342900">
              <a:spcAft>
                <a:spcPts val="400"/>
              </a:spcAft>
              <a:buSzPct val="100000"/>
              <a:buChar char="•"/>
            </a:pPr>
            <a:r>
              <a:rPr lang="en-US" sz="1300" dirty="0">
                <a:solidFill>
                  <a:srgbClr val="2A3F4C"/>
                </a:solidFill>
                <a:latin typeface="Calibri" pitchFamily="34" charset="0"/>
                <a:ea typeface="Calibri" pitchFamily="34" charset="-122"/>
                <a:cs typeface="Calibri" pitchFamily="34" charset="-120"/>
              </a:rPr>
              <a:t>Fast adaptation to topology change (MAML)</a:t>
            </a:r>
            <a:endParaRPr lang="en-US" sz="1300" dirty="0"/>
          </a:p>
          <a:p>
            <a:pPr marL="342900" indent="-342900">
              <a:spcAft>
                <a:spcPts val="400"/>
              </a:spcAft>
              <a:buSzPct val="100000"/>
              <a:buChar char="•"/>
            </a:pPr>
            <a:r>
              <a:rPr lang="en-US" sz="1300" dirty="0">
                <a:solidFill>
                  <a:srgbClr val="2A3F4C"/>
                </a:solidFill>
                <a:latin typeface="Calibri" pitchFamily="34" charset="0"/>
                <a:ea typeface="Calibri" pitchFamily="34" charset="-122"/>
                <a:cs typeface="Calibri" pitchFamily="34" charset="-120"/>
              </a:rPr>
              <a:t>Communication–control co-design</a:t>
            </a:r>
            <a:endParaRPr lang="en-US" sz="1300" dirty="0"/>
          </a:p>
        </p:txBody>
      </p:sp>
      <p:sp>
        <p:nvSpPr>
          <p:cNvPr id="5" name="Text 11">
            <a:extLst>
              <a:ext uri="{FF2B5EF4-FFF2-40B4-BE49-F238E27FC236}">
                <a16:creationId xmlns:a16="http://schemas.microsoft.com/office/drawing/2014/main" id="{83D52F0A-BD93-8820-3D34-D07085B73E96}"/>
              </a:ext>
            </a:extLst>
          </p:cNvPr>
          <p:cNvSpPr txBox="1"/>
          <p:nvPr/>
        </p:nvSpPr>
        <p:spPr>
          <a:xfrm>
            <a:off x="8321040" y="3429000"/>
            <a:ext cx="1828800" cy="502920"/>
          </a:xfrm>
          <a:prstGeom prst="rect">
            <a:avLst/>
          </a:prstGeom>
          <a:noFill/>
          <a:ln/>
        </p:spPr>
        <p:txBody>
          <a:bodyPr wrap="square" lIns="0" tIns="0" rIns="0" bIns="0" rtlCol="0" anchor="t"/>
          <a:lstStyle/>
          <a:p>
            <a:pPr marL="0" indent="0">
              <a:buNone/>
            </a:pPr>
            <a:r>
              <a:rPr lang="en-US" sz="2400" b="1" dirty="0">
                <a:solidFill>
                  <a:srgbClr val="12394D"/>
                </a:solidFill>
                <a:latin typeface="Cambria" pitchFamily="34" charset="0"/>
                <a:ea typeface="Cambria" pitchFamily="34" charset="-122"/>
                <a:cs typeface="Cambria" pitchFamily="34" charset="-120"/>
              </a:rPr>
              <a:t>1 Tbps</a:t>
            </a:r>
            <a:endParaRPr lang="en-US" sz="2400" dirty="0"/>
          </a:p>
        </p:txBody>
      </p:sp>
      <p:sp>
        <p:nvSpPr>
          <p:cNvPr id="26" name="Text 12">
            <a:extLst>
              <a:ext uri="{FF2B5EF4-FFF2-40B4-BE49-F238E27FC236}">
                <a16:creationId xmlns:a16="http://schemas.microsoft.com/office/drawing/2014/main" id="{3F3D0425-E22D-7390-CD02-CB19DE545BDD}"/>
              </a:ext>
            </a:extLst>
          </p:cNvPr>
          <p:cNvSpPr txBox="1"/>
          <p:nvPr/>
        </p:nvSpPr>
        <p:spPr>
          <a:xfrm>
            <a:off x="8343900" y="3892238"/>
            <a:ext cx="1828800" cy="274320"/>
          </a:xfrm>
          <a:prstGeom prst="rect">
            <a:avLst/>
          </a:prstGeom>
          <a:noFill/>
          <a:ln/>
        </p:spPr>
        <p:txBody>
          <a:bodyPr wrap="square" lIns="0" tIns="0" rIns="0" bIns="0" rtlCol="0" anchor="t"/>
          <a:lstStyle/>
          <a:p>
            <a:pPr marL="0" indent="0">
              <a:buNone/>
            </a:pPr>
            <a:r>
              <a:rPr lang="en-US" sz="1200" dirty="0">
                <a:solidFill>
                  <a:srgbClr val="5F7A8A"/>
                </a:solidFill>
                <a:latin typeface="Calibri" pitchFamily="34" charset="0"/>
                <a:ea typeface="Calibri" pitchFamily="34" charset="-122"/>
                <a:cs typeface="Calibri" pitchFamily="34" charset="-120"/>
              </a:rPr>
              <a:t>peak rate</a:t>
            </a:r>
            <a:endParaRPr lang="en-US" sz="1200" dirty="0"/>
          </a:p>
        </p:txBody>
      </p:sp>
      <p:sp>
        <p:nvSpPr>
          <p:cNvPr id="28" name="ZoneTexte 27">
            <a:extLst>
              <a:ext uri="{FF2B5EF4-FFF2-40B4-BE49-F238E27FC236}">
                <a16:creationId xmlns:a16="http://schemas.microsoft.com/office/drawing/2014/main" id="{2B7147A1-0481-326A-6AAC-48D26DC005BB}"/>
              </a:ext>
            </a:extLst>
          </p:cNvPr>
          <p:cNvSpPr txBox="1"/>
          <p:nvPr/>
        </p:nvSpPr>
        <p:spPr>
          <a:xfrm>
            <a:off x="1298448" y="2079254"/>
            <a:ext cx="4058556" cy="523220"/>
          </a:xfrm>
          <a:prstGeom prst="rect">
            <a:avLst/>
          </a:prstGeom>
          <a:noFill/>
        </p:spPr>
        <p:txBody>
          <a:bodyPr wrap="square">
            <a:spAutoFit/>
          </a:bodyPr>
          <a:lstStyle/>
          <a:p>
            <a:pPr algn="ctr">
              <a:spcAft>
                <a:spcPts val="900"/>
              </a:spcAft>
              <a:buSzPct val="100000"/>
            </a:pPr>
            <a:r>
              <a:rPr lang="en-US" sz="1400" b="1" dirty="0">
                <a:solidFill>
                  <a:srgbClr val="FF0000"/>
                </a:solidFill>
                <a:latin typeface="Calibri" pitchFamily="34" charset="0"/>
                <a:ea typeface="Calibri" pitchFamily="34" charset="-122"/>
                <a:cs typeface="Calibri" pitchFamily="34" charset="-120"/>
              </a:rPr>
              <a:t>Move from reactive to proactive: add predicted URLLC arrivals and queue trends to the state</a:t>
            </a:r>
            <a:endParaRPr lang="en-US" sz="1400" b="1" dirty="0">
              <a:solidFill>
                <a:srgbClr val="FF0000"/>
              </a:solidFill>
            </a:endParaRPr>
          </a:p>
        </p:txBody>
      </p:sp>
      <p:pic>
        <p:nvPicPr>
          <p:cNvPr id="30" name="Image 29">
            <a:extLst>
              <a:ext uri="{FF2B5EF4-FFF2-40B4-BE49-F238E27FC236}">
                <a16:creationId xmlns:a16="http://schemas.microsoft.com/office/drawing/2014/main" id="{DE62E1E2-0356-FB26-3E51-E798E9E3C6E2}"/>
              </a:ext>
            </a:extLst>
          </p:cNvPr>
          <p:cNvPicPr>
            <a:picLocks noChangeAspect="1"/>
          </p:cNvPicPr>
          <p:nvPr/>
        </p:nvPicPr>
        <p:blipFill>
          <a:blip r:embed="rId3"/>
          <a:stretch>
            <a:fillRect/>
          </a:stretch>
        </p:blipFill>
        <p:spPr>
          <a:xfrm>
            <a:off x="1198090" y="2658171"/>
            <a:ext cx="4259272" cy="34838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Why DRL for 6G AI-RAN</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Earlier surveys treat RL as one AI tool among many: this is the first survey dedicated to DRL for O-RAN.</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40</a:t>
            </a:r>
            <a:endParaRPr lang="en-US" sz="1100" dirty="0"/>
          </a:p>
        </p:txBody>
      </p:sp>
      <p:sp>
        <p:nvSpPr>
          <p:cNvPr id="9" name="Shape 6"/>
          <p:cNvSpPr/>
          <p:nvPr/>
        </p:nvSpPr>
        <p:spPr>
          <a:xfrm>
            <a:off x="640080" y="1691640"/>
            <a:ext cx="384048" cy="384048"/>
          </a:xfrm>
          <a:prstGeom prst="ellipse">
            <a:avLst/>
          </a:prstGeom>
          <a:solidFill>
            <a:srgbClr val="1A8A99"/>
          </a:solidFill>
          <a:ln w="12700">
            <a:solidFill>
              <a:srgbClr val="1A8A99"/>
            </a:solidFill>
            <a:prstDash val="solid"/>
          </a:ln>
        </p:spPr>
        <p:txBody>
          <a:bodyPr/>
          <a:lstStyle/>
          <a:p>
            <a:endParaRPr lang="en-US"/>
          </a:p>
        </p:txBody>
      </p:sp>
      <p:sp>
        <p:nvSpPr>
          <p:cNvPr id="10" name="Text 7"/>
          <p:cNvSpPr txBox="1"/>
          <p:nvPr/>
        </p:nvSpPr>
        <p:spPr>
          <a:xfrm>
            <a:off x="640080" y="16916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1" name="Text 8"/>
          <p:cNvSpPr txBox="1"/>
          <p:nvPr/>
        </p:nvSpPr>
        <p:spPr>
          <a:xfrm>
            <a:off x="1188720" y="1664208"/>
            <a:ext cx="512064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6G makes the RAN a control platform</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Competing objectives: throughput, latency, reliability, energy, sensing, SLA; slicing, massive MIMO and ISAC couple the decisions</a:t>
            </a:r>
            <a:endParaRPr lang="en-US" sz="1450" dirty="0"/>
          </a:p>
        </p:txBody>
      </p:sp>
      <p:sp>
        <p:nvSpPr>
          <p:cNvPr id="12" name="Shape 9"/>
          <p:cNvSpPr/>
          <p:nvPr/>
        </p:nvSpPr>
        <p:spPr>
          <a:xfrm>
            <a:off x="640080" y="2633472"/>
            <a:ext cx="384048" cy="384048"/>
          </a:xfrm>
          <a:prstGeom prst="ellipse">
            <a:avLst/>
          </a:prstGeom>
          <a:solidFill>
            <a:srgbClr val="1A8A99"/>
          </a:solidFill>
          <a:ln w="12700">
            <a:solidFill>
              <a:srgbClr val="1A8A99"/>
            </a:solidFill>
            <a:prstDash val="solid"/>
          </a:ln>
        </p:spPr>
        <p:txBody>
          <a:bodyPr/>
          <a:lstStyle/>
          <a:p>
            <a:endParaRPr lang="en-US"/>
          </a:p>
        </p:txBody>
      </p:sp>
      <p:sp>
        <p:nvSpPr>
          <p:cNvPr id="13" name="Text 10"/>
          <p:cNvSpPr txBox="1"/>
          <p:nvPr/>
        </p:nvSpPr>
        <p:spPr>
          <a:xfrm>
            <a:off x="640080" y="26334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Text 11"/>
          <p:cNvSpPr txBox="1"/>
          <p:nvPr/>
        </p:nvSpPr>
        <p:spPr>
          <a:xfrm>
            <a:off x="1188720" y="2606040"/>
            <a:ext cx="512064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Rule-based control does not keep up</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Hard to design and maintain when dynamics and objectives keep changing</a:t>
            </a:r>
            <a:endParaRPr lang="en-US" sz="1450" dirty="0"/>
          </a:p>
        </p:txBody>
      </p:sp>
      <p:sp>
        <p:nvSpPr>
          <p:cNvPr id="15" name="Shape 12"/>
          <p:cNvSpPr/>
          <p:nvPr/>
        </p:nvSpPr>
        <p:spPr>
          <a:xfrm>
            <a:off x="640080" y="3575304"/>
            <a:ext cx="384048" cy="384048"/>
          </a:xfrm>
          <a:prstGeom prst="ellipse">
            <a:avLst/>
          </a:prstGeom>
          <a:solidFill>
            <a:srgbClr val="1A8A99"/>
          </a:solidFill>
          <a:ln w="12700">
            <a:solidFill>
              <a:srgbClr val="1A8A99"/>
            </a:solidFill>
            <a:prstDash val="solid"/>
          </a:ln>
        </p:spPr>
        <p:txBody>
          <a:bodyPr/>
          <a:lstStyle/>
          <a:p>
            <a:endParaRPr lang="en-US"/>
          </a:p>
        </p:txBody>
      </p:sp>
      <p:sp>
        <p:nvSpPr>
          <p:cNvPr id="16" name="Text 13"/>
          <p:cNvSpPr txBox="1"/>
          <p:nvPr/>
        </p:nvSpPr>
        <p:spPr>
          <a:xfrm>
            <a:off x="640080" y="35753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4"/>
          <p:cNvSpPr txBox="1"/>
          <p:nvPr/>
        </p:nvSpPr>
        <p:spPr>
          <a:xfrm>
            <a:off x="1188720" y="3547872"/>
            <a:ext cx="512064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O-RAN opens the control loop</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Disaggregation, open interfaces, RICs running loops above 1 s and from 10 ms to 1 s</a:t>
            </a:r>
            <a:endParaRPr lang="en-US" sz="1450" dirty="0"/>
          </a:p>
        </p:txBody>
      </p:sp>
      <p:sp>
        <p:nvSpPr>
          <p:cNvPr id="18" name="Shape 15"/>
          <p:cNvSpPr/>
          <p:nvPr/>
        </p:nvSpPr>
        <p:spPr>
          <a:xfrm>
            <a:off x="640080" y="4517136"/>
            <a:ext cx="384048" cy="384048"/>
          </a:xfrm>
          <a:prstGeom prst="ellipse">
            <a:avLst/>
          </a:prstGeom>
          <a:solidFill>
            <a:srgbClr val="1A8A99"/>
          </a:solidFill>
          <a:ln w="12700">
            <a:solidFill>
              <a:srgbClr val="1A8A99"/>
            </a:solidFill>
            <a:prstDash val="solid"/>
          </a:ln>
        </p:spPr>
        <p:txBody>
          <a:bodyPr/>
          <a:lstStyle/>
          <a:p>
            <a:endParaRPr lang="en-US"/>
          </a:p>
        </p:txBody>
      </p:sp>
      <p:sp>
        <p:nvSpPr>
          <p:cNvPr id="19" name="Text 16"/>
          <p:cNvSpPr txBox="1"/>
          <p:nvPr/>
        </p:nvSpPr>
        <p:spPr>
          <a:xfrm>
            <a:off x="640080" y="45171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0" name="Text 17"/>
          <p:cNvSpPr txBox="1"/>
          <p:nvPr/>
        </p:nvSpPr>
        <p:spPr>
          <a:xfrm>
            <a:off x="1188720" y="4489704"/>
            <a:ext cx="5120640" cy="941832"/>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DRL fits the problem</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Sequential, stochastic, partially observable, multi-objective, and no optimal-action labels</a:t>
            </a:r>
            <a:endParaRPr lang="en-US" sz="1450" dirty="0"/>
          </a:p>
        </p:txBody>
      </p:sp>
      <p:pic>
        <p:nvPicPr>
          <p:cNvPr id="23" name="Image 22">
            <a:extLst>
              <a:ext uri="{FF2B5EF4-FFF2-40B4-BE49-F238E27FC236}">
                <a16:creationId xmlns:a16="http://schemas.microsoft.com/office/drawing/2014/main" id="{3A1252FA-F068-EE0E-D54A-2898447D7B0B}"/>
              </a:ext>
            </a:extLst>
          </p:cNvPr>
          <p:cNvPicPr>
            <a:picLocks noChangeAspect="1"/>
          </p:cNvPicPr>
          <p:nvPr/>
        </p:nvPicPr>
        <p:blipFill>
          <a:blip r:embed="rId3"/>
          <a:stretch>
            <a:fillRect/>
          </a:stretch>
        </p:blipFill>
        <p:spPr>
          <a:xfrm>
            <a:off x="6809084" y="1946062"/>
            <a:ext cx="5382916" cy="24704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Five contributions, from method to deployment</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It covers the full path from MDP design to certification, not just algorithms.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41</a:t>
            </a:r>
            <a:endParaRPr lang="en-US" sz="1100" dirty="0"/>
          </a:p>
        </p:txBody>
      </p:sp>
      <p:sp>
        <p:nvSpPr>
          <p:cNvPr id="9" name="Shape 6"/>
          <p:cNvSpPr/>
          <p:nvPr/>
        </p:nvSpPr>
        <p:spPr>
          <a:xfrm>
            <a:off x="640080" y="1645920"/>
            <a:ext cx="2011680" cy="233172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10" name="Shape 7"/>
          <p:cNvSpPr/>
          <p:nvPr/>
        </p:nvSpPr>
        <p:spPr>
          <a:xfrm>
            <a:off x="86868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11" name="Text 8"/>
          <p:cNvSpPr txBox="1"/>
          <p:nvPr/>
        </p:nvSpPr>
        <p:spPr>
          <a:xfrm>
            <a:off x="86868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9"/>
          <p:cNvSpPr txBox="1"/>
          <p:nvPr/>
        </p:nvSpPr>
        <p:spPr>
          <a:xfrm>
            <a:off x="86868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O-RAN-aware MDP</a:t>
            </a:r>
            <a:endParaRPr lang="en-US" sz="1500" dirty="0"/>
          </a:p>
        </p:txBody>
      </p:sp>
      <p:sp>
        <p:nvSpPr>
          <p:cNvPr id="13" name="Text 10"/>
          <p:cNvSpPr txBox="1"/>
          <p:nvPr/>
        </p:nvSpPr>
        <p:spPr>
          <a:xfrm>
            <a:off x="868680" y="2926080"/>
            <a:ext cx="1600200" cy="100584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States, actions, rewards, constraints, timing, plus multi-agent and federated variants</a:t>
            </a:r>
            <a:endParaRPr lang="en-US" sz="1250" dirty="0"/>
          </a:p>
        </p:txBody>
      </p:sp>
      <p:sp>
        <p:nvSpPr>
          <p:cNvPr id="14" name="Shape 11"/>
          <p:cNvSpPr/>
          <p:nvPr/>
        </p:nvSpPr>
        <p:spPr>
          <a:xfrm>
            <a:off x="2857500" y="1645920"/>
            <a:ext cx="2011680" cy="233172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15" name="Shape 12"/>
          <p:cNvSpPr/>
          <p:nvPr/>
        </p:nvSpPr>
        <p:spPr>
          <a:xfrm>
            <a:off x="308610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16" name="Text 13"/>
          <p:cNvSpPr txBox="1"/>
          <p:nvPr/>
        </p:nvSpPr>
        <p:spPr>
          <a:xfrm>
            <a:off x="308610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308610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Use-case taxonomy</a:t>
            </a:r>
            <a:endParaRPr lang="en-US" sz="1500" dirty="0"/>
          </a:p>
        </p:txBody>
      </p:sp>
      <p:sp>
        <p:nvSpPr>
          <p:cNvPr id="18" name="Text 15"/>
          <p:cNvSpPr txBox="1"/>
          <p:nvPr/>
        </p:nvSpPr>
        <p:spPr>
          <a:xfrm>
            <a:off x="3086100" y="2926080"/>
            <a:ext cx="1600200" cy="100584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Nine domains classified by control loop and timescale</a:t>
            </a:r>
            <a:endParaRPr lang="en-US" sz="1250" dirty="0"/>
          </a:p>
        </p:txBody>
      </p:sp>
      <p:sp>
        <p:nvSpPr>
          <p:cNvPr id="19" name="Shape 16"/>
          <p:cNvSpPr/>
          <p:nvPr/>
        </p:nvSpPr>
        <p:spPr>
          <a:xfrm>
            <a:off x="5074920" y="1645920"/>
            <a:ext cx="2011680" cy="233172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0" name="Shape 17"/>
          <p:cNvSpPr/>
          <p:nvPr/>
        </p:nvSpPr>
        <p:spPr>
          <a:xfrm>
            <a:off x="530352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21" name="Text 18"/>
          <p:cNvSpPr txBox="1"/>
          <p:nvPr/>
        </p:nvSpPr>
        <p:spPr>
          <a:xfrm>
            <a:off x="530352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2" name="Text 19"/>
          <p:cNvSpPr txBox="1"/>
          <p:nvPr/>
        </p:nvSpPr>
        <p:spPr>
          <a:xfrm>
            <a:off x="530352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Advanced methods</a:t>
            </a:r>
            <a:endParaRPr lang="en-US" sz="1500" dirty="0"/>
          </a:p>
        </p:txBody>
      </p:sp>
      <p:sp>
        <p:nvSpPr>
          <p:cNvPr id="23" name="Text 20"/>
          <p:cNvSpPr txBox="1"/>
          <p:nvPr/>
        </p:nvSpPr>
        <p:spPr>
          <a:xfrm>
            <a:off x="5303520" y="2926080"/>
            <a:ext cx="1600200" cy="100584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Set and graph encoders for variable entities; foundation models as policy, reward or world model</a:t>
            </a:r>
            <a:endParaRPr lang="en-US" sz="1250" dirty="0"/>
          </a:p>
        </p:txBody>
      </p:sp>
      <p:sp>
        <p:nvSpPr>
          <p:cNvPr id="24" name="Shape 21"/>
          <p:cNvSpPr/>
          <p:nvPr/>
        </p:nvSpPr>
        <p:spPr>
          <a:xfrm>
            <a:off x="7292340" y="1645920"/>
            <a:ext cx="2011680" cy="233172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5" name="Shape 22"/>
          <p:cNvSpPr/>
          <p:nvPr/>
        </p:nvSpPr>
        <p:spPr>
          <a:xfrm>
            <a:off x="752094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26" name="Text 23"/>
          <p:cNvSpPr txBox="1"/>
          <p:nvPr/>
        </p:nvSpPr>
        <p:spPr>
          <a:xfrm>
            <a:off x="752094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7" name="Text 24"/>
          <p:cNvSpPr txBox="1"/>
          <p:nvPr/>
        </p:nvSpPr>
        <p:spPr>
          <a:xfrm>
            <a:off x="752094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Trustworthy DRL</a:t>
            </a:r>
            <a:endParaRPr lang="en-US" sz="1500" dirty="0"/>
          </a:p>
        </p:txBody>
      </p:sp>
      <p:sp>
        <p:nvSpPr>
          <p:cNvPr id="28" name="Text 25"/>
          <p:cNvSpPr txBox="1"/>
          <p:nvPr/>
        </p:nvSpPr>
        <p:spPr>
          <a:xfrm>
            <a:off x="7520940" y="2926080"/>
            <a:ext cx="1600200" cy="100584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Safety, fairness, explainability, robustness, verification, mapped to O-RAN, 3GPP, ETSI</a:t>
            </a:r>
            <a:endParaRPr lang="en-US" sz="1250" dirty="0"/>
          </a:p>
        </p:txBody>
      </p:sp>
      <p:sp>
        <p:nvSpPr>
          <p:cNvPr id="29" name="Shape 26"/>
          <p:cNvSpPr/>
          <p:nvPr/>
        </p:nvSpPr>
        <p:spPr>
          <a:xfrm>
            <a:off x="9509760" y="1645920"/>
            <a:ext cx="2011680" cy="233172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30" name="Shape 27"/>
          <p:cNvSpPr/>
          <p:nvPr/>
        </p:nvSpPr>
        <p:spPr>
          <a:xfrm>
            <a:off x="973836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31" name="Text 28"/>
          <p:cNvSpPr txBox="1"/>
          <p:nvPr/>
        </p:nvSpPr>
        <p:spPr>
          <a:xfrm>
            <a:off x="973836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2" name="Text 29"/>
          <p:cNvSpPr txBox="1"/>
          <p:nvPr/>
        </p:nvSpPr>
        <p:spPr>
          <a:xfrm>
            <a:off x="973836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Deployment pipeline</a:t>
            </a:r>
            <a:endParaRPr lang="en-US" sz="1500" dirty="0"/>
          </a:p>
        </p:txBody>
      </p:sp>
      <p:sp>
        <p:nvSpPr>
          <p:cNvPr id="33" name="Text 30"/>
          <p:cNvSpPr txBox="1"/>
          <p:nvPr/>
        </p:nvSpPr>
        <p:spPr>
          <a:xfrm>
            <a:off x="9738360" y="2926080"/>
            <a:ext cx="1600200" cy="100584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Sim-to-real, sample efficiency, continual learning, RLOps, benchmarks</a:t>
            </a:r>
            <a:endParaRPr lang="en-US" sz="1250" dirty="0"/>
          </a:p>
        </p:txBody>
      </p:sp>
      <p:sp>
        <p:nvSpPr>
          <p:cNvPr id="34" name="Shape 31"/>
          <p:cNvSpPr/>
          <p:nvPr/>
        </p:nvSpPr>
        <p:spPr>
          <a:xfrm>
            <a:off x="640080" y="4160520"/>
            <a:ext cx="10881360" cy="1280160"/>
          </a:xfrm>
          <a:prstGeom prst="roundRect">
            <a:avLst>
              <a:gd name="adj" fmla="val 4286"/>
            </a:avLst>
          </a:prstGeom>
          <a:solidFill>
            <a:srgbClr val="F7FAFB"/>
          </a:solidFill>
          <a:ln w="15875">
            <a:solidFill>
              <a:srgbClr val="9FB4C2"/>
            </a:solidFill>
            <a:prstDash val="dash"/>
          </a:ln>
        </p:spPr>
        <p:txBody>
          <a:bodyPr/>
          <a:lstStyle/>
          <a:p>
            <a:endParaRPr lang="en-US"/>
          </a:p>
        </p:txBody>
      </p:sp>
      <p:pic>
        <p:nvPicPr>
          <p:cNvPr id="36" name="Image 35">
            <a:extLst>
              <a:ext uri="{FF2B5EF4-FFF2-40B4-BE49-F238E27FC236}">
                <a16:creationId xmlns:a16="http://schemas.microsoft.com/office/drawing/2014/main" id="{FCEF5662-AD15-4B67-BFAB-A0B00D6794FE}"/>
              </a:ext>
            </a:extLst>
          </p:cNvPr>
          <p:cNvPicPr>
            <a:picLocks noChangeAspect="1"/>
          </p:cNvPicPr>
          <p:nvPr/>
        </p:nvPicPr>
        <p:blipFill>
          <a:blip r:embed="rId3"/>
          <a:stretch>
            <a:fillRect/>
          </a:stretch>
        </p:blipFill>
        <p:spPr>
          <a:xfrm>
            <a:off x="926282" y="4421395"/>
            <a:ext cx="10412278" cy="7906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DRL foundations: MDP, POMDP and model-free learning</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Off-policy and offline methods matter because RAN interaction data is expensive and risky to collect.</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42</a:t>
            </a:r>
            <a:endParaRPr lang="en-US" sz="1100" dirty="0"/>
          </a:p>
        </p:txBody>
      </p:sp>
      <p:sp>
        <p:nvSpPr>
          <p:cNvPr id="9" name="Shape 6"/>
          <p:cNvSpPr/>
          <p:nvPr/>
        </p:nvSpPr>
        <p:spPr>
          <a:xfrm>
            <a:off x="640080" y="1645920"/>
            <a:ext cx="3474720" cy="374904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10" name="Text 7"/>
          <p:cNvSpPr txBox="1"/>
          <p:nvPr/>
        </p:nvSpPr>
        <p:spPr>
          <a:xfrm>
            <a:off x="914400" y="1828800"/>
            <a:ext cx="292608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DECISION MODELS</a:t>
            </a:r>
            <a:endParaRPr lang="en-US" sz="1200" dirty="0"/>
          </a:p>
        </p:txBody>
      </p:sp>
      <p:sp>
        <p:nvSpPr>
          <p:cNvPr id="11" name="Text 8"/>
          <p:cNvSpPr txBox="1"/>
          <p:nvPr/>
        </p:nvSpPr>
        <p:spPr>
          <a:xfrm>
            <a:off x="914400" y="2212848"/>
            <a:ext cx="2971800" cy="315468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MDP (S, A, P, r)</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Maximise J(π) = E[Σ γᵗ r(sₜ, aₜ)]; Bellman optimality for V* and Q*</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POMDP</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Agent sees o ~ O(·|s); belief approximated by an RNN or transformer</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In O-RAN</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E2/O1 telemetry is sampled, aggregated, delayed: a Near-RT agent faces a POMDP</a:t>
            </a:r>
            <a:endParaRPr lang="en-US" sz="1450" dirty="0"/>
          </a:p>
        </p:txBody>
      </p:sp>
      <p:sp>
        <p:nvSpPr>
          <p:cNvPr id="12" name="Shape 9"/>
          <p:cNvSpPr/>
          <p:nvPr/>
        </p:nvSpPr>
        <p:spPr>
          <a:xfrm>
            <a:off x="4343400" y="1645920"/>
            <a:ext cx="3474720" cy="374904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13" name="Text 10"/>
          <p:cNvSpPr txBox="1"/>
          <p:nvPr/>
        </p:nvSpPr>
        <p:spPr>
          <a:xfrm>
            <a:off x="4617720" y="1828800"/>
            <a:ext cx="292608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VALUE-BASED</a:t>
            </a:r>
            <a:endParaRPr lang="en-US" sz="1200" dirty="0"/>
          </a:p>
        </p:txBody>
      </p:sp>
      <p:sp>
        <p:nvSpPr>
          <p:cNvPr id="14" name="Text 11"/>
          <p:cNvSpPr txBox="1"/>
          <p:nvPr/>
        </p:nvSpPr>
        <p:spPr>
          <a:xfrm>
            <a:off x="4617720" y="2212848"/>
            <a:ext cx="2971800" cy="315468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DQN</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Replay buffer + target network stabilise deep Q-learning</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Variants</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Double DQN (overestimation), Dueling (V + advantage), PER (TD-error sampling)</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Fit</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Discrete, enumerable choices; breaks on continuous or combinatorial actions</a:t>
            </a:r>
            <a:endParaRPr lang="en-US" sz="1450" dirty="0"/>
          </a:p>
        </p:txBody>
      </p:sp>
      <p:sp>
        <p:nvSpPr>
          <p:cNvPr id="15" name="Shape 12"/>
          <p:cNvSpPr/>
          <p:nvPr/>
        </p:nvSpPr>
        <p:spPr>
          <a:xfrm>
            <a:off x="8046720" y="1645920"/>
            <a:ext cx="3474720" cy="3749040"/>
          </a:xfrm>
          <a:prstGeom prst="roundRect">
            <a:avLst>
              <a:gd name="adj" fmla="val 1579"/>
            </a:avLst>
          </a:prstGeom>
          <a:solidFill>
            <a:srgbClr val="F0F5F7"/>
          </a:solidFill>
          <a:ln w="12700">
            <a:solidFill>
              <a:srgbClr val="F0F5F7"/>
            </a:solidFill>
            <a:prstDash val="solid"/>
          </a:ln>
        </p:spPr>
        <p:txBody>
          <a:bodyPr/>
          <a:lstStyle/>
          <a:p>
            <a:endParaRPr lang="en-US"/>
          </a:p>
        </p:txBody>
      </p:sp>
      <p:sp>
        <p:nvSpPr>
          <p:cNvPr id="16" name="Text 13"/>
          <p:cNvSpPr txBox="1"/>
          <p:nvPr/>
        </p:nvSpPr>
        <p:spPr>
          <a:xfrm>
            <a:off x="8321040" y="1828800"/>
            <a:ext cx="292608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POLICY-GRADIENT</a:t>
            </a:r>
            <a:endParaRPr lang="en-US" sz="1200" dirty="0"/>
          </a:p>
        </p:txBody>
      </p:sp>
      <p:sp>
        <p:nvSpPr>
          <p:cNvPr id="17" name="Text 14"/>
          <p:cNvSpPr txBox="1"/>
          <p:nvPr/>
        </p:nvSpPr>
        <p:spPr>
          <a:xfrm>
            <a:off x="8321040" y="2212848"/>
            <a:ext cx="2971800" cy="315468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On-policy</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REINFORCE, A2C/A3C, TRPO (KL bound), PPO (clipped; most used in O-RAN), GRPO (no critic)</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Off-policy</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DDPG, TD3 (twin critics, delayed updates), SAC (entropy; standard continuous baseline)</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Fit</a:t>
            </a:r>
            <a:endParaRPr lang="en-US" sz="1450" dirty="0"/>
          </a:p>
          <a:p>
            <a:pPr marL="0" indent="0">
              <a:spcAft>
                <a:spcPts val="1200"/>
              </a:spcAft>
              <a:buNone/>
            </a:pPr>
            <a:r>
              <a:rPr lang="en-US" sz="1250" dirty="0">
                <a:solidFill>
                  <a:srgbClr val="5F7A8A"/>
                </a:solidFill>
                <a:latin typeface="Calibri" pitchFamily="34" charset="0"/>
                <a:ea typeface="Calibri" pitchFamily="34" charset="-122"/>
                <a:cs typeface="Calibri" pitchFamily="34" charset="-120"/>
              </a:rPr>
              <a:t>Off-policy reuses past data: key when exploration is costly</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Offline RL and constrained RL, in detail</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Offline training protects users while learning, but the constraint still holds only in expectation and on the data's support.</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7</a:t>
            </a:r>
            <a:endParaRPr lang="en-US" sz="1100" dirty="0"/>
          </a:p>
        </p:txBody>
      </p:sp>
      <p:sp>
        <p:nvSpPr>
          <p:cNvPr id="9" name="Shape 6"/>
          <p:cNvSpPr/>
          <p:nvPr/>
        </p:nvSpPr>
        <p:spPr>
          <a:xfrm>
            <a:off x="640080" y="1645920"/>
            <a:ext cx="5303520" cy="3749040"/>
          </a:xfrm>
          <a:prstGeom prst="roundRect">
            <a:avLst>
              <a:gd name="adj" fmla="val 1463"/>
            </a:avLst>
          </a:prstGeom>
          <a:solidFill>
            <a:srgbClr val="F0F5F7"/>
          </a:solidFill>
          <a:ln w="12700">
            <a:solidFill>
              <a:srgbClr val="F0F5F7"/>
            </a:solidFill>
            <a:prstDash val="solid"/>
          </a:ln>
        </p:spPr>
        <p:txBody>
          <a:bodyPr/>
          <a:lstStyle/>
          <a:p>
            <a:endParaRPr lang="en-US"/>
          </a:p>
        </p:txBody>
      </p:sp>
      <p:sp>
        <p:nvSpPr>
          <p:cNvPr id="10" name="Shape 7"/>
          <p:cNvSpPr/>
          <p:nvPr/>
        </p:nvSpPr>
        <p:spPr>
          <a:xfrm>
            <a:off x="6217920" y="1645920"/>
            <a:ext cx="5303520" cy="3749040"/>
          </a:xfrm>
          <a:prstGeom prst="roundRect">
            <a:avLst>
              <a:gd name="adj" fmla="val 1463"/>
            </a:avLst>
          </a:prstGeom>
          <a:solidFill>
            <a:srgbClr val="F0F5F7"/>
          </a:solidFill>
          <a:ln w="12700">
            <a:solidFill>
              <a:srgbClr val="F0F5F7"/>
            </a:solidFill>
            <a:prstDash val="solid"/>
          </a:ln>
        </p:spPr>
        <p:txBody>
          <a:bodyPr/>
          <a:lstStyle/>
          <a:p>
            <a:endParaRPr lang="en-US"/>
          </a:p>
        </p:txBody>
      </p:sp>
      <p:sp>
        <p:nvSpPr>
          <p:cNvPr id="11" name="Text 8"/>
          <p:cNvSpPr txBox="1"/>
          <p:nvPr/>
        </p:nvSpPr>
        <p:spPr>
          <a:xfrm>
            <a:off x="914400" y="1828800"/>
            <a:ext cx="45720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OFFLINE RL</a:t>
            </a:r>
            <a:endParaRPr lang="en-US" sz="1200" dirty="0"/>
          </a:p>
        </p:txBody>
      </p:sp>
      <p:sp>
        <p:nvSpPr>
          <p:cNvPr id="12" name="Text 9"/>
          <p:cNvSpPr txBox="1"/>
          <p:nvPr/>
        </p:nvSpPr>
        <p:spPr>
          <a:xfrm>
            <a:off x="914400" y="2212848"/>
            <a:ext cx="4754880" cy="310896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Setting</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Learn only from a fixed dataset D = {(s, a, r, s′)} collected by a behaviour policy πβ</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Central risk: distribution shift</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The critic overestimates actions absent from D; bootstrapping amplifies the error</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Answers</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BCQ restricts actions to πβ support · CQL lowers Q of unsupported actions · IQL never queries unseen actions</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O-RAN fit</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RICs log E2/O1 telemetry continuously; live exploration risks SLA violations</a:t>
            </a:r>
            <a:endParaRPr lang="en-US" sz="1450" dirty="0"/>
          </a:p>
        </p:txBody>
      </p:sp>
      <p:sp>
        <p:nvSpPr>
          <p:cNvPr id="13" name="Text 10"/>
          <p:cNvSpPr txBox="1"/>
          <p:nvPr/>
        </p:nvSpPr>
        <p:spPr>
          <a:xfrm>
            <a:off x="6492240" y="1828800"/>
            <a:ext cx="45720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CONSTRAINED MDP + LAGRANGIAN</a:t>
            </a:r>
            <a:endParaRPr lang="en-US" sz="1200" dirty="0"/>
          </a:p>
        </p:txBody>
      </p:sp>
      <p:sp>
        <p:nvSpPr>
          <p:cNvPr id="14" name="Text 11"/>
          <p:cNvSpPr txBox="1"/>
          <p:nvPr/>
        </p:nvSpPr>
        <p:spPr>
          <a:xfrm>
            <a:off x="6492240" y="2240280"/>
            <a:ext cx="4754880" cy="384048"/>
          </a:xfrm>
          <a:prstGeom prst="rect">
            <a:avLst/>
          </a:prstGeom>
          <a:noFill/>
          <a:ln/>
        </p:spPr>
        <p:txBody>
          <a:bodyPr wrap="square" lIns="0" tIns="0" rIns="0" bIns="0" rtlCol="0" anchor="t"/>
          <a:lstStyle/>
          <a:p>
            <a:pPr marL="0" indent="0">
              <a:buNone/>
            </a:pPr>
            <a:r>
              <a:rPr lang="en-US" sz="1500" dirty="0">
                <a:solidFill>
                  <a:srgbClr val="12394D"/>
                </a:solidFill>
                <a:latin typeface="Calibri" pitchFamily="34" charset="0"/>
                <a:ea typeface="Calibri" pitchFamily="34" charset="-122"/>
                <a:cs typeface="Calibri" pitchFamily="34" charset="-120"/>
              </a:rPr>
              <a:t>max</a:t>
            </a:r>
            <a:r>
              <a:rPr lang="en-US" sz="1500" baseline="-40000" dirty="0">
                <a:solidFill>
                  <a:srgbClr val="12394D"/>
                </a:solidFill>
                <a:latin typeface="Calibri" pitchFamily="34" charset="0"/>
                <a:ea typeface="Calibri" pitchFamily="34" charset="-122"/>
                <a:cs typeface="Calibri" pitchFamily="34" charset="-120"/>
              </a:rPr>
              <a:t>π</a:t>
            </a:r>
            <a:r>
              <a:rPr lang="en-US" sz="1500" dirty="0">
                <a:solidFill>
                  <a:srgbClr val="12394D"/>
                </a:solidFill>
                <a:latin typeface="Calibri" pitchFamily="34" charset="0"/>
                <a:ea typeface="Calibri" pitchFamily="34" charset="-122"/>
                <a:cs typeface="Calibri" pitchFamily="34" charset="-120"/>
              </a:rPr>
              <a:t> J(π)   s.t.   J</a:t>
            </a:r>
            <a:r>
              <a:rPr lang="en-US" sz="1500" baseline="-40000" dirty="0">
                <a:solidFill>
                  <a:srgbClr val="12394D"/>
                </a:solidFill>
                <a:latin typeface="Calibri" pitchFamily="34" charset="0"/>
                <a:ea typeface="Calibri" pitchFamily="34" charset="-122"/>
                <a:cs typeface="Calibri" pitchFamily="34" charset="-120"/>
              </a:rPr>
              <a:t>C</a:t>
            </a:r>
            <a:r>
              <a:rPr lang="en-US" sz="1500" dirty="0">
                <a:solidFill>
                  <a:srgbClr val="12394D"/>
                </a:solidFill>
                <a:latin typeface="Calibri" pitchFamily="34" charset="0"/>
                <a:ea typeface="Calibri" pitchFamily="34" charset="-122"/>
                <a:cs typeface="Calibri" pitchFamily="34" charset="-120"/>
              </a:rPr>
              <a:t>(π) = E[Σ γᵗ c(sₜ, aₜ)] ≤ d</a:t>
            </a:r>
            <a:endParaRPr lang="en-US" sz="1500" dirty="0"/>
          </a:p>
        </p:txBody>
      </p:sp>
      <p:sp>
        <p:nvSpPr>
          <p:cNvPr id="15" name="Text 12"/>
          <p:cNvSpPr txBox="1"/>
          <p:nvPr/>
        </p:nvSpPr>
        <p:spPr>
          <a:xfrm>
            <a:off x="6492240" y="2670048"/>
            <a:ext cx="4754880" cy="384048"/>
          </a:xfrm>
          <a:prstGeom prst="rect">
            <a:avLst/>
          </a:prstGeom>
          <a:noFill/>
          <a:ln/>
        </p:spPr>
        <p:txBody>
          <a:bodyPr wrap="square" lIns="0" tIns="0" rIns="0" bIns="0" rtlCol="0" anchor="t"/>
          <a:lstStyle/>
          <a:p>
            <a:pPr marL="0" indent="0">
              <a:buNone/>
            </a:pPr>
            <a:r>
              <a:rPr lang="en-US" sz="1500" dirty="0">
                <a:solidFill>
                  <a:srgbClr val="12394D"/>
                </a:solidFill>
                <a:latin typeface="Calibri" pitchFamily="34" charset="0"/>
                <a:ea typeface="Calibri" pitchFamily="34" charset="-122"/>
                <a:cs typeface="Calibri" pitchFamily="34" charset="-120"/>
              </a:rPr>
              <a:t>L(π, ν) = J(π) − ν ( J</a:t>
            </a:r>
            <a:r>
              <a:rPr lang="en-US" sz="1500" baseline="-40000" dirty="0">
                <a:solidFill>
                  <a:srgbClr val="12394D"/>
                </a:solidFill>
                <a:latin typeface="Calibri" pitchFamily="34" charset="0"/>
                <a:ea typeface="Calibri" pitchFamily="34" charset="-122"/>
                <a:cs typeface="Calibri" pitchFamily="34" charset="-120"/>
              </a:rPr>
              <a:t>C</a:t>
            </a:r>
            <a:r>
              <a:rPr lang="en-US" sz="1500" dirty="0">
                <a:solidFill>
                  <a:srgbClr val="12394D"/>
                </a:solidFill>
                <a:latin typeface="Calibri" pitchFamily="34" charset="0"/>
                <a:ea typeface="Calibri" pitchFamily="34" charset="-122"/>
                <a:cs typeface="Calibri" pitchFamily="34" charset="-120"/>
              </a:rPr>
              <a:t>(π) − d )</a:t>
            </a:r>
            <a:endParaRPr lang="en-US" sz="1500" dirty="0"/>
          </a:p>
        </p:txBody>
      </p:sp>
      <p:sp>
        <p:nvSpPr>
          <p:cNvPr id="16" name="Text 13"/>
          <p:cNvSpPr txBox="1"/>
          <p:nvPr/>
        </p:nvSpPr>
        <p:spPr>
          <a:xfrm>
            <a:off x="6492240" y="3099816"/>
            <a:ext cx="4754880" cy="384048"/>
          </a:xfrm>
          <a:prstGeom prst="rect">
            <a:avLst/>
          </a:prstGeom>
          <a:noFill/>
          <a:ln/>
        </p:spPr>
        <p:txBody>
          <a:bodyPr wrap="square" lIns="0" tIns="0" rIns="0" bIns="0" rtlCol="0" anchor="t"/>
          <a:lstStyle/>
          <a:p>
            <a:pPr marL="0" indent="0">
              <a:buNone/>
            </a:pPr>
            <a:r>
              <a:rPr lang="en-US" sz="1500" dirty="0">
                <a:solidFill>
                  <a:srgbClr val="12394D"/>
                </a:solidFill>
                <a:latin typeface="Calibri" pitchFamily="34" charset="0"/>
                <a:ea typeface="Calibri" pitchFamily="34" charset="-122"/>
                <a:cs typeface="Calibri" pitchFamily="34" charset="-120"/>
              </a:rPr>
              <a:t>θ ← θ + α∇</a:t>
            </a:r>
            <a:r>
              <a:rPr lang="en-US" sz="1500" baseline="-40000" dirty="0">
                <a:solidFill>
                  <a:srgbClr val="12394D"/>
                </a:solidFill>
                <a:latin typeface="Calibri" pitchFamily="34" charset="0"/>
                <a:ea typeface="Calibri" pitchFamily="34" charset="-122"/>
                <a:cs typeface="Calibri" pitchFamily="34" charset="-120"/>
              </a:rPr>
              <a:t>θ</a:t>
            </a:r>
            <a:r>
              <a:rPr lang="en-US" sz="1500" dirty="0">
                <a:solidFill>
                  <a:srgbClr val="12394D"/>
                </a:solidFill>
                <a:latin typeface="Calibri" pitchFamily="34" charset="0"/>
                <a:ea typeface="Calibri" pitchFamily="34" charset="-122"/>
                <a:cs typeface="Calibri" pitchFamily="34" charset="-120"/>
              </a:rPr>
              <a:t>L ,    ν ← [ ν + α</a:t>
            </a:r>
            <a:r>
              <a:rPr lang="en-US" sz="1500" baseline="-40000" dirty="0">
                <a:solidFill>
                  <a:srgbClr val="12394D"/>
                </a:solidFill>
                <a:latin typeface="Calibri" pitchFamily="34" charset="0"/>
                <a:ea typeface="Calibri" pitchFamily="34" charset="-122"/>
                <a:cs typeface="Calibri" pitchFamily="34" charset="-120"/>
              </a:rPr>
              <a:t>ν</a:t>
            </a:r>
            <a:r>
              <a:rPr lang="en-US" sz="1500" dirty="0">
                <a:solidFill>
                  <a:srgbClr val="12394D"/>
                </a:solidFill>
                <a:latin typeface="Calibri" pitchFamily="34" charset="0"/>
                <a:ea typeface="Calibri" pitchFamily="34" charset="-122"/>
                <a:cs typeface="Calibri" pitchFamily="34" charset="-120"/>
              </a:rPr>
              <a:t>( J</a:t>
            </a:r>
            <a:r>
              <a:rPr lang="en-US" sz="1500" baseline="-40000" dirty="0">
                <a:solidFill>
                  <a:srgbClr val="12394D"/>
                </a:solidFill>
                <a:latin typeface="Calibri" pitchFamily="34" charset="0"/>
                <a:ea typeface="Calibri" pitchFamily="34" charset="-122"/>
                <a:cs typeface="Calibri" pitchFamily="34" charset="-120"/>
              </a:rPr>
              <a:t>C</a:t>
            </a:r>
            <a:r>
              <a:rPr lang="en-US" sz="1500" dirty="0">
                <a:solidFill>
                  <a:srgbClr val="12394D"/>
                </a:solidFill>
                <a:latin typeface="Calibri" pitchFamily="34" charset="0"/>
                <a:ea typeface="Calibri" pitchFamily="34" charset="-122"/>
                <a:cs typeface="Calibri" pitchFamily="34" charset="-120"/>
              </a:rPr>
              <a:t> − d ) ]⁺</a:t>
            </a:r>
            <a:endParaRPr lang="en-US" sz="1500" dirty="0"/>
          </a:p>
        </p:txBody>
      </p:sp>
      <p:sp>
        <p:nvSpPr>
          <p:cNvPr id="17" name="Text 14"/>
          <p:cNvSpPr txBox="1"/>
          <p:nvPr/>
        </p:nvSpPr>
        <p:spPr>
          <a:xfrm>
            <a:off x="6492240" y="3611880"/>
            <a:ext cx="4754880" cy="173736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Why a CMDP</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SLA limits stay explicit instead of hand-tuned penalty weights</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Limit</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Constraint met only in expectation and at convergence: intermediate policies may violate it</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Beyond one agent and one simulator</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Real RANs are multi-agent, multi-site and never identical to the simulator.</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43</a:t>
            </a:r>
            <a:endParaRPr lang="en-US" sz="1100" dirty="0"/>
          </a:p>
        </p:txBody>
      </p:sp>
      <p:sp>
        <p:nvSpPr>
          <p:cNvPr id="9" name="Shape 6"/>
          <p:cNvSpPr/>
          <p:nvPr/>
        </p:nvSpPr>
        <p:spPr>
          <a:xfrm>
            <a:off x="640080" y="1645920"/>
            <a:ext cx="534924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0" name="Text 7"/>
          <p:cNvSpPr txBox="1"/>
          <p:nvPr/>
        </p:nvSpPr>
        <p:spPr>
          <a:xfrm>
            <a:off x="868680" y="1810512"/>
            <a:ext cx="489204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Multi-agent RL</a:t>
            </a:r>
            <a:endParaRPr lang="en-US" sz="1600" dirty="0"/>
          </a:p>
        </p:txBody>
      </p:sp>
      <p:sp>
        <p:nvSpPr>
          <p:cNvPr id="11" name="Text 8"/>
          <p:cNvSpPr txBox="1"/>
          <p:nvPr/>
        </p:nvSpPr>
        <p:spPr>
          <a:xfrm>
            <a:off x="868680" y="2267712"/>
            <a:ext cx="4892040" cy="1051560"/>
          </a:xfrm>
          <a:prstGeom prst="rect">
            <a:avLst/>
          </a:prstGeom>
          <a:noFill/>
          <a:ln/>
        </p:spPr>
        <p:txBody>
          <a:bodyPr wrap="square" lIns="0" tIns="0" rIns="0" bIns="0" rtlCol="0" anchor="t"/>
          <a:lstStyle/>
          <a:p>
            <a:pPr marL="0" indent="0">
              <a:buNone/>
            </a:pPr>
            <a:r>
              <a:rPr lang="en-US" sz="1350" dirty="0">
                <a:solidFill>
                  <a:srgbClr val="2A3F4C"/>
                </a:solidFill>
                <a:latin typeface="Calibri" pitchFamily="34" charset="0"/>
                <a:ea typeface="Calibri" pitchFamily="34" charset="-122"/>
                <a:cs typeface="Calibri" pitchFamily="34" charset="-120"/>
              </a:rPr>
              <a:t>Stochastic games and Dec-POMDPs. CTDE: MADDPG, QMIX (individual-global-max), MAPPO as a strong default. Each agent sees a non-stationary world.</a:t>
            </a:r>
            <a:endParaRPr lang="en-US" sz="1350" dirty="0"/>
          </a:p>
        </p:txBody>
      </p:sp>
      <p:sp>
        <p:nvSpPr>
          <p:cNvPr id="12" name="Shape 9"/>
          <p:cNvSpPr/>
          <p:nvPr/>
        </p:nvSpPr>
        <p:spPr>
          <a:xfrm>
            <a:off x="6172200" y="1645920"/>
            <a:ext cx="534924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3" name="Text 10"/>
          <p:cNvSpPr txBox="1"/>
          <p:nvPr/>
        </p:nvSpPr>
        <p:spPr>
          <a:xfrm>
            <a:off x="6400800" y="1810512"/>
            <a:ext cx="489204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Federated RL</a:t>
            </a:r>
            <a:endParaRPr lang="en-US" sz="1600" dirty="0"/>
          </a:p>
        </p:txBody>
      </p:sp>
      <p:sp>
        <p:nvSpPr>
          <p:cNvPr id="14" name="Text 11"/>
          <p:cNvSpPr txBox="1"/>
          <p:nvPr/>
        </p:nvSpPr>
        <p:spPr>
          <a:xfrm>
            <a:off x="6400800" y="2267712"/>
            <a:ext cx="4892040" cy="1051560"/>
          </a:xfrm>
          <a:prstGeom prst="rect">
            <a:avLst/>
          </a:prstGeom>
          <a:noFill/>
          <a:ln/>
        </p:spPr>
        <p:txBody>
          <a:bodyPr wrap="square" lIns="0" tIns="0" rIns="0" bIns="0" rtlCol="0" anchor="t"/>
          <a:lstStyle/>
          <a:p>
            <a:pPr marL="0" indent="0">
              <a:buNone/>
            </a:pPr>
            <a:r>
              <a:rPr lang="en-US" sz="1350" dirty="0">
                <a:solidFill>
                  <a:srgbClr val="2A3F4C"/>
                </a:solidFill>
                <a:latin typeface="Calibri" pitchFamily="34" charset="0"/>
                <a:ea typeface="Calibri" pitchFamily="34" charset="-122"/>
                <a:cs typeface="Calibri" pitchFamily="34" charset="-120"/>
              </a:rPr>
              <a:t>Horizontal: same task, different sites (one xApp, many gNBs). Vertical: same network, different views (RAN + core/OSS). Issues: non-IID data, privacy leakage, policy-driven shift.</a:t>
            </a:r>
            <a:endParaRPr lang="en-US" sz="1350" dirty="0"/>
          </a:p>
        </p:txBody>
      </p:sp>
      <p:sp>
        <p:nvSpPr>
          <p:cNvPr id="15" name="Shape 12"/>
          <p:cNvSpPr/>
          <p:nvPr/>
        </p:nvSpPr>
        <p:spPr>
          <a:xfrm>
            <a:off x="640080" y="3566160"/>
            <a:ext cx="534924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6" name="Text 13"/>
          <p:cNvSpPr txBox="1"/>
          <p:nvPr/>
        </p:nvSpPr>
        <p:spPr>
          <a:xfrm>
            <a:off x="868680" y="3730752"/>
            <a:ext cx="489204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Meta-RL and transfer</a:t>
            </a:r>
            <a:endParaRPr lang="en-US" sz="1600" dirty="0"/>
          </a:p>
        </p:txBody>
      </p:sp>
      <p:sp>
        <p:nvSpPr>
          <p:cNvPr id="17" name="Text 14"/>
          <p:cNvSpPr txBox="1"/>
          <p:nvPr/>
        </p:nvSpPr>
        <p:spPr>
          <a:xfrm>
            <a:off x="868680" y="4187952"/>
            <a:ext cx="4892040" cy="1051560"/>
          </a:xfrm>
          <a:prstGeom prst="rect">
            <a:avLst/>
          </a:prstGeom>
          <a:noFill/>
          <a:ln/>
        </p:spPr>
        <p:txBody>
          <a:bodyPr wrap="square" lIns="0" tIns="0" rIns="0" bIns="0" rtlCol="0" anchor="t"/>
          <a:lstStyle/>
          <a:p>
            <a:pPr marL="0" indent="0">
              <a:buNone/>
            </a:pPr>
            <a:r>
              <a:rPr lang="en-US" sz="1350" dirty="0">
                <a:solidFill>
                  <a:srgbClr val="2A3F4C"/>
                </a:solidFill>
                <a:latin typeface="Calibri" pitchFamily="34" charset="0"/>
                <a:ea typeface="Calibri" pitchFamily="34" charset="-122"/>
                <a:cs typeface="Calibri" pitchFamily="34" charset="-120"/>
              </a:rPr>
              <a:t>MAML (a few gradient steps), RL² (adaptation inside an RNN), PEARL (latent task z); policy distillation and successor features. Fewer interactions per new cell or slice.</a:t>
            </a:r>
            <a:endParaRPr lang="en-US" sz="1350" dirty="0"/>
          </a:p>
        </p:txBody>
      </p:sp>
      <p:sp>
        <p:nvSpPr>
          <p:cNvPr id="18" name="Shape 15"/>
          <p:cNvSpPr/>
          <p:nvPr/>
        </p:nvSpPr>
        <p:spPr>
          <a:xfrm>
            <a:off x="6172200" y="3566160"/>
            <a:ext cx="534924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9" name="Text 16"/>
          <p:cNvSpPr txBox="1"/>
          <p:nvPr/>
        </p:nvSpPr>
        <p:spPr>
          <a:xfrm>
            <a:off x="6400800" y="3730752"/>
            <a:ext cx="489204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Sim-to-real gap</a:t>
            </a:r>
            <a:endParaRPr lang="en-US" sz="1600" dirty="0"/>
          </a:p>
        </p:txBody>
      </p:sp>
      <p:sp>
        <p:nvSpPr>
          <p:cNvPr id="20" name="Text 17"/>
          <p:cNvSpPr txBox="1"/>
          <p:nvPr/>
        </p:nvSpPr>
        <p:spPr>
          <a:xfrm>
            <a:off x="6400800" y="4187952"/>
            <a:ext cx="4892040" cy="1051560"/>
          </a:xfrm>
          <a:prstGeom prst="rect">
            <a:avLst/>
          </a:prstGeom>
          <a:noFill/>
          <a:ln/>
        </p:spPr>
        <p:txBody>
          <a:bodyPr wrap="square" lIns="0" tIns="0" rIns="0" bIns="0" rtlCol="0" anchor="t"/>
          <a:lstStyle/>
          <a:p>
            <a:pPr marL="0" indent="0">
              <a:buNone/>
            </a:pPr>
            <a:r>
              <a:rPr lang="en-US" sz="1350" dirty="0">
                <a:solidFill>
                  <a:srgbClr val="2A3F4C"/>
                </a:solidFill>
                <a:latin typeface="Calibri" pitchFamily="34" charset="0"/>
                <a:ea typeface="Calibri" pitchFamily="34" charset="-122"/>
                <a:cs typeface="Calibri" pitchFamily="34" charset="-120"/>
              </a:rPr>
              <a:t>ΔS2R = J</a:t>
            </a:r>
            <a:r>
              <a:rPr lang="en-US" sz="1350" baseline="-40000" dirty="0">
                <a:solidFill>
                  <a:srgbClr val="2A3F4C"/>
                </a:solidFill>
                <a:latin typeface="Calibri" pitchFamily="34" charset="0"/>
                <a:ea typeface="Calibri" pitchFamily="34" charset="-122"/>
                <a:cs typeface="Calibri" pitchFamily="34" charset="-120"/>
              </a:rPr>
              <a:t>real</a:t>
            </a:r>
            <a:r>
              <a:rPr lang="en-US" sz="1350" dirty="0">
                <a:solidFill>
                  <a:srgbClr val="2A3F4C"/>
                </a:solidFill>
                <a:latin typeface="Calibri" pitchFamily="34" charset="0"/>
                <a:ea typeface="Calibri" pitchFamily="34" charset="-122"/>
                <a:cs typeface="Calibri" pitchFamily="34" charset="-120"/>
              </a:rPr>
              <a:t>(π*</a:t>
            </a:r>
            <a:r>
              <a:rPr lang="en-US" sz="1350" baseline="-40000" dirty="0">
                <a:solidFill>
                  <a:srgbClr val="2A3F4C"/>
                </a:solidFill>
                <a:latin typeface="Calibri" pitchFamily="34" charset="0"/>
                <a:ea typeface="Calibri" pitchFamily="34" charset="-122"/>
                <a:cs typeface="Calibri" pitchFamily="34" charset="-120"/>
              </a:rPr>
              <a:t>real</a:t>
            </a:r>
            <a:r>
              <a:rPr lang="en-US" sz="1350" dirty="0">
                <a:solidFill>
                  <a:srgbClr val="2A3F4C"/>
                </a:solidFill>
                <a:latin typeface="Calibri" pitchFamily="34" charset="0"/>
                <a:ea typeface="Calibri" pitchFamily="34" charset="-122"/>
                <a:cs typeface="Calibri" pitchFamily="34" charset="-120"/>
              </a:rPr>
              <a:t>) − J</a:t>
            </a:r>
            <a:r>
              <a:rPr lang="en-US" sz="1350" baseline="-40000" dirty="0">
                <a:solidFill>
                  <a:srgbClr val="2A3F4C"/>
                </a:solidFill>
                <a:latin typeface="Calibri" pitchFamily="34" charset="0"/>
                <a:ea typeface="Calibri" pitchFamily="34" charset="-122"/>
                <a:cs typeface="Calibri" pitchFamily="34" charset="-120"/>
              </a:rPr>
              <a:t>real</a:t>
            </a:r>
            <a:r>
              <a:rPr lang="en-US" sz="1350" dirty="0">
                <a:solidFill>
                  <a:srgbClr val="2A3F4C"/>
                </a:solidFill>
                <a:latin typeface="Calibri" pitchFamily="34" charset="0"/>
                <a:ea typeface="Calibri" pitchFamily="34" charset="-122"/>
                <a:cs typeface="Calibri" pitchFamily="34" charset="-120"/>
              </a:rPr>
              <a:t>(π*</a:t>
            </a:r>
            <a:r>
              <a:rPr lang="en-US" sz="1350" baseline="-40000" dirty="0">
                <a:solidFill>
                  <a:srgbClr val="2A3F4C"/>
                </a:solidFill>
                <a:latin typeface="Calibri" pitchFamily="34" charset="0"/>
                <a:ea typeface="Calibri" pitchFamily="34" charset="-122"/>
                <a:cs typeface="Calibri" pitchFamily="34" charset="-120"/>
              </a:rPr>
              <a:t>sim</a:t>
            </a:r>
            <a:r>
              <a:rPr lang="en-US" sz="1350" dirty="0">
                <a:solidFill>
                  <a:srgbClr val="2A3F4C"/>
                </a:solidFill>
                <a:latin typeface="Calibri" pitchFamily="34" charset="0"/>
                <a:ea typeface="Calibri" pitchFamily="34" charset="-122"/>
                <a:cs typeface="Calibri" pitchFamily="34" charset="-120"/>
              </a:rPr>
              <a:t>) ≥ 0. Remedies: domain randomisation, system identification (calibrate the simulator), domain adaptation (shared features).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O-RAN as the DRL environment</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Placement fixes what the agent sees and controls: a 5 s decision period is a Non-RT (rApp) loop, not a Near-RT xApp.</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fr-FR" sz="1100" dirty="0">
                <a:solidFill>
                  <a:srgbClr val="5F7A8A"/>
                </a:solidFill>
                <a:latin typeface="Calibri" pitchFamily="34" charset="0"/>
                <a:ea typeface="Calibri" pitchFamily="34" charset="-122"/>
                <a:cs typeface="Calibri" pitchFamily="34" charset="-120"/>
              </a:rPr>
              <a:t>8</a:t>
            </a:r>
            <a:r>
              <a:rPr lang="en-US" sz="1100" dirty="0">
                <a:solidFill>
                  <a:srgbClr val="5F7A8A"/>
                </a:solidFill>
                <a:latin typeface="Calibri" pitchFamily="34" charset="0"/>
                <a:ea typeface="Calibri" pitchFamily="34" charset="-122"/>
                <a:cs typeface="Calibri" pitchFamily="34" charset="-120"/>
              </a:rPr>
              <a:t/>
            </a:r>
            <a:endParaRPr lang="en-US" sz="1100" dirty="0"/>
          </a:p>
        </p:txBody>
      </p:sp>
      <p:sp>
        <p:nvSpPr>
          <p:cNvPr id="11" name="Shape 8"/>
          <p:cNvSpPr/>
          <p:nvPr/>
        </p:nvSpPr>
        <p:spPr>
          <a:xfrm>
            <a:off x="5806440" y="1645920"/>
            <a:ext cx="5715000" cy="804672"/>
          </a:xfrm>
          <a:prstGeom prst="roundRect">
            <a:avLst>
              <a:gd name="adj" fmla="val 6818"/>
            </a:avLst>
          </a:prstGeom>
          <a:solidFill>
            <a:srgbClr val="F0F5F7"/>
          </a:solidFill>
          <a:ln w="12700">
            <a:solidFill>
              <a:srgbClr val="F0F5F7"/>
            </a:solidFill>
            <a:prstDash val="solid"/>
          </a:ln>
        </p:spPr>
        <p:txBody>
          <a:bodyPr/>
          <a:lstStyle/>
          <a:p>
            <a:endParaRPr lang="en-US"/>
          </a:p>
        </p:txBody>
      </p:sp>
      <p:sp>
        <p:nvSpPr>
          <p:cNvPr id="12" name="Text 9"/>
          <p:cNvSpPr txBox="1"/>
          <p:nvPr/>
        </p:nvSpPr>
        <p:spPr>
          <a:xfrm>
            <a:off x="5989320" y="1645920"/>
            <a:ext cx="1371600" cy="804672"/>
          </a:xfrm>
          <a:prstGeom prst="rect">
            <a:avLst/>
          </a:prstGeom>
          <a:noFill/>
          <a:ln/>
        </p:spPr>
        <p:txBody>
          <a:bodyPr wrap="square" lIns="0" tIns="0" rIns="0" bIns="0" rtlCol="0" anchor="ctr"/>
          <a:lstStyle/>
          <a:p>
            <a:pPr marL="0" indent="0">
              <a:buNone/>
            </a:pPr>
            <a:r>
              <a:rPr lang="en-US" sz="1700" b="1" dirty="0">
                <a:solidFill>
                  <a:srgbClr val="1A8A99"/>
                </a:solidFill>
                <a:latin typeface="Cambria" pitchFamily="34" charset="0"/>
                <a:ea typeface="Cambria" pitchFamily="34" charset="-122"/>
                <a:cs typeface="Cambria" pitchFamily="34" charset="-120"/>
              </a:rPr>
              <a:t>&gt; 1 s</a:t>
            </a:r>
            <a:endParaRPr lang="en-US" sz="1700" dirty="0"/>
          </a:p>
        </p:txBody>
      </p:sp>
      <p:sp>
        <p:nvSpPr>
          <p:cNvPr id="13" name="Text 10"/>
          <p:cNvSpPr txBox="1"/>
          <p:nvPr/>
        </p:nvSpPr>
        <p:spPr>
          <a:xfrm>
            <a:off x="7406640" y="1719072"/>
            <a:ext cx="4023360" cy="685800"/>
          </a:xfrm>
          <a:prstGeom prst="rect">
            <a:avLst/>
          </a:prstGeom>
          <a:noFill/>
          <a:ln/>
        </p:spPr>
        <p:txBody>
          <a:bodyPr wrap="square" lIns="0" tIns="0" rIns="0" bIns="0" rtlCol="0" anchor="ctr"/>
          <a:lstStyle/>
          <a:p>
            <a:pPr marL="0" indent="0">
              <a:buNone/>
            </a:pPr>
            <a:r>
              <a:rPr lang="en-US" sz="1400" b="1" dirty="0">
                <a:solidFill>
                  <a:srgbClr val="12394D"/>
                </a:solidFill>
                <a:latin typeface="Calibri" pitchFamily="34" charset="0"/>
                <a:ea typeface="Calibri" pitchFamily="34" charset="-122"/>
                <a:cs typeface="Calibri" pitchFamily="34" charset="-120"/>
              </a:rPr>
              <a:t>Non-RT RIC · rApp</a:t>
            </a:r>
            <a:endParaRPr lang="en-US" sz="1400" dirty="0"/>
          </a:p>
          <a:p>
            <a:pPr marL="0" indent="0">
              <a:buNone/>
            </a:pPr>
            <a:r>
              <a:rPr lang="en-US" sz="1250" dirty="0">
                <a:solidFill>
                  <a:srgbClr val="5F7A8A"/>
                </a:solidFill>
                <a:latin typeface="Calibri" pitchFamily="34" charset="0"/>
                <a:ea typeface="Calibri" pitchFamily="34" charset="-122"/>
                <a:cs typeface="Calibri" pitchFamily="34" charset="-120"/>
              </a:rPr>
              <a:t>A1 policies, O1 telemetry, R1 services · slice SLA planning</a:t>
            </a:r>
            <a:endParaRPr lang="en-US" sz="1400" dirty="0"/>
          </a:p>
        </p:txBody>
      </p:sp>
      <p:sp>
        <p:nvSpPr>
          <p:cNvPr id="14" name="Shape 11"/>
          <p:cNvSpPr/>
          <p:nvPr/>
        </p:nvSpPr>
        <p:spPr>
          <a:xfrm>
            <a:off x="5806440" y="2560320"/>
            <a:ext cx="5715000" cy="804672"/>
          </a:xfrm>
          <a:prstGeom prst="roundRect">
            <a:avLst>
              <a:gd name="adj" fmla="val 6818"/>
            </a:avLst>
          </a:prstGeom>
          <a:solidFill>
            <a:srgbClr val="12394D"/>
          </a:solidFill>
          <a:ln w="12700">
            <a:solidFill>
              <a:srgbClr val="12394D"/>
            </a:solidFill>
            <a:prstDash val="solid"/>
          </a:ln>
        </p:spPr>
        <p:txBody>
          <a:bodyPr/>
          <a:lstStyle/>
          <a:p>
            <a:endParaRPr lang="en-US"/>
          </a:p>
        </p:txBody>
      </p:sp>
      <p:sp>
        <p:nvSpPr>
          <p:cNvPr id="15" name="Text 12"/>
          <p:cNvSpPr txBox="1"/>
          <p:nvPr/>
        </p:nvSpPr>
        <p:spPr>
          <a:xfrm>
            <a:off x="5989320" y="2560320"/>
            <a:ext cx="1371600" cy="804672"/>
          </a:xfrm>
          <a:prstGeom prst="rect">
            <a:avLst/>
          </a:prstGeom>
          <a:noFill/>
          <a:ln/>
        </p:spPr>
        <p:txBody>
          <a:bodyPr wrap="square" lIns="0" tIns="0" rIns="0" bIns="0" rtlCol="0" anchor="ctr"/>
          <a:lstStyle/>
          <a:p>
            <a:pPr marL="0" indent="0">
              <a:buNone/>
            </a:pPr>
            <a:r>
              <a:rPr lang="en-US" sz="1700" b="1" dirty="0">
                <a:solidFill>
                  <a:srgbClr val="8FD3C9"/>
                </a:solidFill>
                <a:latin typeface="Cambria" pitchFamily="34" charset="0"/>
                <a:ea typeface="Cambria" pitchFamily="34" charset="-122"/>
                <a:cs typeface="Cambria" pitchFamily="34" charset="-120"/>
              </a:rPr>
              <a:t>10 ms – 1 s</a:t>
            </a:r>
            <a:endParaRPr lang="en-US" sz="1700" dirty="0"/>
          </a:p>
        </p:txBody>
      </p:sp>
      <p:sp>
        <p:nvSpPr>
          <p:cNvPr id="16" name="Text 13"/>
          <p:cNvSpPr txBox="1"/>
          <p:nvPr/>
        </p:nvSpPr>
        <p:spPr>
          <a:xfrm>
            <a:off x="7406640" y="2633472"/>
            <a:ext cx="4023360"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Near-RT RIC · xApp</a:t>
            </a:r>
            <a:endParaRPr lang="en-US" sz="1400" dirty="0"/>
          </a:p>
          <a:p>
            <a:pPr marL="0" indent="0">
              <a:buNone/>
            </a:pPr>
            <a:r>
              <a:rPr lang="en-US" sz="1250" dirty="0">
                <a:solidFill>
                  <a:srgbClr val="C3D3DD"/>
                </a:solidFill>
                <a:latin typeface="Calibri" pitchFamily="34" charset="0"/>
                <a:ea typeface="Calibri" pitchFamily="34" charset="-122"/>
                <a:cs typeface="Calibri" pitchFamily="34" charset="-120"/>
              </a:rPr>
              <a:t>Observe E2 KPM, act E2 RAN Control · PRB split, steering</a:t>
            </a:r>
            <a:endParaRPr lang="en-US" sz="1400" dirty="0"/>
          </a:p>
        </p:txBody>
      </p:sp>
      <p:sp>
        <p:nvSpPr>
          <p:cNvPr id="17" name="Shape 14"/>
          <p:cNvSpPr/>
          <p:nvPr/>
        </p:nvSpPr>
        <p:spPr>
          <a:xfrm>
            <a:off x="5806440" y="3474720"/>
            <a:ext cx="5715000" cy="804672"/>
          </a:xfrm>
          <a:prstGeom prst="roundRect">
            <a:avLst>
              <a:gd name="adj" fmla="val 6818"/>
            </a:avLst>
          </a:prstGeom>
          <a:solidFill>
            <a:srgbClr val="F0F5F7"/>
          </a:solidFill>
          <a:ln w="12700">
            <a:solidFill>
              <a:srgbClr val="F0F5F7"/>
            </a:solidFill>
            <a:prstDash val="solid"/>
          </a:ln>
        </p:spPr>
        <p:txBody>
          <a:bodyPr/>
          <a:lstStyle/>
          <a:p>
            <a:endParaRPr lang="en-US"/>
          </a:p>
        </p:txBody>
      </p:sp>
      <p:sp>
        <p:nvSpPr>
          <p:cNvPr id="18" name="Text 15"/>
          <p:cNvSpPr txBox="1"/>
          <p:nvPr/>
        </p:nvSpPr>
        <p:spPr>
          <a:xfrm>
            <a:off x="5989320" y="3474720"/>
            <a:ext cx="1371600" cy="804672"/>
          </a:xfrm>
          <a:prstGeom prst="rect">
            <a:avLst/>
          </a:prstGeom>
          <a:noFill/>
          <a:ln/>
        </p:spPr>
        <p:txBody>
          <a:bodyPr wrap="square" lIns="0" tIns="0" rIns="0" bIns="0" rtlCol="0" anchor="ctr"/>
          <a:lstStyle/>
          <a:p>
            <a:pPr marL="0" indent="0">
              <a:buNone/>
            </a:pPr>
            <a:r>
              <a:rPr lang="en-US" sz="1700" b="1" dirty="0">
                <a:solidFill>
                  <a:srgbClr val="1A8A99"/>
                </a:solidFill>
                <a:latin typeface="Cambria" pitchFamily="34" charset="0"/>
                <a:ea typeface="Cambria" pitchFamily="34" charset="-122"/>
                <a:cs typeface="Cambria" pitchFamily="34" charset="-120"/>
              </a:rPr>
              <a:t>&lt; 10 ms</a:t>
            </a:r>
            <a:endParaRPr lang="en-US" sz="1700" dirty="0"/>
          </a:p>
        </p:txBody>
      </p:sp>
      <p:sp>
        <p:nvSpPr>
          <p:cNvPr id="19" name="Text 16"/>
          <p:cNvSpPr txBox="1"/>
          <p:nvPr/>
        </p:nvSpPr>
        <p:spPr>
          <a:xfrm>
            <a:off x="7406640" y="3547872"/>
            <a:ext cx="4023360" cy="685800"/>
          </a:xfrm>
          <a:prstGeom prst="rect">
            <a:avLst/>
          </a:prstGeom>
          <a:noFill/>
          <a:ln/>
        </p:spPr>
        <p:txBody>
          <a:bodyPr wrap="square" lIns="0" tIns="0" rIns="0" bIns="0" rtlCol="0" anchor="ctr"/>
          <a:lstStyle/>
          <a:p>
            <a:pPr marL="0" indent="0">
              <a:buNone/>
            </a:pPr>
            <a:r>
              <a:rPr lang="en-US" sz="1400" b="1" dirty="0">
                <a:solidFill>
                  <a:srgbClr val="12394D"/>
                </a:solidFill>
                <a:latin typeface="Calibri" pitchFamily="34" charset="0"/>
                <a:ea typeface="Calibri" pitchFamily="34" charset="-122"/>
                <a:cs typeface="Calibri" pitchFamily="34" charset="-120"/>
              </a:rPr>
              <a:t>O-CU / O-DU · dApp</a:t>
            </a:r>
            <a:endParaRPr lang="en-US" sz="1400" dirty="0"/>
          </a:p>
          <a:p>
            <a:pPr marL="0" indent="0">
              <a:buNone/>
            </a:pPr>
            <a:r>
              <a:rPr lang="en-US" sz="1250" dirty="0">
                <a:solidFill>
                  <a:srgbClr val="5F7A8A"/>
                </a:solidFill>
                <a:latin typeface="Calibri" pitchFamily="34" charset="0"/>
                <a:ea typeface="Calibri" pitchFamily="34" charset="-122"/>
                <a:cs typeface="Calibri" pitchFamily="34" charset="-120"/>
              </a:rPr>
              <a:t>Local MAC/PHY state, research stage · scheduling, beams</a:t>
            </a:r>
            <a:endParaRPr lang="en-US" sz="1400" dirty="0"/>
          </a:p>
        </p:txBody>
      </p:sp>
      <p:sp>
        <p:nvSpPr>
          <p:cNvPr id="20" name="Text 17"/>
          <p:cNvSpPr txBox="1"/>
          <p:nvPr/>
        </p:nvSpPr>
        <p:spPr>
          <a:xfrm>
            <a:off x="5806440" y="4480560"/>
            <a:ext cx="5715000" cy="914400"/>
          </a:xfrm>
          <a:prstGeom prst="rect">
            <a:avLst/>
          </a:prstGeom>
          <a:noFill/>
          <a:ln/>
        </p:spPr>
        <p:txBody>
          <a:bodyPr wrap="square" lIns="0" tIns="0" rIns="0" bIns="0" rtlCol="0" anchor="t"/>
          <a:lstStyle/>
          <a:p>
            <a:pPr marL="0" indent="0">
              <a:spcAft>
                <a:spcPts val="600"/>
              </a:spcAft>
              <a:buNone/>
            </a:pPr>
            <a:r>
              <a:rPr lang="en-US" sz="1300" b="1" dirty="0">
                <a:solidFill>
                  <a:srgbClr val="12394D"/>
                </a:solidFill>
                <a:latin typeface="Calibri" pitchFamily="34" charset="0"/>
                <a:ea typeface="Calibri" pitchFamily="34" charset="-122"/>
                <a:cs typeface="Calibri" pitchFamily="34" charset="-120"/>
              </a:rPr>
              <a:t>Splits: </a:t>
            </a:r>
            <a:r>
              <a:rPr lang="en-US" sz="1300" dirty="0">
                <a:solidFill>
                  <a:srgbClr val="2A3F4C"/>
                </a:solidFill>
                <a:latin typeface="Calibri" pitchFamily="34" charset="0"/>
                <a:ea typeface="Calibri" pitchFamily="34" charset="-122"/>
                <a:cs typeface="Calibri" pitchFamily="34" charset="-120"/>
              </a:rPr>
              <a:t>Option 2 (CU | DU over F1) and 7.2x (DU | RU over Open Fronthaul); O2 manages the O-Cloud</a:t>
            </a:r>
            <a:endParaRPr lang="en-US" sz="1300" dirty="0"/>
          </a:p>
          <a:p>
            <a:pPr marL="0" indent="0">
              <a:spcAft>
                <a:spcPts val="600"/>
              </a:spcAft>
              <a:buNone/>
            </a:pPr>
            <a:r>
              <a:rPr lang="en-US" sz="1300" b="1" dirty="0">
                <a:solidFill>
                  <a:srgbClr val="12394D"/>
                </a:solidFill>
                <a:latin typeface="Calibri" pitchFamily="34" charset="0"/>
                <a:ea typeface="Calibri" pitchFamily="34" charset="-122"/>
                <a:cs typeface="Calibri" pitchFamily="34" charset="-120"/>
              </a:rPr>
              <a:t>Telemetry is sampled, aggregated and delayed: </a:t>
            </a:r>
            <a:r>
              <a:rPr lang="en-US" sz="1300" dirty="0">
                <a:solidFill>
                  <a:srgbClr val="2A3F4C"/>
                </a:solidFill>
                <a:latin typeface="Calibri" pitchFamily="34" charset="0"/>
                <a:ea typeface="Calibri" pitchFamily="34" charset="-122"/>
                <a:cs typeface="Calibri" pitchFamily="34" charset="-120"/>
              </a:rPr>
              <a:t>the agent faces a POMDP</a:t>
            </a:r>
            <a:endParaRPr lang="en-US" sz="1300" dirty="0"/>
          </a:p>
        </p:txBody>
      </p:sp>
      <p:pic>
        <p:nvPicPr>
          <p:cNvPr id="21" name="Image 20">
            <a:extLst>
              <a:ext uri="{FF2B5EF4-FFF2-40B4-BE49-F238E27FC236}">
                <a16:creationId xmlns:a16="http://schemas.microsoft.com/office/drawing/2014/main" id="{B9FF7B04-B90A-7F01-030F-62E70D013A3A}"/>
              </a:ext>
            </a:extLst>
          </p:cNvPr>
          <p:cNvPicPr>
            <a:picLocks noChangeAspect="1"/>
          </p:cNvPicPr>
          <p:nvPr/>
        </p:nvPicPr>
        <p:blipFill>
          <a:blip r:embed="rId3"/>
          <a:stretch>
            <a:fillRect/>
          </a:stretch>
        </p:blipFill>
        <p:spPr>
          <a:xfrm>
            <a:off x="762000" y="1457050"/>
            <a:ext cx="3801005" cy="39439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Turning RAN problems into MDPs</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Keep SLAs as explicit constraints and report the decision period: the formulation matters as much as the algorithm.</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9</a:t>
            </a:r>
            <a:endParaRPr lang="en-US" sz="1100" dirty="0"/>
          </a:p>
        </p:txBody>
      </p:sp>
      <p:sp>
        <p:nvSpPr>
          <p:cNvPr id="9" name="Shape 6"/>
          <p:cNvSpPr/>
          <p:nvPr/>
        </p:nvSpPr>
        <p:spPr>
          <a:xfrm>
            <a:off x="640080" y="1645920"/>
            <a:ext cx="2011680" cy="251460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10" name="Shape 7"/>
          <p:cNvSpPr/>
          <p:nvPr/>
        </p:nvSpPr>
        <p:spPr>
          <a:xfrm>
            <a:off x="86868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11" name="Text 8"/>
          <p:cNvSpPr txBox="1"/>
          <p:nvPr/>
        </p:nvSpPr>
        <p:spPr>
          <a:xfrm>
            <a:off x="86868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9"/>
          <p:cNvSpPr txBox="1"/>
          <p:nvPr/>
        </p:nvSpPr>
        <p:spPr>
          <a:xfrm>
            <a:off x="86868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Decision model</a:t>
            </a:r>
            <a:endParaRPr lang="en-US" sz="1500" dirty="0"/>
          </a:p>
        </p:txBody>
      </p:sp>
      <p:sp>
        <p:nvSpPr>
          <p:cNvPr id="13" name="Text 10"/>
          <p:cNvSpPr txBox="1"/>
          <p:nvPr/>
        </p:nvSpPr>
        <p:spPr>
          <a:xfrm>
            <a:off x="868680" y="2926080"/>
            <a:ext cx="1600200" cy="118872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MDP/POMDP for one controller; CMDP when SLAs are explicit; MARL or federated when coupled</a:t>
            </a:r>
            <a:endParaRPr lang="en-US" sz="1250" dirty="0"/>
          </a:p>
        </p:txBody>
      </p:sp>
      <p:sp>
        <p:nvSpPr>
          <p:cNvPr id="14" name="Shape 11"/>
          <p:cNvSpPr/>
          <p:nvPr/>
        </p:nvSpPr>
        <p:spPr>
          <a:xfrm>
            <a:off x="2857500" y="1645920"/>
            <a:ext cx="2011680" cy="251460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15" name="Shape 12"/>
          <p:cNvSpPr/>
          <p:nvPr/>
        </p:nvSpPr>
        <p:spPr>
          <a:xfrm>
            <a:off x="308610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16" name="Text 13"/>
          <p:cNvSpPr txBox="1"/>
          <p:nvPr/>
        </p:nvSpPr>
        <p:spPr>
          <a:xfrm>
            <a:off x="308610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308610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Observations</a:t>
            </a:r>
            <a:endParaRPr lang="en-US" sz="1500" dirty="0"/>
          </a:p>
        </p:txBody>
      </p:sp>
      <p:sp>
        <p:nvSpPr>
          <p:cNvPr id="18" name="Text 15"/>
          <p:cNvSpPr txBox="1"/>
          <p:nvPr/>
        </p:nvSpPr>
        <p:spPr>
          <a:xfrm>
            <a:off x="3086100" y="2926080"/>
            <a:ext cx="1600200" cy="118872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CQI, SINR, queues, PRB usage, slice KPIs, SLA margin; GNN or attention for variable entities</a:t>
            </a:r>
            <a:endParaRPr lang="en-US" sz="1250" dirty="0"/>
          </a:p>
        </p:txBody>
      </p:sp>
      <p:sp>
        <p:nvSpPr>
          <p:cNvPr id="19" name="Shape 16"/>
          <p:cNvSpPr/>
          <p:nvPr/>
        </p:nvSpPr>
        <p:spPr>
          <a:xfrm>
            <a:off x="5074920" y="1645920"/>
            <a:ext cx="2011680" cy="251460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0" name="Shape 17"/>
          <p:cNvSpPr/>
          <p:nvPr/>
        </p:nvSpPr>
        <p:spPr>
          <a:xfrm>
            <a:off x="530352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21" name="Text 18"/>
          <p:cNvSpPr txBox="1"/>
          <p:nvPr/>
        </p:nvSpPr>
        <p:spPr>
          <a:xfrm>
            <a:off x="530352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2" name="Text 19"/>
          <p:cNvSpPr txBox="1"/>
          <p:nvPr/>
        </p:nvSpPr>
        <p:spPr>
          <a:xfrm>
            <a:off x="530352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Actions</a:t>
            </a:r>
            <a:endParaRPr lang="en-US" sz="1500" dirty="0"/>
          </a:p>
        </p:txBody>
      </p:sp>
      <p:sp>
        <p:nvSpPr>
          <p:cNvPr id="23" name="Text 20"/>
          <p:cNvSpPr txBox="1"/>
          <p:nvPr/>
        </p:nvSpPr>
        <p:spPr>
          <a:xfrm>
            <a:off x="5303520" y="2926080"/>
            <a:ext cx="1600200" cy="118872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Discrete (steering), continuous (SAC power vector), hybrid (EExAPP: RU sleep + PRB ratios)</a:t>
            </a:r>
            <a:endParaRPr lang="en-US" sz="1250" dirty="0"/>
          </a:p>
        </p:txBody>
      </p:sp>
      <p:sp>
        <p:nvSpPr>
          <p:cNvPr id="24" name="Shape 21"/>
          <p:cNvSpPr/>
          <p:nvPr/>
        </p:nvSpPr>
        <p:spPr>
          <a:xfrm>
            <a:off x="7292340" y="1645920"/>
            <a:ext cx="2011680" cy="251460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5" name="Shape 22"/>
          <p:cNvSpPr/>
          <p:nvPr/>
        </p:nvSpPr>
        <p:spPr>
          <a:xfrm>
            <a:off x="752094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26" name="Text 23"/>
          <p:cNvSpPr txBox="1"/>
          <p:nvPr/>
        </p:nvSpPr>
        <p:spPr>
          <a:xfrm>
            <a:off x="752094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7" name="Text 24"/>
          <p:cNvSpPr txBox="1"/>
          <p:nvPr/>
        </p:nvSpPr>
        <p:spPr>
          <a:xfrm>
            <a:off x="752094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Reward &amp; constraints</a:t>
            </a:r>
            <a:endParaRPr lang="en-US" sz="1500" dirty="0"/>
          </a:p>
        </p:txBody>
      </p:sp>
      <p:sp>
        <p:nvSpPr>
          <p:cNvPr id="28" name="Text 25"/>
          <p:cNvSpPr txBox="1"/>
          <p:nvPr/>
        </p:nvSpPr>
        <p:spPr>
          <a:xfrm>
            <a:off x="7520940" y="2926080"/>
            <a:ext cx="1600200" cy="118872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Weighted KPI sums dominate; constraint-aware works keep SLAs as costs</a:t>
            </a:r>
            <a:endParaRPr lang="en-US" sz="1250" dirty="0"/>
          </a:p>
        </p:txBody>
      </p:sp>
      <p:sp>
        <p:nvSpPr>
          <p:cNvPr id="29" name="Shape 26"/>
          <p:cNvSpPr/>
          <p:nvPr/>
        </p:nvSpPr>
        <p:spPr>
          <a:xfrm>
            <a:off x="9509760" y="1645920"/>
            <a:ext cx="2011680" cy="251460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30" name="Shape 27"/>
          <p:cNvSpPr/>
          <p:nvPr/>
        </p:nvSpPr>
        <p:spPr>
          <a:xfrm>
            <a:off x="9738360" y="1828800"/>
            <a:ext cx="384048" cy="384048"/>
          </a:xfrm>
          <a:prstGeom prst="ellipse">
            <a:avLst/>
          </a:prstGeom>
          <a:solidFill>
            <a:srgbClr val="1A8A99"/>
          </a:solidFill>
          <a:ln w="12700">
            <a:solidFill>
              <a:srgbClr val="1A8A99"/>
            </a:solidFill>
            <a:prstDash val="solid"/>
          </a:ln>
        </p:spPr>
        <p:txBody>
          <a:bodyPr/>
          <a:lstStyle/>
          <a:p>
            <a:endParaRPr lang="en-US"/>
          </a:p>
        </p:txBody>
      </p:sp>
      <p:sp>
        <p:nvSpPr>
          <p:cNvPr id="31" name="Text 28"/>
          <p:cNvSpPr txBox="1"/>
          <p:nvPr/>
        </p:nvSpPr>
        <p:spPr>
          <a:xfrm>
            <a:off x="9738360" y="18288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2" name="Text 29"/>
          <p:cNvSpPr txBox="1"/>
          <p:nvPr/>
        </p:nvSpPr>
        <p:spPr>
          <a:xfrm>
            <a:off x="9738360" y="2331720"/>
            <a:ext cx="1600200" cy="548640"/>
          </a:xfrm>
          <a:prstGeom prst="rect">
            <a:avLst/>
          </a:prstGeom>
          <a:noFill/>
          <a:ln/>
        </p:spPr>
        <p:txBody>
          <a:bodyPr wrap="square" lIns="0" tIns="0" rIns="0" bIns="0" rtlCol="0" anchor="t"/>
          <a:lstStyle/>
          <a:p>
            <a:pPr marL="0" indent="0">
              <a:buNone/>
            </a:pPr>
            <a:r>
              <a:rPr lang="en-US" sz="1500" b="1" dirty="0">
                <a:solidFill>
                  <a:srgbClr val="12394D"/>
                </a:solidFill>
                <a:latin typeface="Calibri" pitchFamily="34" charset="0"/>
                <a:ea typeface="Calibri" pitchFamily="34" charset="-122"/>
                <a:cs typeface="Calibri" pitchFamily="34" charset="-120"/>
              </a:rPr>
              <a:t>Temporal structure</a:t>
            </a:r>
            <a:endParaRPr lang="en-US" sz="1500" dirty="0"/>
          </a:p>
        </p:txBody>
      </p:sp>
      <p:sp>
        <p:nvSpPr>
          <p:cNvPr id="33" name="Text 30"/>
          <p:cNvSpPr txBox="1"/>
          <p:nvPr/>
        </p:nvSpPr>
        <p:spPr>
          <a:xfrm>
            <a:off x="9738360" y="2926080"/>
            <a:ext cx="1600200" cy="1188720"/>
          </a:xfrm>
          <a:prstGeom prst="rect">
            <a:avLst/>
          </a:prstGeom>
          <a:noFill/>
          <a:ln/>
        </p:spPr>
        <p:txBody>
          <a:bodyPr wrap="square" lIns="0" tIns="0" rIns="0" bIns="0" rtlCol="0" anchor="t"/>
          <a:lstStyle/>
          <a:p>
            <a:pPr marL="0" indent="0">
              <a:buNone/>
            </a:pPr>
            <a:r>
              <a:rPr lang="en-US" sz="1250" dirty="0">
                <a:solidFill>
                  <a:srgbClr val="5F7A8A"/>
                </a:solidFill>
                <a:latin typeface="Calibri" pitchFamily="34" charset="0"/>
                <a:ea typeface="Calibri" pitchFamily="34" charset="-122"/>
                <a:cs typeface="Calibri" pitchFamily="34" charset="-120"/>
              </a:rPr>
              <a:t>Decision period matched to the loop; horizon and interval reported</a:t>
            </a:r>
            <a:endParaRPr lang="en-US" sz="1250" dirty="0"/>
          </a:p>
        </p:txBody>
      </p:sp>
      <p:sp>
        <p:nvSpPr>
          <p:cNvPr id="34" name="Text 31"/>
          <p:cNvSpPr txBox="1"/>
          <p:nvPr/>
        </p:nvSpPr>
        <p:spPr>
          <a:xfrm>
            <a:off x="640080" y="4389120"/>
            <a:ext cx="54864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EVIDENCE FROM THE SURVEY</a:t>
            </a:r>
            <a:endParaRPr lang="en-US" sz="1200" dirty="0"/>
          </a:p>
        </p:txBody>
      </p:sp>
      <p:sp>
        <p:nvSpPr>
          <p:cNvPr id="35" name="Text 32"/>
          <p:cNvSpPr txBox="1"/>
          <p:nvPr/>
        </p:nvSpPr>
        <p:spPr>
          <a:xfrm>
            <a:off x="640080" y="4709160"/>
            <a:ext cx="10881360" cy="7772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2A3F4C"/>
                </a:solidFill>
                <a:latin typeface="Calibri" pitchFamily="34" charset="0"/>
                <a:ea typeface="Calibri" pitchFamily="34" charset="-122"/>
                <a:cs typeface="Calibri" pitchFamily="34" charset="-120"/>
              </a:rPr>
              <a:t>PandORA: changing the reward, action space or decision period changes which agent comes out best</a:t>
            </a:r>
            <a:endParaRPr lang="en-US" sz="1400" dirty="0"/>
          </a:p>
          <a:p>
            <a:pPr marL="342900" indent="-342900">
              <a:spcAft>
                <a:spcPts val="500"/>
              </a:spcAft>
              <a:buSzPct val="100000"/>
              <a:buChar char="•"/>
            </a:pPr>
            <a:r>
              <a:rPr lang="en-US" sz="1400" dirty="0">
                <a:solidFill>
                  <a:srgbClr val="2A3F4C"/>
                </a:solidFill>
                <a:latin typeface="Calibri" pitchFamily="34" charset="0"/>
                <a:ea typeface="Calibri" pitchFamily="34" charset="-122"/>
                <a:cs typeface="Calibri" pitchFamily="34" charset="-120"/>
              </a:rPr>
              <a:t>Two studies with the same algorithm but different decision periods are solving different problems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Use cases: nine domains, slicing and RRM lead</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Slicing is the most active domain, and every eMBB/URLLC work cited here is trained online.</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44</a:t>
            </a:r>
            <a:endParaRPr lang="en-US" sz="1100" dirty="0"/>
          </a:p>
        </p:txBody>
      </p:sp>
      <p:sp>
        <p:nvSpPr>
          <p:cNvPr id="14" name="Text 11"/>
          <p:cNvSpPr txBox="1"/>
          <p:nvPr/>
        </p:nvSpPr>
        <p:spPr>
          <a:xfrm>
            <a:off x="9026681" y="1572768"/>
            <a:ext cx="2723359" cy="310896"/>
          </a:xfrm>
          <a:prstGeom prst="rect">
            <a:avLst/>
          </a:prstGeom>
          <a:noFill/>
          <a:ln/>
        </p:spPr>
        <p:txBody>
          <a:bodyPr wrap="square" lIns="0" tIns="0" rIns="0" bIns="0" rtlCol="0" anchor="ctr"/>
          <a:lstStyle/>
          <a:p>
            <a:pPr marL="0" indent="0">
              <a:buNone/>
            </a:pPr>
            <a:r>
              <a:rPr lang="en-US" sz="1350" dirty="0">
                <a:solidFill>
                  <a:srgbClr val="2A3F4C"/>
                </a:solidFill>
                <a:latin typeface="Calibri" pitchFamily="34" charset="0"/>
                <a:ea typeface="Calibri" pitchFamily="34" charset="-122"/>
                <a:cs typeface="Calibri" pitchFamily="34" charset="-120"/>
              </a:rPr>
              <a:t>RRM · network slicing · traffic steering</a:t>
            </a:r>
            <a:endParaRPr lang="en-US" sz="1350" dirty="0"/>
          </a:p>
        </p:txBody>
      </p:sp>
      <p:sp>
        <p:nvSpPr>
          <p:cNvPr id="17" name="Text 14"/>
          <p:cNvSpPr txBox="1"/>
          <p:nvPr/>
        </p:nvSpPr>
        <p:spPr>
          <a:xfrm>
            <a:off x="9026681" y="2008661"/>
            <a:ext cx="2904514" cy="310896"/>
          </a:xfrm>
          <a:prstGeom prst="rect">
            <a:avLst/>
          </a:prstGeom>
          <a:noFill/>
          <a:ln/>
        </p:spPr>
        <p:txBody>
          <a:bodyPr wrap="square" lIns="0" tIns="0" rIns="0" bIns="0" rtlCol="0" anchor="ctr"/>
          <a:lstStyle/>
          <a:p>
            <a:pPr marL="0" indent="0">
              <a:buNone/>
            </a:pPr>
            <a:r>
              <a:rPr lang="en-US" sz="1350" dirty="0">
                <a:solidFill>
                  <a:srgbClr val="2A3F4C"/>
                </a:solidFill>
                <a:latin typeface="Calibri" pitchFamily="34" charset="0"/>
                <a:ea typeface="Calibri" pitchFamily="34" charset="-122"/>
                <a:cs typeface="Calibri" pitchFamily="34" charset="-120"/>
              </a:rPr>
              <a:t>mobility · energy · interference · security</a:t>
            </a:r>
            <a:endParaRPr lang="en-US" sz="1350" dirty="0"/>
          </a:p>
        </p:txBody>
      </p:sp>
      <p:sp>
        <p:nvSpPr>
          <p:cNvPr id="20" name="Text 17"/>
          <p:cNvSpPr txBox="1"/>
          <p:nvPr/>
        </p:nvSpPr>
        <p:spPr>
          <a:xfrm>
            <a:off x="9026681" y="2505456"/>
            <a:ext cx="1653684" cy="310896"/>
          </a:xfrm>
          <a:prstGeom prst="rect">
            <a:avLst/>
          </a:prstGeom>
          <a:noFill/>
          <a:ln/>
        </p:spPr>
        <p:txBody>
          <a:bodyPr wrap="square" lIns="0" tIns="0" rIns="0" bIns="0" rtlCol="0" anchor="ctr"/>
          <a:lstStyle/>
          <a:p>
            <a:pPr marL="0" indent="0">
              <a:buNone/>
            </a:pPr>
            <a:r>
              <a:rPr lang="en-US" sz="1350" dirty="0">
                <a:solidFill>
                  <a:srgbClr val="2A3F4C"/>
                </a:solidFill>
                <a:latin typeface="Calibri" pitchFamily="34" charset="0"/>
                <a:ea typeface="Calibri" pitchFamily="34" charset="-122"/>
                <a:cs typeface="Calibri" pitchFamily="34" charset="-120"/>
              </a:rPr>
              <a:t>ISAC · massive MIMO</a:t>
            </a:r>
            <a:endParaRPr lang="en-US" sz="1350" dirty="0"/>
          </a:p>
        </p:txBody>
      </p:sp>
      <p:sp>
        <p:nvSpPr>
          <p:cNvPr id="21" name="Text 18"/>
          <p:cNvSpPr txBox="1"/>
          <p:nvPr/>
        </p:nvSpPr>
        <p:spPr>
          <a:xfrm>
            <a:off x="7144397" y="3456432"/>
            <a:ext cx="2052224"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CLOSEST TO MY SETTING</a:t>
            </a:r>
            <a:endParaRPr lang="en-US" sz="1200" dirty="0"/>
          </a:p>
        </p:txBody>
      </p:sp>
      <p:sp>
        <p:nvSpPr>
          <p:cNvPr id="22" name="Text 19"/>
          <p:cNvSpPr txBox="1"/>
          <p:nvPr/>
        </p:nvSpPr>
        <p:spPr>
          <a:xfrm>
            <a:off x="7144397" y="3803904"/>
            <a:ext cx="4605643" cy="1828800"/>
          </a:xfrm>
          <a:prstGeom prst="rect">
            <a:avLst/>
          </a:prstGeom>
          <a:noFill/>
          <a:ln/>
        </p:spPr>
        <p:txBody>
          <a:bodyPr wrap="square" lIns="0" tIns="0" rIns="0" bIns="0" rtlCol="0" anchor="t"/>
          <a:lstStyle/>
          <a:p>
            <a:pPr marL="0" indent="0">
              <a:buNone/>
            </a:pPr>
            <a:r>
              <a:rPr lang="en-US" sz="1400" b="1" dirty="0">
                <a:solidFill>
                  <a:srgbClr val="12394D"/>
                </a:solidFill>
                <a:latin typeface="Calibri" pitchFamily="34" charset="0"/>
                <a:ea typeface="Calibri" pitchFamily="34" charset="-122"/>
                <a:cs typeface="Calibri" pitchFamily="34" charset="-120"/>
              </a:rPr>
              <a:t>Sohaib et al.</a:t>
            </a:r>
            <a:endParaRPr lang="en-US" sz="1400" dirty="0"/>
          </a:p>
          <a:p>
            <a:pPr marL="0" indent="0">
              <a:spcAft>
                <a:spcPts val="500"/>
              </a:spcAft>
              <a:buNone/>
            </a:pPr>
            <a:r>
              <a:rPr lang="en-US" sz="1250" dirty="0">
                <a:solidFill>
                  <a:srgbClr val="5F7A8A"/>
                </a:solidFill>
                <a:latin typeface="Calibri" pitchFamily="34" charset="0"/>
                <a:ea typeface="Calibri" pitchFamily="34" charset="-122"/>
                <a:cs typeface="Calibri" pitchFamily="34" charset="-120"/>
              </a:rPr>
              <a:t>Distributed Thompson-sampling DRL for joint eMBB/URLLC scheduling</a:t>
            </a:r>
            <a:endParaRPr lang="en-US" sz="1400" dirty="0"/>
          </a:p>
          <a:p>
            <a:pPr marL="0" indent="0">
              <a:buNone/>
            </a:pPr>
            <a:r>
              <a:rPr lang="en-US" sz="1400" b="1" dirty="0">
                <a:solidFill>
                  <a:srgbClr val="12394D"/>
                </a:solidFill>
                <a:latin typeface="Calibri" pitchFamily="34" charset="0"/>
                <a:ea typeface="Calibri" pitchFamily="34" charset="-122"/>
                <a:cs typeface="Calibri" pitchFamily="34" charset="-120"/>
              </a:rPr>
              <a:t>Eskandari et al.</a:t>
            </a:r>
            <a:endParaRPr lang="en-US" sz="1400" dirty="0"/>
          </a:p>
          <a:p>
            <a:pPr marL="0" indent="0">
              <a:spcAft>
                <a:spcPts val="500"/>
              </a:spcAft>
              <a:buNone/>
            </a:pPr>
            <a:r>
              <a:rPr lang="en-US" sz="1250" dirty="0">
                <a:solidFill>
                  <a:srgbClr val="5F7A8A"/>
                </a:solidFill>
                <a:latin typeface="Calibri" pitchFamily="34" charset="0"/>
                <a:ea typeface="Calibri" pitchFamily="34" charset="-122"/>
                <a:cs typeface="Calibri" pitchFamily="34" charset="-120"/>
              </a:rPr>
              <a:t>SAC power control for eMBB/URLLC slices in cell-free O-RAN</a:t>
            </a:r>
            <a:endParaRPr lang="en-US" sz="1400" dirty="0"/>
          </a:p>
          <a:p>
            <a:pPr marL="0" indent="0">
              <a:buNone/>
            </a:pPr>
            <a:r>
              <a:rPr lang="en-US" sz="1400" b="1" dirty="0">
                <a:solidFill>
                  <a:srgbClr val="12394D"/>
                </a:solidFill>
                <a:latin typeface="Calibri" pitchFamily="34" charset="0"/>
                <a:ea typeface="Calibri" pitchFamily="34" charset="-122"/>
                <a:cs typeface="Calibri" pitchFamily="34" charset="-120"/>
              </a:rPr>
              <a:t>SafeSlice · Zangooei et al.</a:t>
            </a:r>
            <a:endParaRPr lang="en-US" sz="1400" dirty="0"/>
          </a:p>
          <a:p>
            <a:pPr marL="0" indent="0">
              <a:spcAft>
                <a:spcPts val="500"/>
              </a:spcAft>
              <a:buNone/>
            </a:pPr>
            <a:r>
              <a:rPr lang="en-US" sz="1250" dirty="0">
                <a:solidFill>
                  <a:srgbClr val="5F7A8A"/>
                </a:solidFill>
                <a:latin typeface="Calibri" pitchFamily="34" charset="0"/>
                <a:ea typeface="Calibri" pitchFamily="34" charset="-122"/>
                <a:cs typeface="Calibri" pitchFamily="34" charset="-120"/>
              </a:rPr>
              <a:t>Safe slicing with action projection · constrained multi-agent slicing</a:t>
            </a:r>
            <a:endParaRPr lang="en-US" sz="1400" dirty="0"/>
          </a:p>
        </p:txBody>
      </p:sp>
      <p:pic>
        <p:nvPicPr>
          <p:cNvPr id="23" name="Image 22">
            <a:extLst>
              <a:ext uri="{FF2B5EF4-FFF2-40B4-BE49-F238E27FC236}">
                <a16:creationId xmlns:a16="http://schemas.microsoft.com/office/drawing/2014/main" id="{C6831BA4-DD73-7F09-413A-E1A9A8863BF8}"/>
              </a:ext>
            </a:extLst>
          </p:cNvPr>
          <p:cNvPicPr>
            <a:picLocks noChangeAspect="1"/>
          </p:cNvPicPr>
          <p:nvPr/>
        </p:nvPicPr>
        <p:blipFill>
          <a:blip r:embed="rId3"/>
          <a:stretch>
            <a:fillRect/>
          </a:stretch>
        </p:blipFill>
        <p:spPr>
          <a:xfrm>
            <a:off x="640080" y="1617905"/>
            <a:ext cx="6275216" cy="3978223"/>
          </a:xfrm>
          <a:prstGeom prst="rect">
            <a:avLst/>
          </a:prstGeom>
        </p:spPr>
      </p:pic>
      <p:sp>
        <p:nvSpPr>
          <p:cNvPr id="24" name="Flèche : haut 23">
            <a:extLst>
              <a:ext uri="{FF2B5EF4-FFF2-40B4-BE49-F238E27FC236}">
                <a16:creationId xmlns:a16="http://schemas.microsoft.com/office/drawing/2014/main" id="{253E929B-86E3-C1A6-2021-84F56867D4B9}"/>
              </a:ext>
            </a:extLst>
          </p:cNvPr>
          <p:cNvSpPr/>
          <p:nvPr/>
        </p:nvSpPr>
        <p:spPr>
          <a:xfrm>
            <a:off x="8258931" y="1317878"/>
            <a:ext cx="612475" cy="161314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ZoneTexte 24">
            <a:extLst>
              <a:ext uri="{FF2B5EF4-FFF2-40B4-BE49-F238E27FC236}">
                <a16:creationId xmlns:a16="http://schemas.microsoft.com/office/drawing/2014/main" id="{244FCB94-2668-2641-B971-56D87BE70D31}"/>
              </a:ext>
            </a:extLst>
          </p:cNvPr>
          <p:cNvSpPr txBox="1"/>
          <p:nvPr/>
        </p:nvSpPr>
        <p:spPr>
          <a:xfrm rot="5400000">
            <a:off x="7366096" y="2046211"/>
            <a:ext cx="1608826" cy="369332"/>
          </a:xfrm>
          <a:prstGeom prst="rect">
            <a:avLst/>
          </a:prstGeom>
          <a:noFill/>
        </p:spPr>
        <p:txBody>
          <a:bodyPr wrap="square" rtlCol="0">
            <a:spAutoFit/>
          </a:bodyPr>
          <a:lstStyle/>
          <a:p>
            <a:pPr algn="ctr"/>
            <a:r>
              <a:rPr lang="fr-FR" dirty="0"/>
              <a:t>maturity</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7510AE0-4CF3-EA5C-0B8D-72810A791E8D}"/>
              </a:ext>
            </a:extLst>
          </p:cNvPr>
          <p:cNvPicPr>
            <a:picLocks noChangeAspect="1"/>
          </p:cNvPicPr>
          <p:nvPr/>
        </p:nvPicPr>
        <p:blipFill>
          <a:blip r:embed="rId2"/>
          <a:stretch>
            <a:fillRect/>
          </a:stretch>
        </p:blipFill>
        <p:spPr>
          <a:xfrm>
            <a:off x="643467" y="1561507"/>
            <a:ext cx="10905066" cy="3734984"/>
          </a:xfrm>
          <a:prstGeom prst="rect">
            <a:avLst/>
          </a:prstGeom>
        </p:spPr>
      </p:pic>
      <p:sp>
        <p:nvSpPr>
          <p:cNvPr id="5" name="Text 5">
            <a:extLst>
              <a:ext uri="{FF2B5EF4-FFF2-40B4-BE49-F238E27FC236}">
                <a16:creationId xmlns:a16="http://schemas.microsoft.com/office/drawing/2014/main" id="{9ED62F21-548C-FB6F-FB22-BA626CAE33B2}"/>
              </a:ext>
            </a:extLst>
          </p:cNvPr>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45</a:t>
            </a:r>
            <a:endParaRPr lang="en-US" sz="1100" dirty="0"/>
          </a:p>
        </p:txBody>
      </p:sp>
    </p:spTree>
    <p:extLst>
      <p:ext uri="{BB962C8B-B14F-4D97-AF65-F5344CB8AC3E}">
        <p14:creationId xmlns:p14="http://schemas.microsoft.com/office/powerpoint/2010/main" val="2308478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Multi-agent and federated DRL in O-RAN</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Several learning xApps on shared resources need coordination by design.</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46</a:t>
            </a:r>
            <a:endParaRPr lang="en-US" sz="1100" dirty="0"/>
          </a:p>
        </p:txBody>
      </p:sp>
      <p:sp>
        <p:nvSpPr>
          <p:cNvPr id="11" name="Text 8"/>
          <p:cNvSpPr txBox="1"/>
          <p:nvPr/>
        </p:nvSpPr>
        <p:spPr>
          <a:xfrm>
            <a:off x="6477000" y="1993552"/>
            <a:ext cx="5715000" cy="2675914"/>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The xApp conflict problem</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e.g., traffic steering vs energy saving on the same resources. Answers: heterogeneous-agent PPO, digital-twin testing, xApp distillation</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Hierarchical MARL</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rApp sets budgets or goals, xApp executes; LLM-hRIC puts an LLM at the Non-RT level</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Federated DRL across vendors</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Slicing, offloading, anti-jamming. Risks: non-IID data, synchronisation overhead, poisoning</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Game-theoretic warning</a:t>
            </a:r>
            <a:endParaRPr lang="en-US" sz="1450" dirty="0"/>
          </a:p>
          <a:p>
            <a:pPr marL="0" indent="0">
              <a:spcAft>
                <a:spcPts val="900"/>
              </a:spcAft>
              <a:buNone/>
            </a:pPr>
            <a:r>
              <a:rPr lang="en-US" sz="1250" dirty="0">
                <a:solidFill>
                  <a:srgbClr val="5F7A8A"/>
                </a:solidFill>
                <a:latin typeface="Calibri" pitchFamily="34" charset="0"/>
                <a:ea typeface="Calibri" pitchFamily="34" charset="-122"/>
                <a:cs typeface="Calibri" pitchFamily="34" charset="-120"/>
              </a:rPr>
              <a:t>Matching, auctions, Stackelberg: high local rewards do not imply stable or fair joint behaviour</a:t>
            </a:r>
            <a:endParaRPr lang="en-US" sz="1450" dirty="0"/>
          </a:p>
        </p:txBody>
      </p:sp>
      <p:pic>
        <p:nvPicPr>
          <p:cNvPr id="12" name="Image 11">
            <a:extLst>
              <a:ext uri="{FF2B5EF4-FFF2-40B4-BE49-F238E27FC236}">
                <a16:creationId xmlns:a16="http://schemas.microsoft.com/office/drawing/2014/main" id="{B0386D33-0D4B-A3CE-E8C6-441CB80F3A60}"/>
              </a:ext>
            </a:extLst>
          </p:cNvPr>
          <p:cNvPicPr>
            <a:picLocks noChangeAspect="1"/>
          </p:cNvPicPr>
          <p:nvPr/>
        </p:nvPicPr>
        <p:blipFill>
          <a:blip r:embed="rId3"/>
          <a:stretch>
            <a:fillRect/>
          </a:stretch>
        </p:blipFill>
        <p:spPr>
          <a:xfrm>
            <a:off x="640080" y="1993552"/>
            <a:ext cx="5396878" cy="28708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Foundation models and agentic AI: around DRL, not instead of it</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LLMs reason and orchestrate; latency-critical radio actions stay with deterministic, auditable policies.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47</a:t>
            </a:r>
            <a:endParaRPr lang="en-US" sz="1100" dirty="0"/>
          </a:p>
        </p:txBody>
      </p:sp>
      <p:sp>
        <p:nvSpPr>
          <p:cNvPr id="11" name="Text 8"/>
          <p:cNvSpPr txBox="1"/>
          <p:nvPr/>
        </p:nvSpPr>
        <p:spPr>
          <a:xfrm>
            <a:off x="6194629" y="2328614"/>
            <a:ext cx="5715000" cy="2365363"/>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State representation</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IQFM on raw I/Q; set and graph encoders; causal O-RAN world model</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LLM-augmented DRL</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Intent → states, actions, rewards, constraints; RAG grounding (ORAN-GUIDE)</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Agentic control</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AgentRAN, LLM-hRIC; memory, tools, conflict-aware rApp orchestration</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Trajectory and world models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Decision Transformer, Mamba: learn from logs, plan before acting on the live RAN</a:t>
            </a:r>
            <a:endParaRPr lang="en-US" sz="1450" dirty="0"/>
          </a:p>
        </p:txBody>
      </p:sp>
      <p:pic>
        <p:nvPicPr>
          <p:cNvPr id="12" name="Image 11">
            <a:extLst>
              <a:ext uri="{FF2B5EF4-FFF2-40B4-BE49-F238E27FC236}">
                <a16:creationId xmlns:a16="http://schemas.microsoft.com/office/drawing/2014/main" id="{6B27A207-E766-0EE6-5AD5-71C02B9CEE22}"/>
              </a:ext>
            </a:extLst>
          </p:cNvPr>
          <p:cNvPicPr>
            <a:picLocks noChangeAspect="1"/>
          </p:cNvPicPr>
          <p:nvPr/>
        </p:nvPicPr>
        <p:blipFill>
          <a:blip r:embed="rId3"/>
          <a:stretch>
            <a:fillRect/>
          </a:stretch>
        </p:blipFill>
        <p:spPr>
          <a:xfrm>
            <a:off x="640080" y="1838151"/>
            <a:ext cx="5076143" cy="318169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Trustworthy DRL: five complementary dimensions</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Keep operational limits as explicit constraints and let the reward carry only the objective.</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48</a:t>
            </a:r>
            <a:endParaRPr lang="en-US" sz="1100" dirty="0"/>
          </a:p>
        </p:txBody>
      </p:sp>
      <p:sp>
        <p:nvSpPr>
          <p:cNvPr id="9" name="Shape 6"/>
          <p:cNvSpPr/>
          <p:nvPr/>
        </p:nvSpPr>
        <p:spPr>
          <a:xfrm>
            <a:off x="640080" y="1645920"/>
            <a:ext cx="2011680" cy="3749040"/>
          </a:xfrm>
          <a:prstGeom prst="roundRect">
            <a:avLst>
              <a:gd name="adj" fmla="val 2727"/>
            </a:avLst>
          </a:prstGeom>
          <a:solidFill>
            <a:srgbClr val="12394D"/>
          </a:solidFill>
          <a:ln w="12700">
            <a:solidFill>
              <a:srgbClr val="12394D"/>
            </a:solidFill>
            <a:prstDash val="solid"/>
          </a:ln>
        </p:spPr>
        <p:txBody>
          <a:bodyPr/>
          <a:lstStyle/>
          <a:p>
            <a:endParaRPr lang="en-US"/>
          </a:p>
        </p:txBody>
      </p:sp>
      <p:sp>
        <p:nvSpPr>
          <p:cNvPr id="10" name="Text 7"/>
          <p:cNvSpPr txBox="1"/>
          <p:nvPr/>
        </p:nvSpPr>
        <p:spPr>
          <a:xfrm>
            <a:off x="841248" y="1810512"/>
            <a:ext cx="1645920" cy="41148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Safety</a:t>
            </a:r>
            <a:endParaRPr lang="en-US" sz="1600" dirty="0"/>
          </a:p>
        </p:txBody>
      </p:sp>
      <p:sp>
        <p:nvSpPr>
          <p:cNvPr id="11" name="Text 8"/>
          <p:cNvSpPr txBox="1"/>
          <p:nvPr/>
        </p:nvSpPr>
        <p:spPr>
          <a:xfrm>
            <a:off x="841248" y="2286000"/>
            <a:ext cx="1645920" cy="594360"/>
          </a:xfrm>
          <a:prstGeom prst="rect">
            <a:avLst/>
          </a:prstGeom>
          <a:noFill/>
          <a:ln/>
        </p:spPr>
        <p:txBody>
          <a:bodyPr wrap="square" lIns="0" tIns="0" rIns="0" bIns="0" rtlCol="0" anchor="t"/>
          <a:lstStyle/>
          <a:p>
            <a:pPr marL="0" indent="0">
              <a:buNone/>
            </a:pPr>
            <a:r>
              <a:rPr lang="en-US" sz="1250" i="1" dirty="0">
                <a:solidFill>
                  <a:srgbClr val="8FD3C9"/>
                </a:solidFill>
                <a:latin typeface="Calibri" pitchFamily="34" charset="0"/>
                <a:ea typeface="Calibri" pitchFamily="34" charset="-122"/>
                <a:cs typeface="Calibri" pitchFamily="34" charset="-120"/>
              </a:rPr>
              <a:t>Fails: constraint violations</a:t>
            </a:r>
            <a:endParaRPr lang="en-US" sz="1250" dirty="0"/>
          </a:p>
        </p:txBody>
      </p:sp>
      <p:sp>
        <p:nvSpPr>
          <p:cNvPr id="12" name="Text 9"/>
          <p:cNvSpPr txBox="1"/>
          <p:nvPr/>
        </p:nvSpPr>
        <p:spPr>
          <a:xfrm>
            <a:off x="841248" y="2926080"/>
            <a:ext cx="1645920" cy="123444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CMDP, CVaR, barrier certificates, shields</a:t>
            </a:r>
            <a:endParaRPr lang="en-US" sz="1250" dirty="0"/>
          </a:p>
        </p:txBody>
      </p:sp>
      <p:sp>
        <p:nvSpPr>
          <p:cNvPr id="13" name="Text 10"/>
          <p:cNvSpPr txBox="1"/>
          <p:nvPr/>
        </p:nvSpPr>
        <p:spPr>
          <a:xfrm>
            <a:off x="841248" y="4251960"/>
            <a:ext cx="1645920" cy="1005840"/>
          </a:xfrm>
          <a:prstGeom prst="rect">
            <a:avLst/>
          </a:prstGeom>
          <a:noFill/>
          <a:ln/>
        </p:spPr>
        <p:txBody>
          <a:bodyPr wrap="square" lIns="0" tIns="0" rIns="0" bIns="0" rtlCol="0" anchor="t"/>
          <a:lstStyle/>
          <a:p>
            <a:pPr marL="0" indent="0">
              <a:buNone/>
            </a:pPr>
            <a:r>
              <a:rPr lang="en-US" sz="1200" dirty="0">
                <a:solidFill>
                  <a:srgbClr val="C3D3DD"/>
                </a:solidFill>
                <a:latin typeface="Calibri" pitchFamily="34" charset="0"/>
                <a:ea typeface="Calibri" pitchFamily="34" charset="-122"/>
                <a:cs typeface="Calibri" pitchFamily="34" charset="-120"/>
              </a:rPr>
              <a:t>e.g., SafeSlice; 2OffRAN (offline + OPE)</a:t>
            </a:r>
            <a:endParaRPr lang="en-US" sz="1200" dirty="0"/>
          </a:p>
        </p:txBody>
      </p:sp>
      <p:sp>
        <p:nvSpPr>
          <p:cNvPr id="14" name="Shape 11"/>
          <p:cNvSpPr/>
          <p:nvPr/>
        </p:nvSpPr>
        <p:spPr>
          <a:xfrm>
            <a:off x="2857500" y="1645920"/>
            <a:ext cx="2011680" cy="374904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15" name="Text 12"/>
          <p:cNvSpPr txBox="1"/>
          <p:nvPr/>
        </p:nvSpPr>
        <p:spPr>
          <a:xfrm>
            <a:off x="3058668" y="1810512"/>
            <a:ext cx="16459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Fairness</a:t>
            </a:r>
            <a:endParaRPr lang="en-US" sz="1600" dirty="0"/>
          </a:p>
        </p:txBody>
      </p:sp>
      <p:sp>
        <p:nvSpPr>
          <p:cNvPr id="16" name="Text 13"/>
          <p:cNvSpPr txBox="1"/>
          <p:nvPr/>
        </p:nvSpPr>
        <p:spPr>
          <a:xfrm>
            <a:off x="3058668" y="2286000"/>
            <a:ext cx="1645920" cy="594360"/>
          </a:xfrm>
          <a:prstGeom prst="rect">
            <a:avLst/>
          </a:prstGeom>
          <a:noFill/>
          <a:ln/>
        </p:spPr>
        <p:txBody>
          <a:bodyPr wrap="square" lIns="0" tIns="0" rIns="0" bIns="0" rtlCol="0" anchor="t"/>
          <a:lstStyle/>
          <a:p>
            <a:pPr marL="0" indent="0">
              <a:buNone/>
            </a:pPr>
            <a:r>
              <a:rPr lang="en-US" sz="1250" i="1" dirty="0">
                <a:solidFill>
                  <a:srgbClr val="1A8A99"/>
                </a:solidFill>
                <a:latin typeface="Calibri" pitchFamily="34" charset="0"/>
                <a:ea typeface="Calibri" pitchFamily="34" charset="-122"/>
                <a:cs typeface="Calibri" pitchFamily="34" charset="-120"/>
              </a:rPr>
              <a:t>Fails: starved edge UEs or slices</a:t>
            </a:r>
            <a:endParaRPr lang="en-US" sz="1250" dirty="0"/>
          </a:p>
        </p:txBody>
      </p:sp>
      <p:sp>
        <p:nvSpPr>
          <p:cNvPr id="17" name="Text 14"/>
          <p:cNvSpPr txBox="1"/>
          <p:nvPr/>
        </p:nvSpPr>
        <p:spPr>
          <a:xfrm>
            <a:off x="3058668" y="2926080"/>
            <a:ext cx="1645920" cy="12344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α-fairness, Jain index, welfare objectives</a:t>
            </a:r>
            <a:endParaRPr lang="en-US" sz="1250" dirty="0"/>
          </a:p>
        </p:txBody>
      </p:sp>
      <p:sp>
        <p:nvSpPr>
          <p:cNvPr id="18" name="Text 15"/>
          <p:cNvSpPr txBox="1"/>
          <p:nvPr/>
        </p:nvSpPr>
        <p:spPr>
          <a:xfrm>
            <a:off x="3058668" y="4251960"/>
            <a:ext cx="1645920" cy="1005840"/>
          </a:xfrm>
          <a:prstGeom prst="rect">
            <a:avLst/>
          </a:prstGeom>
          <a:noFill/>
          <a:ln/>
        </p:spPr>
        <p:txBody>
          <a:bodyPr wrap="square" lIns="0" tIns="0" rIns="0" bIns="0" rtlCol="0" anchor="t"/>
          <a:lstStyle/>
          <a:p>
            <a:pPr marL="0" indent="0">
              <a:buNone/>
            </a:pPr>
            <a:r>
              <a:rPr lang="en-US" sz="1200" dirty="0">
                <a:solidFill>
                  <a:srgbClr val="5F7A8A"/>
                </a:solidFill>
                <a:latin typeface="Calibri" pitchFamily="34" charset="0"/>
                <a:ea typeface="Calibri" pitchFamily="34" charset="-122"/>
                <a:cs typeface="Calibri" pitchFamily="34" charset="-120"/>
              </a:rPr>
              <a:t>e.g., PPO vs TD3: throughput vs evenness</a:t>
            </a:r>
            <a:endParaRPr lang="en-US" sz="1200" dirty="0"/>
          </a:p>
        </p:txBody>
      </p:sp>
      <p:sp>
        <p:nvSpPr>
          <p:cNvPr id="19" name="Shape 16"/>
          <p:cNvSpPr/>
          <p:nvPr/>
        </p:nvSpPr>
        <p:spPr>
          <a:xfrm>
            <a:off x="5074920" y="1645920"/>
            <a:ext cx="2011680" cy="374904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0" name="Text 17"/>
          <p:cNvSpPr txBox="1"/>
          <p:nvPr/>
        </p:nvSpPr>
        <p:spPr>
          <a:xfrm>
            <a:off x="5276088" y="1810512"/>
            <a:ext cx="16459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Explainability</a:t>
            </a:r>
            <a:endParaRPr lang="en-US" sz="1600" dirty="0"/>
          </a:p>
        </p:txBody>
      </p:sp>
      <p:sp>
        <p:nvSpPr>
          <p:cNvPr id="21" name="Text 18"/>
          <p:cNvSpPr txBox="1"/>
          <p:nvPr/>
        </p:nvSpPr>
        <p:spPr>
          <a:xfrm>
            <a:off x="5276088" y="2286000"/>
            <a:ext cx="1645920" cy="594360"/>
          </a:xfrm>
          <a:prstGeom prst="rect">
            <a:avLst/>
          </a:prstGeom>
          <a:noFill/>
          <a:ln/>
        </p:spPr>
        <p:txBody>
          <a:bodyPr wrap="square" lIns="0" tIns="0" rIns="0" bIns="0" rtlCol="0" anchor="t"/>
          <a:lstStyle/>
          <a:p>
            <a:pPr marL="0" indent="0">
              <a:buNone/>
            </a:pPr>
            <a:r>
              <a:rPr lang="en-US" sz="1250" i="1" dirty="0">
                <a:solidFill>
                  <a:srgbClr val="1A8A99"/>
                </a:solidFill>
                <a:latin typeface="Calibri" pitchFamily="34" charset="0"/>
                <a:ea typeface="Calibri" pitchFamily="34" charset="-122"/>
                <a:cs typeface="Calibri" pitchFamily="34" charset="-120"/>
              </a:rPr>
              <a:t>Fails: no accountability</a:t>
            </a:r>
            <a:endParaRPr lang="en-US" sz="1250" dirty="0"/>
          </a:p>
        </p:txBody>
      </p:sp>
      <p:sp>
        <p:nvSpPr>
          <p:cNvPr id="22" name="Text 19"/>
          <p:cNvSpPr txBox="1"/>
          <p:nvPr/>
        </p:nvSpPr>
        <p:spPr>
          <a:xfrm>
            <a:off x="5276088" y="2926080"/>
            <a:ext cx="1645920" cy="12344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Attribution, explanation-guided training, symbolic policies</a:t>
            </a:r>
            <a:endParaRPr lang="en-US" sz="1250" dirty="0"/>
          </a:p>
        </p:txBody>
      </p:sp>
      <p:sp>
        <p:nvSpPr>
          <p:cNvPr id="23" name="Text 20"/>
          <p:cNvSpPr txBox="1"/>
          <p:nvPr/>
        </p:nvSpPr>
        <p:spPr>
          <a:xfrm>
            <a:off x="5276088" y="4251960"/>
            <a:ext cx="1645920" cy="1005840"/>
          </a:xfrm>
          <a:prstGeom prst="rect">
            <a:avLst/>
          </a:prstGeom>
          <a:noFill/>
          <a:ln/>
        </p:spPr>
        <p:txBody>
          <a:bodyPr wrap="square" lIns="0" tIns="0" rIns="0" bIns="0" rtlCol="0" anchor="t"/>
          <a:lstStyle/>
          <a:p>
            <a:pPr marL="0" indent="0">
              <a:buNone/>
            </a:pPr>
            <a:r>
              <a:rPr lang="en-US" sz="1200" dirty="0">
                <a:solidFill>
                  <a:srgbClr val="5F7A8A"/>
                </a:solidFill>
                <a:latin typeface="Calibri" pitchFamily="34" charset="0"/>
                <a:ea typeface="Calibri" pitchFamily="34" charset="-122"/>
                <a:cs typeface="Calibri" pitchFamily="34" charset="-120"/>
              </a:rPr>
              <a:t>e.g., EXPLORA, SymbXRL</a:t>
            </a:r>
            <a:endParaRPr lang="en-US" sz="1200" dirty="0"/>
          </a:p>
        </p:txBody>
      </p:sp>
      <p:sp>
        <p:nvSpPr>
          <p:cNvPr id="24" name="Shape 21"/>
          <p:cNvSpPr/>
          <p:nvPr/>
        </p:nvSpPr>
        <p:spPr>
          <a:xfrm>
            <a:off x="7292340" y="1645920"/>
            <a:ext cx="2011680" cy="374904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25" name="Text 22"/>
          <p:cNvSpPr txBox="1"/>
          <p:nvPr/>
        </p:nvSpPr>
        <p:spPr>
          <a:xfrm>
            <a:off x="7493508" y="1810512"/>
            <a:ext cx="16459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Robustness</a:t>
            </a:r>
            <a:endParaRPr lang="en-US" sz="1600" dirty="0"/>
          </a:p>
        </p:txBody>
      </p:sp>
      <p:sp>
        <p:nvSpPr>
          <p:cNvPr id="26" name="Text 23"/>
          <p:cNvSpPr txBox="1"/>
          <p:nvPr/>
        </p:nvSpPr>
        <p:spPr>
          <a:xfrm>
            <a:off x="7493508" y="2286000"/>
            <a:ext cx="1645920" cy="594360"/>
          </a:xfrm>
          <a:prstGeom prst="rect">
            <a:avLst/>
          </a:prstGeom>
          <a:noFill/>
          <a:ln/>
        </p:spPr>
        <p:txBody>
          <a:bodyPr wrap="square" lIns="0" tIns="0" rIns="0" bIns="0" rtlCol="0" anchor="t"/>
          <a:lstStyle/>
          <a:p>
            <a:pPr marL="0" indent="0">
              <a:buNone/>
            </a:pPr>
            <a:r>
              <a:rPr lang="en-US" sz="1250" i="1" dirty="0">
                <a:solidFill>
                  <a:srgbClr val="1A8A99"/>
                </a:solidFill>
                <a:latin typeface="Calibri" pitchFamily="34" charset="0"/>
                <a:ea typeface="Calibri" pitchFamily="34" charset="-122"/>
                <a:cs typeface="Calibri" pitchFamily="34" charset="-120"/>
              </a:rPr>
              <a:t>Fails: shift, poisoned telemetry</a:t>
            </a:r>
            <a:endParaRPr lang="en-US" sz="1250" dirty="0"/>
          </a:p>
        </p:txBody>
      </p:sp>
      <p:sp>
        <p:nvSpPr>
          <p:cNvPr id="27" name="Text 24"/>
          <p:cNvSpPr txBox="1"/>
          <p:nvPr/>
        </p:nvSpPr>
        <p:spPr>
          <a:xfrm>
            <a:off x="7493508" y="2926080"/>
            <a:ext cx="1645920" cy="12344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Randomisation, adversarial training, anomaly detection</a:t>
            </a:r>
            <a:endParaRPr lang="en-US" sz="1250" dirty="0"/>
          </a:p>
        </p:txBody>
      </p:sp>
      <p:sp>
        <p:nvSpPr>
          <p:cNvPr id="28" name="Text 25"/>
          <p:cNvSpPr txBox="1"/>
          <p:nvPr/>
        </p:nvSpPr>
        <p:spPr>
          <a:xfrm>
            <a:off x="7493508" y="4251960"/>
            <a:ext cx="1645920" cy="1005840"/>
          </a:xfrm>
          <a:prstGeom prst="rect">
            <a:avLst/>
          </a:prstGeom>
          <a:noFill/>
          <a:ln/>
        </p:spPr>
        <p:txBody>
          <a:bodyPr wrap="square" lIns="0" tIns="0" rIns="0" bIns="0" rtlCol="0" anchor="t"/>
          <a:lstStyle/>
          <a:p>
            <a:pPr marL="0" indent="0">
              <a:buNone/>
            </a:pPr>
            <a:r>
              <a:rPr lang="en-US" sz="1200" dirty="0">
                <a:solidFill>
                  <a:srgbClr val="5F7A8A"/>
                </a:solidFill>
                <a:latin typeface="Calibri" pitchFamily="34" charset="0"/>
                <a:ea typeface="Calibri" pitchFamily="34" charset="-122"/>
                <a:cs typeface="Calibri" pitchFamily="34" charset="-120"/>
              </a:rPr>
              <a:t>e.g., Malicious-xApp attacks</a:t>
            </a:r>
            <a:endParaRPr lang="en-US" sz="1200" dirty="0"/>
          </a:p>
        </p:txBody>
      </p:sp>
      <p:sp>
        <p:nvSpPr>
          <p:cNvPr id="29" name="Shape 26"/>
          <p:cNvSpPr/>
          <p:nvPr/>
        </p:nvSpPr>
        <p:spPr>
          <a:xfrm>
            <a:off x="9509760" y="1645920"/>
            <a:ext cx="2011680" cy="3749040"/>
          </a:xfrm>
          <a:prstGeom prst="roundRect">
            <a:avLst>
              <a:gd name="adj" fmla="val 2727"/>
            </a:avLst>
          </a:prstGeom>
          <a:solidFill>
            <a:srgbClr val="F0F5F7"/>
          </a:solidFill>
          <a:ln w="12700">
            <a:solidFill>
              <a:srgbClr val="F0F5F7"/>
            </a:solidFill>
            <a:prstDash val="solid"/>
          </a:ln>
        </p:spPr>
        <p:txBody>
          <a:bodyPr/>
          <a:lstStyle/>
          <a:p>
            <a:endParaRPr lang="en-US"/>
          </a:p>
        </p:txBody>
      </p:sp>
      <p:sp>
        <p:nvSpPr>
          <p:cNvPr id="30" name="Text 27"/>
          <p:cNvSpPr txBox="1"/>
          <p:nvPr/>
        </p:nvSpPr>
        <p:spPr>
          <a:xfrm>
            <a:off x="9710928" y="1810512"/>
            <a:ext cx="16459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Verification</a:t>
            </a:r>
            <a:endParaRPr lang="en-US" sz="1600" dirty="0"/>
          </a:p>
        </p:txBody>
      </p:sp>
      <p:sp>
        <p:nvSpPr>
          <p:cNvPr id="31" name="Text 28"/>
          <p:cNvSpPr txBox="1"/>
          <p:nvPr/>
        </p:nvSpPr>
        <p:spPr>
          <a:xfrm>
            <a:off x="9710928" y="2286000"/>
            <a:ext cx="1645920" cy="594360"/>
          </a:xfrm>
          <a:prstGeom prst="rect">
            <a:avLst/>
          </a:prstGeom>
          <a:noFill/>
          <a:ln/>
        </p:spPr>
        <p:txBody>
          <a:bodyPr wrap="square" lIns="0" tIns="0" rIns="0" bIns="0" rtlCol="0" anchor="t"/>
          <a:lstStyle/>
          <a:p>
            <a:pPr marL="0" indent="0">
              <a:buNone/>
            </a:pPr>
            <a:r>
              <a:rPr lang="en-US" sz="1250" i="1" dirty="0">
                <a:solidFill>
                  <a:srgbClr val="1A8A99"/>
                </a:solidFill>
                <a:latin typeface="Calibri" pitchFamily="34" charset="0"/>
                <a:ea typeface="Calibri" pitchFamily="34" charset="-122"/>
                <a:cs typeface="Calibri" pitchFamily="34" charset="-120"/>
              </a:rPr>
              <a:t>Fails: undetected runtime faults</a:t>
            </a:r>
            <a:endParaRPr lang="en-US" sz="1250" dirty="0"/>
          </a:p>
        </p:txBody>
      </p:sp>
      <p:sp>
        <p:nvSpPr>
          <p:cNvPr id="32" name="Text 29"/>
          <p:cNvSpPr txBox="1"/>
          <p:nvPr/>
        </p:nvSpPr>
        <p:spPr>
          <a:xfrm>
            <a:off x="9710928" y="2926080"/>
            <a:ext cx="1645920" cy="12344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Formal checks, runtime shields, fallback, conflict detection</a:t>
            </a:r>
            <a:endParaRPr lang="en-US" sz="1250" dirty="0"/>
          </a:p>
        </p:txBody>
      </p:sp>
      <p:sp>
        <p:nvSpPr>
          <p:cNvPr id="33" name="Text 30"/>
          <p:cNvSpPr txBox="1"/>
          <p:nvPr/>
        </p:nvSpPr>
        <p:spPr>
          <a:xfrm>
            <a:off x="9710928" y="4251960"/>
            <a:ext cx="1645920" cy="1005840"/>
          </a:xfrm>
          <a:prstGeom prst="rect">
            <a:avLst/>
          </a:prstGeom>
          <a:noFill/>
          <a:ln/>
        </p:spPr>
        <p:txBody>
          <a:bodyPr wrap="square" lIns="0" tIns="0" rIns="0" bIns="0" rtlCol="0" anchor="t"/>
          <a:lstStyle/>
          <a:p>
            <a:pPr marL="0" indent="0">
              <a:buNone/>
            </a:pPr>
            <a:r>
              <a:rPr lang="en-US" sz="1200" dirty="0">
                <a:solidFill>
                  <a:srgbClr val="5F7A8A"/>
                </a:solidFill>
                <a:latin typeface="Calibri" pitchFamily="34" charset="0"/>
                <a:ea typeface="Calibri" pitchFamily="34" charset="-122"/>
                <a:cs typeface="Calibri" pitchFamily="34" charset="-120"/>
              </a:rPr>
              <a:t>e.g., PRISM-checked cell-switching xApp</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From training to deployment</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The survey's first research direction: conservative offline RL, then constrained online fine-tuning.</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10</a:t>
            </a:r>
            <a:endParaRPr lang="en-US" sz="1100" dirty="0"/>
          </a:p>
        </p:txBody>
      </p:sp>
      <p:sp>
        <p:nvSpPr>
          <p:cNvPr id="9" name="Shape 6"/>
          <p:cNvSpPr/>
          <p:nvPr/>
        </p:nvSpPr>
        <p:spPr>
          <a:xfrm>
            <a:off x="640080" y="1645920"/>
            <a:ext cx="3474720" cy="1463040"/>
          </a:xfrm>
          <a:prstGeom prst="roundRect">
            <a:avLst>
              <a:gd name="adj" fmla="val 3750"/>
            </a:avLst>
          </a:prstGeom>
          <a:solidFill>
            <a:srgbClr val="12394D"/>
          </a:solidFill>
          <a:ln w="12700">
            <a:solidFill>
              <a:srgbClr val="12394D"/>
            </a:solidFill>
            <a:prstDash val="solid"/>
          </a:ln>
        </p:spPr>
        <p:txBody>
          <a:bodyPr/>
          <a:lstStyle/>
          <a:p>
            <a:endParaRPr lang="en-US"/>
          </a:p>
        </p:txBody>
      </p:sp>
      <p:sp>
        <p:nvSpPr>
          <p:cNvPr id="10" name="Text 7"/>
          <p:cNvSpPr txBox="1"/>
          <p:nvPr/>
        </p:nvSpPr>
        <p:spPr>
          <a:xfrm>
            <a:off x="868680" y="1810512"/>
            <a:ext cx="3017520" cy="41148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Offline</a:t>
            </a:r>
            <a:endParaRPr lang="en-US" sz="1600" dirty="0"/>
          </a:p>
        </p:txBody>
      </p:sp>
      <p:sp>
        <p:nvSpPr>
          <p:cNvPr id="11" name="Text 8"/>
          <p:cNvSpPr txBox="1"/>
          <p:nvPr/>
        </p:nvSpPr>
        <p:spPr>
          <a:xfrm>
            <a:off x="868680" y="2194560"/>
            <a:ext cx="3017520" cy="804672"/>
          </a:xfrm>
          <a:prstGeom prst="rect">
            <a:avLst/>
          </a:prstGeom>
          <a:noFill/>
          <a:ln/>
        </p:spPr>
        <p:txBody>
          <a:bodyPr wrap="square" lIns="0" tIns="0" rIns="0" bIns="0" rtlCol="0" anchor="t"/>
          <a:lstStyle/>
          <a:p>
            <a:pPr marL="0" indent="0">
              <a:buNone/>
            </a:pPr>
            <a:r>
              <a:rPr lang="en-US" sz="1250" dirty="0">
                <a:solidFill>
                  <a:srgbClr val="C3D3DD"/>
                </a:solidFill>
                <a:latin typeface="Calibri" pitchFamily="34" charset="0"/>
                <a:ea typeface="Calibri" pitchFamily="34" charset="-122"/>
                <a:cs typeface="Calibri" pitchFamily="34" charset="-120"/>
              </a:rPr>
              <a:t>Logs → policy. Needs trajectory reconstruction, delay alignment, behaviour-policy provenance (2OffRAN, SafeSlice)</a:t>
            </a:r>
            <a:endParaRPr lang="en-US" sz="1250" dirty="0"/>
          </a:p>
        </p:txBody>
      </p:sp>
      <p:sp>
        <p:nvSpPr>
          <p:cNvPr id="12" name="Shape 9"/>
          <p:cNvSpPr/>
          <p:nvPr/>
        </p:nvSpPr>
        <p:spPr>
          <a:xfrm>
            <a:off x="4343400" y="1645920"/>
            <a:ext cx="3474720" cy="1463040"/>
          </a:xfrm>
          <a:prstGeom prst="roundRect">
            <a:avLst>
              <a:gd name="adj" fmla="val 3750"/>
            </a:avLst>
          </a:prstGeom>
          <a:solidFill>
            <a:srgbClr val="F0F5F7"/>
          </a:solidFill>
          <a:ln w="12700">
            <a:solidFill>
              <a:srgbClr val="F0F5F7"/>
            </a:solidFill>
            <a:prstDash val="solid"/>
          </a:ln>
        </p:spPr>
        <p:txBody>
          <a:bodyPr/>
          <a:lstStyle/>
          <a:p>
            <a:endParaRPr lang="en-US"/>
          </a:p>
        </p:txBody>
      </p:sp>
      <p:sp>
        <p:nvSpPr>
          <p:cNvPr id="13" name="Text 10"/>
          <p:cNvSpPr txBox="1"/>
          <p:nvPr/>
        </p:nvSpPr>
        <p:spPr>
          <a:xfrm>
            <a:off x="4572000" y="1810512"/>
            <a:ext cx="30175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Online</a:t>
            </a:r>
            <a:endParaRPr lang="en-US" sz="1600" dirty="0"/>
          </a:p>
        </p:txBody>
      </p:sp>
      <p:sp>
        <p:nvSpPr>
          <p:cNvPr id="14" name="Text 11"/>
          <p:cNvSpPr txBox="1"/>
          <p:nvPr/>
        </p:nvSpPr>
        <p:spPr>
          <a:xfrm>
            <a:off x="4572000" y="2194560"/>
            <a:ext cx="3017520" cy="804672"/>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Only in simulators, emulators or testbeds (ns-O-RAN, ColO-RAN, OpenRAN Gym), never on a live RAN</a:t>
            </a:r>
            <a:endParaRPr lang="en-US" sz="1250" dirty="0"/>
          </a:p>
        </p:txBody>
      </p:sp>
      <p:sp>
        <p:nvSpPr>
          <p:cNvPr id="15" name="Shape 12"/>
          <p:cNvSpPr/>
          <p:nvPr/>
        </p:nvSpPr>
        <p:spPr>
          <a:xfrm>
            <a:off x="8046720" y="1645920"/>
            <a:ext cx="3474720" cy="1463040"/>
          </a:xfrm>
          <a:prstGeom prst="roundRect">
            <a:avLst>
              <a:gd name="adj" fmla="val 3750"/>
            </a:avLst>
          </a:prstGeom>
          <a:solidFill>
            <a:srgbClr val="F0F5F7"/>
          </a:solidFill>
          <a:ln w="12700">
            <a:solidFill>
              <a:srgbClr val="F0F5F7"/>
            </a:solidFill>
            <a:prstDash val="solid"/>
          </a:ln>
        </p:spPr>
        <p:txBody>
          <a:bodyPr/>
          <a:lstStyle/>
          <a:p>
            <a:endParaRPr lang="en-US"/>
          </a:p>
        </p:txBody>
      </p:sp>
      <p:sp>
        <p:nvSpPr>
          <p:cNvPr id="16" name="Text 13"/>
          <p:cNvSpPr txBox="1"/>
          <p:nvPr/>
        </p:nvSpPr>
        <p:spPr>
          <a:xfrm>
            <a:off x="8275320" y="1810512"/>
            <a:ext cx="30175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Hybrid</a:t>
            </a:r>
            <a:endParaRPr lang="en-US" sz="1600" dirty="0"/>
          </a:p>
        </p:txBody>
      </p:sp>
      <p:sp>
        <p:nvSpPr>
          <p:cNvPr id="17" name="Text 14"/>
          <p:cNvSpPr txBox="1"/>
          <p:nvPr/>
        </p:nvSpPr>
        <p:spPr>
          <a:xfrm>
            <a:off x="8275320" y="2194560"/>
            <a:ext cx="3017520" cy="804672"/>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Pre-train offline or in simulation, validate on a testbed, adapt under constraints and shields</a:t>
            </a:r>
            <a:endParaRPr lang="en-US" sz="1250" dirty="0"/>
          </a:p>
        </p:txBody>
      </p:sp>
      <p:sp>
        <p:nvSpPr>
          <p:cNvPr id="18" name="Text 15"/>
          <p:cNvSpPr txBox="1"/>
          <p:nvPr/>
        </p:nvSpPr>
        <p:spPr>
          <a:xfrm>
            <a:off x="640080" y="3291840"/>
            <a:ext cx="10881360" cy="365760"/>
          </a:xfrm>
          <a:prstGeom prst="rect">
            <a:avLst/>
          </a:prstGeom>
          <a:noFill/>
          <a:ln/>
        </p:spPr>
        <p:txBody>
          <a:bodyPr wrap="square" lIns="0" tIns="0" rIns="0" bIns="0" rtlCol="0" anchor="t"/>
          <a:lstStyle/>
          <a:p>
            <a:pPr marL="0" indent="0">
              <a:buNone/>
            </a:pPr>
            <a:r>
              <a:rPr lang="en-US" sz="1350" b="1" dirty="0">
                <a:solidFill>
                  <a:srgbClr val="12394D"/>
                </a:solidFill>
                <a:latin typeface="Calibri" pitchFamily="34" charset="0"/>
                <a:ea typeface="Calibri" pitchFamily="34" charset="-122"/>
                <a:cs typeface="Calibri" pitchFamily="34" charset="-120"/>
              </a:rPr>
              <a:t>Sim-to-real in four stages:  </a:t>
            </a:r>
            <a:r>
              <a:rPr lang="en-US" sz="1350" dirty="0">
                <a:solidFill>
                  <a:srgbClr val="2A3F4C"/>
                </a:solidFill>
                <a:latin typeface="Calibri" pitchFamily="34" charset="0"/>
                <a:ea typeface="Calibri" pitchFamily="34" charset="-122"/>
                <a:cs typeface="Calibri" pitchFamily="34" charset="-120"/>
              </a:rPr>
              <a:t>domain randomisation  →  system identification  →  digital twin (OpenTwin about 96 % KPM accuracy)  →  shadow deployment</a:t>
            </a:r>
            <a:endParaRPr lang="en-US" sz="1350" dirty="0"/>
          </a:p>
        </p:txBody>
      </p:sp>
      <p:sp>
        <p:nvSpPr>
          <p:cNvPr id="19" name="Text 16"/>
          <p:cNvSpPr txBox="1"/>
          <p:nvPr/>
        </p:nvSpPr>
        <p:spPr>
          <a:xfrm>
            <a:off x="640080" y="3794760"/>
            <a:ext cx="54864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RECOMMENDED PIPELINE</a:t>
            </a:r>
            <a:endParaRPr lang="en-US" sz="1200" dirty="0"/>
          </a:p>
        </p:txBody>
      </p:sp>
      <p:sp>
        <p:nvSpPr>
          <p:cNvPr id="20" name="Shape 17"/>
          <p:cNvSpPr/>
          <p:nvPr/>
        </p:nvSpPr>
        <p:spPr>
          <a:xfrm>
            <a:off x="640080" y="4114800"/>
            <a:ext cx="1874520" cy="685800"/>
          </a:xfrm>
          <a:prstGeom prst="roundRect">
            <a:avLst>
              <a:gd name="adj" fmla="val 8000"/>
            </a:avLst>
          </a:prstGeom>
          <a:solidFill>
            <a:srgbClr val="FFFFFF"/>
          </a:solidFill>
          <a:ln w="12700">
            <a:solidFill>
              <a:srgbClr val="1A8A99"/>
            </a:solidFill>
            <a:prstDash val="solid"/>
          </a:ln>
        </p:spPr>
        <p:txBody>
          <a:bodyPr/>
          <a:lstStyle/>
          <a:p>
            <a:endParaRPr lang="en-US"/>
          </a:p>
        </p:txBody>
      </p:sp>
      <p:sp>
        <p:nvSpPr>
          <p:cNvPr id="21" name="Text 18"/>
          <p:cNvSpPr txBox="1"/>
          <p:nvPr/>
        </p:nvSpPr>
        <p:spPr>
          <a:xfrm>
            <a:off x="713232" y="4114800"/>
            <a:ext cx="1728216" cy="685800"/>
          </a:xfrm>
          <a:prstGeom prst="rect">
            <a:avLst/>
          </a:prstGeom>
          <a:noFill/>
          <a:ln/>
        </p:spPr>
        <p:txBody>
          <a:bodyPr wrap="square" lIns="0" tIns="0" rIns="0" bIns="0" rtlCol="0" anchor="ctr"/>
          <a:lstStyle/>
          <a:p>
            <a:pPr marL="0" indent="0" algn="ctr">
              <a:buNone/>
            </a:pPr>
            <a:r>
              <a:rPr lang="en-US" sz="1300" b="1" dirty="0">
                <a:solidFill>
                  <a:srgbClr val="12394D"/>
                </a:solidFill>
                <a:latin typeface="Calibri" pitchFamily="34" charset="0"/>
                <a:ea typeface="Calibri" pitchFamily="34" charset="-122"/>
                <a:cs typeface="Calibri" pitchFamily="34" charset="-120"/>
              </a:rPr>
              <a:t>Network logs</a:t>
            </a:r>
            <a:endParaRPr lang="en-US" sz="1300" dirty="0"/>
          </a:p>
        </p:txBody>
      </p:sp>
      <p:sp>
        <p:nvSpPr>
          <p:cNvPr id="22" name="Shape 19"/>
          <p:cNvSpPr/>
          <p:nvPr/>
        </p:nvSpPr>
        <p:spPr>
          <a:xfrm>
            <a:off x="2569464" y="4457700"/>
            <a:ext cx="265176" cy="0"/>
          </a:xfrm>
          <a:prstGeom prst="line">
            <a:avLst/>
          </a:prstGeom>
          <a:noFill/>
          <a:ln w="19050">
            <a:solidFill>
              <a:srgbClr val="1A8A99"/>
            </a:solidFill>
            <a:prstDash val="solid"/>
            <a:tailEnd type="triangle"/>
          </a:ln>
        </p:spPr>
        <p:txBody>
          <a:bodyPr/>
          <a:lstStyle/>
          <a:p>
            <a:endParaRPr lang="en-US"/>
          </a:p>
        </p:txBody>
      </p:sp>
      <p:sp>
        <p:nvSpPr>
          <p:cNvPr id="23" name="Shape 20"/>
          <p:cNvSpPr/>
          <p:nvPr/>
        </p:nvSpPr>
        <p:spPr>
          <a:xfrm>
            <a:off x="2889504" y="4114800"/>
            <a:ext cx="1874520" cy="685800"/>
          </a:xfrm>
          <a:prstGeom prst="roundRect">
            <a:avLst>
              <a:gd name="adj" fmla="val 8000"/>
            </a:avLst>
          </a:prstGeom>
          <a:solidFill>
            <a:srgbClr val="12394D"/>
          </a:solidFill>
          <a:ln w="12700">
            <a:solidFill>
              <a:srgbClr val="12394D"/>
            </a:solidFill>
            <a:prstDash val="solid"/>
          </a:ln>
        </p:spPr>
        <p:txBody>
          <a:bodyPr/>
          <a:lstStyle/>
          <a:p>
            <a:endParaRPr lang="en-US"/>
          </a:p>
        </p:txBody>
      </p:sp>
      <p:sp>
        <p:nvSpPr>
          <p:cNvPr id="24" name="Text 21"/>
          <p:cNvSpPr txBox="1"/>
          <p:nvPr/>
        </p:nvSpPr>
        <p:spPr>
          <a:xfrm>
            <a:off x="2962656" y="4114800"/>
            <a:ext cx="172821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Offline pre-training</a:t>
            </a:r>
            <a:endParaRPr lang="en-US" sz="1300" dirty="0"/>
          </a:p>
        </p:txBody>
      </p:sp>
      <p:sp>
        <p:nvSpPr>
          <p:cNvPr id="25" name="Shape 22"/>
          <p:cNvSpPr/>
          <p:nvPr/>
        </p:nvSpPr>
        <p:spPr>
          <a:xfrm>
            <a:off x="4818888" y="4457700"/>
            <a:ext cx="265176" cy="0"/>
          </a:xfrm>
          <a:prstGeom prst="line">
            <a:avLst/>
          </a:prstGeom>
          <a:noFill/>
          <a:ln w="19050">
            <a:solidFill>
              <a:srgbClr val="1A8A99"/>
            </a:solidFill>
            <a:prstDash val="solid"/>
            <a:tailEnd type="triangle"/>
          </a:ln>
        </p:spPr>
        <p:txBody>
          <a:bodyPr/>
          <a:lstStyle/>
          <a:p>
            <a:endParaRPr lang="en-US"/>
          </a:p>
        </p:txBody>
      </p:sp>
      <p:sp>
        <p:nvSpPr>
          <p:cNvPr id="26" name="Shape 23"/>
          <p:cNvSpPr/>
          <p:nvPr/>
        </p:nvSpPr>
        <p:spPr>
          <a:xfrm>
            <a:off x="5138928" y="4114800"/>
            <a:ext cx="1874520" cy="685800"/>
          </a:xfrm>
          <a:prstGeom prst="roundRect">
            <a:avLst>
              <a:gd name="adj" fmla="val 8000"/>
            </a:avLst>
          </a:prstGeom>
          <a:solidFill>
            <a:srgbClr val="FFFFFF"/>
          </a:solidFill>
          <a:ln w="12700">
            <a:solidFill>
              <a:srgbClr val="1A8A99"/>
            </a:solidFill>
            <a:prstDash val="solid"/>
          </a:ln>
        </p:spPr>
        <p:txBody>
          <a:bodyPr/>
          <a:lstStyle/>
          <a:p>
            <a:endParaRPr lang="en-US"/>
          </a:p>
        </p:txBody>
      </p:sp>
      <p:sp>
        <p:nvSpPr>
          <p:cNvPr id="27" name="Text 24"/>
          <p:cNvSpPr txBox="1"/>
          <p:nvPr/>
        </p:nvSpPr>
        <p:spPr>
          <a:xfrm>
            <a:off x="5212080" y="4114800"/>
            <a:ext cx="1728216" cy="685800"/>
          </a:xfrm>
          <a:prstGeom prst="rect">
            <a:avLst/>
          </a:prstGeom>
          <a:noFill/>
          <a:ln/>
        </p:spPr>
        <p:txBody>
          <a:bodyPr wrap="square" lIns="0" tIns="0" rIns="0" bIns="0" rtlCol="0" anchor="ctr"/>
          <a:lstStyle/>
          <a:p>
            <a:pPr marL="0" indent="0" algn="ctr">
              <a:buNone/>
            </a:pPr>
            <a:r>
              <a:rPr lang="en-US" sz="1300" b="1" dirty="0">
                <a:solidFill>
                  <a:srgbClr val="12394D"/>
                </a:solidFill>
                <a:latin typeface="Calibri" pitchFamily="34" charset="0"/>
                <a:ea typeface="Calibri" pitchFamily="34" charset="-122"/>
                <a:cs typeface="Calibri" pitchFamily="34" charset="-120"/>
              </a:rPr>
              <a:t>Off-policy evaluation</a:t>
            </a:r>
            <a:endParaRPr lang="en-US" sz="1300" dirty="0"/>
          </a:p>
        </p:txBody>
      </p:sp>
      <p:sp>
        <p:nvSpPr>
          <p:cNvPr id="28" name="Shape 25"/>
          <p:cNvSpPr/>
          <p:nvPr/>
        </p:nvSpPr>
        <p:spPr>
          <a:xfrm>
            <a:off x="7068312" y="4457700"/>
            <a:ext cx="265176" cy="0"/>
          </a:xfrm>
          <a:prstGeom prst="line">
            <a:avLst/>
          </a:prstGeom>
          <a:noFill/>
          <a:ln w="19050">
            <a:solidFill>
              <a:srgbClr val="1A8A99"/>
            </a:solidFill>
            <a:prstDash val="solid"/>
            <a:tailEnd type="triangle"/>
          </a:ln>
        </p:spPr>
        <p:txBody>
          <a:bodyPr/>
          <a:lstStyle/>
          <a:p>
            <a:endParaRPr lang="en-US"/>
          </a:p>
        </p:txBody>
      </p:sp>
      <p:sp>
        <p:nvSpPr>
          <p:cNvPr id="29" name="Shape 26"/>
          <p:cNvSpPr/>
          <p:nvPr/>
        </p:nvSpPr>
        <p:spPr>
          <a:xfrm>
            <a:off x="7388352" y="4114800"/>
            <a:ext cx="1874520" cy="685800"/>
          </a:xfrm>
          <a:prstGeom prst="roundRect">
            <a:avLst>
              <a:gd name="adj" fmla="val 8000"/>
            </a:avLst>
          </a:prstGeom>
          <a:solidFill>
            <a:srgbClr val="FFFFFF"/>
          </a:solidFill>
          <a:ln w="12700">
            <a:solidFill>
              <a:srgbClr val="1A8A99"/>
            </a:solidFill>
            <a:prstDash val="solid"/>
          </a:ln>
        </p:spPr>
        <p:txBody>
          <a:bodyPr/>
          <a:lstStyle/>
          <a:p>
            <a:endParaRPr lang="en-US"/>
          </a:p>
        </p:txBody>
      </p:sp>
      <p:sp>
        <p:nvSpPr>
          <p:cNvPr id="30" name="Text 27"/>
          <p:cNvSpPr txBox="1"/>
          <p:nvPr/>
        </p:nvSpPr>
        <p:spPr>
          <a:xfrm>
            <a:off x="7461504" y="4114800"/>
            <a:ext cx="1728216" cy="685800"/>
          </a:xfrm>
          <a:prstGeom prst="rect">
            <a:avLst/>
          </a:prstGeom>
          <a:noFill/>
          <a:ln/>
        </p:spPr>
        <p:txBody>
          <a:bodyPr wrap="square" lIns="0" tIns="0" rIns="0" bIns="0" rtlCol="0" anchor="ctr"/>
          <a:lstStyle/>
          <a:p>
            <a:pPr marL="0" indent="0" algn="ctr">
              <a:buNone/>
            </a:pPr>
            <a:r>
              <a:rPr lang="en-US" sz="1300" b="1" dirty="0">
                <a:solidFill>
                  <a:srgbClr val="12394D"/>
                </a:solidFill>
                <a:latin typeface="Calibri" pitchFamily="34" charset="0"/>
                <a:ea typeface="Calibri" pitchFamily="34" charset="-122"/>
                <a:cs typeface="Calibri" pitchFamily="34" charset="-120"/>
              </a:rPr>
              <a:t>Shadow mode</a:t>
            </a:r>
            <a:endParaRPr lang="en-US" sz="1300" dirty="0"/>
          </a:p>
        </p:txBody>
      </p:sp>
      <p:sp>
        <p:nvSpPr>
          <p:cNvPr id="31" name="Shape 28"/>
          <p:cNvSpPr/>
          <p:nvPr/>
        </p:nvSpPr>
        <p:spPr>
          <a:xfrm>
            <a:off x="9317736" y="4457700"/>
            <a:ext cx="265176" cy="0"/>
          </a:xfrm>
          <a:prstGeom prst="line">
            <a:avLst/>
          </a:prstGeom>
          <a:noFill/>
          <a:ln w="19050">
            <a:solidFill>
              <a:srgbClr val="1A8A99"/>
            </a:solidFill>
            <a:prstDash val="solid"/>
            <a:tailEnd type="triangle"/>
          </a:ln>
        </p:spPr>
        <p:txBody>
          <a:bodyPr/>
          <a:lstStyle/>
          <a:p>
            <a:endParaRPr lang="en-US"/>
          </a:p>
        </p:txBody>
      </p:sp>
      <p:sp>
        <p:nvSpPr>
          <p:cNvPr id="32" name="Shape 29"/>
          <p:cNvSpPr/>
          <p:nvPr/>
        </p:nvSpPr>
        <p:spPr>
          <a:xfrm>
            <a:off x="9637776" y="4114800"/>
            <a:ext cx="1874520" cy="685800"/>
          </a:xfrm>
          <a:prstGeom prst="roundRect">
            <a:avLst>
              <a:gd name="adj" fmla="val 8000"/>
            </a:avLst>
          </a:prstGeom>
          <a:solidFill>
            <a:srgbClr val="FFFFFF"/>
          </a:solidFill>
          <a:ln w="12700">
            <a:solidFill>
              <a:srgbClr val="1A8A99"/>
            </a:solidFill>
            <a:prstDash val="solid"/>
          </a:ln>
        </p:spPr>
        <p:txBody>
          <a:bodyPr/>
          <a:lstStyle/>
          <a:p>
            <a:endParaRPr lang="en-US"/>
          </a:p>
        </p:txBody>
      </p:sp>
      <p:sp>
        <p:nvSpPr>
          <p:cNvPr id="33" name="Text 30"/>
          <p:cNvSpPr txBox="1"/>
          <p:nvPr/>
        </p:nvSpPr>
        <p:spPr>
          <a:xfrm>
            <a:off x="9710928" y="4114800"/>
            <a:ext cx="1728216" cy="685800"/>
          </a:xfrm>
          <a:prstGeom prst="rect">
            <a:avLst/>
          </a:prstGeom>
          <a:noFill/>
          <a:ln/>
        </p:spPr>
        <p:txBody>
          <a:bodyPr wrap="square" lIns="0" tIns="0" rIns="0" bIns="0" rtlCol="0" anchor="ctr"/>
          <a:lstStyle/>
          <a:p>
            <a:pPr marL="0" indent="0" algn="ctr">
              <a:buNone/>
            </a:pPr>
            <a:r>
              <a:rPr lang="en-US" sz="1300" b="1" dirty="0">
                <a:solidFill>
                  <a:srgbClr val="12394D"/>
                </a:solidFill>
                <a:latin typeface="Calibri" pitchFamily="34" charset="0"/>
                <a:ea typeface="Calibri" pitchFamily="34" charset="-122"/>
                <a:cs typeface="Calibri" pitchFamily="34" charset="-120"/>
              </a:rPr>
              <a:t>Constrained fine-tuning + shield</a:t>
            </a:r>
            <a:endParaRPr lang="en-US" sz="1300" dirty="0"/>
          </a:p>
        </p:txBody>
      </p:sp>
      <p:sp>
        <p:nvSpPr>
          <p:cNvPr id="34" name="Text 31"/>
          <p:cNvSpPr txBox="1"/>
          <p:nvPr/>
        </p:nvSpPr>
        <p:spPr>
          <a:xfrm>
            <a:off x="640080" y="4983480"/>
            <a:ext cx="10881360" cy="411480"/>
          </a:xfrm>
          <a:prstGeom prst="rect">
            <a:avLst/>
          </a:prstGeom>
          <a:noFill/>
          <a:ln/>
        </p:spPr>
        <p:txBody>
          <a:bodyPr wrap="square" lIns="0" tIns="0" rIns="0" bIns="0" rtlCol="0" anchor="t"/>
          <a:lstStyle/>
          <a:p>
            <a:pPr marL="0" indent="0">
              <a:buNone/>
            </a:pPr>
            <a:r>
              <a:rPr lang="en-US" sz="1250" b="1" dirty="0">
                <a:solidFill>
                  <a:srgbClr val="12394D"/>
                </a:solidFill>
                <a:latin typeface="Calibri" pitchFamily="34" charset="0"/>
                <a:ea typeface="Calibri" pitchFamily="34" charset="-122"/>
                <a:cs typeface="Calibri" pitchFamily="34" charset="-120"/>
              </a:rPr>
              <a:t>Inference: </a:t>
            </a:r>
            <a:r>
              <a:rPr lang="en-US" sz="1250" dirty="0">
                <a:solidFill>
                  <a:srgbClr val="5F7A8A"/>
                </a:solidFill>
                <a:latin typeface="Calibri" pitchFamily="34" charset="0"/>
                <a:ea typeface="Calibri" pitchFamily="34" charset="-122"/>
                <a:cs typeface="Calibri" pitchFamily="34" charset="-120"/>
              </a:rPr>
              <a:t>measure end-to-end loop latency on target hardware, not FLOPs   ·   </a:t>
            </a:r>
            <a:r>
              <a:rPr lang="en-US" sz="1250" b="1" dirty="0">
                <a:solidFill>
                  <a:srgbClr val="12394D"/>
                </a:solidFill>
                <a:latin typeface="Calibri" pitchFamily="34" charset="0"/>
                <a:ea typeface="Calibri" pitchFamily="34" charset="-122"/>
                <a:cs typeface="Calibri" pitchFamily="34" charset="-120"/>
              </a:rPr>
              <a:t>RLOps: </a:t>
            </a:r>
            <a:r>
              <a:rPr lang="en-US" sz="1250" dirty="0">
                <a:solidFill>
                  <a:srgbClr val="5F7A8A"/>
                </a:solidFill>
                <a:latin typeface="Calibri" pitchFamily="34" charset="0"/>
                <a:ea typeface="Calibri" pitchFamily="34" charset="-122"/>
                <a:cs typeface="Calibri" pitchFamily="34" charset="-120"/>
              </a:rPr>
              <a:t>version data, environment and model; staged rollout; rollback</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05840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2 · Lu et al. · DRL for 6G AI-RAN</a:t>
            </a:r>
            <a:endParaRPr lang="en-US" sz="1400" dirty="0"/>
          </a:p>
        </p:txBody>
      </p:sp>
      <p:sp>
        <p:nvSpPr>
          <p:cNvPr id="3" name="Text 1"/>
          <p:cNvSpPr txBox="1"/>
          <p:nvPr/>
        </p:nvSpPr>
        <p:spPr>
          <a:xfrm>
            <a:off x="640080" y="804672"/>
            <a:ext cx="10881360" cy="594360"/>
          </a:xfrm>
          <a:prstGeom prst="rect">
            <a:avLst/>
          </a:prstGeom>
          <a:noFill/>
          <a:ln/>
        </p:spPr>
        <p:txBody>
          <a:bodyPr wrap="square" lIns="0" tIns="0" rIns="0" bIns="0" rtlCol="0" anchor="t"/>
          <a:lstStyle/>
          <a:p>
            <a:pPr marL="0" indent="0">
              <a:buNone/>
            </a:pPr>
            <a:r>
              <a:rPr lang="en-US" sz="2800" b="1" dirty="0">
                <a:solidFill>
                  <a:srgbClr val="12394D"/>
                </a:solidFill>
                <a:latin typeface="Cambria" pitchFamily="34" charset="0"/>
                <a:ea typeface="Cambria" pitchFamily="34" charset="-122"/>
                <a:cs typeface="Cambria" pitchFamily="34" charset="-120"/>
              </a:rPr>
              <a:t>From paper to deployment: what the survey asks of every DRL study</a:t>
            </a:r>
            <a:endParaRPr lang="en-US" sz="2800" dirty="0"/>
          </a:p>
        </p:txBody>
      </p:sp>
      <p:sp>
        <p:nvSpPr>
          <p:cNvPr id="4" name="Shape 2"/>
          <p:cNvSpPr/>
          <p:nvPr/>
        </p:nvSpPr>
        <p:spPr>
          <a:xfrm>
            <a:off x="640080" y="5577840"/>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77840"/>
            <a:ext cx="10469880" cy="502920"/>
          </a:xfrm>
          <a:prstGeom prst="rect">
            <a:avLst/>
          </a:prstGeom>
          <a:noFill/>
          <a:ln/>
        </p:spPr>
        <p:txBody>
          <a:bodyPr wrap="square" lIns="0" tIns="0" rIns="0" bIns="0" rtlCol="0" anchor="ctr"/>
          <a:lstStyle/>
          <a:p>
            <a:pPr marL="0" indent="0">
              <a:buNone/>
            </a:pPr>
            <a:r>
              <a:rPr lang="en-US" sz="1350" b="1" dirty="0">
                <a:solidFill>
                  <a:srgbClr val="1A8A99"/>
                </a:solidFill>
                <a:latin typeface="Calibri" pitchFamily="34" charset="0"/>
                <a:ea typeface="Calibri" pitchFamily="34" charset="-122"/>
                <a:cs typeface="Calibri" pitchFamily="34" charset="-120"/>
              </a:rPr>
              <a:t>Takeaway  </a:t>
            </a:r>
            <a:r>
              <a:rPr lang="en-US" sz="1350" dirty="0">
                <a:solidFill>
                  <a:srgbClr val="12394D"/>
                </a:solidFill>
                <a:latin typeface="Calibri" pitchFamily="34" charset="0"/>
                <a:ea typeface="Calibri" pitchFamily="34" charset="-122"/>
                <a:cs typeface="Calibri" pitchFamily="34" charset="-120"/>
              </a:rPr>
              <a:t>Top research direction: conservative offline RL, then constrained online fine-tuning.</a:t>
            </a:r>
            <a:endParaRPr lang="en-US" sz="135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49</a:t>
            </a:r>
            <a:endParaRPr lang="en-US" sz="1100" dirty="0"/>
          </a:p>
        </p:txBody>
      </p:sp>
      <p:sp>
        <p:nvSpPr>
          <p:cNvPr id="8" name="Shape 6"/>
          <p:cNvSpPr/>
          <p:nvPr/>
        </p:nvSpPr>
        <p:spPr>
          <a:xfrm>
            <a:off x="640080" y="1737360"/>
            <a:ext cx="5349240" cy="1691640"/>
          </a:xfrm>
          <a:prstGeom prst="roundRect">
            <a:avLst>
              <a:gd name="adj" fmla="val 3243"/>
            </a:avLst>
          </a:prstGeom>
          <a:solidFill>
            <a:srgbClr val="F0F5F7"/>
          </a:solidFill>
          <a:ln w="12700">
            <a:solidFill>
              <a:srgbClr val="F0F5F7"/>
            </a:solidFill>
            <a:prstDash val="solid"/>
          </a:ln>
        </p:spPr>
        <p:txBody>
          <a:bodyPr/>
          <a:lstStyle/>
          <a:p>
            <a:endParaRPr lang="en-US"/>
          </a:p>
        </p:txBody>
      </p:sp>
      <p:sp>
        <p:nvSpPr>
          <p:cNvPr id="9" name="Text 7"/>
          <p:cNvSpPr txBox="1"/>
          <p:nvPr/>
        </p:nvSpPr>
        <p:spPr>
          <a:xfrm>
            <a:off x="914400" y="1920240"/>
            <a:ext cx="4754880" cy="365760"/>
          </a:xfrm>
          <a:prstGeom prst="rect">
            <a:avLst/>
          </a:prstGeom>
          <a:noFill/>
          <a:ln/>
        </p:spPr>
        <p:txBody>
          <a:bodyPr wrap="square" lIns="0" tIns="0" rIns="0" bIns="0" rtlCol="0" anchor="t"/>
          <a:lstStyle/>
          <a:p>
            <a:pPr marL="0" indent="0">
              <a:buNone/>
            </a:pPr>
            <a:r>
              <a:rPr lang="en-US" sz="1700" b="1" dirty="0">
                <a:solidFill>
                  <a:srgbClr val="12394D"/>
                </a:solidFill>
                <a:latin typeface="Cambria" pitchFamily="34" charset="0"/>
                <a:ea typeface="Cambria" pitchFamily="34" charset="-122"/>
                <a:cs typeface="Cambria" pitchFamily="34" charset="-120"/>
              </a:rPr>
              <a:t>Sim-to-real</a:t>
            </a:r>
            <a:endParaRPr lang="en-US" sz="1700" dirty="0"/>
          </a:p>
        </p:txBody>
      </p:sp>
      <p:sp>
        <p:nvSpPr>
          <p:cNvPr id="10" name="Text 8"/>
          <p:cNvSpPr txBox="1"/>
          <p:nvPr/>
        </p:nvSpPr>
        <p:spPr>
          <a:xfrm>
            <a:off x="914400" y="2377440"/>
            <a:ext cx="4754880" cy="960120"/>
          </a:xfrm>
          <a:prstGeom prst="rect">
            <a:avLst/>
          </a:prstGeom>
          <a:noFill/>
          <a:ln/>
        </p:spPr>
        <p:txBody>
          <a:bodyPr wrap="square" lIns="0" tIns="0" rIns="0" bIns="0" rtlCol="0" anchor="t"/>
          <a:lstStyle/>
          <a:p>
            <a:pPr marL="0" indent="0">
              <a:buNone/>
            </a:pPr>
            <a:r>
              <a:rPr lang="en-US" sz="1500" dirty="0">
                <a:solidFill>
                  <a:srgbClr val="2A3F4C"/>
                </a:solidFill>
                <a:latin typeface="Calibri" pitchFamily="34" charset="0"/>
                <a:ea typeface="Calibri" pitchFamily="34" charset="-122"/>
                <a:cs typeface="Calibri" pitchFamily="34" charset="-120"/>
              </a:rPr>
              <a:t>Domain randomisation, system identification, calibrated digital twins, shadow deployment</a:t>
            </a:r>
            <a:endParaRPr lang="en-US" sz="1500" dirty="0"/>
          </a:p>
        </p:txBody>
      </p:sp>
      <p:sp>
        <p:nvSpPr>
          <p:cNvPr id="11" name="Shape 9"/>
          <p:cNvSpPr/>
          <p:nvPr/>
        </p:nvSpPr>
        <p:spPr>
          <a:xfrm>
            <a:off x="6172200" y="1737360"/>
            <a:ext cx="5349240" cy="1691640"/>
          </a:xfrm>
          <a:prstGeom prst="roundRect">
            <a:avLst>
              <a:gd name="adj" fmla="val 3243"/>
            </a:avLst>
          </a:prstGeom>
          <a:solidFill>
            <a:srgbClr val="F0F5F7"/>
          </a:solidFill>
          <a:ln w="12700">
            <a:solidFill>
              <a:srgbClr val="F0F5F7"/>
            </a:solidFill>
            <a:prstDash val="solid"/>
          </a:ln>
        </p:spPr>
        <p:txBody>
          <a:bodyPr/>
          <a:lstStyle/>
          <a:p>
            <a:endParaRPr lang="en-US"/>
          </a:p>
        </p:txBody>
      </p:sp>
      <p:sp>
        <p:nvSpPr>
          <p:cNvPr id="12" name="Text 10"/>
          <p:cNvSpPr txBox="1"/>
          <p:nvPr/>
        </p:nvSpPr>
        <p:spPr>
          <a:xfrm>
            <a:off x="6446520" y="1920240"/>
            <a:ext cx="4754880" cy="365760"/>
          </a:xfrm>
          <a:prstGeom prst="rect">
            <a:avLst/>
          </a:prstGeom>
          <a:noFill/>
          <a:ln/>
        </p:spPr>
        <p:txBody>
          <a:bodyPr wrap="square" lIns="0" tIns="0" rIns="0" bIns="0" rtlCol="0" anchor="t"/>
          <a:lstStyle/>
          <a:p>
            <a:pPr marL="0" indent="0">
              <a:buNone/>
            </a:pPr>
            <a:r>
              <a:rPr lang="en-US" sz="1700" b="1" dirty="0">
                <a:solidFill>
                  <a:srgbClr val="12394D"/>
                </a:solidFill>
                <a:latin typeface="Cambria" pitchFamily="34" charset="0"/>
                <a:ea typeface="Cambria" pitchFamily="34" charset="-122"/>
                <a:cs typeface="Cambria" pitchFamily="34" charset="-120"/>
              </a:rPr>
              <a:t>Data</a:t>
            </a:r>
            <a:endParaRPr lang="en-US" sz="1700" dirty="0"/>
          </a:p>
        </p:txBody>
      </p:sp>
      <p:sp>
        <p:nvSpPr>
          <p:cNvPr id="13" name="Text 11"/>
          <p:cNvSpPr txBox="1"/>
          <p:nvPr/>
        </p:nvSpPr>
        <p:spPr>
          <a:xfrm>
            <a:off x="6446520" y="2377440"/>
            <a:ext cx="4754880" cy="960120"/>
          </a:xfrm>
          <a:prstGeom prst="rect">
            <a:avLst/>
          </a:prstGeom>
          <a:noFill/>
          <a:ln/>
        </p:spPr>
        <p:txBody>
          <a:bodyPr wrap="square" lIns="0" tIns="0" rIns="0" bIns="0" rtlCol="0" anchor="t"/>
          <a:lstStyle/>
          <a:p>
            <a:pPr marL="0" indent="0">
              <a:buNone/>
            </a:pPr>
            <a:r>
              <a:rPr lang="en-US" sz="1500" dirty="0">
                <a:solidFill>
                  <a:srgbClr val="2A3F4C"/>
                </a:solidFill>
                <a:latin typeface="Calibri" pitchFamily="34" charset="0"/>
                <a:ea typeface="Calibri" pitchFamily="34" charset="-122"/>
                <a:cs typeface="Calibri" pitchFamily="34" charset="-120"/>
              </a:rPr>
              <a:t>Log (s, a, r, s′, Δt, z) with delays and context; record the behaviour policy; include stress cases</a:t>
            </a:r>
            <a:endParaRPr lang="en-US" sz="1500" dirty="0"/>
          </a:p>
        </p:txBody>
      </p:sp>
      <p:sp>
        <p:nvSpPr>
          <p:cNvPr id="14" name="Shape 12"/>
          <p:cNvSpPr/>
          <p:nvPr/>
        </p:nvSpPr>
        <p:spPr>
          <a:xfrm>
            <a:off x="640080" y="3611880"/>
            <a:ext cx="5349240" cy="1691640"/>
          </a:xfrm>
          <a:prstGeom prst="roundRect">
            <a:avLst>
              <a:gd name="adj" fmla="val 3243"/>
            </a:avLst>
          </a:prstGeom>
          <a:solidFill>
            <a:srgbClr val="F0F5F7"/>
          </a:solidFill>
          <a:ln w="12700">
            <a:solidFill>
              <a:srgbClr val="F0F5F7"/>
            </a:solidFill>
            <a:prstDash val="solid"/>
          </a:ln>
        </p:spPr>
        <p:txBody>
          <a:bodyPr/>
          <a:lstStyle/>
          <a:p>
            <a:endParaRPr lang="en-US"/>
          </a:p>
        </p:txBody>
      </p:sp>
      <p:sp>
        <p:nvSpPr>
          <p:cNvPr id="15" name="Text 13"/>
          <p:cNvSpPr txBox="1"/>
          <p:nvPr/>
        </p:nvSpPr>
        <p:spPr>
          <a:xfrm>
            <a:off x="914400" y="3794760"/>
            <a:ext cx="4754880" cy="365760"/>
          </a:xfrm>
          <a:prstGeom prst="rect">
            <a:avLst/>
          </a:prstGeom>
          <a:noFill/>
          <a:ln/>
        </p:spPr>
        <p:txBody>
          <a:bodyPr wrap="square" lIns="0" tIns="0" rIns="0" bIns="0" rtlCol="0" anchor="t"/>
          <a:lstStyle/>
          <a:p>
            <a:pPr marL="0" indent="0">
              <a:buNone/>
            </a:pPr>
            <a:r>
              <a:rPr lang="en-US" sz="1700" b="1" dirty="0">
                <a:solidFill>
                  <a:srgbClr val="12394D"/>
                </a:solidFill>
                <a:latin typeface="Cambria" pitchFamily="34" charset="0"/>
                <a:ea typeface="Cambria" pitchFamily="34" charset="-122"/>
                <a:cs typeface="Cambria" pitchFamily="34" charset="-120"/>
              </a:rPr>
              <a:t>Reproducibility</a:t>
            </a:r>
            <a:endParaRPr lang="en-US" sz="1700" dirty="0"/>
          </a:p>
        </p:txBody>
      </p:sp>
      <p:sp>
        <p:nvSpPr>
          <p:cNvPr id="16" name="Text 14"/>
          <p:cNvSpPr txBox="1"/>
          <p:nvPr/>
        </p:nvSpPr>
        <p:spPr>
          <a:xfrm>
            <a:off x="914400" y="4251960"/>
            <a:ext cx="4754880" cy="960120"/>
          </a:xfrm>
          <a:prstGeom prst="rect">
            <a:avLst/>
          </a:prstGeom>
          <a:noFill/>
          <a:ln/>
        </p:spPr>
        <p:txBody>
          <a:bodyPr wrap="square" lIns="0" tIns="0" rIns="0" bIns="0" rtlCol="0" anchor="t"/>
          <a:lstStyle/>
          <a:p>
            <a:pPr marL="0" indent="0">
              <a:buNone/>
            </a:pPr>
            <a:r>
              <a:rPr lang="en-US" sz="1500" dirty="0">
                <a:solidFill>
                  <a:srgbClr val="2A3F4C"/>
                </a:solidFill>
                <a:latin typeface="Calibri" pitchFamily="34" charset="0"/>
                <a:ea typeface="Calibri" pitchFamily="34" charset="-122"/>
                <a:cs typeface="Calibri" pitchFamily="34" charset="-120"/>
              </a:rPr>
              <a:t>Several seeds with confidence intervals, full MDP spec, measured inference latency on target hardware</a:t>
            </a:r>
            <a:endParaRPr lang="en-US" sz="1500" dirty="0"/>
          </a:p>
        </p:txBody>
      </p:sp>
      <p:sp>
        <p:nvSpPr>
          <p:cNvPr id="17" name="Shape 15"/>
          <p:cNvSpPr/>
          <p:nvPr/>
        </p:nvSpPr>
        <p:spPr>
          <a:xfrm>
            <a:off x="6172200" y="3611880"/>
            <a:ext cx="5349240" cy="1691640"/>
          </a:xfrm>
          <a:prstGeom prst="roundRect">
            <a:avLst>
              <a:gd name="adj" fmla="val 3243"/>
            </a:avLst>
          </a:prstGeom>
          <a:solidFill>
            <a:srgbClr val="F0F5F7"/>
          </a:solidFill>
          <a:ln w="12700">
            <a:solidFill>
              <a:srgbClr val="F0F5F7"/>
            </a:solidFill>
            <a:prstDash val="solid"/>
          </a:ln>
        </p:spPr>
        <p:txBody>
          <a:bodyPr/>
          <a:lstStyle/>
          <a:p>
            <a:endParaRPr lang="en-US"/>
          </a:p>
        </p:txBody>
      </p:sp>
      <p:sp>
        <p:nvSpPr>
          <p:cNvPr id="18" name="Text 16"/>
          <p:cNvSpPr txBox="1"/>
          <p:nvPr/>
        </p:nvSpPr>
        <p:spPr>
          <a:xfrm>
            <a:off x="6446520" y="3794760"/>
            <a:ext cx="4754880" cy="365760"/>
          </a:xfrm>
          <a:prstGeom prst="rect">
            <a:avLst/>
          </a:prstGeom>
          <a:noFill/>
          <a:ln/>
        </p:spPr>
        <p:txBody>
          <a:bodyPr wrap="square" lIns="0" tIns="0" rIns="0" bIns="0" rtlCol="0" anchor="t"/>
          <a:lstStyle/>
          <a:p>
            <a:pPr marL="0" indent="0">
              <a:buNone/>
            </a:pPr>
            <a:r>
              <a:rPr lang="en-US" sz="1700" b="1" dirty="0">
                <a:solidFill>
                  <a:srgbClr val="12394D"/>
                </a:solidFill>
                <a:latin typeface="Cambria" pitchFamily="34" charset="0"/>
                <a:ea typeface="Cambria" pitchFamily="34" charset="-122"/>
                <a:cs typeface="Cambria" pitchFamily="34" charset="-120"/>
              </a:rPr>
              <a:t>Standards</a:t>
            </a:r>
            <a:endParaRPr lang="en-US" sz="1700" dirty="0"/>
          </a:p>
        </p:txBody>
      </p:sp>
      <p:sp>
        <p:nvSpPr>
          <p:cNvPr id="19" name="Text 17"/>
          <p:cNvSpPr txBox="1"/>
          <p:nvPr/>
        </p:nvSpPr>
        <p:spPr>
          <a:xfrm>
            <a:off x="6446520" y="4251960"/>
            <a:ext cx="4754880" cy="960120"/>
          </a:xfrm>
          <a:prstGeom prst="rect">
            <a:avLst/>
          </a:prstGeom>
          <a:noFill/>
          <a:ln/>
        </p:spPr>
        <p:txBody>
          <a:bodyPr wrap="square" lIns="0" tIns="0" rIns="0" bIns="0" rtlCol="0" anchor="t"/>
          <a:lstStyle/>
          <a:p>
            <a:pPr marL="0" indent="0">
              <a:buNone/>
            </a:pPr>
            <a:r>
              <a:rPr lang="en-US" sz="1500" dirty="0">
                <a:solidFill>
                  <a:srgbClr val="2A3F4C"/>
                </a:solidFill>
                <a:latin typeface="Calibri" pitchFamily="34" charset="0"/>
                <a:ea typeface="Calibri" pitchFamily="34" charset="-122"/>
                <a:cs typeface="Calibri" pitchFamily="34" charset="-120"/>
              </a:rPr>
              <a:t>Actions must be expressible through E2 RAN Control; declare fallback, latency budget and conflict domain</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Why coexistence deserves its own survey</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The first survey dedicated to joint eMBB/URLLC resource allocation.</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50</a:t>
            </a:r>
            <a:endParaRPr lang="en-US" sz="1100" dirty="0"/>
          </a:p>
        </p:txBody>
      </p:sp>
      <p:graphicFrame>
        <p:nvGraphicFramePr>
          <p:cNvPr id="23" name="Table 0"/>
          <p:cNvGraphicFramePr>
            <a:graphicFrameLocks noGrp="1"/>
          </p:cNvGraphicFramePr>
          <p:nvPr/>
        </p:nvGraphicFramePr>
        <p:xfrm>
          <a:off x="5806440" y="1645920"/>
          <a:ext cx="5715000" cy="1920240"/>
        </p:xfrm>
        <a:graphic>
          <a:graphicData uri="http://schemas.openxmlformats.org/drawingml/2006/table">
            <a:tbl>
              <a:tblPr/>
              <a:tblGrid>
                <a:gridCol w="13258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84048">
                <a:tc>
                  <a:txBody>
                    <a:bodyPr/>
                    <a:lstStyle/>
                    <a:p>
                      <a:pPr marL="0" indent="0" algn="l">
                        <a:buNone/>
                      </a:pP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eMBB</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URLLC</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extLst>
                  <a:ext uri="{0D108BD9-81ED-4DB2-BD59-A6C34878D82A}">
                    <a16:rowId xmlns:a16="http://schemas.microsoft.com/office/drawing/2014/main" val="10000"/>
                  </a:ext>
                </a:extLst>
              </a:tr>
              <a:tr h="384048">
                <a:tc>
                  <a:txBody>
                    <a:bodyPr/>
                    <a:lstStyle/>
                    <a:p>
                      <a:pPr marL="0" indent="0" algn="l">
                        <a:buNone/>
                      </a:pPr>
                      <a:r>
                        <a:rPr lang="en-US" sz="1300" dirty="0">
                          <a:solidFill>
                            <a:srgbClr val="2A3F4C"/>
                          </a:solidFill>
                          <a:latin typeface="Calibri" pitchFamily="34" charset="0"/>
                          <a:ea typeface="Calibri" pitchFamily="34" charset="-122"/>
                          <a:cs typeface="Calibri" pitchFamily="34" charset="-120"/>
                        </a:rPr>
                        <a:t>Traffic</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Large payloads, continuous</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Small, sporadic</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300" dirty="0">
                          <a:solidFill>
                            <a:srgbClr val="2A3F4C"/>
                          </a:solidFill>
                          <a:latin typeface="Calibri" pitchFamily="34" charset="0"/>
                          <a:ea typeface="Calibri" pitchFamily="34" charset="-122"/>
                          <a:cs typeface="Calibri" pitchFamily="34" charset="-120"/>
                        </a:rPr>
                        <a:t>Priority</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Data rate</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Latency + reliability</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2"/>
                  </a:ext>
                </a:extLst>
              </a:tr>
              <a:tr h="384048">
                <a:tc>
                  <a:txBody>
                    <a:bodyPr/>
                    <a:lstStyle/>
                    <a:p>
                      <a:pPr marL="0" indent="0" algn="l">
                        <a:buNone/>
                      </a:pPr>
                      <a:r>
                        <a:rPr lang="en-US" sz="1300" dirty="0">
                          <a:solidFill>
                            <a:srgbClr val="2A3F4C"/>
                          </a:solidFill>
                          <a:latin typeface="Calibri" pitchFamily="34" charset="0"/>
                          <a:ea typeface="Calibri" pitchFamily="34" charset="-122"/>
                          <a:cs typeface="Calibri" pitchFamily="34" charset="-120"/>
                        </a:rPr>
                        <a:t>Packets</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Long (Shannon capacity)</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Short (finite blocklength)</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300" dirty="0">
                          <a:solidFill>
                            <a:srgbClr val="2A3F4C"/>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Gbps to Tbps</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300" dirty="0">
                          <a:solidFill>
                            <a:srgbClr val="2A3F4C"/>
                          </a:solidFill>
                          <a:latin typeface="Calibri" pitchFamily="34" charset="0"/>
                          <a:ea typeface="Calibri" pitchFamily="34" charset="-122"/>
                          <a:cs typeface="Calibri" pitchFamily="34" charset="-120"/>
                        </a:rPr>
                        <a:t>≤ 1 ms, PER ≤ 10⁻⁵</a:t>
                      </a:r>
                      <a:endParaRPr lang="en-US" sz="130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4"/>
                  </a:ext>
                </a:extLst>
              </a:tr>
            </a:tbl>
          </a:graphicData>
        </a:graphic>
      </p:graphicFrame>
      <p:sp>
        <p:nvSpPr>
          <p:cNvPr id="12" name="Text 8"/>
          <p:cNvSpPr txBox="1"/>
          <p:nvPr/>
        </p:nvSpPr>
        <p:spPr>
          <a:xfrm>
            <a:off x="5806440" y="3703320"/>
            <a:ext cx="5715000" cy="173736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6G makes it harder</a:t>
            </a:r>
            <a:endParaRPr lang="en-US" sz="1450" dirty="0"/>
          </a:p>
          <a:p>
            <a:pPr marL="0" indent="0">
              <a:spcAft>
                <a:spcPts val="800"/>
              </a:spcAft>
              <a:buNone/>
            </a:pPr>
            <a:r>
              <a:rPr lang="en-US" sz="1250" dirty="0">
                <a:solidFill>
                  <a:srgbClr val="5F7A8A"/>
                </a:solidFill>
                <a:latin typeface="Calibri" pitchFamily="34" charset="0"/>
                <a:ea typeface="Calibri" pitchFamily="34" charset="-122"/>
                <a:cs typeface="Calibri" pitchFamily="34" charset="-120"/>
              </a:rPr>
              <a:t>mURLLC (many URLLC devices) and MBRLLC (rate and reliability: XR, vehicles)</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The gap</a:t>
            </a:r>
            <a:endParaRPr lang="en-US" sz="1450" dirty="0"/>
          </a:p>
          <a:p>
            <a:pPr marL="0" indent="0">
              <a:spcAft>
                <a:spcPts val="800"/>
              </a:spcAft>
              <a:buNone/>
            </a:pPr>
            <a:r>
              <a:rPr lang="en-US" sz="1250" dirty="0">
                <a:solidFill>
                  <a:srgbClr val="5F7A8A"/>
                </a:solidFill>
                <a:latin typeface="Calibri" pitchFamily="34" charset="0"/>
                <a:ea typeface="Calibri" pitchFamily="34" charset="-122"/>
                <a:cs typeface="Calibri" pitchFamily="34" charset="-120"/>
              </a:rPr>
              <a:t>Earlier surveys treat URLLC alone or the two services separately (Table 2, p. 5)</a:t>
            </a:r>
            <a:endParaRPr lang="en-US" sz="1450" dirty="0"/>
          </a:p>
        </p:txBody>
      </p:sp>
      <p:pic>
        <p:nvPicPr>
          <p:cNvPr id="14" name="Image 13">
            <a:extLst>
              <a:ext uri="{FF2B5EF4-FFF2-40B4-BE49-F238E27FC236}">
                <a16:creationId xmlns:a16="http://schemas.microsoft.com/office/drawing/2014/main" id="{33B62F1C-DD66-5129-6BE9-6E4BC7007F0E}"/>
              </a:ext>
            </a:extLst>
          </p:cNvPr>
          <p:cNvPicPr>
            <a:picLocks noChangeAspect="1"/>
          </p:cNvPicPr>
          <p:nvPr/>
        </p:nvPicPr>
        <p:blipFill>
          <a:blip r:embed="rId3"/>
          <a:stretch>
            <a:fillRect/>
          </a:stretch>
        </p:blipFill>
        <p:spPr>
          <a:xfrm>
            <a:off x="218202" y="1256498"/>
            <a:ext cx="4974900" cy="434500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Sharing a slot: puncturing, superposition, OMA vs NOMA</a:t>
            </a:r>
            <a:endParaRPr lang="en-US" sz="2700" dirty="0"/>
          </a:p>
        </p:txBody>
      </p:sp>
      <p:sp>
        <p:nvSpPr>
          <p:cNvPr id="4" name="Shape 2"/>
          <p:cNvSpPr/>
          <p:nvPr/>
        </p:nvSpPr>
        <p:spPr>
          <a:xfrm>
            <a:off x="6126480" y="4681728"/>
            <a:ext cx="5394960" cy="658368"/>
          </a:xfrm>
          <a:prstGeom prst="roundRect">
            <a:avLst>
              <a:gd name="adj" fmla="val 10909"/>
            </a:avLst>
          </a:prstGeom>
          <a:solidFill>
            <a:srgbClr val="E6F4F2"/>
          </a:solidFill>
          <a:ln w="12700">
            <a:solidFill>
              <a:srgbClr val="E6F4F2"/>
            </a:solidFill>
            <a:prstDash val="solid"/>
          </a:ln>
        </p:spPr>
        <p:txBody>
          <a:bodyPr/>
          <a:lstStyle/>
          <a:p>
            <a:endParaRPr lang="en-US" dirty="0"/>
          </a:p>
        </p:txBody>
      </p:sp>
      <p:sp>
        <p:nvSpPr>
          <p:cNvPr id="5" name="Text 3"/>
          <p:cNvSpPr txBox="1"/>
          <p:nvPr/>
        </p:nvSpPr>
        <p:spPr>
          <a:xfrm>
            <a:off x="6469811" y="4759452"/>
            <a:ext cx="4980892" cy="502920"/>
          </a:xfrm>
          <a:prstGeom prst="rect">
            <a:avLst/>
          </a:prstGeom>
          <a:noFill/>
          <a:ln/>
        </p:spPr>
        <p:txBody>
          <a:bodyPr wrap="square" lIns="0" tIns="0" rIns="0" bIns="0" rtlCol="0" anchor="ctr"/>
          <a:lstStyle/>
          <a:p>
            <a:pPr marL="0" indent="0" algn="ctr">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No sharing mechanism is free: puncturing hurts eMBB, NOMA adds interference and SIC delay.</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fr-FR" sz="1100" dirty="0">
                <a:solidFill>
                  <a:srgbClr val="5F7A8A"/>
                </a:solidFill>
                <a:latin typeface="Calibri" pitchFamily="34" charset="0"/>
                <a:ea typeface="Calibri" pitchFamily="34" charset="-122"/>
                <a:cs typeface="Calibri" pitchFamily="34" charset="-120"/>
              </a:rPr>
              <a:t>51</a:t>
            </a:r>
            <a:endParaRPr lang="en-US" sz="1100" dirty="0"/>
          </a:p>
        </p:txBody>
      </p:sp>
      <p:sp>
        <p:nvSpPr>
          <p:cNvPr id="13" name="Text 10"/>
          <p:cNvSpPr txBox="1"/>
          <p:nvPr/>
        </p:nvSpPr>
        <p:spPr>
          <a:xfrm>
            <a:off x="6126480" y="1645920"/>
            <a:ext cx="5394960" cy="379476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Slots and mini-slots</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eMBB is scheduled per slot; URLLC arrives in mini-slots inside it</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Puncturing</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eMBB power set to zero in the mini-slot: no interference, but eMBB loses rate</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Superposition</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Both share the mini-slot; URLLC power factor 0.5–1 (puncturing = 1)</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OMA vs NOMA</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OMA: no interference, low efficiency · NOMA: efficient, but SIC delay conflicts with URLLC</a:t>
            </a:r>
            <a:endParaRPr lang="en-US" sz="1450" dirty="0"/>
          </a:p>
          <a:p>
            <a:pPr marL="0" indent="0">
              <a:buNone/>
            </a:pPr>
            <a:r>
              <a:rPr lang="en-US" sz="1450" b="1" dirty="0">
                <a:solidFill>
                  <a:srgbClr val="12394D"/>
                </a:solidFill>
                <a:latin typeface="Calibri" pitchFamily="34" charset="0"/>
                <a:ea typeface="Calibri" pitchFamily="34" charset="-122"/>
                <a:cs typeface="Calibri" pitchFamily="34" charset="-120"/>
              </a:rPr>
              <a:t>RSMA</a:t>
            </a:r>
            <a:endParaRPr lang="en-US" sz="1450" dirty="0"/>
          </a:p>
          <a:p>
            <a:pPr marL="0" indent="0">
              <a:spcAft>
                <a:spcPts val="700"/>
              </a:spcAft>
              <a:buNone/>
            </a:pPr>
            <a:r>
              <a:rPr lang="en-US" sz="1250" dirty="0">
                <a:solidFill>
                  <a:srgbClr val="5F7A8A"/>
                </a:solidFill>
                <a:latin typeface="Calibri" pitchFamily="34" charset="0"/>
                <a:ea typeface="Calibri" pitchFamily="34" charset="-122"/>
                <a:cs typeface="Calibri" pitchFamily="34" charset="-120"/>
              </a:rPr>
              <a:t>Decodes part of the interference: robust to imperfect CSI</a:t>
            </a:r>
            <a:endParaRPr lang="en-US" sz="1450" dirty="0"/>
          </a:p>
        </p:txBody>
      </p:sp>
      <p:pic>
        <p:nvPicPr>
          <p:cNvPr id="14" name="Image 13">
            <a:extLst>
              <a:ext uri="{FF2B5EF4-FFF2-40B4-BE49-F238E27FC236}">
                <a16:creationId xmlns:a16="http://schemas.microsoft.com/office/drawing/2014/main" id="{ABE117F7-0FE4-554C-48DB-233D36EAFEE3}"/>
              </a:ext>
            </a:extLst>
          </p:cNvPr>
          <p:cNvPicPr>
            <a:picLocks noChangeAspect="1"/>
          </p:cNvPicPr>
          <p:nvPr/>
        </p:nvPicPr>
        <p:blipFill>
          <a:blip r:embed="rId3"/>
          <a:stretch>
            <a:fillRect/>
          </a:stretch>
        </p:blipFill>
        <p:spPr>
          <a:xfrm>
            <a:off x="1543528" y="1202307"/>
            <a:ext cx="3011219" cy="2413364"/>
          </a:xfrm>
          <a:prstGeom prst="rect">
            <a:avLst/>
          </a:prstGeom>
        </p:spPr>
      </p:pic>
      <p:pic>
        <p:nvPicPr>
          <p:cNvPr id="16" name="Image 15">
            <a:extLst>
              <a:ext uri="{FF2B5EF4-FFF2-40B4-BE49-F238E27FC236}">
                <a16:creationId xmlns:a16="http://schemas.microsoft.com/office/drawing/2014/main" id="{41E401B8-1C9D-9E96-2A0D-1A76580E4A2E}"/>
              </a:ext>
            </a:extLst>
          </p:cNvPr>
          <p:cNvPicPr>
            <a:picLocks noChangeAspect="1"/>
          </p:cNvPicPr>
          <p:nvPr/>
        </p:nvPicPr>
        <p:blipFill>
          <a:blip r:embed="rId4"/>
          <a:stretch>
            <a:fillRect/>
          </a:stretch>
        </p:blipFill>
        <p:spPr>
          <a:xfrm>
            <a:off x="1537629" y="3615671"/>
            <a:ext cx="3017118" cy="234518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The rate-loss model: how URLLC load is charged to eMBB</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The choice of h(·) is a modelling assumption that every coexistence study, mine included, should state.</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52</a:t>
            </a:r>
            <a:endParaRPr lang="en-US" sz="1100" dirty="0"/>
          </a:p>
        </p:txBody>
      </p:sp>
      <p:sp>
        <p:nvSpPr>
          <p:cNvPr id="9" name="Shape 6"/>
          <p:cNvSpPr/>
          <p:nvPr/>
        </p:nvSpPr>
        <p:spPr>
          <a:xfrm>
            <a:off x="640080" y="1645920"/>
            <a:ext cx="5120640" cy="2788920"/>
          </a:xfrm>
          <a:prstGeom prst="roundRect">
            <a:avLst>
              <a:gd name="adj" fmla="val 1967"/>
            </a:avLst>
          </a:prstGeom>
          <a:solidFill>
            <a:srgbClr val="F7FAFB"/>
          </a:solidFill>
          <a:ln w="15875">
            <a:solidFill>
              <a:srgbClr val="9FB4C2"/>
            </a:solidFill>
            <a:prstDash val="dash"/>
          </a:ln>
        </p:spPr>
        <p:txBody>
          <a:bodyPr/>
          <a:lstStyle/>
          <a:p>
            <a:endParaRPr lang="en-US"/>
          </a:p>
        </p:txBody>
      </p:sp>
      <p:sp>
        <p:nvSpPr>
          <p:cNvPr id="11" name="Text 8"/>
          <p:cNvSpPr txBox="1"/>
          <p:nvPr/>
        </p:nvSpPr>
        <p:spPr>
          <a:xfrm>
            <a:off x="640080" y="4617720"/>
            <a:ext cx="5120640" cy="822960"/>
          </a:xfrm>
          <a:prstGeom prst="rect">
            <a:avLst/>
          </a:prstGeom>
          <a:noFill/>
          <a:ln/>
        </p:spPr>
        <p:txBody>
          <a:bodyPr wrap="square" lIns="0" tIns="0" rIns="0" bIns="0" rtlCol="0" anchor="t"/>
          <a:lstStyle/>
          <a:p>
            <a:pPr marL="0" indent="0" algn="ctr">
              <a:buNone/>
            </a:pPr>
            <a:r>
              <a:rPr lang="en-US" sz="2000" b="1" dirty="0">
                <a:solidFill>
                  <a:srgbClr val="12394D"/>
                </a:solidFill>
                <a:latin typeface="Cambria" pitchFamily="34" charset="0"/>
                <a:ea typeface="Cambria" pitchFamily="34" charset="-122"/>
                <a:cs typeface="Cambria" pitchFamily="34" charset="-120"/>
              </a:rPr>
              <a:t>g = r · ψ · ( 1 − h( L / ψ ) )</a:t>
            </a:r>
            <a:endParaRPr lang="en-US" sz="2000" dirty="0"/>
          </a:p>
          <a:p>
            <a:pPr marL="0" indent="0" algn="ctr">
              <a:buNone/>
            </a:pPr>
            <a:r>
              <a:rPr lang="en-US" sz="1250" dirty="0">
                <a:solidFill>
                  <a:srgbClr val="5F7A8A"/>
                </a:solidFill>
                <a:latin typeface="Calibri" pitchFamily="34" charset="0"/>
                <a:ea typeface="Calibri" pitchFamily="34" charset="-122"/>
                <a:cs typeface="Calibri" pitchFamily="34" charset="-120"/>
              </a:rPr>
              <a:t>r: mean eMBB rate  ·  ψ: eMBB allocation  ·  L: URLLC load</a:t>
            </a:r>
            <a:endParaRPr lang="en-US" sz="2000" dirty="0"/>
          </a:p>
        </p:txBody>
      </p:sp>
      <p:sp>
        <p:nvSpPr>
          <p:cNvPr id="12" name="Shape 9"/>
          <p:cNvSpPr/>
          <p:nvPr/>
        </p:nvSpPr>
        <p:spPr>
          <a:xfrm>
            <a:off x="6126480" y="1645920"/>
            <a:ext cx="5394960" cy="1161288"/>
          </a:xfrm>
          <a:prstGeom prst="roundRect">
            <a:avLst>
              <a:gd name="adj" fmla="val 4724"/>
            </a:avLst>
          </a:prstGeom>
          <a:solidFill>
            <a:srgbClr val="12394D"/>
          </a:solidFill>
          <a:ln w="12700">
            <a:solidFill>
              <a:srgbClr val="12394D"/>
            </a:solidFill>
            <a:prstDash val="solid"/>
          </a:ln>
        </p:spPr>
        <p:txBody>
          <a:bodyPr/>
          <a:lstStyle/>
          <a:p>
            <a:endParaRPr lang="en-US"/>
          </a:p>
        </p:txBody>
      </p:sp>
      <p:sp>
        <p:nvSpPr>
          <p:cNvPr id="13" name="Text 10"/>
          <p:cNvSpPr txBox="1"/>
          <p:nvPr/>
        </p:nvSpPr>
        <p:spPr>
          <a:xfrm>
            <a:off x="6355080" y="1810512"/>
            <a:ext cx="4937760" cy="411480"/>
          </a:xfrm>
          <a:prstGeom prst="rect">
            <a:avLst/>
          </a:prstGeom>
          <a:noFill/>
          <a:ln/>
        </p:spPr>
        <p:txBody>
          <a:bodyPr wrap="square" lIns="0" tIns="0" rIns="0" bIns="0" rtlCol="0" anchor="t"/>
          <a:lstStyle/>
          <a:p>
            <a:pPr marL="0" indent="0">
              <a:buNone/>
            </a:pPr>
            <a:r>
              <a:rPr lang="en-US" sz="1500" b="1" dirty="0">
                <a:solidFill>
                  <a:srgbClr val="FFFFFF"/>
                </a:solidFill>
                <a:latin typeface="Cambria" pitchFamily="34" charset="0"/>
                <a:ea typeface="Cambria" pitchFamily="34" charset="-122"/>
                <a:cs typeface="Cambria" pitchFamily="34" charset="-120"/>
              </a:rPr>
              <a:t>Linear  h(x) = x</a:t>
            </a:r>
            <a:endParaRPr lang="en-US" sz="1500" dirty="0"/>
          </a:p>
        </p:txBody>
      </p:sp>
      <p:sp>
        <p:nvSpPr>
          <p:cNvPr id="14" name="Text 11"/>
          <p:cNvSpPr txBox="1"/>
          <p:nvPr/>
        </p:nvSpPr>
        <p:spPr>
          <a:xfrm>
            <a:off x="6355080" y="2148840"/>
            <a:ext cx="4937760" cy="548640"/>
          </a:xfrm>
          <a:prstGeom prst="rect">
            <a:avLst/>
          </a:prstGeom>
          <a:noFill/>
          <a:ln/>
        </p:spPr>
        <p:txBody>
          <a:bodyPr wrap="square" lIns="0" tIns="0" rIns="0" bIns="0" rtlCol="0" anchor="t"/>
          <a:lstStyle/>
          <a:p>
            <a:pPr marL="0" indent="0">
              <a:buNone/>
            </a:pPr>
            <a:r>
              <a:rPr lang="en-US" sz="1250" dirty="0">
                <a:solidFill>
                  <a:srgbClr val="C3D3DD"/>
                </a:solidFill>
                <a:latin typeface="Calibri" pitchFamily="34" charset="0"/>
                <a:ea typeface="Calibri" pitchFamily="34" charset="-122"/>
                <a:cs typeface="Calibri" pitchFamily="34" charset="-120"/>
              </a:rPr>
              <a:t>Loss proportional to the punctured fraction; the joint scheduler decomposes cleanly; any URLLC arrival distribution</a:t>
            </a:r>
            <a:endParaRPr lang="en-US" sz="1250" dirty="0"/>
          </a:p>
        </p:txBody>
      </p:sp>
      <p:sp>
        <p:nvSpPr>
          <p:cNvPr id="15" name="Shape 12"/>
          <p:cNvSpPr/>
          <p:nvPr/>
        </p:nvSpPr>
        <p:spPr>
          <a:xfrm>
            <a:off x="6126480" y="2926080"/>
            <a:ext cx="5394960" cy="1161288"/>
          </a:xfrm>
          <a:prstGeom prst="roundRect">
            <a:avLst>
              <a:gd name="adj" fmla="val 4724"/>
            </a:avLst>
          </a:prstGeom>
          <a:solidFill>
            <a:srgbClr val="F0F5F7"/>
          </a:solidFill>
          <a:ln w="12700">
            <a:solidFill>
              <a:srgbClr val="F0F5F7"/>
            </a:solidFill>
            <a:prstDash val="solid"/>
          </a:ln>
        </p:spPr>
        <p:txBody>
          <a:bodyPr/>
          <a:lstStyle/>
          <a:p>
            <a:endParaRPr lang="en-US"/>
          </a:p>
        </p:txBody>
      </p:sp>
      <p:sp>
        <p:nvSpPr>
          <p:cNvPr id="16" name="Text 13"/>
          <p:cNvSpPr txBox="1"/>
          <p:nvPr/>
        </p:nvSpPr>
        <p:spPr>
          <a:xfrm>
            <a:off x="6355080" y="3090672"/>
            <a:ext cx="4937760" cy="411480"/>
          </a:xfrm>
          <a:prstGeom prst="rect">
            <a:avLst/>
          </a:prstGeom>
          <a:noFill/>
          <a:ln/>
        </p:spPr>
        <p:txBody>
          <a:bodyPr wrap="square" lIns="0" tIns="0" rIns="0" bIns="0" rtlCol="0" anchor="t"/>
          <a:lstStyle/>
          <a:p>
            <a:pPr marL="0" indent="0">
              <a:buNone/>
            </a:pPr>
            <a:r>
              <a:rPr lang="en-US" sz="1500" b="1" dirty="0">
                <a:solidFill>
                  <a:srgbClr val="12394D"/>
                </a:solidFill>
                <a:latin typeface="Cambria" pitchFamily="34" charset="0"/>
                <a:ea typeface="Cambria" pitchFamily="34" charset="-122"/>
                <a:cs typeface="Cambria" pitchFamily="34" charset="-120"/>
              </a:rPr>
              <a:t>Convex</a:t>
            </a:r>
            <a:endParaRPr lang="en-US" sz="1500" dirty="0"/>
          </a:p>
        </p:txBody>
      </p:sp>
      <p:sp>
        <p:nvSpPr>
          <p:cNvPr id="17" name="Text 14"/>
          <p:cNvSpPr txBox="1"/>
          <p:nvPr/>
        </p:nvSpPr>
        <p:spPr>
          <a:xfrm>
            <a:off x="6355080" y="3429000"/>
            <a:ext cx="4937760" cy="5486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Loss grows faster than linearly; needs an approximation algorithm; eMBB users spread across the whole slot</a:t>
            </a:r>
            <a:endParaRPr lang="en-US" sz="1250" dirty="0"/>
          </a:p>
        </p:txBody>
      </p:sp>
      <p:sp>
        <p:nvSpPr>
          <p:cNvPr id="18" name="Shape 15"/>
          <p:cNvSpPr/>
          <p:nvPr/>
        </p:nvSpPr>
        <p:spPr>
          <a:xfrm>
            <a:off x="6126480" y="4206240"/>
            <a:ext cx="5394960" cy="1161288"/>
          </a:xfrm>
          <a:prstGeom prst="roundRect">
            <a:avLst>
              <a:gd name="adj" fmla="val 4724"/>
            </a:avLst>
          </a:prstGeom>
          <a:solidFill>
            <a:srgbClr val="F0F5F7"/>
          </a:solidFill>
          <a:ln w="12700">
            <a:solidFill>
              <a:srgbClr val="F0F5F7"/>
            </a:solidFill>
            <a:prstDash val="solid"/>
          </a:ln>
        </p:spPr>
        <p:txBody>
          <a:bodyPr/>
          <a:lstStyle/>
          <a:p>
            <a:endParaRPr lang="en-US"/>
          </a:p>
        </p:txBody>
      </p:sp>
      <p:sp>
        <p:nvSpPr>
          <p:cNvPr id="19" name="Text 16"/>
          <p:cNvSpPr txBox="1"/>
          <p:nvPr/>
        </p:nvSpPr>
        <p:spPr>
          <a:xfrm>
            <a:off x="6355080" y="4370832"/>
            <a:ext cx="4937760" cy="411480"/>
          </a:xfrm>
          <a:prstGeom prst="rect">
            <a:avLst/>
          </a:prstGeom>
          <a:noFill/>
          <a:ln/>
        </p:spPr>
        <p:txBody>
          <a:bodyPr wrap="square" lIns="0" tIns="0" rIns="0" bIns="0" rtlCol="0" anchor="t"/>
          <a:lstStyle/>
          <a:p>
            <a:pPr marL="0" indent="0">
              <a:buNone/>
            </a:pPr>
            <a:r>
              <a:rPr lang="en-US" sz="1500" b="1" dirty="0">
                <a:solidFill>
                  <a:srgbClr val="12394D"/>
                </a:solidFill>
                <a:latin typeface="Cambria" pitchFamily="34" charset="0"/>
                <a:ea typeface="Cambria" pitchFamily="34" charset="-122"/>
                <a:cs typeface="Cambria" pitchFamily="34" charset="-120"/>
              </a:rPr>
              <a:t>Threshold (0–1)</a:t>
            </a:r>
            <a:endParaRPr lang="en-US" sz="1500" dirty="0"/>
          </a:p>
        </p:txBody>
      </p:sp>
      <p:sp>
        <p:nvSpPr>
          <p:cNvPr id="20" name="Text 17"/>
          <p:cNvSpPr txBox="1"/>
          <p:nvPr/>
        </p:nvSpPr>
        <p:spPr>
          <a:xfrm>
            <a:off x="6355080" y="4709160"/>
            <a:ext cx="4937760" cy="548640"/>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No loss until a threshold, then the codeword is lost entirely; URLLC placed proportionally to rate</a:t>
            </a:r>
            <a:endParaRPr lang="en-US" sz="1250" dirty="0"/>
          </a:p>
        </p:txBody>
      </p:sp>
      <p:pic>
        <p:nvPicPr>
          <p:cNvPr id="21" name="Image 20">
            <a:extLst>
              <a:ext uri="{FF2B5EF4-FFF2-40B4-BE49-F238E27FC236}">
                <a16:creationId xmlns:a16="http://schemas.microsoft.com/office/drawing/2014/main" id="{F8D92261-3D71-CC9E-CA31-06044B49ACF7}"/>
              </a:ext>
            </a:extLst>
          </p:cNvPr>
          <p:cNvPicPr>
            <a:picLocks noChangeAspect="1"/>
          </p:cNvPicPr>
          <p:nvPr/>
        </p:nvPicPr>
        <p:blipFill>
          <a:blip r:embed="rId3"/>
          <a:stretch>
            <a:fillRect/>
          </a:stretch>
        </p:blipFill>
        <p:spPr>
          <a:xfrm>
            <a:off x="868680" y="2020139"/>
            <a:ext cx="4629796" cy="218152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Optimisation-based allocation: slicing, scheduling, flexible TTI</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URLLC QoS depends on the URLLC load itself: results must be reported across loads.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53</a:t>
            </a:r>
            <a:endParaRPr lang="en-US" sz="1100" dirty="0"/>
          </a:p>
        </p:txBody>
      </p:sp>
      <p:sp>
        <p:nvSpPr>
          <p:cNvPr id="11" name="Shape 8"/>
          <p:cNvSpPr/>
          <p:nvPr/>
        </p:nvSpPr>
        <p:spPr>
          <a:xfrm>
            <a:off x="4617720" y="1645920"/>
            <a:ext cx="333756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2" name="Text 9"/>
          <p:cNvSpPr txBox="1"/>
          <p:nvPr/>
        </p:nvSpPr>
        <p:spPr>
          <a:xfrm>
            <a:off x="4846320" y="1810512"/>
            <a:ext cx="2880360" cy="411480"/>
          </a:xfrm>
          <a:prstGeom prst="rect">
            <a:avLst/>
          </a:prstGeom>
          <a:noFill/>
          <a:ln/>
        </p:spPr>
        <p:txBody>
          <a:bodyPr wrap="square" lIns="0" tIns="0" rIns="0" bIns="0" rtlCol="0" anchor="t"/>
          <a:lstStyle/>
          <a:p>
            <a:pPr marL="0" indent="0">
              <a:buNone/>
            </a:pPr>
            <a:r>
              <a:rPr lang="en-US" sz="1500" b="1" dirty="0">
                <a:solidFill>
                  <a:srgbClr val="12394D"/>
                </a:solidFill>
                <a:latin typeface="Cambria" pitchFamily="34" charset="0"/>
                <a:ea typeface="Cambria" pitchFamily="34" charset="-122"/>
                <a:cs typeface="Cambria" pitchFamily="34" charset="-120"/>
              </a:rPr>
              <a:t>General optimisation</a:t>
            </a:r>
            <a:endParaRPr lang="en-US" sz="1500" dirty="0"/>
          </a:p>
        </p:txBody>
      </p:sp>
      <p:sp>
        <p:nvSpPr>
          <p:cNvPr id="13" name="Text 10"/>
          <p:cNvSpPr txBox="1"/>
          <p:nvPr/>
        </p:nvSpPr>
        <p:spPr>
          <a:xfrm>
            <a:off x="4846320" y="2212848"/>
            <a:ext cx="2880360" cy="1106424"/>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Matching, BCD, Lyapunov, MINLP. DDGSP error 48.2 → 4.1 %; multi-connectivity up to +49 % throughput</a:t>
            </a:r>
            <a:endParaRPr lang="en-US" sz="1250" dirty="0"/>
          </a:p>
        </p:txBody>
      </p:sp>
      <p:sp>
        <p:nvSpPr>
          <p:cNvPr id="14" name="Shape 11"/>
          <p:cNvSpPr/>
          <p:nvPr/>
        </p:nvSpPr>
        <p:spPr>
          <a:xfrm>
            <a:off x="8183880" y="1645920"/>
            <a:ext cx="333756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15" name="Text 12"/>
          <p:cNvSpPr txBox="1"/>
          <p:nvPr/>
        </p:nvSpPr>
        <p:spPr>
          <a:xfrm>
            <a:off x="8412480" y="1810512"/>
            <a:ext cx="2880360" cy="411480"/>
          </a:xfrm>
          <a:prstGeom prst="rect">
            <a:avLst/>
          </a:prstGeom>
          <a:noFill/>
          <a:ln/>
        </p:spPr>
        <p:txBody>
          <a:bodyPr wrap="square" lIns="0" tIns="0" rIns="0" bIns="0" rtlCol="0" anchor="t"/>
          <a:lstStyle/>
          <a:p>
            <a:pPr marL="0" indent="0">
              <a:buNone/>
            </a:pPr>
            <a:r>
              <a:rPr lang="en-US" sz="1500" b="1" dirty="0">
                <a:solidFill>
                  <a:srgbClr val="12394D"/>
                </a:solidFill>
                <a:latin typeface="Cambria" pitchFamily="34" charset="0"/>
                <a:ea typeface="Cambria" pitchFamily="34" charset="-122"/>
                <a:cs typeface="Cambria" pitchFamily="34" charset="-120"/>
              </a:rPr>
              <a:t>Network slicing</a:t>
            </a:r>
            <a:endParaRPr lang="en-US" sz="1500" dirty="0"/>
          </a:p>
        </p:txBody>
      </p:sp>
      <p:sp>
        <p:nvSpPr>
          <p:cNvPr id="16" name="Text 13"/>
          <p:cNvSpPr txBox="1"/>
          <p:nvPr/>
        </p:nvSpPr>
        <p:spPr>
          <a:xfrm>
            <a:off x="8412480" y="2212848"/>
            <a:ext cx="2880360" cy="1106424"/>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OMA, NOMA and RSMA slices; RSMA has the largest rate region and tolerates imperfect CSI</a:t>
            </a:r>
            <a:endParaRPr lang="en-US" sz="1250" dirty="0"/>
          </a:p>
        </p:txBody>
      </p:sp>
      <p:sp>
        <p:nvSpPr>
          <p:cNvPr id="17" name="Shape 14"/>
          <p:cNvSpPr/>
          <p:nvPr/>
        </p:nvSpPr>
        <p:spPr>
          <a:xfrm>
            <a:off x="4617720" y="3566160"/>
            <a:ext cx="3337560" cy="1783080"/>
          </a:xfrm>
          <a:prstGeom prst="roundRect">
            <a:avLst>
              <a:gd name="adj" fmla="val 3077"/>
            </a:avLst>
          </a:prstGeom>
          <a:solidFill>
            <a:srgbClr val="12394D"/>
          </a:solidFill>
          <a:ln w="12700">
            <a:solidFill>
              <a:srgbClr val="12394D"/>
            </a:solidFill>
            <a:prstDash val="solid"/>
          </a:ln>
        </p:spPr>
        <p:txBody>
          <a:bodyPr/>
          <a:lstStyle/>
          <a:p>
            <a:endParaRPr lang="en-US"/>
          </a:p>
        </p:txBody>
      </p:sp>
      <p:sp>
        <p:nvSpPr>
          <p:cNvPr id="18" name="Text 15"/>
          <p:cNvSpPr txBox="1"/>
          <p:nvPr/>
        </p:nvSpPr>
        <p:spPr>
          <a:xfrm>
            <a:off x="4846320" y="3730752"/>
            <a:ext cx="2880360" cy="411480"/>
          </a:xfrm>
          <a:prstGeom prst="rect">
            <a:avLst/>
          </a:prstGeom>
          <a:noFill/>
          <a:ln/>
        </p:spPr>
        <p:txBody>
          <a:bodyPr wrap="square" lIns="0" tIns="0" rIns="0" bIns="0" rtlCol="0" anchor="t"/>
          <a:lstStyle/>
          <a:p>
            <a:pPr marL="0" indent="0">
              <a:buNone/>
            </a:pPr>
            <a:r>
              <a:rPr lang="en-US" sz="1500" b="1" dirty="0">
                <a:solidFill>
                  <a:srgbClr val="FFFFFF"/>
                </a:solidFill>
                <a:latin typeface="Cambria" pitchFamily="34" charset="0"/>
                <a:ea typeface="Cambria" pitchFamily="34" charset="-122"/>
                <a:cs typeface="Cambria" pitchFamily="34" charset="-120"/>
              </a:rPr>
              <a:t>Scheduling</a:t>
            </a:r>
            <a:endParaRPr lang="en-US" sz="1500" dirty="0"/>
          </a:p>
        </p:txBody>
      </p:sp>
      <p:sp>
        <p:nvSpPr>
          <p:cNvPr id="19" name="Text 16"/>
          <p:cNvSpPr txBox="1"/>
          <p:nvPr/>
        </p:nvSpPr>
        <p:spPr>
          <a:xfrm>
            <a:off x="4846320" y="4133088"/>
            <a:ext cx="2880360" cy="1106424"/>
          </a:xfrm>
          <a:prstGeom prst="rect">
            <a:avLst/>
          </a:prstGeom>
          <a:noFill/>
          <a:ln/>
        </p:spPr>
        <p:txBody>
          <a:bodyPr wrap="square" lIns="0" tIns="0" rIns="0" bIns="0" rtlCol="0" anchor="t"/>
          <a:lstStyle/>
          <a:p>
            <a:pPr marL="0" indent="0">
              <a:buNone/>
            </a:pPr>
            <a:r>
              <a:rPr lang="en-US" sz="1250" dirty="0">
                <a:solidFill>
                  <a:srgbClr val="C3D3DD"/>
                </a:solidFill>
                <a:latin typeface="Calibri" pitchFamily="34" charset="0"/>
                <a:ea typeface="Calibri" pitchFamily="34" charset="-122"/>
                <a:cs typeface="Calibri" pitchFamily="34" charset="-120"/>
              </a:rPr>
              <a:t>Null-space pre-emption (eNSBPS). Joint link adaptation: URLLC 1.3 → 1 ms at 99.999th pct for −10 % eMBB</a:t>
            </a:r>
            <a:endParaRPr lang="en-US" sz="1250" dirty="0"/>
          </a:p>
        </p:txBody>
      </p:sp>
      <p:sp>
        <p:nvSpPr>
          <p:cNvPr id="20" name="Shape 17"/>
          <p:cNvSpPr/>
          <p:nvPr/>
        </p:nvSpPr>
        <p:spPr>
          <a:xfrm>
            <a:off x="8183880" y="3566160"/>
            <a:ext cx="3337560" cy="1783080"/>
          </a:xfrm>
          <a:prstGeom prst="roundRect">
            <a:avLst>
              <a:gd name="adj" fmla="val 3077"/>
            </a:avLst>
          </a:prstGeom>
          <a:solidFill>
            <a:srgbClr val="F0F5F7"/>
          </a:solidFill>
          <a:ln w="12700">
            <a:solidFill>
              <a:srgbClr val="F0F5F7"/>
            </a:solidFill>
            <a:prstDash val="solid"/>
          </a:ln>
        </p:spPr>
        <p:txBody>
          <a:bodyPr/>
          <a:lstStyle/>
          <a:p>
            <a:endParaRPr lang="en-US"/>
          </a:p>
        </p:txBody>
      </p:sp>
      <p:sp>
        <p:nvSpPr>
          <p:cNvPr id="21" name="Text 18"/>
          <p:cNvSpPr txBox="1"/>
          <p:nvPr/>
        </p:nvSpPr>
        <p:spPr>
          <a:xfrm>
            <a:off x="8412480" y="3730752"/>
            <a:ext cx="2880360" cy="411480"/>
          </a:xfrm>
          <a:prstGeom prst="rect">
            <a:avLst/>
          </a:prstGeom>
          <a:noFill/>
          <a:ln/>
        </p:spPr>
        <p:txBody>
          <a:bodyPr wrap="square" lIns="0" tIns="0" rIns="0" bIns="0" rtlCol="0" anchor="t"/>
          <a:lstStyle/>
          <a:p>
            <a:pPr marL="0" indent="0">
              <a:buNone/>
            </a:pPr>
            <a:r>
              <a:rPr lang="en-US" sz="1500" b="1" dirty="0">
                <a:solidFill>
                  <a:srgbClr val="12394D"/>
                </a:solidFill>
                <a:latin typeface="Cambria" pitchFamily="34" charset="0"/>
                <a:ea typeface="Cambria" pitchFamily="34" charset="-122"/>
                <a:cs typeface="Cambria" pitchFamily="34" charset="-120"/>
              </a:rPr>
              <a:t>Flexible TTI</a:t>
            </a:r>
            <a:endParaRPr lang="en-US" sz="1500" dirty="0"/>
          </a:p>
        </p:txBody>
      </p:sp>
      <p:sp>
        <p:nvSpPr>
          <p:cNvPr id="22" name="Text 19"/>
          <p:cNvSpPr txBox="1"/>
          <p:nvPr/>
        </p:nvSpPr>
        <p:spPr>
          <a:xfrm>
            <a:off x="8412480" y="4133088"/>
            <a:ext cx="2880360" cy="1106424"/>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Short TTIs help only at low URLLC load; under heavy load, control overhead favours longer TTIs</a:t>
            </a:r>
            <a:endParaRPr lang="en-US" sz="1250" dirty="0"/>
          </a:p>
        </p:txBody>
      </p:sp>
      <p:pic>
        <p:nvPicPr>
          <p:cNvPr id="23" name="Image 22">
            <a:extLst>
              <a:ext uri="{FF2B5EF4-FFF2-40B4-BE49-F238E27FC236}">
                <a16:creationId xmlns:a16="http://schemas.microsoft.com/office/drawing/2014/main" id="{ABB9E97E-60E8-A8AF-2128-99250E0A2426}"/>
              </a:ext>
            </a:extLst>
          </p:cNvPr>
          <p:cNvPicPr>
            <a:picLocks noChangeAspect="1"/>
          </p:cNvPicPr>
          <p:nvPr/>
        </p:nvPicPr>
        <p:blipFill>
          <a:blip r:embed="rId3"/>
          <a:stretch>
            <a:fillRect/>
          </a:stretch>
        </p:blipFill>
        <p:spPr>
          <a:xfrm>
            <a:off x="487179" y="2239163"/>
            <a:ext cx="3589016" cy="237967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Learning-based allocation: ML, distributed and federated</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All learning-based coexistence work is trained online: none learns from network logs.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54</a:t>
            </a:r>
            <a:endParaRPr lang="en-US" sz="1100" dirty="0"/>
          </a:p>
        </p:txBody>
      </p:sp>
      <p:sp>
        <p:nvSpPr>
          <p:cNvPr id="9" name="Text 6"/>
          <p:cNvSpPr txBox="1"/>
          <p:nvPr/>
        </p:nvSpPr>
        <p:spPr>
          <a:xfrm>
            <a:off x="640080" y="1645920"/>
            <a:ext cx="64008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ML-BASED WORKS AND RESULTS</a:t>
            </a:r>
            <a:endParaRPr lang="en-US" sz="1200" dirty="0"/>
          </a:p>
        </p:txBody>
      </p:sp>
      <p:graphicFrame>
        <p:nvGraphicFramePr>
          <p:cNvPr id="27" name="Table 0"/>
          <p:cNvGraphicFramePr>
            <a:graphicFrameLocks noGrp="1"/>
          </p:cNvGraphicFramePr>
          <p:nvPr/>
        </p:nvGraphicFramePr>
        <p:xfrm>
          <a:off x="640080" y="1965960"/>
          <a:ext cx="6400800"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38912">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extLst>
                  <a:ext uri="{0D108BD9-81ED-4DB2-BD59-A6C34878D82A}">
                    <a16:rowId xmlns:a16="http://schemas.microsoft.com/office/drawing/2014/main" val="10000"/>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RF-ETDA (random-forest TTI)</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−45.6 % URLLC delay</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Alsenwi et al. (DRL, URLLC constraints)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eMBB reliability &gt; 90 %</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2"/>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DRSA (MDP-DRL, flexible numerology)</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+7–24 % throughput</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DDPG</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URLLC overlap position + bandwidth</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4"/>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PPO puncturing + water-filling</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assumes perfect CSI</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DRL-NS with action elimination</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dirty="0">
                          <a:solidFill>
                            <a:srgbClr val="2A3F4C"/>
                          </a:solidFill>
                          <a:latin typeface="Calibri" pitchFamily="34" charset="0"/>
                          <a:ea typeface="Calibri" pitchFamily="34" charset="-122"/>
                          <a:cs typeface="Calibri" pitchFamily="34" charset="-120"/>
                        </a:rPr>
                        <a:t>+19 / 27 % rate</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6"/>
                  </a:ext>
                </a:extLst>
              </a:tr>
            </a:tbl>
          </a:graphicData>
        </a:graphic>
      </p:graphicFrame>
      <p:sp>
        <p:nvSpPr>
          <p:cNvPr id="11" name="Shape 7"/>
          <p:cNvSpPr/>
          <p:nvPr/>
        </p:nvSpPr>
        <p:spPr>
          <a:xfrm>
            <a:off x="7360920" y="1645920"/>
            <a:ext cx="4160520" cy="1965960"/>
          </a:xfrm>
          <a:prstGeom prst="roundRect">
            <a:avLst>
              <a:gd name="adj" fmla="val 2791"/>
            </a:avLst>
          </a:prstGeom>
          <a:solidFill>
            <a:srgbClr val="F0F5F7"/>
          </a:solidFill>
          <a:ln w="12700">
            <a:solidFill>
              <a:srgbClr val="F0F5F7"/>
            </a:solidFill>
            <a:prstDash val="solid"/>
          </a:ln>
        </p:spPr>
        <p:txBody>
          <a:bodyPr/>
          <a:lstStyle/>
          <a:p>
            <a:endParaRPr lang="en-US"/>
          </a:p>
        </p:txBody>
      </p:sp>
      <p:sp>
        <p:nvSpPr>
          <p:cNvPr id="12" name="Text 8"/>
          <p:cNvSpPr txBox="1"/>
          <p:nvPr/>
        </p:nvSpPr>
        <p:spPr>
          <a:xfrm>
            <a:off x="7589520" y="1810512"/>
            <a:ext cx="3703320" cy="411480"/>
          </a:xfrm>
          <a:prstGeom prst="rect">
            <a:avLst/>
          </a:prstGeom>
          <a:noFill/>
          <a:ln/>
        </p:spPr>
        <p:txBody>
          <a:bodyPr wrap="square" lIns="0" tIns="0" rIns="0" bIns="0" rtlCol="0" anchor="t"/>
          <a:lstStyle/>
          <a:p>
            <a:pPr marL="0" indent="0">
              <a:buNone/>
            </a:pPr>
            <a:r>
              <a:rPr lang="en-US" sz="1600" b="1" dirty="0">
                <a:solidFill>
                  <a:srgbClr val="12394D"/>
                </a:solidFill>
                <a:latin typeface="Cambria" pitchFamily="34" charset="0"/>
                <a:ea typeface="Cambria" pitchFamily="34" charset="-122"/>
                <a:cs typeface="Cambria" pitchFamily="34" charset="-120"/>
              </a:rPr>
              <a:t>Distributed and federated</a:t>
            </a:r>
            <a:endParaRPr lang="en-US" sz="1600" dirty="0"/>
          </a:p>
        </p:txBody>
      </p:sp>
      <p:sp>
        <p:nvSpPr>
          <p:cNvPr id="13" name="Text 9"/>
          <p:cNvSpPr txBox="1"/>
          <p:nvPr/>
        </p:nvSpPr>
        <p:spPr>
          <a:xfrm>
            <a:off x="7589520" y="2194560"/>
            <a:ext cx="3703320" cy="1307592"/>
          </a:xfrm>
          <a:prstGeom prst="rect">
            <a:avLst/>
          </a:prstGeom>
          <a:noFill/>
          <a:ln/>
        </p:spPr>
        <p:txBody>
          <a:bodyPr wrap="square" lIns="0" tIns="0" rIns="0" bIns="0" rtlCol="0" anchor="t"/>
          <a:lstStyle/>
          <a:p>
            <a:pPr marL="0" indent="0">
              <a:buNone/>
            </a:pPr>
            <a:r>
              <a:rPr lang="en-US" sz="1250" dirty="0">
                <a:solidFill>
                  <a:srgbClr val="2A3F4C"/>
                </a:solidFill>
                <a:latin typeface="Calibri" pitchFamily="34" charset="0"/>
                <a:ea typeface="Calibri" pitchFamily="34" charset="-122"/>
                <a:cs typeface="Calibri" pitchFamily="34" charset="-120"/>
              </a:rPr>
              <a:t>URLLC at the edge, eMBB in the cloud; multi-agent actor-critic, mean-field DRL; FL slicing across gNBs and operators; faster convergence than centralised</a:t>
            </a:r>
            <a:endParaRPr lang="en-US" sz="1250" dirty="0"/>
          </a:p>
        </p:txBody>
      </p:sp>
      <p:sp>
        <p:nvSpPr>
          <p:cNvPr id="14" name="Shape 10"/>
          <p:cNvSpPr/>
          <p:nvPr/>
        </p:nvSpPr>
        <p:spPr>
          <a:xfrm>
            <a:off x="7360920" y="3749040"/>
            <a:ext cx="4160520" cy="1645920"/>
          </a:xfrm>
          <a:prstGeom prst="roundRect">
            <a:avLst>
              <a:gd name="adj" fmla="val 3333"/>
            </a:avLst>
          </a:prstGeom>
          <a:solidFill>
            <a:srgbClr val="12394D"/>
          </a:solidFill>
          <a:ln w="12700">
            <a:solidFill>
              <a:srgbClr val="12394D"/>
            </a:solidFill>
            <a:prstDash val="solid"/>
          </a:ln>
        </p:spPr>
        <p:txBody>
          <a:bodyPr/>
          <a:lstStyle/>
          <a:p>
            <a:endParaRPr lang="en-US"/>
          </a:p>
        </p:txBody>
      </p:sp>
      <p:sp>
        <p:nvSpPr>
          <p:cNvPr id="15" name="Text 11"/>
          <p:cNvSpPr txBox="1"/>
          <p:nvPr/>
        </p:nvSpPr>
        <p:spPr>
          <a:xfrm>
            <a:off x="7589520" y="3913632"/>
            <a:ext cx="3703320" cy="41148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Vocabulary check</a:t>
            </a:r>
            <a:endParaRPr lang="en-US" sz="1600" dirty="0"/>
          </a:p>
        </p:txBody>
      </p:sp>
      <p:sp>
        <p:nvSpPr>
          <p:cNvPr id="16" name="Text 12"/>
          <p:cNvSpPr txBox="1"/>
          <p:nvPr/>
        </p:nvSpPr>
        <p:spPr>
          <a:xfrm>
            <a:off x="7589520" y="4297680"/>
            <a:ext cx="3703320" cy="987552"/>
          </a:xfrm>
          <a:prstGeom prst="rect">
            <a:avLst/>
          </a:prstGeom>
          <a:noFill/>
          <a:ln/>
        </p:spPr>
        <p:txBody>
          <a:bodyPr wrap="square" lIns="0" tIns="0" rIns="0" bIns="0" rtlCol="0" anchor="t"/>
          <a:lstStyle/>
          <a:p>
            <a:pPr marL="0" indent="0">
              <a:buNone/>
            </a:pPr>
            <a:r>
              <a:rPr lang="en-US" sz="1350" dirty="0">
                <a:solidFill>
                  <a:srgbClr val="C3D3DD"/>
                </a:solidFill>
                <a:latin typeface="Calibri" pitchFamily="34" charset="0"/>
                <a:ea typeface="Calibri" pitchFamily="34" charset="-122"/>
                <a:cs typeface="Calibri" pitchFamily="34" charset="-120"/>
              </a:rPr>
              <a:t>"Offline" in this survey means offline optimisation with perfect CSI, not offline RL</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Better channels and target applications</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Channel improvement mainly helps eMBB: its URLLC latency cost is still unanalysed.</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55</a:t>
            </a:r>
            <a:endParaRPr lang="en-US" sz="1100" dirty="0"/>
          </a:p>
        </p:txBody>
      </p:sp>
      <p:sp>
        <p:nvSpPr>
          <p:cNvPr id="11" name="Text 8"/>
          <p:cNvSpPr txBox="1"/>
          <p:nvPr/>
        </p:nvSpPr>
        <p:spPr>
          <a:xfrm>
            <a:off x="640080" y="3931920"/>
            <a:ext cx="4846320" cy="1508760"/>
          </a:xfrm>
          <a:prstGeom prst="rect">
            <a:avLst/>
          </a:prstGeom>
          <a:noFill/>
          <a:ln/>
        </p:spPr>
        <p:txBody>
          <a:bodyPr wrap="square" lIns="0" tIns="0" rIns="0" bIns="0" rtlCol="0" anchor="t"/>
          <a:lstStyle/>
          <a:p>
            <a:pPr marL="0" indent="0">
              <a:buNone/>
            </a:pPr>
            <a:r>
              <a:rPr lang="en-US" sz="1400" b="1" dirty="0">
                <a:solidFill>
                  <a:srgbClr val="12394D"/>
                </a:solidFill>
                <a:latin typeface="Calibri" pitchFamily="34" charset="0"/>
                <a:ea typeface="Calibri" pitchFamily="34" charset="-122"/>
                <a:cs typeface="Calibri" pitchFamily="34" charset="-120"/>
              </a:rPr>
              <a:t>RIS</a:t>
            </a:r>
            <a:endParaRPr lang="en-US" sz="1400" dirty="0"/>
          </a:p>
          <a:p>
            <a:pPr marL="0" indent="0">
              <a:spcAft>
                <a:spcPts val="600"/>
              </a:spcAft>
              <a:buNone/>
            </a:pPr>
            <a:r>
              <a:rPr lang="en-US" sz="1250" dirty="0">
                <a:solidFill>
                  <a:srgbClr val="5F7A8A"/>
                </a:solidFill>
                <a:latin typeface="Calibri" pitchFamily="34" charset="0"/>
                <a:ea typeface="Calibri" pitchFamily="34" charset="-122"/>
                <a:cs typeface="Calibri" pitchFamily="34" charset="-120"/>
              </a:rPr>
              <a:t>99.99 % URLLC admission (vs 95.6 % without), +70 % eMBB; phase optimisation adds URLLC delay</a:t>
            </a:r>
            <a:endParaRPr lang="en-US" sz="1400" dirty="0"/>
          </a:p>
          <a:p>
            <a:pPr marL="0" indent="0">
              <a:buNone/>
            </a:pPr>
            <a:r>
              <a:rPr lang="en-US" sz="1400" b="1" dirty="0">
                <a:solidFill>
                  <a:srgbClr val="12394D"/>
                </a:solidFill>
                <a:latin typeface="Calibri" pitchFamily="34" charset="0"/>
                <a:ea typeface="Calibri" pitchFamily="34" charset="-122"/>
                <a:cs typeface="Calibri" pitchFamily="34" charset="-120"/>
              </a:rPr>
              <a:t>UAV + RIS</a:t>
            </a:r>
            <a:endParaRPr lang="en-US" sz="1400" dirty="0"/>
          </a:p>
          <a:p>
            <a:pPr marL="0" indent="0">
              <a:spcAft>
                <a:spcPts val="600"/>
              </a:spcAft>
              <a:buNone/>
            </a:pPr>
            <a:r>
              <a:rPr lang="en-US" sz="1250" dirty="0">
                <a:solidFill>
                  <a:srgbClr val="5F7A8A"/>
                </a:solidFill>
                <a:latin typeface="Calibri" pitchFamily="34" charset="0"/>
                <a:ea typeface="Calibri" pitchFamily="34" charset="-122"/>
                <a:cs typeface="Calibri" pitchFamily="34" charset="-120"/>
              </a:rPr>
              <a:t>Line-of-sight coverage, finite-blocklength design, aerial RIS</a:t>
            </a:r>
            <a:endParaRPr lang="en-US" sz="1400" dirty="0"/>
          </a:p>
        </p:txBody>
      </p:sp>
      <p:sp>
        <p:nvSpPr>
          <p:cNvPr id="12" name="Text 9"/>
          <p:cNvSpPr txBox="1"/>
          <p:nvPr/>
        </p:nvSpPr>
        <p:spPr>
          <a:xfrm>
            <a:off x="5806440" y="1645920"/>
            <a:ext cx="548640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APPLICATION REQUIREMENTS (SECTION IV)</a:t>
            </a:r>
            <a:endParaRPr lang="en-US" sz="1200" dirty="0"/>
          </a:p>
        </p:txBody>
      </p:sp>
      <p:graphicFrame>
        <p:nvGraphicFramePr>
          <p:cNvPr id="28" name="Table 0"/>
          <p:cNvGraphicFramePr>
            <a:graphicFrameLocks noGrp="1"/>
          </p:cNvGraphicFramePr>
          <p:nvPr/>
        </p:nvGraphicFramePr>
        <p:xfrm>
          <a:off x="5806440" y="1965960"/>
          <a:ext cx="5715000" cy="2578608"/>
        </p:xfrm>
        <a:graphic>
          <a:graphicData uri="http://schemas.openxmlformats.org/drawingml/2006/table">
            <a:tbl>
              <a:tblPr/>
              <a:tblGrid>
                <a:gridCol w="24231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2976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Application</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Latency</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Error rate</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Rate</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12394D"/>
                    </a:solidFill>
                  </a:tcPr>
                </a:tc>
                <a:extLst>
                  <a:ext uri="{0D108BD9-81ED-4DB2-BD59-A6C34878D82A}">
                    <a16:rowId xmlns:a16="http://schemas.microsoft.com/office/drawing/2014/main" val="10000"/>
                  </a:ext>
                </a:extLst>
              </a:tr>
              <a:tr h="429768">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Factory automation</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1–10 ms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10⁻⁹</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 100 Mbps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429768">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Robotic motion</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4–8 ms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10⁻⁹</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 100 Mbps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2"/>
                  </a:ext>
                </a:extLst>
              </a:tr>
              <a:tr h="429768">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Smart grid, high voltage</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5 ms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10⁻⁶</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 10 Mbps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3"/>
                  </a:ext>
                </a:extLst>
              </a:tr>
              <a:tr h="429768">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Smart grid, medium voltage</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25 ms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10⁻³</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 10 Mbps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0F5F7"/>
                    </a:solidFill>
                  </a:tcPr>
                </a:tc>
                <a:extLst>
                  <a:ext uri="{0D108BD9-81ED-4DB2-BD59-A6C34878D82A}">
                    <a16:rowId xmlns:a16="http://schemas.microsoft.com/office/drawing/2014/main" val="10004"/>
                  </a:ext>
                </a:extLst>
              </a:tr>
              <a:tr h="429768">
                <a:tc>
                  <a:txBody>
                    <a:bodyPr/>
                    <a:lstStyle/>
                    <a:p>
                      <a:pPr marL="0" indent="0" algn="l">
                        <a:buNone/>
                      </a:pPr>
                      <a:r>
                        <a:rPr lang="en-US" sz="1250" dirty="0">
                          <a:solidFill>
                            <a:srgbClr val="2A3F4C"/>
                          </a:solidFill>
                          <a:latin typeface="Calibri" pitchFamily="34" charset="0"/>
                          <a:ea typeface="Calibri" pitchFamily="34" charset="-122"/>
                          <a:cs typeface="Calibri" pitchFamily="34" charset="-120"/>
                        </a:rPr>
                        <a:t>Autonomous vehicles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&lt; 5 ms</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250" b="1" dirty="0">
                          <a:solidFill>
                            <a:srgbClr val="2A3F4C"/>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54864" marR="54864" marT="54864" marB="54864"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5"/>
                  </a:ext>
                </a:extLst>
              </a:tr>
            </a:tbl>
          </a:graphicData>
        </a:graphic>
      </p:graphicFrame>
      <p:sp>
        <p:nvSpPr>
          <p:cNvPr id="14" name="Text 10"/>
          <p:cNvSpPr txBox="1"/>
          <p:nvPr/>
        </p:nvSpPr>
        <p:spPr>
          <a:xfrm>
            <a:off x="5806440" y="4709160"/>
            <a:ext cx="5715000" cy="457200"/>
          </a:xfrm>
          <a:prstGeom prst="rect">
            <a:avLst/>
          </a:prstGeom>
          <a:noFill/>
          <a:ln/>
        </p:spPr>
        <p:txBody>
          <a:bodyPr wrap="square" lIns="0" tIns="0" rIns="0" bIns="0" rtlCol="0" anchor="t"/>
          <a:lstStyle/>
          <a:p>
            <a:pPr marL="0" indent="0">
              <a:buNone/>
            </a:pPr>
            <a:r>
              <a:rPr lang="en-US" sz="1250" i="1" dirty="0">
                <a:solidFill>
                  <a:srgbClr val="5F7A8A"/>
                </a:solidFill>
                <a:latin typeface="Calibri" pitchFamily="34" charset="0"/>
                <a:ea typeface="Calibri" pitchFamily="34" charset="-122"/>
                <a:cs typeface="Calibri" pitchFamily="34" charset="-120"/>
              </a:rPr>
              <a:t>Healthcare, mining and AR/VR also need both services at once.</a:t>
            </a:r>
            <a:endParaRPr lang="en-US" sz="1250" dirty="0"/>
          </a:p>
        </p:txBody>
      </p:sp>
      <p:pic>
        <p:nvPicPr>
          <p:cNvPr id="13" name="Image 12">
            <a:extLst>
              <a:ext uri="{FF2B5EF4-FFF2-40B4-BE49-F238E27FC236}">
                <a16:creationId xmlns:a16="http://schemas.microsoft.com/office/drawing/2014/main" id="{B7720C8D-D2A2-91DA-682A-BE34FBA16A71}"/>
              </a:ext>
            </a:extLst>
          </p:cNvPr>
          <p:cNvPicPr>
            <a:picLocks noChangeAspect="1"/>
          </p:cNvPicPr>
          <p:nvPr/>
        </p:nvPicPr>
        <p:blipFill>
          <a:blip r:embed="rId3"/>
          <a:stretch>
            <a:fillRect/>
          </a:stretch>
        </p:blipFill>
        <p:spPr>
          <a:xfrm>
            <a:off x="899160" y="1316564"/>
            <a:ext cx="3554076" cy="24416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t"/>
          <a:lstStyle/>
          <a:p>
            <a:pPr marL="0" indent="0">
              <a:buNone/>
            </a:pPr>
            <a:r>
              <a:rPr lang="en-US" sz="1400" b="1" kern="0" spc="200" dirty="0">
                <a:solidFill>
                  <a:srgbClr val="2BB3A3"/>
                </a:solidFill>
                <a:latin typeface="Calibri" pitchFamily="34" charset="0"/>
                <a:ea typeface="Calibri" pitchFamily="34" charset="-122"/>
                <a:cs typeface="Calibri" pitchFamily="34" charset="-120"/>
              </a:rPr>
              <a:t>Survey 3 · Adhikari et al. · eMBB–URLLC coexistence</a:t>
            </a:r>
            <a:endParaRPr lang="en-US" sz="1400" dirty="0"/>
          </a:p>
        </p:txBody>
      </p:sp>
      <p:sp>
        <p:nvSpPr>
          <p:cNvPr id="3" name="Text 1"/>
          <p:cNvSpPr txBox="1"/>
          <p:nvPr/>
        </p:nvSpPr>
        <p:spPr>
          <a:xfrm>
            <a:off x="640080" y="786384"/>
            <a:ext cx="10881360" cy="640080"/>
          </a:xfrm>
          <a:prstGeom prst="rect">
            <a:avLst/>
          </a:prstGeom>
          <a:noFill/>
          <a:ln/>
        </p:spPr>
        <p:txBody>
          <a:bodyPr wrap="square" lIns="0" tIns="0" rIns="0" bIns="0" rtlCol="0" anchor="t">
            <a:normAutofit/>
          </a:bodyPr>
          <a:lstStyle/>
          <a:p>
            <a:pPr marL="0" indent="0">
              <a:buNone/>
            </a:pPr>
            <a:r>
              <a:rPr lang="en-US" sz="2700" b="1" dirty="0">
                <a:solidFill>
                  <a:srgbClr val="12394D"/>
                </a:solidFill>
                <a:latin typeface="Cambria" pitchFamily="34" charset="0"/>
                <a:ea typeface="Cambria" pitchFamily="34" charset="-122"/>
                <a:cs typeface="Cambria" pitchFamily="34" charset="-120"/>
              </a:rPr>
              <a:t>Open challenges, and the opening for my thesis</a:t>
            </a:r>
            <a:endParaRPr lang="en-US" sz="2700" dirty="0"/>
          </a:p>
        </p:txBody>
      </p:sp>
      <p:sp>
        <p:nvSpPr>
          <p:cNvPr id="4" name="Shape 2"/>
          <p:cNvSpPr/>
          <p:nvPr/>
        </p:nvSpPr>
        <p:spPr>
          <a:xfrm>
            <a:off x="640080" y="5596128"/>
            <a:ext cx="10881360" cy="502920"/>
          </a:xfrm>
          <a:prstGeom prst="roundRect">
            <a:avLst>
              <a:gd name="adj" fmla="val 10909"/>
            </a:avLst>
          </a:prstGeom>
          <a:solidFill>
            <a:srgbClr val="E6F4F2"/>
          </a:solidFill>
          <a:ln w="12700">
            <a:solidFill>
              <a:srgbClr val="E6F4F2"/>
            </a:solidFill>
            <a:prstDash val="solid"/>
          </a:ln>
        </p:spPr>
        <p:txBody>
          <a:bodyPr/>
          <a:lstStyle/>
          <a:p>
            <a:endParaRPr lang="en-US"/>
          </a:p>
        </p:txBody>
      </p:sp>
      <p:sp>
        <p:nvSpPr>
          <p:cNvPr id="5" name="Text 3"/>
          <p:cNvSpPr txBox="1"/>
          <p:nvPr/>
        </p:nvSpPr>
        <p:spPr>
          <a:xfrm>
            <a:off x="868680" y="5596128"/>
            <a:ext cx="10469880" cy="502920"/>
          </a:xfrm>
          <a:prstGeom prst="rect">
            <a:avLst/>
          </a:prstGeom>
          <a:noFill/>
          <a:ln/>
        </p:spPr>
        <p:txBody>
          <a:bodyPr wrap="square" lIns="0" tIns="0" rIns="0" bIns="0" rtlCol="0" anchor="ctr"/>
          <a:lstStyle/>
          <a:p>
            <a:pPr marL="0" indent="0">
              <a:buNone/>
            </a:pPr>
            <a:r>
              <a:rPr lang="en-US" sz="1400" b="1" dirty="0">
                <a:solidFill>
                  <a:srgbClr val="1A8A99"/>
                </a:solidFill>
                <a:latin typeface="Calibri" pitchFamily="34" charset="0"/>
                <a:ea typeface="Calibri" pitchFamily="34" charset="-122"/>
                <a:cs typeface="Calibri" pitchFamily="34" charset="-120"/>
              </a:rPr>
              <a:t>Takeaway  </a:t>
            </a:r>
            <a:r>
              <a:rPr lang="en-US" sz="1400" dirty="0">
                <a:solidFill>
                  <a:srgbClr val="12394D"/>
                </a:solidFill>
                <a:latin typeface="Calibri" pitchFamily="34" charset="0"/>
                <a:ea typeface="Calibri" pitchFamily="34" charset="-122"/>
                <a:cs typeface="Calibri" pitchFamily="34" charset="-120"/>
              </a:rPr>
              <a:t>Within these three surveys, no work learns an eMBB/URLLC policy from logs under explicit URLLC constraints.</a:t>
            </a:r>
            <a:endParaRPr lang="en-US" sz="1400" dirty="0"/>
          </a:p>
        </p:txBody>
      </p:sp>
      <p:sp>
        <p:nvSpPr>
          <p:cNvPr id="6" name="Text 4"/>
          <p:cNvSpPr txBox="1"/>
          <p:nvPr/>
        </p:nvSpPr>
        <p:spPr>
          <a:xfrm>
            <a:off x="640080" y="6355080"/>
            <a:ext cx="6400800" cy="274320"/>
          </a:xfrm>
          <a:prstGeom prst="rect">
            <a:avLst/>
          </a:prstGeom>
          <a:noFill/>
          <a:ln/>
        </p:spPr>
        <p:txBody>
          <a:bodyPr wrap="square" lIns="0" tIns="0" rIns="0" bIns="0" rtlCol="0" anchor="t"/>
          <a:lstStyle/>
          <a:p>
            <a:pPr marL="0" indent="0">
              <a:buNone/>
            </a:pPr>
            <a:r>
              <a:rPr lang="en-US" sz="1100" dirty="0">
                <a:solidFill>
                  <a:srgbClr val="5F7A8A"/>
                </a:solidFill>
                <a:latin typeface="Calibri" pitchFamily="34" charset="0"/>
                <a:ea typeface="Calibri" pitchFamily="34" charset="-122"/>
                <a:cs typeface="Calibri" pitchFamily="34" charset="-120"/>
              </a:rPr>
              <a:t>RS2M Department · Télécom SudParis · Palaiseau, France</a:t>
            </a:r>
            <a:endParaRPr lang="en-US" sz="1100" dirty="0"/>
          </a:p>
        </p:txBody>
      </p:sp>
      <p:sp>
        <p:nvSpPr>
          <p:cNvPr id="7" name="Text 5"/>
          <p:cNvSpPr txBox="1"/>
          <p:nvPr/>
        </p:nvSpPr>
        <p:spPr>
          <a:xfrm>
            <a:off x="11064240" y="6355080"/>
            <a:ext cx="457200" cy="274320"/>
          </a:xfrm>
          <a:prstGeom prst="rect">
            <a:avLst/>
          </a:prstGeom>
          <a:noFill/>
          <a:ln/>
        </p:spPr>
        <p:txBody>
          <a:bodyPr wrap="square" lIns="0" tIns="0" rIns="0" bIns="0" rtlCol="0" anchor="t"/>
          <a:lstStyle/>
          <a:p>
            <a:pPr marL="0" indent="0" algn="r">
              <a:buNone/>
            </a:pPr>
            <a:r>
              <a:rPr lang="en-US" sz="1100" dirty="0">
                <a:solidFill>
                  <a:srgbClr val="5F7A8A"/>
                </a:solidFill>
                <a:latin typeface="Calibri" pitchFamily="34" charset="0"/>
                <a:ea typeface="Calibri" pitchFamily="34" charset="-122"/>
                <a:cs typeface="Calibri" pitchFamily="34" charset="-120"/>
              </a:rPr>
              <a:t>11</a:t>
            </a:r>
            <a:endParaRPr lang="en-US" sz="1100" dirty="0"/>
          </a:p>
        </p:txBody>
      </p:sp>
      <p:sp>
        <p:nvSpPr>
          <p:cNvPr id="9" name="Text 6"/>
          <p:cNvSpPr txBox="1"/>
          <p:nvPr/>
        </p:nvSpPr>
        <p:spPr>
          <a:xfrm>
            <a:off x="640080" y="1645920"/>
            <a:ext cx="5760720" cy="274320"/>
          </a:xfrm>
          <a:prstGeom prst="rect">
            <a:avLst/>
          </a:prstGeom>
          <a:noFill/>
          <a:ln/>
        </p:spPr>
        <p:txBody>
          <a:bodyPr wrap="square" lIns="0" tIns="0" rIns="0" bIns="0" rtlCol="0" anchor="t"/>
          <a:lstStyle/>
          <a:p>
            <a:pPr marL="0" indent="0">
              <a:buNone/>
            </a:pPr>
            <a:r>
              <a:rPr lang="en-US" sz="1200" b="1" kern="0" spc="100" dirty="0">
                <a:solidFill>
                  <a:srgbClr val="1A8A99"/>
                </a:solidFill>
                <a:latin typeface="Calibri" pitchFamily="34" charset="0"/>
                <a:ea typeface="Calibri" pitchFamily="34" charset="-122"/>
                <a:cs typeface="Calibri" pitchFamily="34" charset="-120"/>
              </a:rPr>
              <a:t>CHALLENGES RAISED BY THE SURVEY</a:t>
            </a:r>
            <a:endParaRPr lang="en-US" sz="1200" dirty="0"/>
          </a:p>
        </p:txBody>
      </p:sp>
      <p:sp>
        <p:nvSpPr>
          <p:cNvPr id="10" name="Shape 7"/>
          <p:cNvSpPr/>
          <p:nvPr/>
        </p:nvSpPr>
        <p:spPr>
          <a:xfrm>
            <a:off x="640080" y="2011680"/>
            <a:ext cx="384048" cy="384048"/>
          </a:xfrm>
          <a:prstGeom prst="ellipse">
            <a:avLst/>
          </a:prstGeom>
          <a:solidFill>
            <a:srgbClr val="1A8A99"/>
          </a:solidFill>
          <a:ln w="12700">
            <a:solidFill>
              <a:srgbClr val="1A8A99"/>
            </a:solidFill>
            <a:prstDash val="solid"/>
          </a:ln>
        </p:spPr>
        <p:txBody>
          <a:bodyPr/>
          <a:lstStyle/>
          <a:p>
            <a:endParaRPr lang="en-US"/>
          </a:p>
        </p:txBody>
      </p:sp>
      <p:sp>
        <p:nvSpPr>
          <p:cNvPr id="11" name="Text 8"/>
          <p:cNvSpPr txBox="1"/>
          <p:nvPr/>
        </p:nvSpPr>
        <p:spPr>
          <a:xfrm>
            <a:off x="640080" y="20116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9"/>
          <p:cNvSpPr txBox="1"/>
          <p:nvPr/>
        </p:nvSpPr>
        <p:spPr>
          <a:xfrm>
            <a:off x="1188720" y="1984248"/>
            <a:ext cx="5120640" cy="68580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Under-utilisation</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Reserving resources for sporadic URLLC wastes spectrum</a:t>
            </a:r>
            <a:endParaRPr lang="en-US" sz="1450" dirty="0"/>
          </a:p>
        </p:txBody>
      </p:sp>
      <p:sp>
        <p:nvSpPr>
          <p:cNvPr id="13" name="Shape 10"/>
          <p:cNvSpPr/>
          <p:nvPr/>
        </p:nvSpPr>
        <p:spPr>
          <a:xfrm>
            <a:off x="640080" y="2697480"/>
            <a:ext cx="384048" cy="384048"/>
          </a:xfrm>
          <a:prstGeom prst="ellipse">
            <a:avLst/>
          </a:prstGeom>
          <a:solidFill>
            <a:srgbClr val="1A8A99"/>
          </a:solidFill>
          <a:ln w="12700">
            <a:solidFill>
              <a:srgbClr val="1A8A99"/>
            </a:solidFill>
            <a:prstDash val="solid"/>
          </a:ln>
        </p:spPr>
        <p:txBody>
          <a:bodyPr/>
          <a:lstStyle/>
          <a:p>
            <a:endParaRPr lang="en-US"/>
          </a:p>
        </p:txBody>
      </p:sp>
      <p:sp>
        <p:nvSpPr>
          <p:cNvPr id="14" name="Text 11"/>
          <p:cNvSpPr txBox="1"/>
          <p:nvPr/>
        </p:nvSpPr>
        <p:spPr>
          <a:xfrm>
            <a:off x="640080" y="2697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2"/>
          <p:cNvSpPr txBox="1"/>
          <p:nvPr/>
        </p:nvSpPr>
        <p:spPr>
          <a:xfrm>
            <a:off x="1188720" y="2670048"/>
            <a:ext cx="5120640" cy="68580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Missing low-complexity models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Most proposals are framework-level or too complex to run</a:t>
            </a:r>
            <a:endParaRPr lang="en-US" sz="1450" dirty="0"/>
          </a:p>
        </p:txBody>
      </p:sp>
      <p:sp>
        <p:nvSpPr>
          <p:cNvPr id="16" name="Shape 13"/>
          <p:cNvSpPr/>
          <p:nvPr/>
        </p:nvSpPr>
        <p:spPr>
          <a:xfrm>
            <a:off x="640080" y="3383280"/>
            <a:ext cx="384048" cy="384048"/>
          </a:xfrm>
          <a:prstGeom prst="ellipse">
            <a:avLst/>
          </a:prstGeom>
          <a:solidFill>
            <a:srgbClr val="1A8A99"/>
          </a:solidFill>
          <a:ln w="12700">
            <a:solidFill>
              <a:srgbClr val="1A8A99"/>
            </a:solidFill>
            <a:prstDash val="solid"/>
          </a:ln>
        </p:spPr>
        <p:txBody>
          <a:bodyPr/>
          <a:lstStyle/>
          <a:p>
            <a:endParaRPr lang="en-US"/>
          </a:p>
        </p:txBody>
      </p:sp>
      <p:sp>
        <p:nvSpPr>
          <p:cNvPr id="17" name="Text 14"/>
          <p:cNvSpPr txBox="1"/>
          <p:nvPr/>
        </p:nvSpPr>
        <p:spPr>
          <a:xfrm>
            <a:off x="640080" y="3383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5"/>
          <p:cNvSpPr txBox="1"/>
          <p:nvPr/>
        </p:nvSpPr>
        <p:spPr>
          <a:xfrm>
            <a:off x="1188720" y="3355848"/>
            <a:ext cx="5120640" cy="68580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eMBB loss cannot be nullified</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Only minimised: joint optimisation is required</a:t>
            </a:r>
            <a:endParaRPr lang="en-US" sz="1450" dirty="0"/>
          </a:p>
        </p:txBody>
      </p:sp>
      <p:sp>
        <p:nvSpPr>
          <p:cNvPr id="19" name="Shape 16"/>
          <p:cNvSpPr/>
          <p:nvPr/>
        </p:nvSpPr>
        <p:spPr>
          <a:xfrm>
            <a:off x="640080" y="4069080"/>
            <a:ext cx="384048" cy="384048"/>
          </a:xfrm>
          <a:prstGeom prst="ellipse">
            <a:avLst/>
          </a:prstGeom>
          <a:solidFill>
            <a:srgbClr val="1A8A99"/>
          </a:solidFill>
          <a:ln w="12700">
            <a:solidFill>
              <a:srgbClr val="1A8A99"/>
            </a:solidFill>
            <a:prstDash val="solid"/>
          </a:ln>
        </p:spPr>
        <p:txBody>
          <a:bodyPr/>
          <a:lstStyle/>
          <a:p>
            <a:endParaRPr lang="en-US"/>
          </a:p>
        </p:txBody>
      </p:sp>
      <p:sp>
        <p:nvSpPr>
          <p:cNvPr id="20" name="Text 17"/>
          <p:cNvSpPr txBox="1"/>
          <p:nvPr/>
        </p:nvSpPr>
        <p:spPr>
          <a:xfrm>
            <a:off x="640080" y="40690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8"/>
          <p:cNvSpPr txBox="1"/>
          <p:nvPr/>
        </p:nvSpPr>
        <p:spPr>
          <a:xfrm>
            <a:off x="1188720" y="4041648"/>
            <a:ext cx="5120640" cy="68580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Channel helpers have costs</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RIS and UAV add delay, positioning and battery limits</a:t>
            </a:r>
            <a:endParaRPr lang="en-US" sz="1450" dirty="0"/>
          </a:p>
        </p:txBody>
      </p:sp>
      <p:sp>
        <p:nvSpPr>
          <p:cNvPr id="22" name="Shape 19"/>
          <p:cNvSpPr/>
          <p:nvPr/>
        </p:nvSpPr>
        <p:spPr>
          <a:xfrm>
            <a:off x="640080" y="4754880"/>
            <a:ext cx="384048" cy="384048"/>
          </a:xfrm>
          <a:prstGeom prst="ellipse">
            <a:avLst/>
          </a:prstGeom>
          <a:solidFill>
            <a:srgbClr val="1A8A99"/>
          </a:solidFill>
          <a:ln w="12700">
            <a:solidFill>
              <a:srgbClr val="1A8A99"/>
            </a:solidFill>
            <a:prstDash val="solid"/>
          </a:ln>
        </p:spPr>
        <p:txBody>
          <a:bodyPr/>
          <a:lstStyle/>
          <a:p>
            <a:endParaRPr lang="en-US"/>
          </a:p>
        </p:txBody>
      </p:sp>
      <p:sp>
        <p:nvSpPr>
          <p:cNvPr id="23" name="Text 20"/>
          <p:cNvSpPr txBox="1"/>
          <p:nvPr/>
        </p:nvSpPr>
        <p:spPr>
          <a:xfrm>
            <a:off x="640080" y="4754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4" name="Text 21"/>
          <p:cNvSpPr txBox="1"/>
          <p:nvPr/>
        </p:nvSpPr>
        <p:spPr>
          <a:xfrm>
            <a:off x="1188720" y="4727448"/>
            <a:ext cx="5120640" cy="685800"/>
          </a:xfrm>
          <a:prstGeom prst="rect">
            <a:avLst/>
          </a:prstGeom>
          <a:noFill/>
          <a:ln/>
        </p:spPr>
        <p:txBody>
          <a:bodyPr wrap="square" lIns="0" tIns="0" rIns="0" bIns="0" rtlCol="0" anchor="t"/>
          <a:lstStyle/>
          <a:p>
            <a:pPr marL="0" indent="0">
              <a:buNone/>
            </a:pPr>
            <a:r>
              <a:rPr lang="en-US" sz="1450" b="1" dirty="0">
                <a:solidFill>
                  <a:srgbClr val="12394D"/>
                </a:solidFill>
                <a:latin typeface="Calibri" pitchFamily="34" charset="0"/>
                <a:ea typeface="Calibri" pitchFamily="34" charset="-122"/>
                <a:cs typeface="Calibri" pitchFamily="34" charset="-120"/>
              </a:rPr>
              <a:t>ML validity</a:t>
            </a:r>
            <a:endParaRPr lang="en-US" sz="1450" dirty="0"/>
          </a:p>
          <a:p>
            <a:pPr marL="0" indent="0">
              <a:spcAft>
                <a:spcPts val="1000"/>
              </a:spcAft>
              <a:buNone/>
            </a:pPr>
            <a:r>
              <a:rPr lang="en-US" sz="1250" dirty="0">
                <a:solidFill>
                  <a:srgbClr val="5F7A8A"/>
                </a:solidFill>
                <a:latin typeface="Calibri" pitchFamily="34" charset="0"/>
                <a:ea typeface="Calibri" pitchFamily="34" charset="-122"/>
                <a:cs typeface="Calibri" pitchFamily="34" charset="-120"/>
              </a:rPr>
              <a:t>DRL beats NN predictors but is complex and simulator-bound</a:t>
            </a:r>
            <a:endParaRPr lang="en-US" sz="1450" dirty="0"/>
          </a:p>
        </p:txBody>
      </p:sp>
      <p:sp>
        <p:nvSpPr>
          <p:cNvPr id="28" name="Rounded Rectangle 27"/>
          <p:cNvSpPr/>
          <p:nvPr/>
        </p:nvSpPr>
        <p:spPr>
          <a:xfrm>
            <a:off x="6720840" y="1965960"/>
            <a:ext cx="4800600" cy="3429000"/>
          </a:xfrm>
          <a:prstGeom prst="roundRect">
            <a:avLst>
              <a:gd name="adj" fmla="val 8000"/>
            </a:avLst>
          </a:prstGeom>
          <a:solidFill>
            <a:srgbClr val="123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24"/>
          <p:cNvSpPr txBox="1"/>
          <p:nvPr/>
        </p:nvSpPr>
        <p:spPr>
          <a:xfrm>
            <a:off x="6949440" y="2194560"/>
            <a:ext cx="4343400" cy="91440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Safe-CQL: a joint, low-complexity (8-action) policy, learned offline, with URLLC as an explicit constraint</a:t>
            </a:r>
            <a:endParaRPr lang="en-US" sz="1600" dirty="0"/>
          </a:p>
        </p:txBody>
      </p:sp>
      <p:sp>
        <p:nvSpPr>
          <p:cNvPr id="29" name="TextBox 28"/>
          <p:cNvSpPr txBox="1"/>
          <p:nvPr/>
        </p:nvSpPr>
        <p:spPr>
          <a:xfrm>
            <a:off x="6949440" y="3246120"/>
            <a:ext cx="4343400" cy="274320"/>
          </a:xfrm>
          <a:prstGeom prst="rect">
            <a:avLst/>
          </a:prstGeom>
          <a:noFill/>
        </p:spPr>
        <p:txBody>
          <a:bodyPr wrap="square" lIns="0" rIns="0" tIns="0" bIns="0" anchor="t">
            <a:spAutoFit/>
          </a:bodyPr>
          <a:lstStyle/>
          <a:p>
            <a:pPr algn="l"/>
            <a:r>
              <a:rPr sz="1200" b="1" i="0" spc="100">
                <a:solidFill>
                  <a:srgbClr val="2BB3A3"/>
                </a:solidFill>
                <a:latin typeface="Calibri"/>
              </a:rPr>
              <a:t>WHAT THE AUDIT ADDS</a:t>
            </a:r>
          </a:p>
        </p:txBody>
      </p:sp>
      <p:sp>
        <p:nvSpPr>
          <p:cNvPr id="30" name="TextBox 29"/>
          <p:cNvSpPr txBox="1"/>
          <p:nvPr/>
        </p:nvSpPr>
        <p:spPr>
          <a:xfrm>
            <a:off x="6949440" y="3566160"/>
            <a:ext cx="4389120" cy="1737360"/>
          </a:xfrm>
          <a:prstGeom prst="rect">
            <a:avLst/>
          </a:prstGeom>
          <a:noFill/>
        </p:spPr>
        <p:txBody>
          <a:bodyPr wrap="square" lIns="0" rIns="0" tIns="0" bIns="0" anchor="t">
            <a:spAutoFit/>
          </a:bodyPr>
          <a:lstStyle/>
          <a:p>
            <a:pPr algn="l">
              <a:spcAft>
                <a:spcPts val="400"/>
              </a:spcAft>
            </a:pPr>
            <a:r>
              <a:rPr sz="1250" b="1" i="0">
                <a:solidFill>
                  <a:srgbClr val="2BB3A3"/>
                </a:solidFill>
                <a:latin typeface="Calibri"/>
              </a:rPr>
              <a:t>–  </a:t>
            </a:r>
            <a:r>
              <a:rPr sz="1250" b="0" i="0">
                <a:solidFill>
                  <a:srgbClr val="C3D3DD"/>
                </a:solidFill>
                <a:latin typeface="Calibri"/>
              </a:rPr>
              <a:t>Learned from static configuration logs: one-step effects only</a:t>
            </a:r>
          </a:p>
          <a:p>
            <a:pPr algn="l">
              <a:spcAft>
                <a:spcPts val="400"/>
              </a:spcAft>
            </a:pPr>
            <a:r>
              <a:rPr sz="1250" b="1" i="0">
                <a:solidFill>
                  <a:srgbClr val="2BB3A3"/>
                </a:solidFill>
                <a:latin typeface="Calibri"/>
              </a:rPr>
              <a:t>–  </a:t>
            </a:r>
            <a:r>
              <a:rPr sz="1250" b="0" i="0">
                <a:solidFill>
                  <a:srgbClr val="C3D3DD"/>
                </a:solidFill>
                <a:latin typeface="Calibri"/>
              </a:rPr>
              <a:t>Constraint met on average (3 % budget), not per window or on the tail</a:t>
            </a:r>
          </a:p>
          <a:p>
            <a:pPr algn="l">
              <a:spcAft>
                <a:spcPts val="400"/>
              </a:spcAft>
            </a:pPr>
            <a:r>
              <a:rPr sz="1250" b="1" i="0">
                <a:solidFill>
                  <a:srgbClr val="2BB3A3"/>
                </a:solidFill>
                <a:latin typeface="Calibri"/>
              </a:rPr>
              <a:t>–  </a:t>
            </a:r>
            <a:r>
              <a:rPr sz="1250" b="0" i="0">
                <a:solidFill>
                  <a:srgbClr val="C3D3DD"/>
                </a:solidFill>
                <a:latin typeface="Calibri"/>
              </a:rPr>
              <a:t>Offline O-RAN work exists outside these surveys (Yang et al. 2024; 2OffRAN 2025)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Executive diagnosis</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Five conclusions that should drive the next six months</a:t>
            </a:r>
          </a:p>
        </p:txBody>
      </p:sp>
      <p:sp>
        <p:nvSpPr>
          <p:cNvPr id="4" name="Oval 3"/>
          <p:cNvSpPr/>
          <p:nvPr/>
        </p:nvSpPr>
        <p:spPr>
          <a:xfrm>
            <a:off x="640080" y="1673352"/>
            <a:ext cx="384048" cy="384048"/>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73352"/>
            <a:ext cx="384048" cy="384048"/>
          </a:xfrm>
          <a:prstGeom prst="rect">
            <a:avLst/>
          </a:prstGeom>
          <a:noFill/>
        </p:spPr>
        <p:txBody>
          <a:bodyPr wrap="square" lIns="0" rIns="0" tIns="0" bIns="0" anchor="ctr">
            <a:spAutoFit/>
          </a:bodyPr>
          <a:lstStyle/>
          <a:p>
            <a:pPr algn="ctr"/>
            <a:r>
              <a:rPr sz="1400" b="1" i="0">
                <a:solidFill>
                  <a:srgbClr val="FFFFFF"/>
                </a:solidFill>
                <a:latin typeface="Cambria"/>
              </a:rPr>
              <a:t>1</a:t>
            </a:r>
          </a:p>
        </p:txBody>
      </p:sp>
      <p:sp>
        <p:nvSpPr>
          <p:cNvPr id="6" name="TextBox 5"/>
          <p:cNvSpPr txBox="1"/>
          <p:nvPr/>
        </p:nvSpPr>
        <p:spPr>
          <a:xfrm>
            <a:off x="1188720" y="1645920"/>
            <a:ext cx="10241280" cy="731520"/>
          </a:xfrm>
          <a:prstGeom prst="rect">
            <a:avLst/>
          </a:prstGeom>
          <a:noFill/>
        </p:spPr>
        <p:txBody>
          <a:bodyPr wrap="square" lIns="0" rIns="0" tIns="0" bIns="0" anchor="t">
            <a:spAutoFit/>
          </a:bodyPr>
          <a:lstStyle/>
          <a:p>
            <a:pPr algn="l"/>
            <a:r>
              <a:rPr sz="1500" b="1" i="0">
                <a:solidFill>
                  <a:srgbClr val="12394D"/>
                </a:solidFill>
                <a:latin typeface="Calibri"/>
              </a:rPr>
              <a:t>The data, not the algorithm, is the binding limit</a:t>
            </a:r>
          </a:p>
          <a:p>
            <a:pPr algn="l"/>
            <a:r>
              <a:rPr sz="1250" b="0" i="0">
                <a:solidFill>
                  <a:srgbClr val="5F7A8A"/>
                </a:solidFill>
                <a:latin typeface="Calibri"/>
              </a:rPr>
              <a:t>Configurations are fixed for each reservation: no action switch is ever observed (paper p. 5; Lu p. 48).</a:t>
            </a:r>
          </a:p>
        </p:txBody>
      </p:sp>
      <p:sp>
        <p:nvSpPr>
          <p:cNvPr id="7" name="Oval 6"/>
          <p:cNvSpPr/>
          <p:nvPr/>
        </p:nvSpPr>
        <p:spPr>
          <a:xfrm>
            <a:off x="640080" y="2441448"/>
            <a:ext cx="384048" cy="384048"/>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441448"/>
            <a:ext cx="384048" cy="384048"/>
          </a:xfrm>
          <a:prstGeom prst="rect">
            <a:avLst/>
          </a:prstGeom>
          <a:noFill/>
        </p:spPr>
        <p:txBody>
          <a:bodyPr wrap="square" lIns="0" rIns="0" tIns="0" bIns="0" anchor="ctr">
            <a:spAutoFit/>
          </a:bodyPr>
          <a:lstStyle/>
          <a:p>
            <a:pPr algn="ctr"/>
            <a:r>
              <a:rPr sz="1400" b="1" i="0">
                <a:solidFill>
                  <a:srgbClr val="FFFFFF"/>
                </a:solidFill>
                <a:latin typeface="Cambria"/>
              </a:rPr>
              <a:t>2</a:t>
            </a:r>
          </a:p>
        </p:txBody>
      </p:sp>
      <p:sp>
        <p:nvSpPr>
          <p:cNvPr id="9" name="TextBox 8"/>
          <p:cNvSpPr txBox="1"/>
          <p:nvPr/>
        </p:nvSpPr>
        <p:spPr>
          <a:xfrm>
            <a:off x="1188720" y="2414016"/>
            <a:ext cx="10241280" cy="731520"/>
          </a:xfrm>
          <a:prstGeom prst="rect">
            <a:avLst/>
          </a:prstGeom>
          <a:noFill/>
        </p:spPr>
        <p:txBody>
          <a:bodyPr wrap="square" lIns="0" rIns="0" tIns="0" bIns="0" anchor="t">
            <a:spAutoFit/>
          </a:bodyPr>
          <a:lstStyle/>
          <a:p>
            <a:pPr algn="l"/>
            <a:r>
              <a:rPr sz="1500" b="1" i="0">
                <a:solidFill>
                  <a:srgbClr val="12394D"/>
                </a:solidFill>
                <a:latin typeface="Calibri"/>
              </a:rPr>
              <a:t>“Safe” means a CMDP constraint met on average, by proxy</a:t>
            </a:r>
          </a:p>
          <a:p>
            <a:pPr algn="l"/>
            <a:r>
              <a:rPr sz="1250" b="0" i="0">
                <a:solidFill>
                  <a:srgbClr val="5F7A8A"/>
                </a:solidFill>
                <a:latin typeface="Calibri"/>
              </a:rPr>
              <a:t>No tail, per-window or deployment guarantee, and λ has not converged in Fig. 3.</a:t>
            </a:r>
          </a:p>
        </p:txBody>
      </p:sp>
      <p:sp>
        <p:nvSpPr>
          <p:cNvPr id="10" name="Oval 9"/>
          <p:cNvSpPr/>
          <p:nvPr/>
        </p:nvSpPr>
        <p:spPr>
          <a:xfrm>
            <a:off x="640080" y="3209544"/>
            <a:ext cx="384048" cy="384048"/>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209544"/>
            <a:ext cx="384048" cy="384048"/>
          </a:xfrm>
          <a:prstGeom prst="rect">
            <a:avLst/>
          </a:prstGeom>
          <a:noFill/>
        </p:spPr>
        <p:txBody>
          <a:bodyPr wrap="square" lIns="0" rIns="0" tIns="0" bIns="0" anchor="ctr">
            <a:spAutoFit/>
          </a:bodyPr>
          <a:lstStyle/>
          <a:p>
            <a:pPr algn="ctr"/>
            <a:r>
              <a:rPr sz="1400" b="1" i="0">
                <a:solidFill>
                  <a:srgbClr val="FFFFFF"/>
                </a:solidFill>
                <a:latin typeface="Cambria"/>
              </a:rPr>
              <a:t>3</a:t>
            </a:r>
          </a:p>
        </p:txBody>
      </p:sp>
      <p:sp>
        <p:nvSpPr>
          <p:cNvPr id="12" name="TextBox 11"/>
          <p:cNvSpPr txBox="1"/>
          <p:nvPr/>
        </p:nvSpPr>
        <p:spPr>
          <a:xfrm>
            <a:off x="1188720" y="3182112"/>
            <a:ext cx="10241280" cy="731520"/>
          </a:xfrm>
          <a:prstGeom prst="rect">
            <a:avLst/>
          </a:prstGeom>
          <a:noFill/>
        </p:spPr>
        <p:txBody>
          <a:bodyPr wrap="square" lIns="0" rIns="0" tIns="0" bIns="0" anchor="t">
            <a:spAutoFit/>
          </a:bodyPr>
          <a:lstStyle/>
          <a:p>
            <a:pPr algn="l"/>
            <a:r>
              <a:rPr sz="1500" b="1" i="0">
                <a:solidFill>
                  <a:srgbClr val="12394D"/>
                </a:solidFill>
                <a:latin typeface="Calibri"/>
              </a:rPr>
              <a:t>A static configuration may match the agent</a:t>
            </a:r>
          </a:p>
          <a:p>
            <a:pPr algn="l"/>
            <a:r>
              <a:rPr sz="1250" b="0" i="0">
                <a:solidFill>
                  <a:srgbClr val="5F7A8A"/>
                </a:solidFill>
                <a:latin typeface="Calibri"/>
              </a:rPr>
              <a:t>(39 PRB, RR) stays at or below 3 % violations at every load in Fig. 1: test it first.</a:t>
            </a:r>
          </a:p>
        </p:txBody>
      </p:sp>
      <p:sp>
        <p:nvSpPr>
          <p:cNvPr id="13" name="Oval 12"/>
          <p:cNvSpPr/>
          <p:nvPr/>
        </p:nvSpPr>
        <p:spPr>
          <a:xfrm>
            <a:off x="640080" y="3977640"/>
            <a:ext cx="384048" cy="384048"/>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977640"/>
            <a:ext cx="384048" cy="384048"/>
          </a:xfrm>
          <a:prstGeom prst="rect">
            <a:avLst/>
          </a:prstGeom>
          <a:noFill/>
        </p:spPr>
        <p:txBody>
          <a:bodyPr wrap="square" lIns="0" rIns="0" tIns="0" bIns="0" anchor="ctr">
            <a:spAutoFit/>
          </a:bodyPr>
          <a:lstStyle/>
          <a:p>
            <a:pPr algn="ctr"/>
            <a:r>
              <a:rPr sz="1400" b="1" i="0">
                <a:solidFill>
                  <a:srgbClr val="FFFFFF"/>
                </a:solidFill>
                <a:latin typeface="Cambria"/>
              </a:rPr>
              <a:t>4</a:t>
            </a:r>
          </a:p>
        </p:txBody>
      </p:sp>
      <p:sp>
        <p:nvSpPr>
          <p:cNvPr id="15" name="TextBox 14"/>
          <p:cNvSpPr txBox="1"/>
          <p:nvPr/>
        </p:nvSpPr>
        <p:spPr>
          <a:xfrm>
            <a:off x="1188720" y="3950208"/>
            <a:ext cx="10241280" cy="731520"/>
          </a:xfrm>
          <a:prstGeom prst="rect">
            <a:avLst/>
          </a:prstGeom>
          <a:noFill/>
        </p:spPr>
        <p:txBody>
          <a:bodyPr wrap="square" lIns="0" rIns="0" tIns="0" bIns="0" anchor="t">
            <a:spAutoFit/>
          </a:bodyPr>
          <a:lstStyle/>
          <a:p>
            <a:pPr algn="l"/>
            <a:r>
              <a:rPr sz="1500" b="1" i="0">
                <a:solidFill>
                  <a:srgbClr val="12394D"/>
                </a:solidFill>
                <a:latin typeface="Calibri"/>
              </a:rPr>
              <a:t>Two positioning errors are cheap to fix</a:t>
            </a:r>
          </a:p>
          <a:p>
            <a:pPr algn="l"/>
            <a:r>
              <a:rPr sz="1250" b="0" i="0">
                <a:solidFill>
                  <a:srgbClr val="5F7A8A"/>
                </a:solidFill>
                <a:latin typeface="Calibri"/>
              </a:rPr>
              <a:t>5 s steps form a Non-RT loop (Lu p. 14); a 20 ms / 97 % slice is not URLLC (Haque p. 1–2).</a:t>
            </a:r>
          </a:p>
        </p:txBody>
      </p:sp>
      <p:sp>
        <p:nvSpPr>
          <p:cNvPr id="16" name="Oval 15"/>
          <p:cNvSpPr/>
          <p:nvPr/>
        </p:nvSpPr>
        <p:spPr>
          <a:xfrm>
            <a:off x="640080" y="4745736"/>
            <a:ext cx="384048" cy="384048"/>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745736"/>
            <a:ext cx="384048" cy="384048"/>
          </a:xfrm>
          <a:prstGeom prst="rect">
            <a:avLst/>
          </a:prstGeom>
          <a:noFill/>
        </p:spPr>
        <p:txBody>
          <a:bodyPr wrap="square" lIns="0" rIns="0" tIns="0" bIns="0" anchor="ctr">
            <a:spAutoFit/>
          </a:bodyPr>
          <a:lstStyle/>
          <a:p>
            <a:pPr algn="ctr"/>
            <a:r>
              <a:rPr sz="1400" b="1" i="0">
                <a:solidFill>
                  <a:srgbClr val="FFFFFF"/>
                </a:solidFill>
                <a:latin typeface="Cambria"/>
              </a:rPr>
              <a:t>5</a:t>
            </a:r>
          </a:p>
        </p:txBody>
      </p:sp>
      <p:sp>
        <p:nvSpPr>
          <p:cNvPr id="18" name="TextBox 17"/>
          <p:cNvSpPr txBox="1"/>
          <p:nvPr/>
        </p:nvSpPr>
        <p:spPr>
          <a:xfrm>
            <a:off x="1188720" y="4718304"/>
            <a:ext cx="10241280" cy="731520"/>
          </a:xfrm>
          <a:prstGeom prst="rect">
            <a:avLst/>
          </a:prstGeom>
          <a:noFill/>
        </p:spPr>
        <p:txBody>
          <a:bodyPr wrap="square" lIns="0" rIns="0" tIns="0" bIns="0" anchor="t">
            <a:spAutoFit/>
          </a:bodyPr>
          <a:lstStyle/>
          <a:p>
            <a:pPr algn="l"/>
            <a:r>
              <a:rPr sz="1500" b="1" i="0">
                <a:solidFill>
                  <a:srgbClr val="12394D"/>
                </a:solidFill>
                <a:latin typeface="Calibri"/>
              </a:rPr>
              <a:t>Thesis core: constrained offline→online learning on decision-logged data</a:t>
            </a:r>
          </a:p>
          <a:p>
            <a:pPr algn="l"/>
            <a:r>
              <a:rPr sz="1250" b="0" i="0">
                <a:solidFill>
                  <a:srgbClr val="5F7A8A"/>
                </a:solidFill>
                <a:latin typeface="Calibri"/>
              </a:rPr>
              <a:t>ns-3 5G-LENA with logged switching policies; traces become traffic and calibration inputs.</a:t>
            </a:r>
          </a:p>
        </p:txBody>
      </p:sp>
      <p:sp>
        <p:nvSpPr>
          <p:cNvPr id="19" name="Rounded Rectangle 18"/>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Fix the claims now; move the RL contribution to data I can control.</a:t>
            </a:r>
          </a:p>
        </p:txBody>
      </p:sp>
      <p:sp>
        <p:nvSpPr>
          <p:cNvPr id="21" name="TextBox 20"/>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22"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Cross-survey synthesis</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Three lenses on one problem, and what each one gives me</a:t>
            </a:r>
          </a:p>
        </p:txBody>
      </p:sp>
      <p:graphicFrame>
        <p:nvGraphicFramePr>
          <p:cNvPr id="4" name="Table 3"/>
          <p:cNvGraphicFramePr>
            <a:graphicFrameLocks noGrp="1"/>
          </p:cNvGraphicFramePr>
          <p:nvPr/>
        </p:nvGraphicFramePr>
        <p:xfrm>
          <a:off x="640080" y="1600200"/>
          <a:ext cx="10881360" cy="3794760"/>
        </p:xfrm>
        <a:graphic>
          <a:graphicData uri="http://schemas.openxmlformats.org/drawingml/2006/table">
            <a:tbl>
              <a:tblPr firstRow="1">
                <a:tableStyleId>{5C22544A-7EE6-4342-B048-85BDC9FD1C3A}</a:tableStyleId>
              </a:tblPr>
              <a:tblGrid>
                <a:gridCol w="1600200"/>
                <a:gridCol w="2606040"/>
                <a:gridCol w="2377440"/>
                <a:gridCol w="2240280"/>
                <a:gridCol w="2057400"/>
              </a:tblGrid>
              <a:tr h="365760">
                <a:tc>
                  <a:txBody>
                    <a:bodyPr wrap="square"/>
                    <a:lstStyle/>
                    <a:p>
                      <a:r>
                        <a:rPr sz="1150" b="1" i="0">
                          <a:solidFill>
                            <a:srgbClr val="FFFFFF"/>
                          </a:solidFill>
                          <a:latin typeface="Calibri"/>
                        </a:rPr>
                        <a:t>Survey</a:t>
                      </a:r>
                    </a:p>
                  </a:txBody>
                  <a:tcPr marL="73152" marR="73152" marT="36576" marB="36576" anchor="ctr">
                    <a:solidFill>
                      <a:srgbClr val="12394D"/>
                    </a:solidFill>
                  </a:tcPr>
                </a:tc>
                <a:tc>
                  <a:txBody>
                    <a:bodyPr wrap="square"/>
                    <a:lstStyle/>
                    <a:p>
                      <a:r>
                        <a:rPr sz="1150" b="1" i="0">
                          <a:solidFill>
                            <a:srgbClr val="FFFFFF"/>
                          </a:solidFill>
                          <a:latin typeface="Calibri"/>
                        </a:rPr>
                        <a:t>Scope and methods</a:t>
                      </a:r>
                    </a:p>
                  </a:txBody>
                  <a:tcPr marL="73152" marR="73152" marT="36576" marB="36576" anchor="ctr">
                    <a:solidFill>
                      <a:srgbClr val="12394D"/>
                    </a:solidFill>
                  </a:tcPr>
                </a:tc>
                <a:tc>
                  <a:txBody>
                    <a:bodyPr wrap="square"/>
                    <a:lstStyle/>
                    <a:p>
                      <a:r>
                        <a:rPr sz="1150" b="1" i="0">
                          <a:solidFill>
                            <a:srgbClr val="FFFFFF"/>
                          </a:solidFill>
                          <a:latin typeface="Calibri"/>
                        </a:rPr>
                        <a:t>Architecture and evidence</a:t>
                      </a:r>
                    </a:p>
                  </a:txBody>
                  <a:tcPr marL="73152" marR="73152" marT="36576" marB="36576" anchor="ctr">
                    <a:solidFill>
                      <a:srgbClr val="12394D"/>
                    </a:solidFill>
                  </a:tcPr>
                </a:tc>
                <a:tc>
                  <a:txBody>
                    <a:bodyPr wrap="square"/>
                    <a:lstStyle/>
                    <a:p>
                      <a:r>
                        <a:rPr sz="1150" b="1" i="0">
                          <a:solidFill>
                            <a:srgbClr val="FFFFFF"/>
                          </a:solidFill>
                          <a:latin typeface="Calibri"/>
                        </a:rPr>
                        <a:t>Open problems</a:t>
                      </a:r>
                    </a:p>
                  </a:txBody>
                  <a:tcPr marL="73152" marR="73152" marT="36576" marB="36576" anchor="ctr">
                    <a:solidFill>
                      <a:srgbClr val="12394D"/>
                    </a:solidFill>
                  </a:tcPr>
                </a:tc>
                <a:tc>
                  <a:txBody>
                    <a:bodyPr wrap="square"/>
                    <a:lstStyle/>
                    <a:p>
                      <a:r>
                        <a:rPr sz="1150" b="1" i="0">
                          <a:solidFill>
                            <a:srgbClr val="FFFFFF"/>
                          </a:solidFill>
                          <a:latin typeface="Calibri"/>
                        </a:rPr>
                        <a:t>Use for my work</a:t>
                      </a:r>
                    </a:p>
                  </a:txBody>
                  <a:tcPr marL="73152" marR="73152" marT="36576" marB="36576" anchor="ctr">
                    <a:solidFill>
                      <a:srgbClr val="12394D"/>
                    </a:solidFill>
                  </a:tcPr>
                </a:tc>
              </a:tr>
              <a:tr h="1143000">
                <a:tc>
                  <a:txBody>
                    <a:bodyPr wrap="square"/>
                    <a:lstStyle/>
                    <a:p>
                      <a:r>
                        <a:rPr sz="1100" b="1" i="0">
                          <a:solidFill>
                            <a:srgbClr val="12394D"/>
                          </a:solidFill>
                          <a:latin typeface="Calibri"/>
                        </a:rPr>
                        <a:t>Haque et al. 2025</a:t>
                      </a:r>
                    </a:p>
                  </a:txBody>
                  <a:tcPr marL="73152" marR="73152" marT="36576" marB="36576" anchor="ctr">
                    <a:solidFill>
                      <a:srgbClr val="F0F5F7"/>
                    </a:solidFill>
                  </a:tcPr>
                </a:tc>
                <a:tc>
                  <a:txBody>
                    <a:bodyPr wrap="square"/>
                    <a:lstStyle/>
                    <a:p>
                      <a:r>
                        <a:rPr sz="1100" b="0" i="0">
                          <a:solidFill>
                            <a:srgbClr val="2A3F4C"/>
                          </a:solidFill>
                          <a:latin typeface="Calibri"/>
                        </a:rPr>
                        <a:t>URLLC across PHY, MAC and cross-layer: mini-slots, grant-free, HARQ, multi-connectivity; ML mostly supervised, RL online (Table IX)</a:t>
                      </a:r>
                    </a:p>
                  </a:txBody>
                  <a:tcPr marL="73152" marR="73152" marT="36576" marB="36576" anchor="ctr">
                    <a:solidFill>
                      <a:srgbClr val="F0F5F7"/>
                    </a:solidFill>
                  </a:tcPr>
                </a:tc>
                <a:tc>
                  <a:txBody>
                    <a:bodyPr wrap="square"/>
                    <a:lstStyle/>
                    <a:p>
                      <a:r>
                        <a:rPr sz="1100" b="0" i="0">
                          <a:solidFill>
                            <a:srgbClr val="2A3F4C"/>
                          </a:solidFill>
                          <a:latin typeface="Calibri"/>
                        </a:rPr>
                        <a:t>3GPP Rel-15 to 17; 6G: ≤ 0.1 ms, 99.99999 %; analytical and simulation evidence</a:t>
                      </a:r>
                    </a:p>
                  </a:txBody>
                  <a:tcPr marL="73152" marR="73152" marT="36576" marB="36576" anchor="ctr">
                    <a:solidFill>
                      <a:srgbClr val="F0F5F7"/>
                    </a:solidFill>
                  </a:tcPr>
                </a:tc>
                <a:tc>
                  <a:txBody>
                    <a:bodyPr wrap="square"/>
                    <a:lstStyle/>
                    <a:p>
                      <a:r>
                        <a:rPr sz="1100" b="0" i="0">
                          <a:solidFill>
                            <a:srgbClr val="2A3F4C"/>
                          </a:solidFill>
                          <a:latin typeface="Calibri"/>
                        </a:rPr>
                        <a:t>Sub-ms latency; latency–reliability trade-off analysis; fast adaptation (§XI, p. 29)</a:t>
                      </a:r>
                    </a:p>
                  </a:txBody>
                  <a:tcPr marL="73152" marR="73152" marT="36576" marB="36576" anchor="ctr">
                    <a:solidFill>
                      <a:srgbClr val="F0F5F7"/>
                    </a:solidFill>
                  </a:tcPr>
                </a:tc>
                <a:tc>
                  <a:txBody>
                    <a:bodyPr wrap="square"/>
                    <a:lstStyle/>
                    <a:p>
                      <a:r>
                        <a:rPr sz="1100" b="0" i="0">
                          <a:solidFill>
                            <a:srgbClr val="2A3F4C"/>
                          </a:solidFill>
                          <a:latin typeface="Calibri"/>
                        </a:rPr>
                        <a:t>Defines the target: shows my 20 ms / 97 % slice is latency-sensitive, not URLLC</a:t>
                      </a:r>
                    </a:p>
                  </a:txBody>
                  <a:tcPr marL="73152" marR="73152" marT="36576" marB="36576" anchor="ctr">
                    <a:solidFill>
                      <a:srgbClr val="F0F5F7"/>
                    </a:solidFill>
                  </a:tcPr>
                </a:tc>
              </a:tr>
              <a:tr h="1143000">
                <a:tc>
                  <a:txBody>
                    <a:bodyPr wrap="square"/>
                    <a:lstStyle/>
                    <a:p>
                      <a:r>
                        <a:rPr sz="1100" b="1" i="0">
                          <a:solidFill>
                            <a:srgbClr val="12394D"/>
                          </a:solidFill>
                          <a:latin typeface="Calibri"/>
                        </a:rPr>
                        <a:t>Lu et al. 2026</a:t>
                      </a:r>
                    </a:p>
                  </a:txBody>
                  <a:tcPr marL="73152" marR="73152" marT="36576" marB="36576" anchor="ctr">
                    <a:solidFill>
                      <a:srgbClr val="FFFFFF"/>
                    </a:solidFill>
                  </a:tcPr>
                </a:tc>
                <a:tc>
                  <a:txBody>
                    <a:bodyPr wrap="square"/>
                    <a:lstStyle/>
                    <a:p>
                      <a:r>
                        <a:rPr sz="1100" b="0" i="0">
                          <a:solidFill>
                            <a:srgbClr val="2A3F4C"/>
                          </a:solidFill>
                          <a:latin typeface="Calibri"/>
                        </a:rPr>
                        <a:t>DRL for O-RAN: MDP / POMDP / CMDP, offline (BCQ, CQL, IQL), safe RL, MARL, deployment</a:t>
                      </a:r>
                    </a:p>
                  </a:txBody>
                  <a:tcPr marL="73152" marR="73152" marT="36576" marB="36576" anchor="ctr">
                    <a:solidFill>
                      <a:srgbClr val="FFFFFF"/>
                    </a:solidFill>
                  </a:tcPr>
                </a:tc>
                <a:tc>
                  <a:txBody>
                    <a:bodyPr wrap="square"/>
                    <a:lstStyle/>
                    <a:p>
                      <a:r>
                        <a:rPr sz="1100" b="0" i="0">
                          <a:solidFill>
                            <a:srgbClr val="2A3F4C"/>
                          </a:solidFill>
                          <a:latin typeface="Calibri"/>
                        </a:rPr>
                        <a:t>RIC loops (&gt; 1 s, 10 ms–1 s, &lt; 10 ms); Colosseum, ns-O-RAN, OpenRAN Gym; decision-centred data (Eq. 32)</a:t>
                      </a:r>
                    </a:p>
                  </a:txBody>
                  <a:tcPr marL="73152" marR="73152" marT="36576" marB="36576" anchor="ctr">
                    <a:solidFill>
                      <a:srgbClr val="FFFFFF"/>
                    </a:solidFill>
                  </a:tcPr>
                </a:tc>
                <a:tc>
                  <a:txBody>
                    <a:bodyPr wrap="square"/>
                    <a:lstStyle/>
                    <a:p>
                      <a:r>
                        <a:rPr sz="1100" b="0" i="0">
                          <a:solidFill>
                            <a:srgbClr val="2A3F4C"/>
                          </a:solidFill>
                          <a:latin typeface="Calibri"/>
                        </a:rPr>
                        <a:t>Offline→online under constraints; runtime assurance; trustworthy twins; benchmarks (§XII)</a:t>
                      </a:r>
                    </a:p>
                  </a:txBody>
                  <a:tcPr marL="73152" marR="73152" marT="36576" marB="36576" anchor="ctr">
                    <a:solidFill>
                      <a:srgbClr val="FFFFFF"/>
                    </a:solidFill>
                  </a:tcPr>
                </a:tc>
                <a:tc>
                  <a:txBody>
                    <a:bodyPr wrap="square"/>
                    <a:lstStyle/>
                    <a:p>
                      <a:r>
                        <a:rPr sz="1100" b="0" i="0">
                          <a:solidFill>
                            <a:srgbClr val="2A3F4C"/>
                          </a:solidFill>
                          <a:latin typeface="Calibri"/>
                        </a:rPr>
                        <a:t>Backs Reviewer 2 (timescale, static data) and sets my core direction</a:t>
                      </a:r>
                    </a:p>
                  </a:txBody>
                  <a:tcPr marL="73152" marR="73152" marT="36576" marB="36576" anchor="ctr">
                    <a:solidFill>
                      <a:srgbClr val="FFFFFF"/>
                    </a:solidFill>
                  </a:tcPr>
                </a:tc>
              </a:tr>
              <a:tr h="1143000">
                <a:tc>
                  <a:txBody>
                    <a:bodyPr wrap="square"/>
                    <a:lstStyle/>
                    <a:p>
                      <a:r>
                        <a:rPr sz="1100" b="1" i="0">
                          <a:solidFill>
                            <a:srgbClr val="12394D"/>
                          </a:solidFill>
                          <a:latin typeface="Calibri"/>
                        </a:rPr>
                        <a:t>Adhikari et al. 2024</a:t>
                      </a:r>
                    </a:p>
                  </a:txBody>
                  <a:tcPr marL="73152" marR="73152" marT="36576" marB="36576" anchor="ctr">
                    <a:solidFill>
                      <a:srgbClr val="F0F5F7"/>
                    </a:solidFill>
                  </a:tcPr>
                </a:tc>
                <a:tc>
                  <a:txBody>
                    <a:bodyPr wrap="square"/>
                    <a:lstStyle/>
                    <a:p>
                      <a:r>
                        <a:rPr sz="1100" b="0" i="0">
                          <a:solidFill>
                            <a:srgbClr val="2A3F4C"/>
                          </a:solidFill>
                          <a:latin typeface="Calibri"/>
                        </a:rPr>
                        <a:t>eMBB/URLLC sharing: puncturing, superposition, OMA/NOMA/RSMA, slicing, flexible TTI, DRL, FL</a:t>
                      </a:r>
                    </a:p>
                  </a:txBody>
                  <a:tcPr marL="73152" marR="73152" marT="36576" marB="36576" anchor="ctr">
                    <a:solidFill>
                      <a:srgbClr val="F0F5F7"/>
                    </a:solidFill>
                  </a:tcPr>
                </a:tc>
                <a:tc>
                  <a:txBody>
                    <a:bodyPr wrap="square"/>
                    <a:lstStyle/>
                    <a:p>
                      <a:r>
                        <a:rPr sz="1100" b="0" i="0">
                          <a:solidFill>
                            <a:srgbClr val="2A3F4C"/>
                          </a:solidFill>
                          <a:latin typeface="Calibri"/>
                        </a:rPr>
                        <a:t>Slot / mini-slot multiplexing; simulation-based; “offline” means optimisation</a:t>
                      </a:r>
                    </a:p>
                  </a:txBody>
                  <a:tcPr marL="73152" marR="73152" marT="36576" marB="36576" anchor="ctr">
                    <a:solidFill>
                      <a:srgbClr val="F0F5F7"/>
                    </a:solidFill>
                  </a:tcPr>
                </a:tc>
                <a:tc>
                  <a:txBody>
                    <a:bodyPr wrap="square"/>
                    <a:lstStyle/>
                    <a:p>
                      <a:r>
                        <a:rPr sz="1100" b="0" i="0">
                          <a:solidFill>
                            <a:srgbClr val="2A3F4C"/>
                          </a:solidFill>
                          <a:latin typeface="Calibri"/>
                        </a:rPr>
                        <a:t>Low-complexity models, joint optimisation, ML validity under change (§V, p. 25–26)</a:t>
                      </a:r>
                    </a:p>
                  </a:txBody>
                  <a:tcPr marL="73152" marR="73152" marT="36576" marB="36576" anchor="ctr">
                    <a:solidFill>
                      <a:srgbClr val="F0F5F7"/>
                    </a:solidFill>
                  </a:tcPr>
                </a:tc>
                <a:tc>
                  <a:txBody>
                    <a:bodyPr wrap="square"/>
                    <a:lstStyle/>
                    <a:p>
                      <a:r>
                        <a:rPr sz="1100" b="0" i="0">
                          <a:solidFill>
                            <a:srgbClr val="2A3F4C"/>
                          </a:solidFill>
                          <a:latin typeface="Calibri"/>
                        </a:rPr>
                        <a:t>Coexistence assumptions to state; report across loads; Alsenwi et al. as a baseline</a:t>
                      </a:r>
                    </a:p>
                  </a:txBody>
                  <a:tcPr marL="73152" marR="73152" marT="36576" marB="36576" anchor="ctr">
                    <a:solidFill>
                      <a:srgbClr val="F0F5F7"/>
                    </a:solidFill>
                  </a:tcPr>
                </a:tc>
              </a:tr>
            </a:tbl>
          </a:graphicData>
        </a:graphic>
      </p:graphicFrame>
      <p:sp>
        <p:nvSpPr>
          <p:cNvPr id="5" name="Rounded Rectangle 4"/>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None of the three covers constraint-aware learning from logged RAN decisions; Yang et al. 2024 and 2OffRAN must still be cited.</a:t>
            </a:r>
          </a:p>
        </p:txBody>
      </p:sp>
      <p:sp>
        <p:nvSpPr>
          <p:cNvPr id="7" name="TextBox 6"/>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8"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12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Cross-survey synthesis</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Four implications for my research decisions</a:t>
            </a:r>
          </a:p>
        </p:txBody>
      </p:sp>
      <p:sp>
        <p:nvSpPr>
          <p:cNvPr id="4" name="Rounded Rectangle 3"/>
          <p:cNvSpPr/>
          <p:nvPr/>
        </p:nvSpPr>
        <p:spPr>
          <a:xfrm>
            <a:off x="640080" y="1645920"/>
            <a:ext cx="5349240" cy="178308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847088"/>
            <a:ext cx="384048" cy="384048"/>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47088"/>
            <a:ext cx="384048" cy="384048"/>
          </a:xfrm>
          <a:prstGeom prst="rect">
            <a:avLst/>
          </a:prstGeom>
          <a:noFill/>
        </p:spPr>
        <p:txBody>
          <a:bodyPr wrap="square" lIns="0" rIns="0" tIns="0" bIns="0" anchor="ctr">
            <a:spAutoFit/>
          </a:bodyPr>
          <a:lstStyle/>
          <a:p>
            <a:pPr algn="ctr"/>
            <a:r>
              <a:rPr sz="1400" b="1" i="0">
                <a:solidFill>
                  <a:srgbClr val="FFFFFF"/>
                </a:solidFill>
                <a:latin typeface="Cambria"/>
              </a:rPr>
              <a:t>1</a:t>
            </a:r>
          </a:p>
        </p:txBody>
      </p:sp>
      <p:sp>
        <p:nvSpPr>
          <p:cNvPr id="7" name="TextBox 6"/>
          <p:cNvSpPr txBox="1"/>
          <p:nvPr/>
        </p:nvSpPr>
        <p:spPr>
          <a:xfrm>
            <a:off x="1417319" y="1847088"/>
            <a:ext cx="4389120" cy="411480"/>
          </a:xfrm>
          <a:prstGeom prst="rect">
            <a:avLst/>
          </a:prstGeom>
          <a:noFill/>
        </p:spPr>
        <p:txBody>
          <a:bodyPr wrap="square" lIns="0" rIns="0" tIns="0" bIns="0" anchor="t">
            <a:spAutoFit/>
          </a:bodyPr>
          <a:lstStyle/>
          <a:p>
            <a:pPr algn="l"/>
            <a:r>
              <a:rPr sz="1500" b="1" i="0">
                <a:solidFill>
                  <a:srgbClr val="12394D"/>
                </a:solidFill>
                <a:latin typeface="Calibri"/>
              </a:rPr>
              <a:t>Configure, don't schedule</a:t>
            </a:r>
          </a:p>
        </p:txBody>
      </p:sp>
      <p:sp>
        <p:nvSpPr>
          <p:cNvPr id="8" name="TextBox 7"/>
          <p:cNvSpPr txBox="1"/>
          <p:nvPr/>
        </p:nvSpPr>
        <p:spPr>
          <a:xfrm>
            <a:off x="1417319" y="2286000"/>
            <a:ext cx="4389120" cy="1097280"/>
          </a:xfrm>
          <a:prstGeom prst="rect">
            <a:avLst/>
          </a:prstGeom>
          <a:noFill/>
        </p:spPr>
        <p:txBody>
          <a:bodyPr wrap="square" lIns="0" rIns="0" tIns="0" bIns="0" anchor="t">
            <a:spAutoFit/>
          </a:bodyPr>
          <a:lstStyle/>
          <a:p>
            <a:pPr algn="l"/>
            <a:r>
              <a:rPr sz="1250" b="0" i="0">
                <a:solidFill>
                  <a:srgbClr val="2A3F4C"/>
                </a:solidFill>
                <a:latin typeface="Calibri"/>
              </a:rPr>
              <a:t>URLLC decisions live at ≤ 1 ms (Haque, Adhikari); RIC loops start at 10 ms (Lu p. 14). An xApp or rApp can only set the slice quotas and scheduler policies that shape the URLLC tail.</a:t>
            </a:r>
          </a:p>
        </p:txBody>
      </p:sp>
      <p:sp>
        <p:nvSpPr>
          <p:cNvPr id="9" name="Rounded Rectangle 8"/>
          <p:cNvSpPr/>
          <p:nvPr/>
        </p:nvSpPr>
        <p:spPr>
          <a:xfrm>
            <a:off x="6172200" y="1645920"/>
            <a:ext cx="5349240" cy="178308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0" y="1847088"/>
            <a:ext cx="384048" cy="384048"/>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47088"/>
            <a:ext cx="384048" cy="384048"/>
          </a:xfrm>
          <a:prstGeom prst="rect">
            <a:avLst/>
          </a:prstGeom>
          <a:noFill/>
        </p:spPr>
        <p:txBody>
          <a:bodyPr wrap="square" lIns="0" rIns="0" tIns="0" bIns="0" anchor="ctr">
            <a:spAutoFit/>
          </a:bodyPr>
          <a:lstStyle/>
          <a:p>
            <a:pPr algn="ctr"/>
            <a:r>
              <a:rPr sz="1400" b="1" i="0">
                <a:solidFill>
                  <a:srgbClr val="FFFFFF"/>
                </a:solidFill>
                <a:latin typeface="Cambria"/>
              </a:rPr>
              <a:t>2</a:t>
            </a:r>
          </a:p>
        </p:txBody>
      </p:sp>
      <p:sp>
        <p:nvSpPr>
          <p:cNvPr id="12" name="TextBox 11"/>
          <p:cNvSpPr txBox="1"/>
          <p:nvPr/>
        </p:nvSpPr>
        <p:spPr>
          <a:xfrm>
            <a:off x="6949440" y="1847088"/>
            <a:ext cx="4389120" cy="411480"/>
          </a:xfrm>
          <a:prstGeom prst="rect">
            <a:avLst/>
          </a:prstGeom>
          <a:noFill/>
        </p:spPr>
        <p:txBody>
          <a:bodyPr wrap="square" lIns="0" rIns="0" tIns="0" bIns="0" anchor="t">
            <a:spAutoFit/>
          </a:bodyPr>
          <a:lstStyle/>
          <a:p>
            <a:pPr algn="l"/>
            <a:r>
              <a:rPr sz="1500" b="1" i="0">
                <a:solidFill>
                  <a:srgbClr val="12394D"/>
                </a:solidFill>
                <a:latin typeface="Calibri"/>
              </a:rPr>
              <a:t>Keep constraints explicit, and on the tail</a:t>
            </a:r>
          </a:p>
        </p:txBody>
      </p:sp>
      <p:sp>
        <p:nvSpPr>
          <p:cNvPr id="13" name="TextBox 12"/>
          <p:cNvSpPr txBox="1"/>
          <p:nvPr/>
        </p:nvSpPr>
        <p:spPr>
          <a:xfrm>
            <a:off x="6949440" y="2286000"/>
            <a:ext cx="4389120" cy="1097280"/>
          </a:xfrm>
          <a:prstGeom prst="rect">
            <a:avLst/>
          </a:prstGeom>
          <a:noFill/>
        </p:spPr>
        <p:txBody>
          <a:bodyPr wrap="square" lIns="0" rIns="0" tIns="0" bIns="0" anchor="t">
            <a:spAutoFit/>
          </a:bodyPr>
          <a:lstStyle/>
          <a:p>
            <a:pPr algn="l"/>
            <a:r>
              <a:rPr sz="1250" b="0" i="0">
                <a:solidFill>
                  <a:srgbClr val="2A3F4C"/>
                </a:solidFill>
                <a:latin typeface="Calibri"/>
              </a:rPr>
              <a:t>Lu (§II-H, §VIII-A) favours CMDPs over penalties; Haque (§XI) asks for latency–reliability analysis. Constrain P(ℓ &gt; L) or a CVaR, not a window mean.</a:t>
            </a:r>
          </a:p>
        </p:txBody>
      </p:sp>
      <p:sp>
        <p:nvSpPr>
          <p:cNvPr id="14" name="Rounded Rectangle 13"/>
          <p:cNvSpPr/>
          <p:nvPr/>
        </p:nvSpPr>
        <p:spPr>
          <a:xfrm>
            <a:off x="640080" y="3584448"/>
            <a:ext cx="5349240" cy="178308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68680" y="3785615"/>
            <a:ext cx="384048" cy="384048"/>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85615"/>
            <a:ext cx="384048" cy="384048"/>
          </a:xfrm>
          <a:prstGeom prst="rect">
            <a:avLst/>
          </a:prstGeom>
          <a:noFill/>
        </p:spPr>
        <p:txBody>
          <a:bodyPr wrap="square" lIns="0" rIns="0" tIns="0" bIns="0" anchor="ctr">
            <a:spAutoFit/>
          </a:bodyPr>
          <a:lstStyle/>
          <a:p>
            <a:pPr algn="ctr"/>
            <a:r>
              <a:rPr sz="1400" b="1" i="0">
                <a:solidFill>
                  <a:srgbClr val="FFFFFF"/>
                </a:solidFill>
                <a:latin typeface="Cambria"/>
              </a:rPr>
              <a:t>3</a:t>
            </a:r>
          </a:p>
        </p:txBody>
      </p:sp>
      <p:sp>
        <p:nvSpPr>
          <p:cNvPr id="17" name="TextBox 16"/>
          <p:cNvSpPr txBox="1"/>
          <p:nvPr/>
        </p:nvSpPr>
        <p:spPr>
          <a:xfrm>
            <a:off x="1417319" y="3785615"/>
            <a:ext cx="4389120" cy="411480"/>
          </a:xfrm>
          <a:prstGeom prst="rect">
            <a:avLst/>
          </a:prstGeom>
          <a:noFill/>
        </p:spPr>
        <p:txBody>
          <a:bodyPr wrap="square" lIns="0" rIns="0" tIns="0" bIns="0" anchor="t">
            <a:spAutoFit/>
          </a:bodyPr>
          <a:lstStyle/>
          <a:p>
            <a:pPr algn="l"/>
            <a:r>
              <a:rPr sz="1500" b="1" i="0">
                <a:solidFill>
                  <a:srgbClr val="12394D"/>
                </a:solidFill>
                <a:latin typeface="Calibri"/>
              </a:rPr>
              <a:t>Data must be decision-centred</a:t>
            </a:r>
          </a:p>
        </p:txBody>
      </p:sp>
      <p:sp>
        <p:nvSpPr>
          <p:cNvPr id="18" name="TextBox 17"/>
          <p:cNvSpPr txBox="1"/>
          <p:nvPr/>
        </p:nvSpPr>
        <p:spPr>
          <a:xfrm>
            <a:off x="1417319" y="4224528"/>
            <a:ext cx="4389120" cy="1097280"/>
          </a:xfrm>
          <a:prstGeom prst="rect">
            <a:avLst/>
          </a:prstGeom>
          <a:noFill/>
        </p:spPr>
        <p:txBody>
          <a:bodyPr wrap="square" lIns="0" rIns="0" tIns="0" bIns="0" anchor="t">
            <a:spAutoFit/>
          </a:bodyPr>
          <a:lstStyle/>
          <a:p>
            <a:pPr algn="l"/>
            <a:r>
              <a:rPr sz="1250" b="0" i="0">
                <a:solidFill>
                  <a:srgbClr val="2A3F4C"/>
                </a:solidFill>
                <a:latin typeface="Calibri"/>
              </a:rPr>
              <a:t>Logs need (s, a, r, s′, Δt, z), the behaviour policy and the control location (Lu Eq. 32, p. 48). KPM-only traces calibrate simulators; they do not train sequential policies.</a:t>
            </a:r>
          </a:p>
        </p:txBody>
      </p:sp>
      <p:sp>
        <p:nvSpPr>
          <p:cNvPr id="19" name="Rounded Rectangle 18"/>
          <p:cNvSpPr/>
          <p:nvPr/>
        </p:nvSpPr>
        <p:spPr>
          <a:xfrm>
            <a:off x="6172200" y="3584448"/>
            <a:ext cx="5349240" cy="178308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0" y="3785615"/>
            <a:ext cx="384048" cy="384048"/>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785615"/>
            <a:ext cx="384048" cy="384048"/>
          </a:xfrm>
          <a:prstGeom prst="rect">
            <a:avLst/>
          </a:prstGeom>
          <a:noFill/>
        </p:spPr>
        <p:txBody>
          <a:bodyPr wrap="square" lIns="0" rIns="0" tIns="0" bIns="0" anchor="ctr">
            <a:spAutoFit/>
          </a:bodyPr>
          <a:lstStyle/>
          <a:p>
            <a:pPr algn="ctr"/>
            <a:r>
              <a:rPr sz="1400" b="1" i="0">
                <a:solidFill>
                  <a:srgbClr val="FFFFFF"/>
                </a:solidFill>
                <a:latin typeface="Cambria"/>
              </a:rPr>
              <a:t>4</a:t>
            </a:r>
          </a:p>
        </p:txBody>
      </p:sp>
      <p:sp>
        <p:nvSpPr>
          <p:cNvPr id="22" name="TextBox 21"/>
          <p:cNvSpPr txBox="1"/>
          <p:nvPr/>
        </p:nvSpPr>
        <p:spPr>
          <a:xfrm>
            <a:off x="6949440" y="3785615"/>
            <a:ext cx="4389120" cy="411480"/>
          </a:xfrm>
          <a:prstGeom prst="rect">
            <a:avLst/>
          </a:prstGeom>
          <a:noFill/>
        </p:spPr>
        <p:txBody>
          <a:bodyPr wrap="square" lIns="0" rIns="0" tIns="0" bIns="0" anchor="t">
            <a:spAutoFit/>
          </a:bodyPr>
          <a:lstStyle/>
          <a:p>
            <a:pPr algn="l"/>
            <a:r>
              <a:rPr sz="1500" b="1" i="0">
                <a:solidFill>
                  <a:srgbClr val="12394D"/>
                </a:solidFill>
                <a:latin typeface="Calibri"/>
              </a:rPr>
              <a:t>Report across loads and seeds</a:t>
            </a:r>
          </a:p>
        </p:txBody>
      </p:sp>
      <p:sp>
        <p:nvSpPr>
          <p:cNvPr id="23" name="TextBox 22"/>
          <p:cNvSpPr txBox="1"/>
          <p:nvPr/>
        </p:nvSpPr>
        <p:spPr>
          <a:xfrm>
            <a:off x="6949440" y="4224528"/>
            <a:ext cx="4389120" cy="1097280"/>
          </a:xfrm>
          <a:prstGeom prst="rect">
            <a:avLst/>
          </a:prstGeom>
          <a:noFill/>
        </p:spPr>
        <p:txBody>
          <a:bodyPr wrap="square" lIns="0" rIns="0" tIns="0" bIns="0" anchor="t">
            <a:spAutoFit/>
          </a:bodyPr>
          <a:lstStyle/>
          <a:p>
            <a:pPr algn="l"/>
            <a:r>
              <a:rPr sz="1250" b="0" i="0">
                <a:solidFill>
                  <a:srgbClr val="2A3F4C"/>
                </a:solidFill>
                <a:latin typeface="Calibri"/>
              </a:rPr>
              <a:t>URLLC QoS depends on its own load (Adhikari §III-C); the formulation changes the winner (PandORA, Lu p. 16); benchmarks need seeds and CIs (Lu p. 56).</a:t>
            </a:r>
          </a:p>
        </p:txBody>
      </p:sp>
      <p:sp>
        <p:nvSpPr>
          <p:cNvPr id="24" name="Rounded Rectangle 23"/>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Implication: a configuration-level controller with tail constraints, trained on decision logs I generate.</a:t>
            </a:r>
          </a:p>
        </p:txBody>
      </p:sp>
      <p:sp>
        <p:nvSpPr>
          <p:cNvPr id="26" name="TextBox 25"/>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27"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13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D · My rejected paper</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Offline Safe-CQL: what was built and claimed</a:t>
            </a:r>
          </a:p>
        </p:txBody>
      </p:sp>
      <p:sp>
        <p:nvSpPr>
          <p:cNvPr id="4" name="Rounded Rectangle 3"/>
          <p:cNvSpPr/>
          <p:nvPr/>
        </p:nvSpPr>
        <p:spPr>
          <a:xfrm>
            <a:off x="640080" y="1645920"/>
            <a:ext cx="1938528" cy="73152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1" y="1645920"/>
            <a:ext cx="1792224" cy="731520"/>
          </a:xfrm>
          <a:prstGeom prst="rect">
            <a:avLst/>
          </a:prstGeom>
          <a:noFill/>
        </p:spPr>
        <p:txBody>
          <a:bodyPr wrap="square" lIns="0" rIns="0" tIns="0" bIns="0" anchor="ctr">
            <a:spAutoFit/>
          </a:bodyPr>
          <a:lstStyle/>
          <a:p>
            <a:pPr algn="ctr"/>
            <a:r>
              <a:rPr sz="1200" b="1" i="0">
                <a:solidFill>
                  <a:srgbClr val="12394D"/>
                </a:solidFill>
                <a:latin typeface="Calibri"/>
              </a:rPr>
              <a:t>Colosseum twinning traces (225k transitions)</a:t>
            </a:r>
          </a:p>
        </p:txBody>
      </p:sp>
      <p:cxnSp>
        <p:nvCxnSpPr>
          <p:cNvPr id="6" name="Connector 5"/>
          <p:cNvCxnSpPr/>
          <p:nvPr/>
        </p:nvCxnSpPr>
        <p:spPr>
          <a:xfrm>
            <a:off x="2596896" y="2011680"/>
            <a:ext cx="256032" cy="0"/>
          </a:xfrm>
          <a:prstGeom prst="line">
            <a:avLst/>
          </a:prstGeom>
          <a:ln w="22225">
            <a:solidFill>
              <a:srgbClr val="1A8A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71215" y="1645920"/>
            <a:ext cx="1938528" cy="73152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44368" y="1645920"/>
            <a:ext cx="1792224" cy="731520"/>
          </a:xfrm>
          <a:prstGeom prst="rect">
            <a:avLst/>
          </a:prstGeom>
          <a:noFill/>
        </p:spPr>
        <p:txBody>
          <a:bodyPr wrap="square" lIns="0" rIns="0" tIns="0" bIns="0" anchor="ctr">
            <a:spAutoFit/>
          </a:bodyPr>
          <a:lstStyle/>
          <a:p>
            <a:pPr algn="ctr"/>
            <a:r>
              <a:rPr sz="1200" b="1" i="0">
                <a:solidFill>
                  <a:srgbClr val="12394D"/>
                </a:solidFill>
                <a:latin typeface="Calibri"/>
              </a:rPr>
              <a:t>Audit: scheduler drives the tail</a:t>
            </a:r>
          </a:p>
        </p:txBody>
      </p:sp>
      <p:cxnSp>
        <p:nvCxnSpPr>
          <p:cNvPr id="9" name="Connector 8"/>
          <p:cNvCxnSpPr/>
          <p:nvPr/>
        </p:nvCxnSpPr>
        <p:spPr>
          <a:xfrm>
            <a:off x="4828031" y="2011680"/>
            <a:ext cx="256033" cy="0"/>
          </a:xfrm>
          <a:prstGeom prst="line">
            <a:avLst/>
          </a:prstGeom>
          <a:ln w="22225">
            <a:solidFill>
              <a:srgbClr val="1A8A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02352" y="1645920"/>
            <a:ext cx="1938528" cy="73152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75504" y="1645920"/>
            <a:ext cx="1792224" cy="731520"/>
          </a:xfrm>
          <a:prstGeom prst="rect">
            <a:avLst/>
          </a:prstGeom>
          <a:noFill/>
        </p:spPr>
        <p:txBody>
          <a:bodyPr wrap="square" lIns="0" rIns="0" tIns="0" bIns="0" anchor="ctr">
            <a:spAutoFit/>
          </a:bodyPr>
          <a:lstStyle/>
          <a:p>
            <a:pPr algn="ctr"/>
            <a:r>
              <a:rPr sz="1200" b="1" i="0">
                <a:solidFill>
                  <a:srgbClr val="12394D"/>
                </a:solidFill>
                <a:latin typeface="Calibri"/>
              </a:rPr>
              <a:t>CMDP: max eMBB s.t. E[c] ≤ 0.03</a:t>
            </a:r>
          </a:p>
        </p:txBody>
      </p:sp>
      <p:cxnSp>
        <p:nvCxnSpPr>
          <p:cNvPr id="12" name="Connector 11"/>
          <p:cNvCxnSpPr/>
          <p:nvPr/>
        </p:nvCxnSpPr>
        <p:spPr>
          <a:xfrm>
            <a:off x="7059168" y="2011680"/>
            <a:ext cx="256032" cy="0"/>
          </a:xfrm>
          <a:prstGeom prst="line">
            <a:avLst/>
          </a:prstGeom>
          <a:ln w="22225">
            <a:solidFill>
              <a:srgbClr val="1A8A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33488" y="1645920"/>
            <a:ext cx="1938528" cy="731520"/>
          </a:xfrm>
          <a:prstGeom prst="roundRect">
            <a:avLst>
              <a:gd name="adj" fmla="val 8000"/>
            </a:avLst>
          </a:prstGeom>
          <a:solidFill>
            <a:srgbClr val="123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0" y="1645920"/>
            <a:ext cx="1792224" cy="731520"/>
          </a:xfrm>
          <a:prstGeom prst="rect">
            <a:avLst/>
          </a:prstGeom>
          <a:noFill/>
        </p:spPr>
        <p:txBody>
          <a:bodyPr wrap="square" lIns="0" rIns="0" tIns="0" bIns="0" anchor="ctr">
            <a:spAutoFit/>
          </a:bodyPr>
          <a:lstStyle/>
          <a:p>
            <a:pPr algn="ctr"/>
            <a:r>
              <a:rPr sz="1200" b="1" i="0">
                <a:solidFill>
                  <a:srgbClr val="FFFFFF"/>
                </a:solidFill>
                <a:latin typeface="Calibri"/>
              </a:rPr>
              <a:t>CQL Q_r + tabular ĉ(a, load) + adaptive λ</a:t>
            </a:r>
          </a:p>
        </p:txBody>
      </p:sp>
      <p:cxnSp>
        <p:nvCxnSpPr>
          <p:cNvPr id="15" name="Connector 14"/>
          <p:cNvCxnSpPr/>
          <p:nvPr/>
        </p:nvCxnSpPr>
        <p:spPr>
          <a:xfrm>
            <a:off x="9290304" y="2011680"/>
            <a:ext cx="256032" cy="0"/>
          </a:xfrm>
          <a:prstGeom prst="line">
            <a:avLst/>
          </a:prstGeom>
          <a:ln w="22225">
            <a:solidFill>
              <a:srgbClr val="1A8A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564624" y="1645920"/>
            <a:ext cx="1938528" cy="73152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37776" y="1645920"/>
            <a:ext cx="1792224" cy="731520"/>
          </a:xfrm>
          <a:prstGeom prst="rect">
            <a:avLst/>
          </a:prstGeom>
          <a:noFill/>
        </p:spPr>
        <p:txBody>
          <a:bodyPr wrap="square" lIns="0" rIns="0" tIns="0" bIns="0" anchor="ctr">
            <a:spAutoFit/>
          </a:bodyPr>
          <a:lstStyle/>
          <a:p>
            <a:pPr algn="ctr"/>
            <a:r>
              <a:rPr sz="1200" b="1" i="0">
                <a:solidFill>
                  <a:srgbClr val="12394D"/>
                </a:solidFill>
                <a:latin typeface="Calibri"/>
              </a:rPr>
              <a:t>OPE on the held-out cluster</a:t>
            </a:r>
          </a:p>
        </p:txBody>
      </p:sp>
      <p:sp>
        <p:nvSpPr>
          <p:cNvPr id="18" name="TextBox 17"/>
          <p:cNvSpPr txBox="1"/>
          <p:nvPr/>
        </p:nvSpPr>
        <p:spPr>
          <a:xfrm>
            <a:off x="640080" y="2651760"/>
            <a:ext cx="4572000" cy="274320"/>
          </a:xfrm>
          <a:prstGeom prst="rect">
            <a:avLst/>
          </a:prstGeom>
          <a:noFill/>
        </p:spPr>
        <p:txBody>
          <a:bodyPr wrap="square" lIns="0" rIns="0" tIns="0" bIns="0" anchor="t">
            <a:spAutoFit/>
          </a:bodyPr>
          <a:lstStyle/>
          <a:p>
            <a:pPr algn="l"/>
            <a:r>
              <a:rPr sz="1200" b="1" i="0" spc="100">
                <a:solidFill>
                  <a:srgbClr val="1A8A99"/>
                </a:solidFill>
                <a:latin typeface="Calibri"/>
              </a:rPr>
              <a:t>FORMULATION</a:t>
            </a:r>
          </a:p>
        </p:txBody>
      </p:sp>
      <p:sp>
        <p:nvSpPr>
          <p:cNvPr id="19" name="TextBox 18"/>
          <p:cNvSpPr txBox="1"/>
          <p:nvPr/>
        </p:nvSpPr>
        <p:spPr>
          <a:xfrm>
            <a:off x="640080" y="2971800"/>
            <a:ext cx="4937760" cy="2468880"/>
          </a:xfrm>
          <a:prstGeom prst="rect">
            <a:avLst/>
          </a:prstGeom>
          <a:noFill/>
        </p:spPr>
        <p:txBody>
          <a:bodyPr wrap="square" lIns="0" rIns="0" tIns="0" bIns="0" anchor="t">
            <a:spAutoFit/>
          </a:bodyPr>
          <a:lstStyle/>
          <a:p>
            <a:pPr algn="l">
              <a:spcAft>
                <a:spcPts val="400"/>
              </a:spcAft>
            </a:pPr>
            <a:r>
              <a:rPr sz="1250" b="1" i="0">
                <a:solidFill>
                  <a:srgbClr val="1A8A99"/>
                </a:solidFill>
                <a:latin typeface="Calibri"/>
              </a:rPr>
              <a:t>–  </a:t>
            </a:r>
            <a:r>
              <a:rPr sz="1250" b="0" i="0">
                <a:solidFill>
                  <a:srgbClr val="2A3F4C"/>
                </a:solidFill>
                <a:latin typeface="Calibri"/>
              </a:rPr>
              <a:t>State: 12 KPM features; current configuration excluded</a:t>
            </a:r>
          </a:p>
          <a:p>
            <a:pPr algn="l">
              <a:spcAft>
                <a:spcPts val="400"/>
              </a:spcAft>
            </a:pPr>
            <a:r>
              <a:rPr sz="1250" b="1" i="0">
                <a:solidFill>
                  <a:srgbClr val="1A8A99"/>
                </a:solidFill>
                <a:latin typeface="Calibri"/>
              </a:rPr>
              <a:t>–  </a:t>
            </a:r>
            <a:r>
              <a:rPr sz="1250" b="0" i="0">
                <a:solidFill>
                  <a:srgbClr val="2A3F4C"/>
                </a:solidFill>
                <a:latin typeface="Calibri"/>
              </a:rPr>
              <a:t>Action: 4 PRB splits × {RR, PF} = 8</a:t>
            </a:r>
          </a:p>
          <a:p>
            <a:pPr algn="l">
              <a:spcAft>
                <a:spcPts val="400"/>
              </a:spcAft>
            </a:pPr>
            <a:r>
              <a:rPr sz="1250" b="1" i="0">
                <a:solidFill>
                  <a:srgbClr val="1A8A99"/>
                </a:solidFill>
                <a:latin typeface="Calibri"/>
              </a:rPr>
              <a:t>–  </a:t>
            </a:r>
            <a:r>
              <a:rPr sz="1250" b="0" i="0">
                <a:solidFill>
                  <a:srgbClr val="2A3F4C"/>
                </a:solidFill>
                <a:latin typeface="Calibri"/>
              </a:rPr>
              <a:t>Step: 5 s window; γ = 0.7; cost treated as immediate (γ_c = 0)</a:t>
            </a:r>
          </a:p>
          <a:p>
            <a:pPr algn="l">
              <a:spcAft>
                <a:spcPts val="400"/>
              </a:spcAft>
            </a:pPr>
            <a:r>
              <a:rPr sz="1250" b="1" i="0">
                <a:solidFill>
                  <a:srgbClr val="1A8A99"/>
                </a:solidFill>
                <a:latin typeface="Calibri"/>
              </a:rPr>
              <a:t>–  </a:t>
            </a:r>
            <a:r>
              <a:rPr sz="1250" b="0" i="0">
                <a:solidFill>
                  <a:srgbClr val="2A3F4C"/>
                </a:solidFill>
                <a:latin typeface="Calibri"/>
              </a:rPr>
              <a:t>Cost: share of URLLC packets above 20 ms; budget d = 0.03</a:t>
            </a:r>
          </a:p>
          <a:p>
            <a:pPr algn="l">
              <a:spcAft>
                <a:spcPts val="400"/>
              </a:spcAft>
            </a:pPr>
            <a:r>
              <a:rPr sz="1250" b="1" i="0">
                <a:solidFill>
                  <a:srgbClr val="1A8A99"/>
                </a:solidFill>
                <a:latin typeface="Calibri"/>
              </a:rPr>
              <a:t>–  </a:t>
            </a:r>
            <a:r>
              <a:rPr sz="1250" b="0" i="0">
                <a:solidFill>
                  <a:srgbClr val="2A3F4C"/>
                </a:solidFill>
                <a:latin typeface="Calibri"/>
              </a:rPr>
              <a:t>Data: 1 BS, 50 PRB, 8 UEs; train on clusters 2–3, test on 1</a:t>
            </a:r>
          </a:p>
        </p:txBody>
      </p:sp>
      <p:sp>
        <p:nvSpPr>
          <p:cNvPr id="20" name="TextBox 19"/>
          <p:cNvSpPr txBox="1"/>
          <p:nvPr/>
        </p:nvSpPr>
        <p:spPr>
          <a:xfrm>
            <a:off x="5943600" y="2651760"/>
            <a:ext cx="5486400" cy="274320"/>
          </a:xfrm>
          <a:prstGeom prst="rect">
            <a:avLst/>
          </a:prstGeom>
          <a:noFill/>
        </p:spPr>
        <p:txBody>
          <a:bodyPr wrap="square" lIns="0" rIns="0" tIns="0" bIns="0" anchor="t">
            <a:spAutoFit/>
          </a:bodyPr>
          <a:lstStyle/>
          <a:p>
            <a:pPr algn="l"/>
            <a:r>
              <a:rPr sz="1200" b="1" i="0" spc="100">
                <a:solidFill>
                  <a:srgbClr val="1A8A99"/>
                </a:solidFill>
                <a:latin typeface="Calibri"/>
              </a:rPr>
              <a:t>RESULT ON THE HELD-OUT CLUSTER (TABLE II)</a:t>
            </a:r>
          </a:p>
        </p:txBody>
      </p:sp>
      <p:graphicFrame>
        <p:nvGraphicFramePr>
          <p:cNvPr id="21" name="Table 20"/>
          <p:cNvGraphicFramePr>
            <a:graphicFrameLocks noGrp="1"/>
          </p:cNvGraphicFramePr>
          <p:nvPr/>
        </p:nvGraphicFramePr>
        <p:xfrm>
          <a:off x="5943600" y="2971800"/>
          <a:ext cx="5577840" cy="1536192"/>
        </p:xfrm>
        <a:graphic>
          <a:graphicData uri="http://schemas.openxmlformats.org/drawingml/2006/table">
            <a:tbl>
              <a:tblPr firstRow="1">
                <a:tableStyleId>{5C22544A-7EE6-4342-B048-85BDC9FD1C3A}</a:tableStyleId>
              </a:tblPr>
              <a:tblGrid>
                <a:gridCol w="1188720"/>
                <a:gridCol w="1097280"/>
                <a:gridCol w="1097280"/>
                <a:gridCol w="1097280"/>
                <a:gridCol w="1097280"/>
              </a:tblGrid>
              <a:tr h="384048">
                <a:tc>
                  <a:txBody>
                    <a:bodyPr wrap="square"/>
                    <a:lstStyle/>
                    <a:p>
                      <a:r>
                        <a:rPr sz="1100" b="1" i="0">
                          <a:solidFill>
                            <a:srgbClr val="FFFFFF"/>
                          </a:solidFill>
                          <a:latin typeface="Calibri"/>
                        </a:rPr>
                        <a:t>Method</a:t>
                      </a:r>
                    </a:p>
                  </a:txBody>
                  <a:tcPr marL="73152" marR="73152" marT="36576" marB="36576" anchor="ctr">
                    <a:solidFill>
                      <a:srgbClr val="12394D"/>
                    </a:solidFill>
                  </a:tcPr>
                </a:tc>
                <a:tc>
                  <a:txBody>
                    <a:bodyPr wrap="square"/>
                    <a:lstStyle/>
                    <a:p>
                      <a:r>
                        <a:rPr sz="1100" b="1" i="0">
                          <a:solidFill>
                            <a:srgbClr val="FFFFFF"/>
                          </a:solidFill>
                          <a:latin typeface="Calibri"/>
                        </a:rPr>
                        <a:t>Thr. matching</a:t>
                      </a:r>
                    </a:p>
                  </a:txBody>
                  <a:tcPr marL="73152" marR="73152" marT="36576" marB="36576" anchor="ctr">
                    <a:solidFill>
                      <a:srgbClr val="12394D"/>
                    </a:solidFill>
                  </a:tcPr>
                </a:tc>
                <a:tc>
                  <a:txBody>
                    <a:bodyPr wrap="square"/>
                    <a:lstStyle/>
                    <a:p>
                      <a:r>
                        <a:rPr sz="1100" b="1" i="0">
                          <a:solidFill>
                            <a:srgbClr val="FFFFFF"/>
                          </a:solidFill>
                          <a:latin typeface="Calibri"/>
                        </a:rPr>
                        <a:t>Cost matching</a:t>
                      </a:r>
                    </a:p>
                  </a:txBody>
                  <a:tcPr marL="73152" marR="73152" marT="36576" marB="36576" anchor="ctr">
                    <a:solidFill>
                      <a:srgbClr val="12394D"/>
                    </a:solidFill>
                  </a:tcPr>
                </a:tc>
                <a:tc>
                  <a:txBody>
                    <a:bodyPr wrap="square"/>
                    <a:lstStyle/>
                    <a:p>
                      <a:r>
                        <a:rPr sz="1100" b="1" i="0">
                          <a:solidFill>
                            <a:srgbClr val="FFFFFF"/>
                          </a:solidFill>
                          <a:latin typeface="Calibri"/>
                        </a:rPr>
                        <a:t>Thr. tabular</a:t>
                      </a:r>
                    </a:p>
                  </a:txBody>
                  <a:tcPr marL="73152" marR="73152" marT="36576" marB="36576" anchor="ctr">
                    <a:solidFill>
                      <a:srgbClr val="12394D"/>
                    </a:solidFill>
                  </a:tcPr>
                </a:tc>
                <a:tc>
                  <a:txBody>
                    <a:bodyPr wrap="square"/>
                    <a:lstStyle/>
                    <a:p>
                      <a:r>
                        <a:rPr sz="1100" b="1" i="0">
                          <a:solidFill>
                            <a:srgbClr val="FFFFFF"/>
                          </a:solidFill>
                          <a:latin typeface="Calibri"/>
                        </a:rPr>
                        <a:t>Cost tabular</a:t>
                      </a:r>
                    </a:p>
                  </a:txBody>
                  <a:tcPr marL="73152" marR="73152" marT="36576" marB="36576" anchor="ctr">
                    <a:solidFill>
                      <a:srgbClr val="12394D"/>
                    </a:solidFill>
                  </a:tcPr>
                </a:tc>
              </a:tr>
              <a:tr h="384048">
                <a:tc>
                  <a:txBody>
                    <a:bodyPr wrap="square"/>
                    <a:lstStyle/>
                    <a:p>
                      <a:r>
                        <a:rPr sz="1100" b="1" i="0">
                          <a:solidFill>
                            <a:srgbClr val="12394D"/>
                          </a:solidFill>
                          <a:latin typeface="Calibri"/>
                        </a:rPr>
                        <a:t>BC</a:t>
                      </a:r>
                    </a:p>
                  </a:txBody>
                  <a:tcPr marL="73152" marR="73152" marT="36576" marB="36576" anchor="ctr">
                    <a:solidFill>
                      <a:srgbClr val="F0F5F7"/>
                    </a:solidFill>
                  </a:tcPr>
                </a:tc>
                <a:tc>
                  <a:txBody>
                    <a:bodyPr wrap="square"/>
                    <a:lstStyle/>
                    <a:p>
                      <a:r>
                        <a:rPr sz="1100" b="0" i="0">
                          <a:solidFill>
                            <a:srgbClr val="2A3F4C"/>
                          </a:solidFill>
                          <a:latin typeface="Calibri"/>
                        </a:rPr>
                        <a:t>7.76 ± 0.10</a:t>
                      </a:r>
                    </a:p>
                  </a:txBody>
                  <a:tcPr marL="73152" marR="73152" marT="36576" marB="36576" anchor="ctr">
                    <a:solidFill>
                      <a:srgbClr val="F0F5F7"/>
                    </a:solidFill>
                  </a:tcPr>
                </a:tc>
                <a:tc>
                  <a:txBody>
                    <a:bodyPr wrap="square"/>
                    <a:lstStyle/>
                    <a:p>
                      <a:r>
                        <a:rPr sz="1100" b="0" i="0">
                          <a:solidFill>
                            <a:srgbClr val="2A3F4C"/>
                          </a:solidFill>
                          <a:latin typeface="Calibri"/>
                        </a:rPr>
                        <a:t>0.041 ± 0.002</a:t>
                      </a:r>
                    </a:p>
                  </a:txBody>
                  <a:tcPr marL="73152" marR="73152" marT="36576" marB="36576" anchor="ctr">
                    <a:solidFill>
                      <a:srgbClr val="F0F5F7"/>
                    </a:solidFill>
                  </a:tcPr>
                </a:tc>
                <a:tc>
                  <a:txBody>
                    <a:bodyPr wrap="square"/>
                    <a:lstStyle/>
                    <a:p>
                      <a:r>
                        <a:rPr sz="1100" b="0" i="0">
                          <a:solidFill>
                            <a:srgbClr val="2A3F4C"/>
                          </a:solidFill>
                          <a:latin typeface="Calibri"/>
                        </a:rPr>
                        <a:t>7.49 ± 0.05</a:t>
                      </a:r>
                    </a:p>
                  </a:txBody>
                  <a:tcPr marL="73152" marR="73152" marT="36576" marB="36576" anchor="ctr">
                    <a:solidFill>
                      <a:srgbClr val="F0F5F7"/>
                    </a:solidFill>
                  </a:tcPr>
                </a:tc>
                <a:tc>
                  <a:txBody>
                    <a:bodyPr wrap="square"/>
                    <a:lstStyle/>
                    <a:p>
                      <a:r>
                        <a:rPr sz="1100" b="0" i="0">
                          <a:solidFill>
                            <a:srgbClr val="2A3F4C"/>
                          </a:solidFill>
                          <a:latin typeface="Calibri"/>
                        </a:rPr>
                        <a:t>0.057 ± 0.002</a:t>
                      </a:r>
                    </a:p>
                  </a:txBody>
                  <a:tcPr marL="73152" marR="73152" marT="36576" marB="36576" anchor="ctr">
                    <a:solidFill>
                      <a:srgbClr val="F0F5F7"/>
                    </a:solidFill>
                  </a:tcPr>
                </a:tc>
              </a:tr>
              <a:tr h="384048">
                <a:tc>
                  <a:txBody>
                    <a:bodyPr wrap="square"/>
                    <a:lstStyle/>
                    <a:p>
                      <a:r>
                        <a:rPr sz="1100" b="1" i="0">
                          <a:solidFill>
                            <a:srgbClr val="12394D"/>
                          </a:solidFill>
                          <a:latin typeface="Calibri"/>
                        </a:rPr>
                        <a:t>CQL (λ = 0)</a:t>
                      </a:r>
                    </a:p>
                  </a:txBody>
                  <a:tcPr marL="73152" marR="73152" marT="36576" marB="36576" anchor="ctr">
                    <a:solidFill>
                      <a:srgbClr val="FFFFFF"/>
                    </a:solidFill>
                  </a:tcPr>
                </a:tc>
                <a:tc>
                  <a:txBody>
                    <a:bodyPr wrap="square"/>
                    <a:lstStyle/>
                    <a:p>
                      <a:r>
                        <a:rPr sz="1100" b="0" i="0">
                          <a:solidFill>
                            <a:srgbClr val="2A3F4C"/>
                          </a:solidFill>
                          <a:latin typeface="Calibri"/>
                        </a:rPr>
                        <a:t>7.81 ± 0.04</a:t>
                      </a:r>
                    </a:p>
                  </a:txBody>
                  <a:tcPr marL="73152" marR="73152" marT="36576" marB="36576" anchor="ctr">
                    <a:solidFill>
                      <a:srgbClr val="FFFFFF"/>
                    </a:solidFill>
                  </a:tcPr>
                </a:tc>
                <a:tc>
                  <a:txBody>
                    <a:bodyPr wrap="square"/>
                    <a:lstStyle/>
                    <a:p>
                      <a:r>
                        <a:rPr sz="1100" b="0" i="0">
                          <a:solidFill>
                            <a:srgbClr val="2A3F4C"/>
                          </a:solidFill>
                          <a:latin typeface="Calibri"/>
                        </a:rPr>
                        <a:t>0.040 ± 0.002</a:t>
                      </a:r>
                    </a:p>
                  </a:txBody>
                  <a:tcPr marL="73152" marR="73152" marT="36576" marB="36576" anchor="ctr">
                    <a:solidFill>
                      <a:srgbClr val="FFFFFF"/>
                    </a:solidFill>
                  </a:tcPr>
                </a:tc>
                <a:tc>
                  <a:txBody>
                    <a:bodyPr wrap="square"/>
                    <a:lstStyle/>
                    <a:p>
                      <a:r>
                        <a:rPr sz="1100" b="0" i="0">
                          <a:solidFill>
                            <a:srgbClr val="2A3F4C"/>
                          </a:solidFill>
                          <a:latin typeface="Calibri"/>
                        </a:rPr>
                        <a:t>7.40 ± 0.03</a:t>
                      </a:r>
                    </a:p>
                  </a:txBody>
                  <a:tcPr marL="73152" marR="73152" marT="36576" marB="36576" anchor="ctr">
                    <a:solidFill>
                      <a:srgbClr val="FFFFFF"/>
                    </a:solidFill>
                  </a:tcPr>
                </a:tc>
                <a:tc>
                  <a:txBody>
                    <a:bodyPr wrap="square"/>
                    <a:lstStyle/>
                    <a:p>
                      <a:r>
                        <a:rPr sz="1100" b="0" i="0">
                          <a:solidFill>
                            <a:srgbClr val="2A3F4C"/>
                          </a:solidFill>
                          <a:latin typeface="Calibri"/>
                        </a:rPr>
                        <a:t>0.049 ± 0.002</a:t>
                      </a:r>
                    </a:p>
                  </a:txBody>
                  <a:tcPr marL="73152" marR="73152" marT="36576" marB="36576" anchor="ctr">
                    <a:solidFill>
                      <a:srgbClr val="FFFFFF"/>
                    </a:solidFill>
                  </a:tcPr>
                </a:tc>
              </a:tr>
              <a:tr h="384048">
                <a:tc>
                  <a:txBody>
                    <a:bodyPr wrap="square"/>
                    <a:lstStyle/>
                    <a:p>
                      <a:r>
                        <a:rPr sz="1100" b="1" i="0">
                          <a:solidFill>
                            <a:srgbClr val="12394D"/>
                          </a:solidFill>
                          <a:latin typeface="Calibri"/>
                        </a:rPr>
                        <a:t>Safe-CQL</a:t>
                      </a:r>
                    </a:p>
                  </a:txBody>
                  <a:tcPr marL="73152" marR="73152" marT="36576" marB="36576" anchor="ctr">
                    <a:solidFill>
                      <a:srgbClr val="F0F5F7"/>
                    </a:solidFill>
                  </a:tcPr>
                </a:tc>
                <a:tc>
                  <a:txBody>
                    <a:bodyPr wrap="square"/>
                    <a:lstStyle/>
                    <a:p>
                      <a:r>
                        <a:rPr sz="1100" b="0" i="0">
                          <a:solidFill>
                            <a:srgbClr val="2A3F4C"/>
                          </a:solidFill>
                          <a:latin typeface="Calibri"/>
                        </a:rPr>
                        <a:t>7.65 ± 0.05</a:t>
                      </a:r>
                    </a:p>
                  </a:txBody>
                  <a:tcPr marL="73152" marR="73152" marT="36576" marB="36576" anchor="ctr">
                    <a:solidFill>
                      <a:srgbClr val="F0F5F7"/>
                    </a:solidFill>
                  </a:tcPr>
                </a:tc>
                <a:tc>
                  <a:txBody>
                    <a:bodyPr wrap="square"/>
                    <a:lstStyle/>
                    <a:p>
                      <a:r>
                        <a:rPr sz="1100" b="0" i="0">
                          <a:solidFill>
                            <a:srgbClr val="2A3F4C"/>
                          </a:solidFill>
                          <a:latin typeface="Calibri"/>
                        </a:rPr>
                        <a:t>0.030 ± 0.000</a:t>
                      </a:r>
                    </a:p>
                  </a:txBody>
                  <a:tcPr marL="73152" marR="73152" marT="36576" marB="36576" anchor="ctr">
                    <a:solidFill>
                      <a:srgbClr val="F0F5F7"/>
                    </a:solidFill>
                  </a:tcPr>
                </a:tc>
                <a:tc>
                  <a:txBody>
                    <a:bodyPr wrap="square"/>
                    <a:lstStyle/>
                    <a:p>
                      <a:r>
                        <a:rPr sz="1100" b="0" i="0">
                          <a:solidFill>
                            <a:srgbClr val="2A3F4C"/>
                          </a:solidFill>
                          <a:latin typeface="Calibri"/>
                        </a:rPr>
                        <a:t>7.31 ± 0.05</a:t>
                      </a:r>
                    </a:p>
                  </a:txBody>
                  <a:tcPr marL="73152" marR="73152" marT="36576" marB="36576" anchor="ctr">
                    <a:solidFill>
                      <a:srgbClr val="F0F5F7"/>
                    </a:solidFill>
                  </a:tcPr>
                </a:tc>
                <a:tc>
                  <a:txBody>
                    <a:bodyPr wrap="square"/>
                    <a:lstStyle/>
                    <a:p>
                      <a:r>
                        <a:rPr sz="1100" b="0" i="0">
                          <a:solidFill>
                            <a:srgbClr val="2A3F4C"/>
                          </a:solidFill>
                          <a:latin typeface="Calibri"/>
                        </a:rPr>
                        <a:t>0.030 ± 0.001</a:t>
                      </a:r>
                    </a:p>
                  </a:txBody>
                  <a:tcPr marL="73152" marR="73152" marT="36576" marB="36576" anchor="ctr">
                    <a:solidFill>
                      <a:srgbClr val="F0F5F7"/>
                    </a:solidFill>
                  </a:tcPr>
                </a:tc>
              </a:tr>
            </a:tbl>
          </a:graphicData>
        </a:graphic>
      </p:graphicFrame>
      <p:sp>
        <p:nvSpPr>
          <p:cNvPr id="22" name="TextBox 21"/>
          <p:cNvSpPr txBox="1"/>
          <p:nvPr/>
        </p:nvSpPr>
        <p:spPr>
          <a:xfrm>
            <a:off x="5943600" y="4663440"/>
            <a:ext cx="5577840" cy="548640"/>
          </a:xfrm>
          <a:prstGeom prst="rect">
            <a:avLst/>
          </a:prstGeom>
          <a:noFill/>
        </p:spPr>
        <p:txBody>
          <a:bodyPr wrap="square" lIns="0" rIns="0" tIns="0" bIns="0" anchor="t">
            <a:spAutoFit/>
          </a:bodyPr>
          <a:lstStyle/>
          <a:p>
            <a:pPr algn="l"/>
            <a:r>
              <a:rPr sz="1100" b="0" i="0">
                <a:solidFill>
                  <a:srgbClr val="5F7A8A"/>
                </a:solidFill>
                <a:latin typeface="Calibri"/>
              </a:rPr>
              <a:t>Throughput in Mbps; cost = URLLC violation rate. Safe-CQL: 2 seeds; BC and CQL: 5 seeds.</a:t>
            </a:r>
          </a:p>
        </p:txBody>
      </p:sp>
      <p:sp>
        <p:nvSpPr>
          <p:cNvPr id="23" name="Rounded Rectangle 22"/>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Claim: 25–47 % fewer violations for 1–2 % less eMBB throughput, with no online exploration.</a:t>
            </a:r>
          </a:p>
        </p:txBody>
      </p:sp>
      <p:sp>
        <p:nvSpPr>
          <p:cNvPr id="25" name="TextBox 24"/>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26"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14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D · Audit</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Which claims the evidence actually supports</a:t>
            </a:r>
          </a:p>
        </p:txBody>
      </p:sp>
      <p:graphicFrame>
        <p:nvGraphicFramePr>
          <p:cNvPr id="4" name="Table 3"/>
          <p:cNvGraphicFramePr>
            <a:graphicFrameLocks noGrp="1"/>
          </p:cNvGraphicFramePr>
          <p:nvPr/>
        </p:nvGraphicFramePr>
        <p:xfrm>
          <a:off x="640080" y="1600200"/>
          <a:ext cx="10881360" cy="3566160"/>
        </p:xfrm>
        <a:graphic>
          <a:graphicData uri="http://schemas.openxmlformats.org/drawingml/2006/table">
            <a:tbl>
              <a:tblPr firstRow="1">
                <a:tableStyleId>{5C22544A-7EE6-4342-B048-85BDC9FD1C3A}</a:tableStyleId>
              </a:tblPr>
              <a:tblGrid>
                <a:gridCol w="3291840"/>
                <a:gridCol w="5852160"/>
                <a:gridCol w="1737360"/>
              </a:tblGrid>
              <a:tr h="365760">
                <a:tc>
                  <a:txBody>
                    <a:bodyPr wrap="square"/>
                    <a:lstStyle/>
                    <a:p>
                      <a:r>
                        <a:rPr sz="1200" b="1" i="0">
                          <a:solidFill>
                            <a:srgbClr val="FFFFFF"/>
                          </a:solidFill>
                          <a:latin typeface="Calibri"/>
                        </a:rPr>
                        <a:t>Claim in the paper</a:t>
                      </a:r>
                    </a:p>
                  </a:txBody>
                  <a:tcPr marL="73152" marR="73152" marT="36576" marB="36576" anchor="ctr">
                    <a:solidFill>
                      <a:srgbClr val="12394D"/>
                    </a:solidFill>
                  </a:tcPr>
                </a:tc>
                <a:tc>
                  <a:txBody>
                    <a:bodyPr wrap="square"/>
                    <a:lstStyle/>
                    <a:p>
                      <a:r>
                        <a:rPr sz="1200" b="1" i="0">
                          <a:solidFill>
                            <a:srgbClr val="FFFFFF"/>
                          </a:solidFill>
                          <a:latin typeface="Calibri"/>
                        </a:rPr>
                        <a:t>Evidence available</a:t>
                      </a:r>
                    </a:p>
                  </a:txBody>
                  <a:tcPr marL="73152" marR="73152" marT="36576" marB="36576" anchor="ctr">
                    <a:solidFill>
                      <a:srgbClr val="12394D"/>
                    </a:solidFill>
                  </a:tcPr>
                </a:tc>
                <a:tc>
                  <a:txBody>
                    <a:bodyPr wrap="square"/>
                    <a:lstStyle/>
                    <a:p>
                      <a:r>
                        <a:rPr sz="1200" b="1" i="0">
                          <a:solidFill>
                            <a:srgbClr val="FFFFFF"/>
                          </a:solidFill>
                          <a:latin typeface="Calibri"/>
                        </a:rPr>
                        <a:t>Verdict</a:t>
                      </a:r>
                    </a:p>
                  </a:txBody>
                  <a:tcPr marL="73152" marR="73152" marT="36576" marB="36576" anchor="ctr">
                    <a:solidFill>
                      <a:srgbClr val="12394D"/>
                    </a:solidFill>
                  </a:tcPr>
                </a:tc>
              </a:tr>
              <a:tr h="457200">
                <a:tc>
                  <a:txBody>
                    <a:bodyPr wrap="square"/>
                    <a:lstStyle/>
                    <a:p>
                      <a:r>
                        <a:rPr sz="1200" b="1" i="0">
                          <a:solidFill>
                            <a:srgbClr val="12394D"/>
                          </a:solidFill>
                          <a:latin typeface="Calibri"/>
                        </a:rPr>
                        <a:t>No unsafe exploration during training</a:t>
                      </a:r>
                    </a:p>
                  </a:txBody>
                  <a:tcPr marL="73152" marR="73152" marT="36576" marB="36576" anchor="ctr">
                    <a:solidFill>
                      <a:srgbClr val="F0F5F7"/>
                    </a:solidFill>
                  </a:tcPr>
                </a:tc>
                <a:tc>
                  <a:txBody>
                    <a:bodyPr wrap="square"/>
                    <a:lstStyle/>
                    <a:p>
                      <a:r>
                        <a:rPr sz="1200" b="0" i="0">
                          <a:solidFill>
                            <a:srgbClr val="2A3F4C"/>
                          </a:solidFill>
                          <a:latin typeface="Calibri"/>
                        </a:rPr>
                        <a:t>Trained only on logged transitions (§V)</a:t>
                      </a:r>
                    </a:p>
                  </a:txBody>
                  <a:tcPr marL="73152" marR="73152" marT="36576" marB="36576" anchor="ctr">
                    <a:solidFill>
                      <a:srgbClr val="F0F5F7"/>
                    </a:solidFill>
                  </a:tcPr>
                </a:tc>
                <a:tc>
                  <a:txBody>
                    <a:bodyPr wrap="square"/>
                    <a:lstStyle/>
                    <a:p>
                      <a:r>
                        <a:rPr sz="1200" b="1" i="0">
                          <a:solidFill>
                            <a:srgbClr val="1A8A99"/>
                          </a:solidFill>
                          <a:latin typeface="Calibri"/>
                        </a:rPr>
                        <a:t>Supported</a:t>
                      </a:r>
                    </a:p>
                  </a:txBody>
                  <a:tcPr marL="73152" marR="73152" marT="36576" marB="36576" anchor="ctr">
                    <a:solidFill>
                      <a:srgbClr val="F0F5F7"/>
                    </a:solidFill>
                  </a:tcPr>
                </a:tc>
              </a:tr>
              <a:tr h="457200">
                <a:tc>
                  <a:txBody>
                    <a:bodyPr wrap="square"/>
                    <a:lstStyle/>
                    <a:p>
                      <a:r>
                        <a:rPr sz="1200" b="1" i="0">
                          <a:solidFill>
                            <a:srgbClr val="12394D"/>
                          </a:solidFill>
                          <a:latin typeface="Calibri"/>
                        </a:rPr>
                        <a:t>25–47 % fewer URLLC violations</a:t>
                      </a:r>
                    </a:p>
                  </a:txBody>
                  <a:tcPr marL="73152" marR="73152" marT="36576" marB="36576" anchor="ctr">
                    <a:solidFill>
                      <a:srgbClr val="FFFFFF"/>
                    </a:solidFill>
                  </a:tcPr>
                </a:tc>
                <a:tc>
                  <a:txBody>
                    <a:bodyPr wrap="square"/>
                    <a:lstStyle/>
                    <a:p>
                      <a:r>
                        <a:rPr sz="1200" b="0" i="0">
                          <a:solidFill>
                            <a:srgbClr val="2A3F4C"/>
                          </a:solidFill>
                          <a:latin typeface="Calibri"/>
                        </a:rPr>
                        <a:t>OPE proxies only; Safe-CQL with 2 seeds; no CIs; cost exactly at the budget</a:t>
                      </a:r>
                    </a:p>
                  </a:txBody>
                  <a:tcPr marL="73152" marR="73152" marT="36576" marB="36576" anchor="ctr">
                    <a:solidFill>
                      <a:srgbClr val="FFFFFF"/>
                    </a:solidFill>
                  </a:tcPr>
                </a:tc>
                <a:tc>
                  <a:txBody>
                    <a:bodyPr wrap="square"/>
                    <a:lstStyle/>
                    <a:p>
                      <a:r>
                        <a:rPr sz="1200" b="1" i="0">
                          <a:solidFill>
                            <a:srgbClr val="C46A1B"/>
                          </a:solidFill>
                          <a:latin typeface="Calibri"/>
                        </a:rPr>
                        <a:t>Partly</a:t>
                      </a:r>
                    </a:p>
                  </a:txBody>
                  <a:tcPr marL="73152" marR="73152" marT="36576" marB="36576" anchor="ctr">
                    <a:solidFill>
                      <a:srgbClr val="FFFFFF"/>
                    </a:solidFill>
                  </a:tcPr>
                </a:tc>
              </a:tr>
              <a:tr h="457200">
                <a:tc>
                  <a:txBody>
                    <a:bodyPr wrap="square"/>
                    <a:lstStyle/>
                    <a:p>
                      <a:r>
                        <a:rPr sz="1200" b="1" i="0">
                          <a:solidFill>
                            <a:srgbClr val="12394D"/>
                          </a:solidFill>
                          <a:latin typeface="Calibri"/>
                        </a:rPr>
                        <a:t>λ “converges near 12.9”</a:t>
                      </a:r>
                    </a:p>
                  </a:txBody>
                  <a:tcPr marL="73152" marR="73152" marT="36576" marB="36576" anchor="ctr">
                    <a:solidFill>
                      <a:srgbClr val="F0F5F7"/>
                    </a:solidFill>
                  </a:tcPr>
                </a:tc>
                <a:tc>
                  <a:txBody>
                    <a:bodyPr wrap="square"/>
                    <a:lstStyle/>
                    <a:p>
                      <a:r>
                        <a:rPr sz="1200" b="0" i="0">
                          <a:solidFill>
                            <a:srgbClr val="2A3F4C"/>
                          </a:solidFill>
                          <a:latin typeface="Calibri"/>
                        </a:rPr>
                        <a:t>Fig. 3: λ still rising and training cost ≈ 0.032 &gt; d at epoch 100</a:t>
                      </a:r>
                    </a:p>
                  </a:txBody>
                  <a:tcPr marL="73152" marR="73152" marT="36576" marB="36576" anchor="ctr">
                    <a:solidFill>
                      <a:srgbClr val="F0F5F7"/>
                    </a:solidFill>
                  </a:tcPr>
                </a:tc>
                <a:tc>
                  <a:txBody>
                    <a:bodyPr wrap="square"/>
                    <a:lstStyle/>
                    <a:p>
                      <a:r>
                        <a:rPr sz="1200" b="1" i="0">
                          <a:solidFill>
                            <a:srgbClr val="B03A2E"/>
                          </a:solidFill>
                          <a:latin typeface="Calibri"/>
                        </a:rPr>
                        <a:t>Not supported</a:t>
                      </a:r>
                    </a:p>
                  </a:txBody>
                  <a:tcPr marL="73152" marR="73152" marT="36576" marB="36576" anchor="ctr">
                    <a:solidFill>
                      <a:srgbClr val="F0F5F7"/>
                    </a:solidFill>
                  </a:tcPr>
                </a:tc>
              </a:tr>
              <a:tr h="457200">
                <a:tc>
                  <a:txBody>
                    <a:bodyPr wrap="square"/>
                    <a:lstStyle/>
                    <a:p>
                      <a:r>
                        <a:rPr sz="1200" b="1" i="0">
                          <a:solidFill>
                            <a:srgbClr val="12394D"/>
                          </a:solidFill>
                          <a:latin typeface="Calibri"/>
                        </a:rPr>
                        <a:t>Near-RT RIC xApp</a:t>
                      </a:r>
                    </a:p>
                  </a:txBody>
                  <a:tcPr marL="73152" marR="73152" marT="36576" marB="36576" anchor="ctr">
                    <a:solidFill>
                      <a:srgbClr val="FFFFFF"/>
                    </a:solidFill>
                  </a:tcPr>
                </a:tc>
                <a:tc>
                  <a:txBody>
                    <a:bodyPr wrap="square"/>
                    <a:lstStyle/>
                    <a:p>
                      <a:r>
                        <a:rPr sz="1200" b="0" i="0">
                          <a:solidFill>
                            <a:srgbClr val="2A3F4C"/>
                          </a:solidFill>
                          <a:latin typeface="Calibri"/>
                        </a:rPr>
                        <a:t>5 s decision period; the Near-RT loop is 10 ms–1 s (Lu p. 14)</a:t>
                      </a:r>
                    </a:p>
                  </a:txBody>
                  <a:tcPr marL="73152" marR="73152" marT="36576" marB="36576" anchor="ctr">
                    <a:solidFill>
                      <a:srgbClr val="FFFFFF"/>
                    </a:solidFill>
                  </a:tcPr>
                </a:tc>
                <a:tc>
                  <a:txBody>
                    <a:bodyPr wrap="square"/>
                    <a:lstStyle/>
                    <a:p>
                      <a:r>
                        <a:rPr sz="1200" b="1" i="0">
                          <a:solidFill>
                            <a:srgbClr val="B03A2E"/>
                          </a:solidFill>
                          <a:latin typeface="Calibri"/>
                        </a:rPr>
                        <a:t>Not supported</a:t>
                      </a:r>
                    </a:p>
                  </a:txBody>
                  <a:tcPr marL="73152" marR="73152" marT="36576" marB="36576" anchor="ctr">
                    <a:solidFill>
                      <a:srgbClr val="FFFFFF"/>
                    </a:solidFill>
                  </a:tcPr>
                </a:tc>
              </a:tr>
              <a:tr h="457200">
                <a:tc>
                  <a:txBody>
                    <a:bodyPr wrap="square"/>
                    <a:lstStyle/>
                    <a:p>
                      <a:r>
                        <a:rPr sz="1200" b="1" i="0">
                          <a:solidFill>
                            <a:srgbClr val="12394D"/>
                          </a:solidFill>
                          <a:latin typeface="Calibri"/>
                        </a:rPr>
                        <a:t>URLLC SLA</a:t>
                      </a:r>
                    </a:p>
                  </a:txBody>
                  <a:tcPr marL="73152" marR="73152" marT="36576" marB="36576" anchor="ctr">
                    <a:solidFill>
                      <a:srgbClr val="F0F5F7"/>
                    </a:solidFill>
                  </a:tcPr>
                </a:tc>
                <a:tc>
                  <a:txBody>
                    <a:bodyPr wrap="square"/>
                    <a:lstStyle/>
                    <a:p>
                      <a:r>
                        <a:rPr sz="1200" b="0" i="0">
                          <a:solidFill>
                            <a:srgbClr val="2A3F4C"/>
                          </a:solidFill>
                          <a:latin typeface="Calibri"/>
                        </a:rPr>
                        <a:t>L_max = 20 ms, 3 % budget, LTE 10 MHz testbed (Haque p. 1–2)</a:t>
                      </a:r>
                    </a:p>
                  </a:txBody>
                  <a:tcPr marL="73152" marR="73152" marT="36576" marB="36576" anchor="ctr">
                    <a:solidFill>
                      <a:srgbClr val="F0F5F7"/>
                    </a:solidFill>
                  </a:tcPr>
                </a:tc>
                <a:tc>
                  <a:txBody>
                    <a:bodyPr wrap="square"/>
                    <a:lstStyle/>
                    <a:p>
                      <a:r>
                        <a:rPr sz="1200" b="1" i="0">
                          <a:solidFill>
                            <a:srgbClr val="B03A2E"/>
                          </a:solidFill>
                          <a:latin typeface="Calibri"/>
                        </a:rPr>
                        <a:t>Overstated</a:t>
                      </a:r>
                    </a:p>
                  </a:txBody>
                  <a:tcPr marL="73152" marR="73152" marT="36576" marB="36576" anchor="ctr">
                    <a:solidFill>
                      <a:srgbClr val="F0F5F7"/>
                    </a:solidFill>
                  </a:tcPr>
                </a:tc>
              </a:tr>
              <a:tr h="457200">
                <a:tc>
                  <a:txBody>
                    <a:bodyPr wrap="square"/>
                    <a:lstStyle/>
                    <a:p>
                      <a:r>
                        <a:rPr sz="1200" b="1" i="0">
                          <a:solidFill>
                            <a:srgbClr val="12394D"/>
                          </a:solidFill>
                          <a:latin typeface="Calibri"/>
                        </a:rPr>
                        <a:t>Sequential RL is needed</a:t>
                      </a:r>
                    </a:p>
                  </a:txBody>
                  <a:tcPr marL="73152" marR="73152" marT="36576" marB="36576" anchor="ctr">
                    <a:solidFill>
                      <a:srgbClr val="FFFFFF"/>
                    </a:solidFill>
                  </a:tcPr>
                </a:tc>
                <a:tc>
                  <a:txBody>
                    <a:bodyPr wrap="square"/>
                    <a:lstStyle/>
                    <a:p>
                      <a:r>
                        <a:rPr sz="1200" b="0" i="0">
                          <a:solidFill>
                            <a:srgbClr val="2A3F4C"/>
                          </a:solidFill>
                          <a:latin typeface="Calibri"/>
                        </a:rPr>
                        <a:t>γ_c = 0, “near-immediate” effects, no action switch in the data</a:t>
                      </a:r>
                    </a:p>
                  </a:txBody>
                  <a:tcPr marL="73152" marR="73152" marT="36576" marB="36576" anchor="ctr">
                    <a:solidFill>
                      <a:srgbClr val="FFFFFF"/>
                    </a:solidFill>
                  </a:tcPr>
                </a:tc>
                <a:tc>
                  <a:txBody>
                    <a:bodyPr wrap="square"/>
                    <a:lstStyle/>
                    <a:p>
                      <a:r>
                        <a:rPr sz="1200" b="1" i="0">
                          <a:solidFill>
                            <a:srgbClr val="B03A2E"/>
                          </a:solidFill>
                          <a:latin typeface="Calibri"/>
                        </a:rPr>
                        <a:t>Not shown</a:t>
                      </a:r>
                    </a:p>
                  </a:txBody>
                  <a:tcPr marL="73152" marR="73152" marT="36576" marB="36576" anchor="ctr">
                    <a:solidFill>
                      <a:srgbClr val="FFFFFF"/>
                    </a:solidFill>
                  </a:tcPr>
                </a:tc>
              </a:tr>
              <a:tr h="457200">
                <a:tc>
                  <a:txBody>
                    <a:bodyPr wrap="square"/>
                    <a:lstStyle/>
                    <a:p>
                      <a:r>
                        <a:rPr sz="1200" b="1" i="0">
                          <a:solidFill>
                            <a:srgbClr val="12394D"/>
                          </a:solidFill>
                          <a:latin typeface="Calibri"/>
                        </a:rPr>
                        <a:t>Beats simple configuration rules</a:t>
                      </a:r>
                    </a:p>
                  </a:txBody>
                  <a:tcPr marL="73152" marR="73152" marT="36576" marB="36576" anchor="ctr">
                    <a:solidFill>
                      <a:srgbClr val="F0F5F7"/>
                    </a:solidFill>
                  </a:tcPr>
                </a:tc>
                <a:tc>
                  <a:txBody>
                    <a:bodyPr wrap="square"/>
                    <a:lstStyle/>
                    <a:p>
                      <a:r>
                        <a:rPr sz="1200" b="0" i="0">
                          <a:solidFill>
                            <a:srgbClr val="2A3F4C"/>
                          </a:solidFill>
                          <a:latin typeface="Calibri"/>
                        </a:rPr>
                        <a:t>No static baseline; (39, RR) ≤ 0.03 in every load bin of Fig. 1</a:t>
                      </a:r>
                    </a:p>
                  </a:txBody>
                  <a:tcPr marL="73152" marR="73152" marT="36576" marB="36576" anchor="ctr">
                    <a:solidFill>
                      <a:srgbClr val="F0F5F7"/>
                    </a:solidFill>
                  </a:tcPr>
                </a:tc>
                <a:tc>
                  <a:txBody>
                    <a:bodyPr wrap="square"/>
                    <a:lstStyle/>
                    <a:p>
                      <a:r>
                        <a:rPr sz="1200" b="1" i="0">
                          <a:solidFill>
                            <a:srgbClr val="B03A2E"/>
                          </a:solidFill>
                          <a:latin typeface="Calibri"/>
                        </a:rPr>
                        <a:t>Untested</a:t>
                      </a:r>
                    </a:p>
                  </a:txBody>
                  <a:tcPr marL="73152" marR="73152" marT="36576" marB="36576" anchor="ctr">
                    <a:solidFill>
                      <a:srgbClr val="F0F5F7"/>
                    </a:solidFill>
                  </a:tcPr>
                </a:tc>
              </a:tr>
            </a:tbl>
          </a:graphicData>
        </a:graphic>
      </p:graphicFrame>
      <p:sp>
        <p:nvSpPr>
          <p:cNvPr id="5" name="Rounded Rectangle 4"/>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The strongest claims rest on off-policy proxies and on a missing static baseline.</a:t>
            </a:r>
          </a:p>
        </p:txBody>
      </p:sp>
      <p:sp>
        <p:nvSpPr>
          <p:cNvPr id="7" name="TextBox 6"/>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8"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15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D · Audit</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What “safe” means in Safe-CQL, and what it does not</a:t>
            </a:r>
          </a:p>
        </p:txBody>
      </p:sp>
      <p:sp>
        <p:nvSpPr>
          <p:cNvPr id="4" name="Rounded Rectangle 3"/>
          <p:cNvSpPr/>
          <p:nvPr/>
        </p:nvSpPr>
        <p:spPr>
          <a:xfrm>
            <a:off x="640080" y="1719072"/>
            <a:ext cx="960120" cy="384048"/>
          </a:xfrm>
          <a:prstGeom prst="roundRect">
            <a:avLst>
              <a:gd name="adj" fmla="val 8000"/>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19072"/>
            <a:ext cx="960120" cy="384048"/>
          </a:xfrm>
          <a:prstGeom prst="rect">
            <a:avLst/>
          </a:prstGeom>
          <a:noFill/>
        </p:spPr>
        <p:txBody>
          <a:bodyPr wrap="square" lIns="0" rIns="0" tIns="0" bIns="0" anchor="ctr">
            <a:spAutoFit/>
          </a:bodyPr>
          <a:lstStyle/>
          <a:p>
            <a:pPr algn="ctr"/>
            <a:r>
              <a:rPr sz="1150" b="1" i="0">
                <a:solidFill>
                  <a:srgbClr val="FFFFFF"/>
                </a:solidFill>
                <a:latin typeface="Calibri"/>
              </a:rPr>
              <a:t>YES</a:t>
            </a:r>
          </a:p>
        </p:txBody>
      </p:sp>
      <p:sp>
        <p:nvSpPr>
          <p:cNvPr id="6" name="TextBox 5"/>
          <p:cNvSpPr txBox="1"/>
          <p:nvPr/>
        </p:nvSpPr>
        <p:spPr>
          <a:xfrm>
            <a:off x="1783080" y="1664208"/>
            <a:ext cx="4846320" cy="566928"/>
          </a:xfrm>
          <a:prstGeom prst="rect">
            <a:avLst/>
          </a:prstGeom>
          <a:noFill/>
        </p:spPr>
        <p:txBody>
          <a:bodyPr wrap="square" lIns="0" rIns="0" tIns="0" bIns="0" anchor="t">
            <a:spAutoFit/>
          </a:bodyPr>
          <a:lstStyle/>
          <a:p>
            <a:pPr algn="l"/>
            <a:r>
              <a:rPr sz="1350" b="1" i="0">
                <a:solidFill>
                  <a:srgbClr val="12394D"/>
                </a:solidFill>
                <a:latin typeface="Calibri"/>
              </a:rPr>
              <a:t>Constraint inside the optimisation</a:t>
            </a:r>
          </a:p>
          <a:p>
            <a:pPr algn="l"/>
            <a:r>
              <a:rPr sz="1200" b="0" i="0">
                <a:solidFill>
                  <a:srgbClr val="5F7A8A"/>
                </a:solidFill>
                <a:latin typeface="Calibri"/>
              </a:rPr>
              <a:t>CMDP with an adaptive Lagrange multiplier (Eq. 7, 8, 12)</a:t>
            </a:r>
          </a:p>
        </p:txBody>
      </p:sp>
      <p:sp>
        <p:nvSpPr>
          <p:cNvPr id="7" name="Rounded Rectangle 6"/>
          <p:cNvSpPr/>
          <p:nvPr/>
        </p:nvSpPr>
        <p:spPr>
          <a:xfrm>
            <a:off x="640080" y="2359152"/>
            <a:ext cx="960120" cy="384048"/>
          </a:xfrm>
          <a:prstGeom prst="roundRect">
            <a:avLst>
              <a:gd name="adj" fmla="val 8000"/>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359152"/>
            <a:ext cx="960120" cy="384048"/>
          </a:xfrm>
          <a:prstGeom prst="rect">
            <a:avLst/>
          </a:prstGeom>
          <a:noFill/>
        </p:spPr>
        <p:txBody>
          <a:bodyPr wrap="square" lIns="0" rIns="0" tIns="0" bIns="0" anchor="ctr">
            <a:spAutoFit/>
          </a:bodyPr>
          <a:lstStyle/>
          <a:p>
            <a:pPr algn="ctr"/>
            <a:r>
              <a:rPr sz="1150" b="1" i="0">
                <a:solidFill>
                  <a:srgbClr val="FFFFFF"/>
                </a:solidFill>
                <a:latin typeface="Calibri"/>
              </a:rPr>
              <a:t>YES</a:t>
            </a:r>
          </a:p>
        </p:txBody>
      </p:sp>
      <p:sp>
        <p:nvSpPr>
          <p:cNvPr id="9" name="TextBox 8"/>
          <p:cNvSpPr txBox="1"/>
          <p:nvPr/>
        </p:nvSpPr>
        <p:spPr>
          <a:xfrm>
            <a:off x="1783080" y="2304288"/>
            <a:ext cx="4846320" cy="566928"/>
          </a:xfrm>
          <a:prstGeom prst="rect">
            <a:avLst/>
          </a:prstGeom>
          <a:noFill/>
        </p:spPr>
        <p:txBody>
          <a:bodyPr wrap="square" lIns="0" rIns="0" tIns="0" bIns="0" anchor="t">
            <a:spAutoFit/>
          </a:bodyPr>
          <a:lstStyle/>
          <a:p>
            <a:pPr algn="l"/>
            <a:r>
              <a:rPr sz="1350" b="1" i="0">
                <a:solidFill>
                  <a:srgbClr val="12394D"/>
                </a:solidFill>
                <a:latin typeface="Calibri"/>
              </a:rPr>
              <a:t>No exposure of users during training</a:t>
            </a:r>
          </a:p>
          <a:p>
            <a:pPr algn="l"/>
            <a:r>
              <a:rPr sz="1200" b="0" i="0">
                <a:solidFill>
                  <a:srgbClr val="5F7A8A"/>
                </a:solidFill>
                <a:latin typeface="Calibri"/>
              </a:rPr>
              <a:t>Offline by construction</a:t>
            </a:r>
          </a:p>
        </p:txBody>
      </p:sp>
      <p:sp>
        <p:nvSpPr>
          <p:cNvPr id="10" name="Rounded Rectangle 9"/>
          <p:cNvSpPr/>
          <p:nvPr/>
        </p:nvSpPr>
        <p:spPr>
          <a:xfrm>
            <a:off x="640080" y="2999232"/>
            <a:ext cx="960120" cy="384048"/>
          </a:xfrm>
          <a:prstGeom prst="roundRect">
            <a:avLst>
              <a:gd name="adj" fmla="val 8000"/>
            </a:avLst>
          </a:prstGeom>
          <a:solidFill>
            <a:srgbClr val="C46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999232"/>
            <a:ext cx="960120" cy="384048"/>
          </a:xfrm>
          <a:prstGeom prst="rect">
            <a:avLst/>
          </a:prstGeom>
          <a:noFill/>
        </p:spPr>
        <p:txBody>
          <a:bodyPr wrap="square" lIns="0" rIns="0" tIns="0" bIns="0" anchor="ctr">
            <a:spAutoFit/>
          </a:bodyPr>
          <a:lstStyle/>
          <a:p>
            <a:pPr algn="ctr"/>
            <a:r>
              <a:rPr sz="1150" b="1" i="0">
                <a:solidFill>
                  <a:srgbClr val="FFFFFF"/>
                </a:solidFill>
                <a:latin typeface="Calibri"/>
              </a:rPr>
              <a:t>PARTLY</a:t>
            </a:r>
          </a:p>
        </p:txBody>
      </p:sp>
      <p:sp>
        <p:nvSpPr>
          <p:cNvPr id="12" name="TextBox 11"/>
          <p:cNvSpPr txBox="1"/>
          <p:nvPr/>
        </p:nvSpPr>
        <p:spPr>
          <a:xfrm>
            <a:off x="1783080" y="2944368"/>
            <a:ext cx="4846320" cy="566928"/>
          </a:xfrm>
          <a:prstGeom prst="rect">
            <a:avLst/>
          </a:prstGeom>
          <a:noFill/>
        </p:spPr>
        <p:txBody>
          <a:bodyPr wrap="square" lIns="0" rIns="0" tIns="0" bIns="0" anchor="t">
            <a:spAutoFit/>
          </a:bodyPr>
          <a:lstStyle/>
          <a:p>
            <a:pPr algn="l"/>
            <a:r>
              <a:rPr sz="1350" b="1" i="0">
                <a:solidFill>
                  <a:srgbClr val="12394D"/>
                </a:solidFill>
                <a:latin typeface="Calibri"/>
              </a:rPr>
              <a:t>Constraint met on held-out data</a:t>
            </a:r>
          </a:p>
          <a:p>
            <a:pPr algn="l"/>
            <a:r>
              <a:rPr sz="1200" b="0" i="0">
                <a:solidFill>
                  <a:srgbClr val="5F7A8A"/>
                </a:solidFill>
                <a:latin typeface="Calibri"/>
              </a:rPr>
              <a:t>On average, by OPE proxy: 0.030 ± 0.001 at d = 0.03</a:t>
            </a:r>
          </a:p>
        </p:txBody>
      </p:sp>
      <p:sp>
        <p:nvSpPr>
          <p:cNvPr id="13" name="Rounded Rectangle 12"/>
          <p:cNvSpPr/>
          <p:nvPr/>
        </p:nvSpPr>
        <p:spPr>
          <a:xfrm>
            <a:off x="640080" y="3639311"/>
            <a:ext cx="960120" cy="384048"/>
          </a:xfrm>
          <a:prstGeom prst="roundRect">
            <a:avLst>
              <a:gd name="adj" fmla="val 8000"/>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639311"/>
            <a:ext cx="960120" cy="384048"/>
          </a:xfrm>
          <a:prstGeom prst="rect">
            <a:avLst/>
          </a:prstGeom>
          <a:noFill/>
        </p:spPr>
        <p:txBody>
          <a:bodyPr wrap="square" lIns="0" rIns="0" tIns="0" bIns="0" anchor="ctr">
            <a:spAutoFit/>
          </a:bodyPr>
          <a:lstStyle/>
          <a:p>
            <a:pPr algn="ctr"/>
            <a:r>
              <a:rPr sz="1150" b="1" i="0">
                <a:solidFill>
                  <a:srgbClr val="FFFFFF"/>
                </a:solidFill>
                <a:latin typeface="Calibri"/>
              </a:rPr>
              <a:t>NO</a:t>
            </a:r>
          </a:p>
        </p:txBody>
      </p:sp>
      <p:sp>
        <p:nvSpPr>
          <p:cNvPr id="15" name="TextBox 14"/>
          <p:cNvSpPr txBox="1"/>
          <p:nvPr/>
        </p:nvSpPr>
        <p:spPr>
          <a:xfrm>
            <a:off x="1783080" y="3584447"/>
            <a:ext cx="4846320" cy="566928"/>
          </a:xfrm>
          <a:prstGeom prst="rect">
            <a:avLst/>
          </a:prstGeom>
          <a:noFill/>
        </p:spPr>
        <p:txBody>
          <a:bodyPr wrap="square" lIns="0" rIns="0" tIns="0" bIns="0" anchor="t">
            <a:spAutoFit/>
          </a:bodyPr>
          <a:lstStyle/>
          <a:p>
            <a:pPr algn="l"/>
            <a:r>
              <a:rPr sz="1350" b="1" i="0">
                <a:solidFill>
                  <a:srgbClr val="12394D"/>
                </a:solidFill>
                <a:latin typeface="Calibri"/>
              </a:rPr>
              <a:t>Converged primal–dual solution</a:t>
            </a:r>
          </a:p>
          <a:p>
            <a:pPr algn="l"/>
            <a:r>
              <a:rPr sz="1200" b="0" i="0">
                <a:solidFill>
                  <a:srgbClr val="5F7A8A"/>
                </a:solidFill>
                <a:latin typeface="Calibri"/>
              </a:rPr>
              <a:t>Fig. 3: λ still rising at epoch 100</a:t>
            </a:r>
          </a:p>
        </p:txBody>
      </p:sp>
      <p:sp>
        <p:nvSpPr>
          <p:cNvPr id="16" name="Rounded Rectangle 15"/>
          <p:cNvSpPr/>
          <p:nvPr/>
        </p:nvSpPr>
        <p:spPr>
          <a:xfrm>
            <a:off x="640080" y="4279392"/>
            <a:ext cx="960120" cy="384048"/>
          </a:xfrm>
          <a:prstGeom prst="roundRect">
            <a:avLst>
              <a:gd name="adj" fmla="val 8000"/>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79392"/>
            <a:ext cx="960120" cy="384048"/>
          </a:xfrm>
          <a:prstGeom prst="rect">
            <a:avLst/>
          </a:prstGeom>
          <a:noFill/>
        </p:spPr>
        <p:txBody>
          <a:bodyPr wrap="square" lIns="0" rIns="0" tIns="0" bIns="0" anchor="ctr">
            <a:spAutoFit/>
          </a:bodyPr>
          <a:lstStyle/>
          <a:p>
            <a:pPr algn="ctr"/>
            <a:r>
              <a:rPr sz="1150" b="1" i="0">
                <a:solidFill>
                  <a:srgbClr val="FFFFFF"/>
                </a:solidFill>
                <a:latin typeface="Calibri"/>
              </a:rPr>
              <a:t>NO</a:t>
            </a:r>
          </a:p>
        </p:txBody>
      </p:sp>
      <p:sp>
        <p:nvSpPr>
          <p:cNvPr id="18" name="TextBox 17"/>
          <p:cNvSpPr txBox="1"/>
          <p:nvPr/>
        </p:nvSpPr>
        <p:spPr>
          <a:xfrm>
            <a:off x="1783080" y="4224527"/>
            <a:ext cx="4846320" cy="566928"/>
          </a:xfrm>
          <a:prstGeom prst="rect">
            <a:avLst/>
          </a:prstGeom>
          <a:noFill/>
        </p:spPr>
        <p:txBody>
          <a:bodyPr wrap="square" lIns="0" rIns="0" tIns="0" bIns="0" anchor="t">
            <a:spAutoFit/>
          </a:bodyPr>
          <a:lstStyle/>
          <a:p>
            <a:pPr algn="l"/>
            <a:r>
              <a:rPr sz="1350" b="1" i="0">
                <a:solidFill>
                  <a:srgbClr val="12394D"/>
                </a:solidFill>
                <a:latin typeface="Calibri"/>
              </a:rPr>
              <a:t>Per-window or tail-latency guarantee</a:t>
            </a:r>
          </a:p>
          <a:p>
            <a:pPr algn="l"/>
            <a:r>
              <a:rPr sz="1200" b="0" i="0">
                <a:solidFill>
                  <a:srgbClr val="5F7A8A"/>
                </a:solidFill>
                <a:latin typeface="Calibri"/>
              </a:rPr>
              <a:t>Expected-rate constraint only (Eq. 6–7)</a:t>
            </a:r>
          </a:p>
        </p:txBody>
      </p:sp>
      <p:sp>
        <p:nvSpPr>
          <p:cNvPr id="19" name="Rounded Rectangle 18"/>
          <p:cNvSpPr/>
          <p:nvPr/>
        </p:nvSpPr>
        <p:spPr>
          <a:xfrm>
            <a:off x="640080" y="4919472"/>
            <a:ext cx="960120" cy="384048"/>
          </a:xfrm>
          <a:prstGeom prst="roundRect">
            <a:avLst>
              <a:gd name="adj" fmla="val 8000"/>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919472"/>
            <a:ext cx="960120" cy="384048"/>
          </a:xfrm>
          <a:prstGeom prst="rect">
            <a:avLst/>
          </a:prstGeom>
          <a:noFill/>
        </p:spPr>
        <p:txBody>
          <a:bodyPr wrap="square" lIns="0" rIns="0" tIns="0" bIns="0" anchor="ctr">
            <a:spAutoFit/>
          </a:bodyPr>
          <a:lstStyle/>
          <a:p>
            <a:pPr algn="ctr"/>
            <a:r>
              <a:rPr sz="1150" b="1" i="0">
                <a:solidFill>
                  <a:srgbClr val="FFFFFF"/>
                </a:solidFill>
                <a:latin typeface="Calibri"/>
              </a:rPr>
              <a:t>NO</a:t>
            </a:r>
          </a:p>
        </p:txBody>
      </p:sp>
      <p:sp>
        <p:nvSpPr>
          <p:cNvPr id="21" name="TextBox 20"/>
          <p:cNvSpPr txBox="1"/>
          <p:nvPr/>
        </p:nvSpPr>
        <p:spPr>
          <a:xfrm>
            <a:off x="1783080" y="4864607"/>
            <a:ext cx="4846320" cy="566928"/>
          </a:xfrm>
          <a:prstGeom prst="rect">
            <a:avLst/>
          </a:prstGeom>
          <a:noFill/>
        </p:spPr>
        <p:txBody>
          <a:bodyPr wrap="square" lIns="0" rIns="0" tIns="0" bIns="0" anchor="t">
            <a:spAutoFit/>
          </a:bodyPr>
          <a:lstStyle/>
          <a:p>
            <a:pPr algn="l"/>
            <a:r>
              <a:rPr sz="1350" b="1" i="0">
                <a:solidFill>
                  <a:srgbClr val="12394D"/>
                </a:solidFill>
                <a:latin typeface="Calibri"/>
              </a:rPr>
              <a:t>Safety at deployment</a:t>
            </a:r>
          </a:p>
          <a:p>
            <a:pPr algn="l"/>
            <a:r>
              <a:rPr sz="1200" b="0" i="0">
                <a:solidFill>
                  <a:srgbClr val="5F7A8A"/>
                </a:solidFill>
                <a:latin typeface="Calibri"/>
              </a:rPr>
              <a:t>No shield, fallback, shadow mode or online test</a:t>
            </a:r>
          </a:p>
        </p:txBody>
      </p:sp>
      <p:sp>
        <p:nvSpPr>
          <p:cNvPr id="22" name="Rounded Rectangle 21"/>
          <p:cNvSpPr/>
          <p:nvPr/>
        </p:nvSpPr>
        <p:spPr>
          <a:xfrm>
            <a:off x="6903720" y="1645920"/>
            <a:ext cx="4617720" cy="3749039"/>
          </a:xfrm>
          <a:prstGeom prst="roundRect">
            <a:avLst>
              <a:gd name="adj" fmla="val 8000"/>
            </a:avLst>
          </a:prstGeom>
          <a:solidFill>
            <a:srgbClr val="123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1828800"/>
            <a:ext cx="4114800" cy="274320"/>
          </a:xfrm>
          <a:prstGeom prst="rect">
            <a:avLst/>
          </a:prstGeom>
          <a:noFill/>
        </p:spPr>
        <p:txBody>
          <a:bodyPr wrap="square" lIns="0" rIns="0" tIns="0" bIns="0" anchor="t">
            <a:spAutoFit/>
          </a:bodyPr>
          <a:lstStyle/>
          <a:p>
            <a:pPr algn="l"/>
            <a:r>
              <a:rPr sz="1200" b="1" i="0" spc="100">
                <a:solidFill>
                  <a:srgbClr val="2BB3A3"/>
                </a:solidFill>
                <a:latin typeface="Calibri"/>
              </a:rPr>
              <a:t>SUGGESTED WORDING</a:t>
            </a:r>
          </a:p>
        </p:txBody>
      </p:sp>
      <p:sp>
        <p:nvSpPr>
          <p:cNvPr id="24" name="TextBox 23"/>
          <p:cNvSpPr txBox="1"/>
          <p:nvPr/>
        </p:nvSpPr>
        <p:spPr>
          <a:xfrm>
            <a:off x="7178040" y="2194560"/>
            <a:ext cx="4114800" cy="1371600"/>
          </a:xfrm>
          <a:prstGeom prst="rect">
            <a:avLst/>
          </a:prstGeom>
          <a:noFill/>
        </p:spPr>
        <p:txBody>
          <a:bodyPr wrap="square" lIns="0" rIns="0" tIns="0" bIns="0" anchor="t">
            <a:spAutoFit/>
          </a:bodyPr>
          <a:lstStyle/>
          <a:p>
            <a:pPr algn="l"/>
            <a:r>
              <a:rPr sz="1600" b="1" i="0">
                <a:solidFill>
                  <a:srgbClr val="FFFFFF"/>
                </a:solidFill>
                <a:latin typeface="Cambria"/>
              </a:rPr>
              <a:t>“Constraint-aware offline policy learning with empirical, average-case constraint satisfaction on held-out traces.”</a:t>
            </a:r>
          </a:p>
        </p:txBody>
      </p:sp>
      <p:sp>
        <p:nvSpPr>
          <p:cNvPr id="25" name="TextBox 24"/>
          <p:cNvSpPr txBox="1"/>
          <p:nvPr/>
        </p:nvSpPr>
        <p:spPr>
          <a:xfrm>
            <a:off x="7178040" y="3429000"/>
            <a:ext cx="4114800" cy="274320"/>
          </a:xfrm>
          <a:prstGeom prst="rect">
            <a:avLst/>
          </a:prstGeom>
          <a:noFill/>
        </p:spPr>
        <p:txBody>
          <a:bodyPr wrap="square" lIns="0" rIns="0" tIns="0" bIns="0" anchor="t">
            <a:spAutoFit/>
          </a:bodyPr>
          <a:lstStyle/>
          <a:p>
            <a:pPr algn="l"/>
            <a:r>
              <a:rPr sz="1200" b="1" i="0" spc="100">
                <a:solidFill>
                  <a:srgbClr val="2BB3A3"/>
                </a:solidFill>
                <a:latin typeface="Calibri"/>
              </a:rPr>
              <a:t>WHY</a:t>
            </a:r>
          </a:p>
        </p:txBody>
      </p:sp>
      <p:sp>
        <p:nvSpPr>
          <p:cNvPr id="26" name="TextBox 25"/>
          <p:cNvSpPr txBox="1"/>
          <p:nvPr/>
        </p:nvSpPr>
        <p:spPr>
          <a:xfrm>
            <a:off x="7178040" y="3749039"/>
            <a:ext cx="4114800" cy="1280160"/>
          </a:xfrm>
          <a:prstGeom prst="rect">
            <a:avLst/>
          </a:prstGeom>
          <a:noFill/>
        </p:spPr>
        <p:txBody>
          <a:bodyPr wrap="square" lIns="0" rIns="0" tIns="0" bIns="0" anchor="t">
            <a:spAutoFit/>
          </a:bodyPr>
          <a:lstStyle/>
          <a:p>
            <a:pPr algn="l"/>
            <a:r>
              <a:rPr sz="1250" b="0" i="0">
                <a:solidFill>
                  <a:srgbClr val="C3D3DD"/>
                </a:solidFill>
                <a:latin typeface="Calibri"/>
              </a:rPr>
              <a:t>Lagrangian methods satisfy the constraint only in expectation and only at convergence (Lu §II-H, p. 11). A safety claim at deployment needs a shield, a fallback or an online test.</a:t>
            </a:r>
          </a:p>
        </p:txBody>
      </p:sp>
      <p:sp>
        <p:nvSpPr>
          <p:cNvPr id="27" name="Rounded Rectangle 26"/>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Safety holds at the optimisation level; it is not demonstrated at the deployment level.</a:t>
            </a:r>
          </a:p>
        </p:txBody>
      </p:sp>
      <p:sp>
        <p:nvSpPr>
          <p:cNvPr id="29" name="TextBox 28"/>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30"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16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E · Reviewers</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Reviewers 1 and 2: formulation and data are the real issues</a:t>
            </a:r>
          </a:p>
        </p:txBody>
      </p:sp>
      <p:graphicFrame>
        <p:nvGraphicFramePr>
          <p:cNvPr id="4" name="Table 3"/>
          <p:cNvGraphicFramePr>
            <a:graphicFrameLocks noGrp="1"/>
          </p:cNvGraphicFramePr>
          <p:nvPr/>
        </p:nvGraphicFramePr>
        <p:xfrm>
          <a:off x="640080" y="1600200"/>
          <a:ext cx="10881360" cy="3657600"/>
        </p:xfrm>
        <a:graphic>
          <a:graphicData uri="http://schemas.openxmlformats.org/drawingml/2006/table">
            <a:tbl>
              <a:tblPr firstRow="1">
                <a:tableStyleId>{5C22544A-7EE6-4342-B048-85BDC9FD1C3A}</a:tableStyleId>
              </a:tblPr>
              <a:tblGrid>
                <a:gridCol w="3108960"/>
                <a:gridCol w="1600200"/>
                <a:gridCol w="2514600"/>
                <a:gridCol w="914400"/>
                <a:gridCol w="2743200"/>
              </a:tblGrid>
              <a:tr h="365760">
                <a:tc>
                  <a:txBody>
                    <a:bodyPr wrap="square"/>
                    <a:lstStyle/>
                    <a:p>
                      <a:r>
                        <a:rPr sz="1150" b="1" i="0">
                          <a:solidFill>
                            <a:srgbClr val="FFFFFF"/>
                          </a:solidFill>
                          <a:latin typeface="Calibri"/>
                        </a:rPr>
                        <a:t>Comment</a:t>
                      </a:r>
                    </a:p>
                  </a:txBody>
                  <a:tcPr marL="73152" marR="73152" marT="36576" marB="36576" anchor="ctr">
                    <a:solidFill>
                      <a:srgbClr val="12394D"/>
                    </a:solidFill>
                  </a:tcPr>
                </a:tc>
                <a:tc>
                  <a:txBody>
                    <a:bodyPr wrap="square"/>
                    <a:lstStyle/>
                    <a:p>
                      <a:r>
                        <a:rPr sz="1150" b="1" i="0">
                          <a:solidFill>
                            <a:srgbClr val="FFFFFF"/>
                          </a:solidFill>
                          <a:latin typeface="Calibri"/>
                        </a:rPr>
                        <a:t>Concern</a:t>
                      </a:r>
                    </a:p>
                  </a:txBody>
                  <a:tcPr marL="73152" marR="73152" marT="36576" marB="36576" anchor="ctr">
                    <a:solidFill>
                      <a:srgbClr val="12394D"/>
                    </a:solidFill>
                  </a:tcPr>
                </a:tc>
                <a:tc>
                  <a:txBody>
                    <a:bodyPr wrap="square"/>
                    <a:lstStyle/>
                    <a:p>
                      <a:r>
                        <a:rPr sz="1150" b="1" i="0">
                          <a:solidFill>
                            <a:srgbClr val="FFFFFF"/>
                          </a:solidFill>
                          <a:latin typeface="Calibri"/>
                        </a:rPr>
                        <a:t>My verdict</a:t>
                      </a:r>
                    </a:p>
                  </a:txBody>
                  <a:tcPr marL="73152" marR="73152" marT="36576" marB="36576" anchor="ctr">
                    <a:solidFill>
                      <a:srgbClr val="12394D"/>
                    </a:solidFill>
                  </a:tcPr>
                </a:tc>
                <a:tc>
                  <a:txBody>
                    <a:bodyPr wrap="square"/>
                    <a:lstStyle/>
                    <a:p>
                      <a:r>
                        <a:rPr sz="1150" b="1" i="0">
                          <a:solidFill>
                            <a:srgbClr val="FFFFFF"/>
                          </a:solidFill>
                          <a:latin typeface="Calibri"/>
                        </a:rPr>
                        <a:t>Severity</a:t>
                      </a:r>
                    </a:p>
                  </a:txBody>
                  <a:tcPr marL="73152" marR="73152" marT="36576" marB="36576" anchor="ctr">
                    <a:solidFill>
                      <a:srgbClr val="12394D"/>
                    </a:solidFill>
                  </a:tcPr>
                </a:tc>
                <a:tc>
                  <a:txBody>
                    <a:bodyPr wrap="square"/>
                    <a:lstStyle/>
                    <a:p>
                      <a:r>
                        <a:rPr sz="1150" b="1" i="0">
                          <a:solidFill>
                            <a:srgbClr val="FFFFFF"/>
                          </a:solidFill>
                          <a:latin typeface="Calibri"/>
                        </a:rPr>
                        <a:t>Required change</a:t>
                      </a:r>
                    </a:p>
                  </a:txBody>
                  <a:tcPr marL="73152" marR="73152" marT="36576" marB="36576" anchor="ctr">
                    <a:solidFill>
                      <a:srgbClr val="12394D"/>
                    </a:solidFill>
                  </a:tcPr>
                </a:tc>
              </a:tr>
              <a:tr h="868680">
                <a:tc>
                  <a:txBody>
                    <a:bodyPr wrap="square"/>
                    <a:lstStyle/>
                    <a:p>
                      <a:r>
                        <a:rPr sz="1150" b="1" i="0">
                          <a:solidFill>
                            <a:srgbClr val="1A8A99"/>
                          </a:solidFill>
                          <a:latin typeface="Calibri"/>
                        </a:rPr>
                        <a:t>R1 · </a:t>
                      </a:r>
                      <a:r>
                        <a:rPr sz="1150" b="0" i="0">
                          <a:solidFill>
                            <a:srgbClr val="2A3F4C"/>
                          </a:solidFill>
                          <a:latin typeface="Calibri"/>
                        </a:rPr>
                        <a:t>State drops the PRB split and scheduler: Markov property violated (POMDP)</a:t>
                      </a:r>
                    </a:p>
                  </a:txBody>
                  <a:tcPr marL="73152" marR="73152" marT="36576" marB="36576" anchor="ctr">
                    <a:solidFill>
                      <a:srgbClr val="F0F5F7"/>
                    </a:solidFill>
                  </a:tcPr>
                </a:tc>
                <a:tc>
                  <a:txBody>
                    <a:bodyPr wrap="square"/>
                    <a:lstStyle/>
                    <a:p>
                      <a:r>
                        <a:rPr sz="1150" b="0" i="0">
                          <a:solidFill>
                            <a:srgbClr val="2A3F4C"/>
                          </a:solidFill>
                          <a:latin typeface="Calibri"/>
                        </a:rPr>
                        <a:t>Mathematical formulation</a:t>
                      </a:r>
                    </a:p>
                  </a:txBody>
                  <a:tcPr marL="73152" marR="73152" marT="36576" marB="36576" anchor="ctr">
                    <a:solidFill>
                      <a:srgbClr val="F0F5F7"/>
                    </a:solidFill>
                  </a:tcPr>
                </a:tc>
                <a:tc>
                  <a:txBody>
                    <a:bodyPr wrap="square"/>
                    <a:lstStyle/>
                    <a:p>
                      <a:r>
                        <a:rPr sz="1150" b="0" i="0">
                          <a:solidFill>
                            <a:srgbClr val="2A3F4C"/>
                          </a:solidFill>
                          <a:latin typeface="Calibri"/>
                        </a:rPr>
                        <a:t>Partly justified: aₜ₋₁ = aₜ in these logs, so it cannot be learned from</a:t>
                      </a:r>
                    </a:p>
                  </a:txBody>
                  <a:tcPr marL="73152" marR="73152" marT="36576" marB="36576" anchor="ctr">
                    <a:solidFill>
                      <a:srgbClr val="F0F5F7"/>
                    </a:solidFill>
                  </a:tcPr>
                </a:tc>
                <a:tc>
                  <a:txBody>
                    <a:bodyPr wrap="square"/>
                    <a:lstStyle/>
                    <a:p>
                      <a:r>
                        <a:rPr sz="1150" b="1" i="0">
                          <a:solidFill>
                            <a:srgbClr val="C46A1B"/>
                          </a:solidFill>
                          <a:latin typeface="Calibri"/>
                        </a:rPr>
                        <a:t>High</a:t>
                      </a:r>
                    </a:p>
                  </a:txBody>
                  <a:tcPr marL="73152" marR="73152" marT="36576" marB="36576" anchor="ctr">
                    <a:solidFill>
                      <a:srgbClr val="F0F5F7"/>
                    </a:solidFill>
                  </a:tcPr>
                </a:tc>
                <a:tc>
                  <a:txBody>
                    <a:bodyPr wrap="square"/>
                    <a:lstStyle/>
                    <a:p>
                      <a:r>
                        <a:rPr sz="1150" b="0" i="0">
                          <a:solidFill>
                            <a:srgbClr val="2A3F4C"/>
                          </a:solidFill>
                          <a:latin typeface="Calibri"/>
                        </a:rPr>
                        <a:t>State the bandit vs POMDP choice; test aₜ₋₁ on data with switches</a:t>
                      </a:r>
                    </a:p>
                  </a:txBody>
                  <a:tcPr marL="73152" marR="73152" marT="36576" marB="36576" anchor="ctr">
                    <a:solidFill>
                      <a:srgbClr val="F0F5F7"/>
                    </a:solidFill>
                  </a:tcPr>
                </a:tc>
              </a:tr>
              <a:tr h="777240">
                <a:tc>
                  <a:txBody>
                    <a:bodyPr wrap="square"/>
                    <a:lstStyle/>
                    <a:p>
                      <a:r>
                        <a:rPr sz="1150" b="1" i="0">
                          <a:solidFill>
                            <a:srgbClr val="1A8A99"/>
                          </a:solidFill>
                          <a:latin typeface="Calibri"/>
                        </a:rPr>
                        <a:t>R1 · </a:t>
                      </a:r>
                      <a:r>
                        <a:rPr sz="1150" b="0" i="0">
                          <a:solidFill>
                            <a:srgbClr val="2A3F4C"/>
                          </a:solidFill>
                          <a:latin typeface="Calibri"/>
                        </a:rPr>
                        <a:t>Tabular cost over 3 load bins is too coarse for URLLC tails</a:t>
                      </a:r>
                    </a:p>
                  </a:txBody>
                  <a:tcPr marL="73152" marR="73152" marT="36576" marB="36576" anchor="ctr">
                    <a:solidFill>
                      <a:srgbClr val="FFFFFF"/>
                    </a:solidFill>
                  </a:tcPr>
                </a:tc>
                <a:tc>
                  <a:txBody>
                    <a:bodyPr wrap="square"/>
                    <a:lstStyle/>
                    <a:p>
                      <a:r>
                        <a:rPr sz="1150" b="0" i="0">
                          <a:solidFill>
                            <a:srgbClr val="2A3F4C"/>
                          </a:solidFill>
                          <a:latin typeface="Calibri"/>
                        </a:rPr>
                        <a:t>Safety modelling</a:t>
                      </a:r>
                    </a:p>
                  </a:txBody>
                  <a:tcPr marL="73152" marR="73152" marT="36576" marB="36576" anchor="ctr">
                    <a:solidFill>
                      <a:srgbClr val="FFFFFF"/>
                    </a:solidFill>
                  </a:tcPr>
                </a:tc>
                <a:tc>
                  <a:txBody>
                    <a:bodyPr wrap="square"/>
                    <a:lstStyle/>
                    <a:p>
                      <a:r>
                        <a:rPr sz="1150" b="0" i="0">
                          <a:solidFill>
                            <a:srgbClr val="2A3F4C"/>
                          </a:solidFill>
                          <a:latin typeface="Calibri"/>
                        </a:rPr>
                        <a:t>Partly: robust for rare events, but not a tail metric</a:t>
                      </a:r>
                    </a:p>
                  </a:txBody>
                  <a:tcPr marL="73152" marR="73152" marT="36576" marB="36576" anchor="ctr">
                    <a:solidFill>
                      <a:srgbClr val="FFFFFF"/>
                    </a:solidFill>
                  </a:tcPr>
                </a:tc>
                <a:tc>
                  <a:txBody>
                    <a:bodyPr wrap="square"/>
                    <a:lstStyle/>
                    <a:p>
                      <a:r>
                        <a:rPr sz="1150" b="1" i="0">
                          <a:solidFill>
                            <a:srgbClr val="1A8A99"/>
                          </a:solidFill>
                          <a:latin typeface="Calibri"/>
                        </a:rPr>
                        <a:t>Medium</a:t>
                      </a:r>
                    </a:p>
                  </a:txBody>
                  <a:tcPr marL="73152" marR="73152" marT="36576" marB="36576" anchor="ctr">
                    <a:solidFill>
                      <a:srgbClr val="FFFFFF"/>
                    </a:solidFill>
                  </a:tcPr>
                </a:tc>
                <a:tc>
                  <a:txBody>
                    <a:bodyPr wrap="square"/>
                    <a:lstStyle/>
                    <a:p>
                      <a:r>
                        <a:rPr sz="1150" b="0" i="0">
                          <a:solidFill>
                            <a:srgbClr val="2A3F4C"/>
                          </a:solidFill>
                          <a:latin typeface="Calibri"/>
                        </a:rPr>
                        <a:t>State-conditional cost model; bin sensitivity; p99/p99.9; CVaR variant</a:t>
                      </a:r>
                    </a:p>
                  </a:txBody>
                  <a:tcPr marL="73152" marR="73152" marT="36576" marB="36576" anchor="ctr">
                    <a:solidFill>
                      <a:srgbClr val="FFFFFF"/>
                    </a:solidFill>
                  </a:tcPr>
                </a:tc>
              </a:tr>
              <a:tr h="777240">
                <a:tc>
                  <a:txBody>
                    <a:bodyPr wrap="square"/>
                    <a:lstStyle/>
                    <a:p>
                      <a:r>
                        <a:rPr sz="1150" b="1" i="0">
                          <a:solidFill>
                            <a:srgbClr val="1A8A99"/>
                          </a:solidFill>
                          <a:latin typeface="Calibri"/>
                        </a:rPr>
                        <a:t>R2 · </a:t>
                      </a:r>
                      <a:r>
                        <a:rPr sz="1150" b="0" i="0">
                          <a:solidFill>
                            <a:srgbClr val="2A3F4C"/>
                          </a:solidFill>
                          <a:latin typeface="Calibri"/>
                        </a:rPr>
                        <a:t>5 s steps belong to the Non-RT RIC, not the Near-RT RIC (10 ms–1 s)</a:t>
                      </a:r>
                    </a:p>
                  </a:txBody>
                  <a:tcPr marL="73152" marR="73152" marT="36576" marB="36576" anchor="ctr">
                    <a:solidFill>
                      <a:srgbClr val="F0F5F7"/>
                    </a:solidFill>
                  </a:tcPr>
                </a:tc>
                <a:tc>
                  <a:txBody>
                    <a:bodyPr wrap="square"/>
                    <a:lstStyle/>
                    <a:p>
                      <a:r>
                        <a:rPr sz="1150" b="0" i="0">
                          <a:solidFill>
                            <a:srgbClr val="2A3F4C"/>
                          </a:solidFill>
                          <a:latin typeface="Calibri"/>
                        </a:rPr>
                        <a:t>Architecture</a:t>
                      </a:r>
                    </a:p>
                  </a:txBody>
                  <a:tcPr marL="73152" marR="73152" marT="36576" marB="36576" anchor="ctr">
                    <a:solidFill>
                      <a:srgbClr val="F0F5F7"/>
                    </a:solidFill>
                  </a:tcPr>
                </a:tc>
                <a:tc>
                  <a:txBody>
                    <a:bodyPr wrap="square"/>
                    <a:lstStyle/>
                    <a:p>
                      <a:r>
                        <a:rPr sz="1150" b="0" i="0">
                          <a:solidFill>
                            <a:srgbClr val="2A3F4C"/>
                          </a:solidFill>
                          <a:latin typeface="Calibri"/>
                        </a:rPr>
                        <a:t>Justified (Lu p. 14)</a:t>
                      </a:r>
                    </a:p>
                  </a:txBody>
                  <a:tcPr marL="73152" marR="73152" marT="36576" marB="36576" anchor="ctr">
                    <a:solidFill>
                      <a:srgbClr val="F0F5F7"/>
                    </a:solidFill>
                  </a:tcPr>
                </a:tc>
                <a:tc>
                  <a:txBody>
                    <a:bodyPr wrap="square"/>
                    <a:lstStyle/>
                    <a:p>
                      <a:r>
                        <a:rPr sz="1150" b="1" i="0">
                          <a:solidFill>
                            <a:srgbClr val="C46A1B"/>
                          </a:solidFill>
                          <a:latin typeface="Calibri"/>
                        </a:rPr>
                        <a:t>High</a:t>
                      </a:r>
                    </a:p>
                  </a:txBody>
                  <a:tcPr marL="73152" marR="73152" marT="36576" marB="36576" anchor="ctr">
                    <a:solidFill>
                      <a:srgbClr val="F0F5F7"/>
                    </a:solidFill>
                  </a:tcPr>
                </a:tc>
                <a:tc>
                  <a:txBody>
                    <a:bodyPr wrap="square"/>
                    <a:lstStyle/>
                    <a:p>
                      <a:r>
                        <a:rPr sz="1150" b="0" i="0">
                          <a:solidFill>
                            <a:srgbClr val="2A3F4C"/>
                          </a:solidFill>
                          <a:latin typeface="Calibri"/>
                        </a:rPr>
                        <a:t>Reposition as an rApp / slow xApp, or redesign for ≤ 1 s</a:t>
                      </a:r>
                    </a:p>
                  </a:txBody>
                  <a:tcPr marL="73152" marR="73152" marT="36576" marB="36576" anchor="ctr">
                    <a:solidFill>
                      <a:srgbClr val="F0F5F7"/>
                    </a:solidFill>
                  </a:tcPr>
                </a:tc>
              </a:tr>
              <a:tr h="868680">
                <a:tc>
                  <a:txBody>
                    <a:bodyPr wrap="square"/>
                    <a:lstStyle/>
                    <a:p>
                      <a:r>
                        <a:rPr sz="1150" b="1" i="0">
                          <a:solidFill>
                            <a:srgbClr val="1A8A99"/>
                          </a:solidFill>
                          <a:latin typeface="Calibri"/>
                        </a:rPr>
                        <a:t>R2 · </a:t>
                      </a:r>
                      <a:r>
                        <a:rPr sz="1150" b="0" i="0">
                          <a:solidFill>
                            <a:srgbClr val="2A3F4C"/>
                          </a:solidFill>
                          <a:latin typeface="Calibri"/>
                        </a:rPr>
                        <a:t>Static data: configuration fixed for each reservation, no causal effect of decisions</a:t>
                      </a:r>
                    </a:p>
                  </a:txBody>
                  <a:tcPr marL="73152" marR="73152" marT="36576" marB="36576" anchor="ctr">
                    <a:solidFill>
                      <a:srgbClr val="FFFFFF"/>
                    </a:solidFill>
                  </a:tcPr>
                </a:tc>
                <a:tc>
                  <a:txBody>
                    <a:bodyPr wrap="square"/>
                    <a:lstStyle/>
                    <a:p>
                      <a:r>
                        <a:rPr sz="1150" b="0" i="0">
                          <a:solidFill>
                            <a:srgbClr val="2A3F4C"/>
                          </a:solidFill>
                          <a:latin typeface="Calibri"/>
                        </a:rPr>
                        <a:t>Dataset and methodology</a:t>
                      </a:r>
                    </a:p>
                  </a:txBody>
                  <a:tcPr marL="73152" marR="73152" marT="36576" marB="36576" anchor="ctr">
                    <a:solidFill>
                      <a:srgbClr val="FFFFFF"/>
                    </a:solidFill>
                  </a:tcPr>
                </a:tc>
                <a:tc>
                  <a:txBody>
                    <a:bodyPr wrap="square"/>
                    <a:lstStyle/>
                    <a:p>
                      <a:r>
                        <a:rPr sz="1150" b="0" i="0">
                          <a:solidFill>
                            <a:srgbClr val="2A3F4C"/>
                          </a:solidFill>
                          <a:latin typeface="Calibri"/>
                        </a:rPr>
                        <a:t>Justified; the paper admits it (p. 5)</a:t>
                      </a:r>
                    </a:p>
                  </a:txBody>
                  <a:tcPr marL="73152" marR="73152" marT="36576" marB="36576" anchor="ctr">
                    <a:solidFill>
                      <a:srgbClr val="FFFFFF"/>
                    </a:solidFill>
                  </a:tcPr>
                </a:tc>
                <a:tc>
                  <a:txBody>
                    <a:bodyPr wrap="square"/>
                    <a:lstStyle/>
                    <a:p>
                      <a:r>
                        <a:rPr sz="1150" b="1" i="0">
                          <a:solidFill>
                            <a:srgbClr val="B03A2E"/>
                          </a:solidFill>
                          <a:latin typeface="Calibri"/>
                        </a:rPr>
                        <a:t>Critical</a:t>
                      </a:r>
                    </a:p>
                  </a:txBody>
                  <a:tcPr marL="73152" marR="73152" marT="36576" marB="36576" anchor="ctr">
                    <a:solidFill>
                      <a:srgbClr val="FFFFFF"/>
                    </a:solidFill>
                  </a:tcPr>
                </a:tc>
                <a:tc>
                  <a:txBody>
                    <a:bodyPr wrap="square"/>
                    <a:lstStyle/>
                    <a:p>
                      <a:r>
                        <a:rPr sz="1150" b="0" i="0">
                          <a:solidFill>
                            <a:srgbClr val="2A3F4C"/>
                          </a:solidFill>
                          <a:latin typeface="Calibri"/>
                        </a:rPr>
                        <a:t>Reframe as a one-step policy, or generate switching data</a:t>
                      </a:r>
                    </a:p>
                  </a:txBody>
                  <a:tcPr marL="73152" marR="73152" marT="36576" marB="36576" anchor="ctr">
                    <a:solidFill>
                      <a:srgbClr val="FFFFFF"/>
                    </a:solidFill>
                  </a:tcPr>
                </a:tc>
              </a:tr>
            </a:tbl>
          </a:graphicData>
        </a:graphic>
      </p:graphicFrame>
      <p:sp>
        <p:nvSpPr>
          <p:cNvPr id="5" name="Rounded Rectangle 4"/>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Reviewer 2's static-data point is the root cause; Reviewer 1's Markov point follows from it.</a:t>
            </a:r>
          </a:p>
        </p:txBody>
      </p:sp>
      <p:sp>
        <p:nvSpPr>
          <p:cNvPr id="7" name="TextBox 6"/>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8"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17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E · Reviewers</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Reviewer 3: baselines, novelty and writing</a:t>
            </a:r>
          </a:p>
        </p:txBody>
      </p:sp>
      <p:graphicFrame>
        <p:nvGraphicFramePr>
          <p:cNvPr id="4" name="Table 3"/>
          <p:cNvGraphicFramePr>
            <a:graphicFrameLocks noGrp="1"/>
          </p:cNvGraphicFramePr>
          <p:nvPr/>
        </p:nvGraphicFramePr>
        <p:xfrm>
          <a:off x="640080" y="1600200"/>
          <a:ext cx="8001000" cy="3246120"/>
        </p:xfrm>
        <a:graphic>
          <a:graphicData uri="http://schemas.openxmlformats.org/drawingml/2006/table">
            <a:tbl>
              <a:tblPr firstRow="1">
                <a:tableStyleId>{5C22544A-7EE6-4342-B048-85BDC9FD1C3A}</a:tableStyleId>
              </a:tblPr>
              <a:tblGrid>
                <a:gridCol w="1828800"/>
                <a:gridCol w="1051560"/>
                <a:gridCol w="2194560"/>
                <a:gridCol w="868680"/>
                <a:gridCol w="2057400"/>
              </a:tblGrid>
              <a:tr h="365760">
                <a:tc>
                  <a:txBody>
                    <a:bodyPr wrap="square"/>
                    <a:lstStyle/>
                    <a:p>
                      <a:r>
                        <a:rPr sz="1150" b="1" i="0">
                          <a:solidFill>
                            <a:srgbClr val="FFFFFF"/>
                          </a:solidFill>
                          <a:latin typeface="Calibri"/>
                        </a:rPr>
                        <a:t>Comment</a:t>
                      </a:r>
                    </a:p>
                  </a:txBody>
                  <a:tcPr marL="73152" marR="73152" marT="36576" marB="36576" anchor="ctr">
                    <a:solidFill>
                      <a:srgbClr val="12394D"/>
                    </a:solidFill>
                  </a:tcPr>
                </a:tc>
                <a:tc>
                  <a:txBody>
                    <a:bodyPr wrap="square"/>
                    <a:lstStyle/>
                    <a:p>
                      <a:r>
                        <a:rPr sz="1150" b="1" i="0">
                          <a:solidFill>
                            <a:srgbClr val="FFFFFF"/>
                          </a:solidFill>
                          <a:latin typeface="Calibri"/>
                        </a:rPr>
                        <a:t>Concern</a:t>
                      </a:r>
                    </a:p>
                  </a:txBody>
                  <a:tcPr marL="73152" marR="73152" marT="36576" marB="36576" anchor="ctr">
                    <a:solidFill>
                      <a:srgbClr val="12394D"/>
                    </a:solidFill>
                  </a:tcPr>
                </a:tc>
                <a:tc>
                  <a:txBody>
                    <a:bodyPr wrap="square"/>
                    <a:lstStyle/>
                    <a:p>
                      <a:r>
                        <a:rPr sz="1150" b="1" i="0">
                          <a:solidFill>
                            <a:srgbClr val="FFFFFF"/>
                          </a:solidFill>
                          <a:latin typeface="Calibri"/>
                        </a:rPr>
                        <a:t>My verdict</a:t>
                      </a:r>
                    </a:p>
                  </a:txBody>
                  <a:tcPr marL="73152" marR="73152" marT="36576" marB="36576" anchor="ctr">
                    <a:solidFill>
                      <a:srgbClr val="12394D"/>
                    </a:solidFill>
                  </a:tcPr>
                </a:tc>
                <a:tc>
                  <a:txBody>
                    <a:bodyPr wrap="square"/>
                    <a:lstStyle/>
                    <a:p>
                      <a:r>
                        <a:rPr sz="1150" b="1" i="0">
                          <a:solidFill>
                            <a:srgbClr val="FFFFFF"/>
                          </a:solidFill>
                          <a:latin typeface="Calibri"/>
                        </a:rPr>
                        <a:t>Severity</a:t>
                      </a:r>
                    </a:p>
                  </a:txBody>
                  <a:tcPr marL="73152" marR="73152" marT="36576" marB="36576" anchor="ctr">
                    <a:solidFill>
                      <a:srgbClr val="12394D"/>
                    </a:solidFill>
                  </a:tcPr>
                </a:tc>
                <a:tc>
                  <a:txBody>
                    <a:bodyPr wrap="square"/>
                    <a:lstStyle/>
                    <a:p>
                      <a:r>
                        <a:rPr sz="1150" b="1" i="0">
                          <a:solidFill>
                            <a:srgbClr val="FFFFFF"/>
                          </a:solidFill>
                          <a:latin typeface="Calibri"/>
                        </a:rPr>
                        <a:t>Required change</a:t>
                      </a:r>
                    </a:p>
                  </a:txBody>
                  <a:tcPr marL="73152" marR="73152" marT="36576" marB="36576" anchor="ctr">
                    <a:solidFill>
                      <a:srgbClr val="12394D"/>
                    </a:solidFill>
                  </a:tcPr>
                </a:tc>
              </a:tr>
              <a:tr h="960120">
                <a:tc>
                  <a:txBody>
                    <a:bodyPr wrap="square"/>
                    <a:lstStyle/>
                    <a:p>
                      <a:r>
                        <a:rPr sz="1100" b="1" i="0">
                          <a:solidFill>
                            <a:srgbClr val="1A8A99"/>
                          </a:solidFill>
                          <a:latin typeface="Calibri"/>
                        </a:rPr>
                        <a:t>R3 · </a:t>
                      </a:r>
                      <a:r>
                        <a:rPr sz="1100" b="0" i="0">
                          <a:solidFill>
                            <a:srgbClr val="2A3F4C"/>
                          </a:solidFill>
                          <a:latin typeface="Calibri"/>
                        </a:rPr>
                        <a:t>Only a BC baseline</a:t>
                      </a:r>
                    </a:p>
                  </a:txBody>
                  <a:tcPr marL="73152" marR="73152" marT="36576" marB="36576" anchor="ctr">
                    <a:solidFill>
                      <a:srgbClr val="F0F5F7"/>
                    </a:solidFill>
                  </a:tcPr>
                </a:tc>
                <a:tc>
                  <a:txBody>
                    <a:bodyPr wrap="square"/>
                    <a:lstStyle/>
                    <a:p>
                      <a:r>
                        <a:rPr sz="1100" b="0" i="0">
                          <a:solidFill>
                            <a:srgbClr val="2A3F4C"/>
                          </a:solidFill>
                          <a:latin typeface="Calibri"/>
                        </a:rPr>
                        <a:t>Baselines</a:t>
                      </a:r>
                    </a:p>
                  </a:txBody>
                  <a:tcPr marL="73152" marR="73152" marT="36576" marB="36576" anchor="ctr">
                    <a:solidFill>
                      <a:srgbClr val="F0F5F7"/>
                    </a:solidFill>
                  </a:tcPr>
                </a:tc>
                <a:tc>
                  <a:txBody>
                    <a:bodyPr wrap="square"/>
                    <a:lstStyle/>
                    <a:p>
                      <a:r>
                        <a:rPr sz="1100" b="0" i="0">
                          <a:solidFill>
                            <a:srgbClr val="2A3F4C"/>
                          </a:solidFill>
                          <a:latin typeface="Calibri"/>
                        </a:rPr>
                        <a:t>Justified: CQL with λ = 0 is an ablation, not a competitor</a:t>
                      </a:r>
                    </a:p>
                  </a:txBody>
                  <a:tcPr marL="73152" marR="73152" marT="36576" marB="36576" anchor="ctr">
                    <a:solidFill>
                      <a:srgbClr val="F0F5F7"/>
                    </a:solidFill>
                  </a:tcPr>
                </a:tc>
                <a:tc>
                  <a:txBody>
                    <a:bodyPr wrap="square"/>
                    <a:lstStyle/>
                    <a:p>
                      <a:r>
                        <a:rPr sz="1100" b="1" i="0">
                          <a:solidFill>
                            <a:srgbClr val="C46A1B"/>
                          </a:solidFill>
                          <a:latin typeface="Calibri"/>
                        </a:rPr>
                        <a:t>High</a:t>
                      </a:r>
                    </a:p>
                  </a:txBody>
                  <a:tcPr marL="73152" marR="73152" marT="36576" marB="36576" anchor="ctr">
                    <a:solidFill>
                      <a:srgbClr val="F0F5F7"/>
                    </a:solidFill>
                  </a:tcPr>
                </a:tc>
                <a:tc>
                  <a:txBody>
                    <a:bodyPr wrap="square"/>
                    <a:lstStyle/>
                    <a:p>
                      <a:r>
                        <a:rPr sz="1100" b="0" i="0">
                          <a:solidFill>
                            <a:srgbClr val="2A3F4C"/>
                          </a:solidFill>
                          <a:latin typeface="Calibri"/>
                        </a:rPr>
                        <a:t>Static and oracle rules, CQL + penalty, BCQ-Lag, CPQ, COptiDICE</a:t>
                      </a:r>
                    </a:p>
                  </a:txBody>
                  <a:tcPr marL="73152" marR="73152" marT="36576" marB="36576" anchor="ctr">
                    <a:solidFill>
                      <a:srgbClr val="F0F5F7"/>
                    </a:solidFill>
                  </a:tcPr>
                </a:tc>
              </a:tr>
              <a:tr h="960120">
                <a:tc>
                  <a:txBody>
                    <a:bodyPr wrap="square"/>
                    <a:lstStyle/>
                    <a:p>
                      <a:r>
                        <a:rPr sz="1100" b="1" i="0">
                          <a:solidFill>
                            <a:srgbClr val="1A8A99"/>
                          </a:solidFill>
                          <a:latin typeface="Calibri"/>
                        </a:rPr>
                        <a:t>R3 · </a:t>
                      </a:r>
                      <a:r>
                        <a:rPr sz="1100" b="0" i="0">
                          <a:solidFill>
                            <a:srgbClr val="2A3F4C"/>
                          </a:solidFill>
                          <a:latin typeface="Calibri"/>
                        </a:rPr>
                        <a:t>Offline and safe CQL well studied: incremental</a:t>
                      </a:r>
                    </a:p>
                  </a:txBody>
                  <a:tcPr marL="73152" marR="73152" marT="36576" marB="36576" anchor="ctr">
                    <a:solidFill>
                      <a:srgbClr val="FFFFFF"/>
                    </a:solidFill>
                  </a:tcPr>
                </a:tc>
                <a:tc>
                  <a:txBody>
                    <a:bodyPr wrap="square"/>
                    <a:lstStyle/>
                    <a:p>
                      <a:r>
                        <a:rPr sz="1100" b="0" i="0">
                          <a:solidFill>
                            <a:srgbClr val="2A3F4C"/>
                          </a:solidFill>
                          <a:latin typeface="Calibri"/>
                        </a:rPr>
                        <a:t>Novelty</a:t>
                      </a:r>
                    </a:p>
                  </a:txBody>
                  <a:tcPr marL="73152" marR="73152" marT="36576" marB="36576" anchor="ctr">
                    <a:solidFill>
                      <a:srgbClr val="FFFFFF"/>
                    </a:solidFill>
                  </a:tcPr>
                </a:tc>
                <a:tc>
                  <a:txBody>
                    <a:bodyPr wrap="square"/>
                    <a:lstStyle/>
                    <a:p>
                      <a:r>
                        <a:rPr sz="1100" b="0" i="0">
                          <a:solidFill>
                            <a:srgbClr val="2A3F4C"/>
                          </a:solidFill>
                          <a:latin typeface="Calibri"/>
                        </a:rPr>
                        <a:t>Justified: the paper says the algorithm is not novel (p. 2)</a:t>
                      </a:r>
                    </a:p>
                  </a:txBody>
                  <a:tcPr marL="73152" marR="73152" marT="36576" marB="36576" anchor="ctr">
                    <a:solidFill>
                      <a:srgbClr val="FFFFFF"/>
                    </a:solidFill>
                  </a:tcPr>
                </a:tc>
                <a:tc>
                  <a:txBody>
                    <a:bodyPr wrap="square"/>
                    <a:lstStyle/>
                    <a:p>
                      <a:r>
                        <a:rPr sz="1100" b="1" i="0">
                          <a:solidFill>
                            <a:srgbClr val="C46A1B"/>
                          </a:solidFill>
                          <a:latin typeface="Calibri"/>
                        </a:rPr>
                        <a:t>High</a:t>
                      </a:r>
                    </a:p>
                  </a:txBody>
                  <a:tcPr marL="73152" marR="73152" marT="36576" marB="36576" anchor="ctr">
                    <a:solidFill>
                      <a:srgbClr val="FFFFFF"/>
                    </a:solidFill>
                  </a:tcPr>
                </a:tc>
                <a:tc>
                  <a:txBody>
                    <a:bodyPr wrap="square"/>
                    <a:lstStyle/>
                    <a:p>
                      <a:r>
                        <a:rPr sz="1100" b="0" i="0">
                          <a:solidFill>
                            <a:srgbClr val="2A3F4C"/>
                          </a:solidFill>
                          <a:latin typeface="Calibri"/>
                        </a:rPr>
                        <a:t>Narrow the claim, or move to offline→online</a:t>
                      </a:r>
                    </a:p>
                  </a:txBody>
                  <a:tcPr marL="73152" marR="73152" marT="36576" marB="36576" anchor="ctr">
                    <a:solidFill>
                      <a:srgbClr val="FFFFFF"/>
                    </a:solidFill>
                  </a:tcPr>
                </a:tc>
              </a:tr>
              <a:tr h="960120">
                <a:tc>
                  <a:txBody>
                    <a:bodyPr wrap="square"/>
                    <a:lstStyle/>
                    <a:p>
                      <a:r>
                        <a:rPr sz="1100" b="1" i="0">
                          <a:solidFill>
                            <a:srgbClr val="1A8A99"/>
                          </a:solidFill>
                          <a:latin typeface="Calibri"/>
                        </a:rPr>
                        <a:t>R3 · </a:t>
                      </a:r>
                      <a:r>
                        <a:rPr sz="1100" b="0" i="0">
                          <a:solidFill>
                            <a:srgbClr val="2A3F4C"/>
                          </a:solidFill>
                          <a:latin typeface="Calibri"/>
                        </a:rPr>
                        <a:t>Writing errors; AI-style prose</a:t>
                      </a:r>
                    </a:p>
                  </a:txBody>
                  <a:tcPr marL="73152" marR="73152" marT="36576" marB="36576" anchor="ctr">
                    <a:solidFill>
                      <a:srgbClr val="F0F5F7"/>
                    </a:solidFill>
                  </a:tcPr>
                </a:tc>
                <a:tc>
                  <a:txBody>
                    <a:bodyPr wrap="square"/>
                    <a:lstStyle/>
                    <a:p>
                      <a:r>
                        <a:rPr sz="1100" b="0" i="0">
                          <a:solidFill>
                            <a:srgbClr val="2A3F4C"/>
                          </a:solidFill>
                          <a:latin typeface="Calibri"/>
                        </a:rPr>
                        <a:t>Presentation</a:t>
                      </a:r>
                    </a:p>
                  </a:txBody>
                  <a:tcPr marL="73152" marR="73152" marT="36576" marB="36576" anchor="ctr">
                    <a:solidFill>
                      <a:srgbClr val="F0F5F7"/>
                    </a:solidFill>
                  </a:tcPr>
                </a:tc>
                <a:tc>
                  <a:txBody>
                    <a:bodyPr wrap="square"/>
                    <a:lstStyle/>
                    <a:p>
                      <a:r>
                        <a:rPr sz="1100" b="0" i="0">
                          <a:solidFill>
                            <a:srgbClr val="2A3F4C"/>
                          </a:solidFill>
                          <a:latin typeface="Calibri"/>
                        </a:rPr>
                        <a:t>Justified: “γ = 0.7 (Fig. 2).” on p. 4; “[?]” not in my copy</a:t>
                      </a:r>
                    </a:p>
                  </a:txBody>
                  <a:tcPr marL="73152" marR="73152" marT="36576" marB="36576" anchor="ctr">
                    <a:solidFill>
                      <a:srgbClr val="F0F5F7"/>
                    </a:solidFill>
                  </a:tcPr>
                </a:tc>
                <a:tc>
                  <a:txBody>
                    <a:bodyPr wrap="square"/>
                    <a:lstStyle/>
                    <a:p>
                      <a:r>
                        <a:rPr sz="1100" b="1" i="0">
                          <a:solidFill>
                            <a:srgbClr val="1A8A99"/>
                          </a:solidFill>
                          <a:latin typeface="Calibri"/>
                        </a:rPr>
                        <a:t>Medium</a:t>
                      </a:r>
                    </a:p>
                  </a:txBody>
                  <a:tcPr marL="73152" marR="73152" marT="36576" marB="36576" anchor="ctr">
                    <a:solidFill>
                      <a:srgbClr val="F0F5F7"/>
                    </a:solidFill>
                  </a:tcPr>
                </a:tc>
                <a:tc>
                  <a:txBody>
                    <a:bodyPr wrap="square"/>
                    <a:lstStyle/>
                    <a:p>
                      <a:r>
                        <a:rPr sz="1100" b="0" i="0">
                          <a:solidFill>
                            <a:srgbClr val="2A3F4C"/>
                          </a:solidFill>
                          <a:latin typeface="Calibri"/>
                        </a:rPr>
                        <a:t>Full proofreading; align the text with the figures</a:t>
                      </a:r>
                    </a:p>
                  </a:txBody>
                  <a:tcPr marL="73152" marR="73152" marT="36576" marB="36576" anchor="ctr">
                    <a:solidFill>
                      <a:srgbClr val="F0F5F7"/>
                    </a:solidFill>
                  </a:tcPr>
                </a:tc>
              </a:tr>
            </a:tbl>
          </a:graphicData>
        </a:graphic>
      </p:graphicFrame>
      <p:sp>
        <p:nvSpPr>
          <p:cNvPr id="5" name="Rounded Rectangle 4"/>
          <p:cNvSpPr/>
          <p:nvPr/>
        </p:nvSpPr>
        <p:spPr>
          <a:xfrm>
            <a:off x="8915400" y="1600200"/>
            <a:ext cx="2606040" cy="379476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98280" y="1737360"/>
            <a:ext cx="2286000" cy="274320"/>
          </a:xfrm>
          <a:prstGeom prst="rect">
            <a:avLst/>
          </a:prstGeom>
          <a:noFill/>
        </p:spPr>
        <p:txBody>
          <a:bodyPr wrap="square" lIns="0" rIns="0" tIns="0" bIns="0" anchor="t">
            <a:spAutoFit/>
          </a:bodyPr>
          <a:lstStyle/>
          <a:p>
            <a:pPr algn="l"/>
            <a:r>
              <a:rPr sz="1200" b="1" i="0" spc="100">
                <a:solidFill>
                  <a:srgbClr val="1A8A99"/>
                </a:solidFill>
                <a:latin typeface="Calibri"/>
              </a:rPr>
              <a:t>SCORES (1–5)</a:t>
            </a:r>
          </a:p>
        </p:txBody>
      </p:sp>
      <p:graphicFrame>
        <p:nvGraphicFramePr>
          <p:cNvPr id="7" name="Table 6"/>
          <p:cNvGraphicFramePr>
            <a:graphicFrameLocks noGrp="1"/>
          </p:cNvGraphicFramePr>
          <p:nvPr/>
        </p:nvGraphicFramePr>
        <p:xfrm>
          <a:off x="9098280" y="2103120"/>
          <a:ext cx="2286000" cy="1737360"/>
        </p:xfrm>
        <a:graphic>
          <a:graphicData uri="http://schemas.openxmlformats.org/drawingml/2006/table">
            <a:tbl>
              <a:tblPr firstRow="1">
                <a:tableStyleId>{5C22544A-7EE6-4342-B048-85BDC9FD1C3A}</a:tableStyleId>
              </a:tblPr>
              <a:tblGrid>
                <a:gridCol w="1051560"/>
                <a:gridCol w="411480"/>
                <a:gridCol w="411480"/>
                <a:gridCol w="411480"/>
              </a:tblGrid>
              <a:tr h="347472">
                <a:tc>
                  <a:txBody>
                    <a:bodyPr wrap="square"/>
                    <a:lstStyle/>
                    <a:p>
                      <a:r>
                        <a:rPr sz="1150" b="1" i="0">
                          <a:solidFill>
                            <a:srgbClr val="FFFFFF"/>
                          </a:solidFill>
                          <a:latin typeface="Calibri"/>
                        </a:rPr>
                        <a:t/>
                      </a:r>
                    </a:p>
                  </a:txBody>
                  <a:tcPr marL="73152" marR="73152" marT="36576" marB="36576" anchor="ctr">
                    <a:solidFill>
                      <a:srgbClr val="12394D"/>
                    </a:solidFill>
                  </a:tcPr>
                </a:tc>
                <a:tc>
                  <a:txBody>
                    <a:bodyPr wrap="square"/>
                    <a:lstStyle/>
                    <a:p>
                      <a:r>
                        <a:rPr sz="1150" b="1" i="0">
                          <a:solidFill>
                            <a:srgbClr val="FFFFFF"/>
                          </a:solidFill>
                          <a:latin typeface="Calibri"/>
                        </a:rPr>
                        <a:t>R1</a:t>
                      </a:r>
                    </a:p>
                  </a:txBody>
                  <a:tcPr marL="73152" marR="73152" marT="36576" marB="36576" anchor="ctr">
                    <a:solidFill>
                      <a:srgbClr val="12394D"/>
                    </a:solidFill>
                  </a:tcPr>
                </a:tc>
                <a:tc>
                  <a:txBody>
                    <a:bodyPr wrap="square"/>
                    <a:lstStyle/>
                    <a:p>
                      <a:r>
                        <a:rPr sz="1150" b="1" i="0">
                          <a:solidFill>
                            <a:srgbClr val="FFFFFF"/>
                          </a:solidFill>
                          <a:latin typeface="Calibri"/>
                        </a:rPr>
                        <a:t>R2</a:t>
                      </a:r>
                    </a:p>
                  </a:txBody>
                  <a:tcPr marL="73152" marR="73152" marT="36576" marB="36576" anchor="ctr">
                    <a:solidFill>
                      <a:srgbClr val="12394D"/>
                    </a:solidFill>
                  </a:tcPr>
                </a:tc>
                <a:tc>
                  <a:txBody>
                    <a:bodyPr wrap="square"/>
                    <a:lstStyle/>
                    <a:p>
                      <a:r>
                        <a:rPr sz="1150" b="1" i="0">
                          <a:solidFill>
                            <a:srgbClr val="FFFFFF"/>
                          </a:solidFill>
                          <a:latin typeface="Calibri"/>
                        </a:rPr>
                        <a:t>R3</a:t>
                      </a:r>
                    </a:p>
                  </a:txBody>
                  <a:tcPr marL="73152" marR="73152" marT="36576" marB="36576" anchor="ctr">
                    <a:solidFill>
                      <a:srgbClr val="12394D"/>
                    </a:solidFill>
                  </a:tcPr>
                </a:tc>
              </a:tr>
              <a:tr h="347472">
                <a:tc>
                  <a:txBody>
                    <a:bodyPr wrap="square"/>
                    <a:lstStyle/>
                    <a:p>
                      <a:r>
                        <a:rPr sz="1150" b="1" i="0">
                          <a:solidFill>
                            <a:srgbClr val="12394D"/>
                          </a:solidFill>
                          <a:latin typeface="Calibri"/>
                        </a:rPr>
                        <a:t>Relevance</a:t>
                      </a:r>
                    </a:p>
                  </a:txBody>
                  <a:tcPr marL="73152" marR="73152" marT="36576" marB="36576" anchor="ctr">
                    <a:solidFill>
                      <a:srgbClr val="F0F5F7"/>
                    </a:solidFill>
                  </a:tcPr>
                </a:tc>
                <a:tc>
                  <a:txBody>
                    <a:bodyPr wrap="square"/>
                    <a:lstStyle/>
                    <a:p>
                      <a:r>
                        <a:rPr sz="1150" b="0" i="0">
                          <a:solidFill>
                            <a:srgbClr val="2A3F4C"/>
                          </a:solidFill>
                          <a:latin typeface="Calibri"/>
                        </a:rPr>
                        <a:t>4</a:t>
                      </a:r>
                    </a:p>
                  </a:txBody>
                  <a:tcPr marL="73152" marR="73152" marT="36576" marB="36576" anchor="ctr">
                    <a:solidFill>
                      <a:srgbClr val="F0F5F7"/>
                    </a:solidFill>
                  </a:tcPr>
                </a:tc>
                <a:tc>
                  <a:txBody>
                    <a:bodyPr wrap="square"/>
                    <a:lstStyle/>
                    <a:p>
                      <a:r>
                        <a:rPr sz="1150" b="0" i="0">
                          <a:solidFill>
                            <a:srgbClr val="2A3F4C"/>
                          </a:solidFill>
                          <a:latin typeface="Calibri"/>
                        </a:rPr>
                        <a:t>4</a:t>
                      </a:r>
                    </a:p>
                  </a:txBody>
                  <a:tcPr marL="73152" marR="73152" marT="36576" marB="36576" anchor="ctr">
                    <a:solidFill>
                      <a:srgbClr val="F0F5F7"/>
                    </a:solidFill>
                  </a:tcPr>
                </a:tc>
                <a:tc>
                  <a:txBody>
                    <a:bodyPr wrap="square"/>
                    <a:lstStyle/>
                    <a:p>
                      <a:r>
                        <a:rPr sz="1150" b="0" i="0">
                          <a:solidFill>
                            <a:srgbClr val="2A3F4C"/>
                          </a:solidFill>
                          <a:latin typeface="Calibri"/>
                        </a:rPr>
                        <a:t>3</a:t>
                      </a:r>
                    </a:p>
                  </a:txBody>
                  <a:tcPr marL="73152" marR="73152" marT="36576" marB="36576" anchor="ctr">
                    <a:solidFill>
                      <a:srgbClr val="F0F5F7"/>
                    </a:solidFill>
                  </a:tcPr>
                </a:tc>
              </a:tr>
              <a:tr h="347472">
                <a:tc>
                  <a:txBody>
                    <a:bodyPr wrap="square"/>
                    <a:lstStyle/>
                    <a:p>
                      <a:r>
                        <a:rPr sz="1150" b="1" i="0">
                          <a:solidFill>
                            <a:srgbClr val="12394D"/>
                          </a:solidFill>
                          <a:latin typeface="Calibri"/>
                        </a:rPr>
                        <a:t>Technical</a:t>
                      </a:r>
                    </a:p>
                  </a:txBody>
                  <a:tcPr marL="73152" marR="73152" marT="36576" marB="36576" anchor="ctr">
                    <a:solidFill>
                      <a:srgbClr val="FFFFFF"/>
                    </a:solidFill>
                  </a:tcPr>
                </a:tc>
                <a:tc>
                  <a:txBody>
                    <a:bodyPr wrap="square"/>
                    <a:lstStyle/>
                    <a:p>
                      <a:r>
                        <a:rPr sz="1150" b="0" i="0">
                          <a:solidFill>
                            <a:srgbClr val="2A3F4C"/>
                          </a:solidFill>
                          <a:latin typeface="Calibri"/>
                        </a:rPr>
                        <a:t>3</a:t>
                      </a:r>
                    </a:p>
                  </a:txBody>
                  <a:tcPr marL="73152" marR="73152" marT="36576" marB="36576" anchor="ctr">
                    <a:solidFill>
                      <a:srgbClr val="FFFFFF"/>
                    </a:solidFill>
                  </a:tcPr>
                </a:tc>
                <a:tc>
                  <a:txBody>
                    <a:bodyPr wrap="square"/>
                    <a:lstStyle/>
                    <a:p>
                      <a:r>
                        <a:rPr sz="1150" b="0" i="0">
                          <a:solidFill>
                            <a:srgbClr val="2A3F4C"/>
                          </a:solidFill>
                          <a:latin typeface="Calibri"/>
                        </a:rPr>
                        <a:t>2</a:t>
                      </a:r>
                    </a:p>
                  </a:txBody>
                  <a:tcPr marL="73152" marR="73152" marT="36576" marB="36576" anchor="ctr">
                    <a:solidFill>
                      <a:srgbClr val="FFFFFF"/>
                    </a:solidFill>
                  </a:tcPr>
                </a:tc>
                <a:tc>
                  <a:txBody>
                    <a:bodyPr wrap="square"/>
                    <a:lstStyle/>
                    <a:p>
                      <a:r>
                        <a:rPr sz="1150" b="0" i="0">
                          <a:solidFill>
                            <a:srgbClr val="2A3F4C"/>
                          </a:solidFill>
                          <a:latin typeface="Calibri"/>
                        </a:rPr>
                        <a:t>2</a:t>
                      </a:r>
                    </a:p>
                  </a:txBody>
                  <a:tcPr marL="73152" marR="73152" marT="36576" marB="36576" anchor="ctr">
                    <a:solidFill>
                      <a:srgbClr val="FFFFFF"/>
                    </a:solidFill>
                  </a:tcPr>
                </a:tc>
              </a:tr>
              <a:tr h="347472">
                <a:tc>
                  <a:txBody>
                    <a:bodyPr wrap="square"/>
                    <a:lstStyle/>
                    <a:p>
                      <a:r>
                        <a:rPr sz="1150" b="1" i="0">
                          <a:solidFill>
                            <a:srgbClr val="12394D"/>
                          </a:solidFill>
                          <a:latin typeface="Calibri"/>
                        </a:rPr>
                        <a:t>Novelty</a:t>
                      </a:r>
                    </a:p>
                  </a:txBody>
                  <a:tcPr marL="73152" marR="73152" marT="36576" marB="36576" anchor="ctr">
                    <a:solidFill>
                      <a:srgbClr val="F0F5F7"/>
                    </a:solidFill>
                  </a:tcPr>
                </a:tc>
                <a:tc>
                  <a:txBody>
                    <a:bodyPr wrap="square"/>
                    <a:lstStyle/>
                    <a:p>
                      <a:r>
                        <a:rPr sz="1150" b="0" i="0">
                          <a:solidFill>
                            <a:srgbClr val="2A3F4C"/>
                          </a:solidFill>
                          <a:latin typeface="Calibri"/>
                        </a:rPr>
                        <a:t>3</a:t>
                      </a:r>
                    </a:p>
                  </a:txBody>
                  <a:tcPr marL="73152" marR="73152" marT="36576" marB="36576" anchor="ctr">
                    <a:solidFill>
                      <a:srgbClr val="F0F5F7"/>
                    </a:solidFill>
                  </a:tcPr>
                </a:tc>
                <a:tc>
                  <a:txBody>
                    <a:bodyPr wrap="square"/>
                    <a:lstStyle/>
                    <a:p>
                      <a:r>
                        <a:rPr sz="1150" b="0" i="0">
                          <a:solidFill>
                            <a:srgbClr val="2A3F4C"/>
                          </a:solidFill>
                          <a:latin typeface="Calibri"/>
                        </a:rPr>
                        <a:t>2</a:t>
                      </a:r>
                    </a:p>
                  </a:txBody>
                  <a:tcPr marL="73152" marR="73152" marT="36576" marB="36576" anchor="ctr">
                    <a:solidFill>
                      <a:srgbClr val="F0F5F7"/>
                    </a:solidFill>
                  </a:tcPr>
                </a:tc>
                <a:tc>
                  <a:txBody>
                    <a:bodyPr wrap="square"/>
                    <a:lstStyle/>
                    <a:p>
                      <a:r>
                        <a:rPr sz="1150" b="0" i="0">
                          <a:solidFill>
                            <a:srgbClr val="2A3F4C"/>
                          </a:solidFill>
                          <a:latin typeface="Calibri"/>
                        </a:rPr>
                        <a:t>2</a:t>
                      </a:r>
                    </a:p>
                  </a:txBody>
                  <a:tcPr marL="73152" marR="73152" marT="36576" marB="36576" anchor="ctr">
                    <a:solidFill>
                      <a:srgbClr val="F0F5F7"/>
                    </a:solidFill>
                  </a:tcPr>
                </a:tc>
              </a:tr>
              <a:tr h="347472">
                <a:tc>
                  <a:txBody>
                    <a:bodyPr wrap="square"/>
                    <a:lstStyle/>
                    <a:p>
                      <a:r>
                        <a:rPr sz="1150" b="1" i="0">
                          <a:solidFill>
                            <a:srgbClr val="12394D"/>
                          </a:solidFill>
                          <a:latin typeface="Calibri"/>
                        </a:rPr>
                        <a:t>Presentation</a:t>
                      </a:r>
                    </a:p>
                  </a:txBody>
                  <a:tcPr marL="73152" marR="73152" marT="36576" marB="36576" anchor="ctr">
                    <a:solidFill>
                      <a:srgbClr val="FFFFFF"/>
                    </a:solidFill>
                  </a:tcPr>
                </a:tc>
                <a:tc>
                  <a:txBody>
                    <a:bodyPr wrap="square"/>
                    <a:lstStyle/>
                    <a:p>
                      <a:r>
                        <a:rPr sz="1150" b="0" i="0">
                          <a:solidFill>
                            <a:srgbClr val="2A3F4C"/>
                          </a:solidFill>
                          <a:latin typeface="Calibri"/>
                        </a:rPr>
                        <a:t>5</a:t>
                      </a:r>
                    </a:p>
                  </a:txBody>
                  <a:tcPr marL="73152" marR="73152" marT="36576" marB="36576" anchor="ctr">
                    <a:solidFill>
                      <a:srgbClr val="FFFFFF"/>
                    </a:solidFill>
                  </a:tcPr>
                </a:tc>
                <a:tc>
                  <a:txBody>
                    <a:bodyPr wrap="square"/>
                    <a:lstStyle/>
                    <a:p>
                      <a:r>
                        <a:rPr sz="1150" b="0" i="0">
                          <a:solidFill>
                            <a:srgbClr val="2A3F4C"/>
                          </a:solidFill>
                          <a:latin typeface="Calibri"/>
                        </a:rPr>
                        <a:t>3</a:t>
                      </a:r>
                    </a:p>
                  </a:txBody>
                  <a:tcPr marL="73152" marR="73152" marT="36576" marB="36576" anchor="ctr">
                    <a:solidFill>
                      <a:srgbClr val="FFFFFF"/>
                    </a:solidFill>
                  </a:tcPr>
                </a:tc>
                <a:tc>
                  <a:txBody>
                    <a:bodyPr wrap="square"/>
                    <a:lstStyle/>
                    <a:p>
                      <a:r>
                        <a:rPr sz="1150" b="0" i="0">
                          <a:solidFill>
                            <a:srgbClr val="2A3F4C"/>
                          </a:solidFill>
                          <a:latin typeface="Calibri"/>
                        </a:rPr>
                        <a:t>2</a:t>
                      </a:r>
                    </a:p>
                  </a:txBody>
                  <a:tcPr marL="73152" marR="73152" marT="36576" marB="36576" anchor="ctr">
                    <a:solidFill>
                      <a:srgbClr val="FFFFFF"/>
                    </a:solidFill>
                  </a:tcPr>
                </a:tc>
              </a:tr>
            </a:tbl>
          </a:graphicData>
        </a:graphic>
      </p:graphicFrame>
      <p:sp>
        <p:nvSpPr>
          <p:cNvPr id="8" name="TextBox 7"/>
          <p:cNvSpPr txBox="1"/>
          <p:nvPr/>
        </p:nvSpPr>
        <p:spPr>
          <a:xfrm>
            <a:off x="9098280" y="3977639"/>
            <a:ext cx="2286000" cy="1371600"/>
          </a:xfrm>
          <a:prstGeom prst="rect">
            <a:avLst/>
          </a:prstGeom>
          <a:noFill/>
        </p:spPr>
        <p:txBody>
          <a:bodyPr wrap="square" lIns="0" rIns="0" tIns="0" bIns="0" anchor="t">
            <a:spAutoFit/>
          </a:bodyPr>
          <a:lstStyle/>
          <a:p>
            <a:pPr algn="l"/>
            <a:r>
              <a:rPr sz="1150" b="0" i="0">
                <a:solidFill>
                  <a:srgbClr val="5F7A8A"/>
                </a:solidFill>
                <a:latin typeface="Calibri"/>
              </a:rPr>
              <a:t>Technical and novelty scores agree across reviewers; presentation scores do not (5 vs 2).</a:t>
            </a:r>
          </a:p>
        </p:txBody>
      </p:sp>
      <p:sp>
        <p:nvSpPr>
          <p:cNvPr id="9" name="Rounded Rectangle 8"/>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Technical scores of 3, 2 and 2 agree: the paper needs new evidence, not only rewriting.</a:t>
            </a:r>
          </a:p>
        </p:txBody>
      </p:sp>
      <p:sp>
        <p:nvSpPr>
          <p:cNvPr id="11" name="TextBox 10"/>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12"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18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E · Root cause</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Static logs cannot identify sequential decisions</a:t>
            </a:r>
          </a:p>
        </p:txBody>
      </p:sp>
      <p:sp>
        <p:nvSpPr>
          <p:cNvPr id="4" name="TextBox 3"/>
          <p:cNvSpPr txBox="1"/>
          <p:nvPr/>
        </p:nvSpPr>
        <p:spPr>
          <a:xfrm>
            <a:off x="640080" y="1600200"/>
            <a:ext cx="5486400" cy="274320"/>
          </a:xfrm>
          <a:prstGeom prst="rect">
            <a:avLst/>
          </a:prstGeom>
          <a:noFill/>
        </p:spPr>
        <p:txBody>
          <a:bodyPr wrap="square" lIns="0" rIns="0" tIns="0" bIns="0" anchor="t">
            <a:spAutoFit/>
          </a:bodyPr>
          <a:lstStyle/>
          <a:p>
            <a:pPr algn="l"/>
            <a:r>
              <a:rPr sz="1200" b="1" i="0" spc="100">
                <a:solidFill>
                  <a:srgbClr val="1A8A99"/>
                </a:solidFill>
                <a:latin typeface="Calibri"/>
              </a:rPr>
              <a:t>WHAT THE LOGS CONTAIN VS WHAT A POLICY DOES</a:t>
            </a:r>
          </a:p>
        </p:txBody>
      </p:sp>
      <p:sp>
        <p:nvSpPr>
          <p:cNvPr id="5" name="TextBox 4"/>
          <p:cNvSpPr txBox="1"/>
          <p:nvPr/>
        </p:nvSpPr>
        <p:spPr>
          <a:xfrm>
            <a:off x="640080" y="1965960"/>
            <a:ext cx="1234440" cy="502920"/>
          </a:xfrm>
          <a:prstGeom prst="rect">
            <a:avLst/>
          </a:prstGeom>
          <a:noFill/>
        </p:spPr>
        <p:txBody>
          <a:bodyPr wrap="square" lIns="0" rIns="0" tIns="0" bIns="0" anchor="ctr">
            <a:spAutoFit/>
          </a:bodyPr>
          <a:lstStyle/>
          <a:p>
            <a:pPr algn="l"/>
            <a:r>
              <a:rPr sz="1200" b="1" i="0">
                <a:solidFill>
                  <a:srgbClr val="12394D"/>
                </a:solidFill>
                <a:latin typeface="Calibri"/>
              </a:rPr>
              <a:t>Reservation A</a:t>
            </a:r>
          </a:p>
        </p:txBody>
      </p:sp>
      <p:sp>
        <p:nvSpPr>
          <p:cNvPr id="6" name="Rounded Rectangle 5"/>
          <p:cNvSpPr/>
          <p:nvPr/>
        </p:nvSpPr>
        <p:spPr>
          <a:xfrm>
            <a:off x="1920240" y="1965960"/>
            <a:ext cx="777240" cy="5029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20240" y="1965960"/>
            <a:ext cx="777240" cy="502920"/>
          </a:xfrm>
          <a:prstGeom prst="rect">
            <a:avLst/>
          </a:prstGeom>
          <a:noFill/>
        </p:spPr>
        <p:txBody>
          <a:bodyPr wrap="square" lIns="0" rIns="0" tIns="0" bIns="0" anchor="ctr">
            <a:spAutoFit/>
          </a:bodyPr>
          <a:lstStyle/>
          <a:p>
            <a:pPr algn="ctr"/>
            <a:r>
              <a:rPr sz="1050" b="1" i="0">
                <a:solidFill>
                  <a:srgbClr val="12394D"/>
                </a:solidFill>
                <a:latin typeface="Calibri"/>
              </a:rPr>
              <a:t>(21, PF)</a:t>
            </a:r>
          </a:p>
        </p:txBody>
      </p:sp>
      <p:sp>
        <p:nvSpPr>
          <p:cNvPr id="8" name="Rounded Rectangle 7"/>
          <p:cNvSpPr/>
          <p:nvPr/>
        </p:nvSpPr>
        <p:spPr>
          <a:xfrm>
            <a:off x="2770632" y="1965960"/>
            <a:ext cx="777240" cy="5029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70632" y="1965960"/>
            <a:ext cx="777240" cy="502920"/>
          </a:xfrm>
          <a:prstGeom prst="rect">
            <a:avLst/>
          </a:prstGeom>
          <a:noFill/>
        </p:spPr>
        <p:txBody>
          <a:bodyPr wrap="square" lIns="0" rIns="0" tIns="0" bIns="0" anchor="ctr">
            <a:spAutoFit/>
          </a:bodyPr>
          <a:lstStyle/>
          <a:p>
            <a:pPr algn="ctr"/>
            <a:r>
              <a:rPr sz="1050" b="1" i="0">
                <a:solidFill>
                  <a:srgbClr val="12394D"/>
                </a:solidFill>
                <a:latin typeface="Calibri"/>
              </a:rPr>
              <a:t>(21, PF)</a:t>
            </a:r>
          </a:p>
        </p:txBody>
      </p:sp>
      <p:sp>
        <p:nvSpPr>
          <p:cNvPr id="10" name="Rounded Rectangle 9"/>
          <p:cNvSpPr/>
          <p:nvPr/>
        </p:nvSpPr>
        <p:spPr>
          <a:xfrm>
            <a:off x="3621024" y="1965960"/>
            <a:ext cx="777240" cy="5029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21024" y="1965960"/>
            <a:ext cx="777240" cy="502920"/>
          </a:xfrm>
          <a:prstGeom prst="rect">
            <a:avLst/>
          </a:prstGeom>
          <a:noFill/>
        </p:spPr>
        <p:txBody>
          <a:bodyPr wrap="square" lIns="0" rIns="0" tIns="0" bIns="0" anchor="ctr">
            <a:spAutoFit/>
          </a:bodyPr>
          <a:lstStyle/>
          <a:p>
            <a:pPr algn="ctr"/>
            <a:r>
              <a:rPr sz="1050" b="1" i="0">
                <a:solidFill>
                  <a:srgbClr val="12394D"/>
                </a:solidFill>
                <a:latin typeface="Calibri"/>
              </a:rPr>
              <a:t>(21, PF)</a:t>
            </a:r>
          </a:p>
        </p:txBody>
      </p:sp>
      <p:sp>
        <p:nvSpPr>
          <p:cNvPr id="12" name="Rounded Rectangle 11"/>
          <p:cNvSpPr/>
          <p:nvPr/>
        </p:nvSpPr>
        <p:spPr>
          <a:xfrm>
            <a:off x="4471416" y="1965960"/>
            <a:ext cx="777240" cy="5029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71416" y="1965960"/>
            <a:ext cx="777240" cy="502920"/>
          </a:xfrm>
          <a:prstGeom prst="rect">
            <a:avLst/>
          </a:prstGeom>
          <a:noFill/>
        </p:spPr>
        <p:txBody>
          <a:bodyPr wrap="square" lIns="0" rIns="0" tIns="0" bIns="0" anchor="ctr">
            <a:spAutoFit/>
          </a:bodyPr>
          <a:lstStyle/>
          <a:p>
            <a:pPr algn="ctr"/>
            <a:r>
              <a:rPr sz="1050" b="1" i="0">
                <a:solidFill>
                  <a:srgbClr val="12394D"/>
                </a:solidFill>
                <a:latin typeface="Calibri"/>
              </a:rPr>
              <a:t>(21, PF)</a:t>
            </a:r>
          </a:p>
        </p:txBody>
      </p:sp>
      <p:sp>
        <p:nvSpPr>
          <p:cNvPr id="14" name="Rounded Rectangle 13"/>
          <p:cNvSpPr/>
          <p:nvPr/>
        </p:nvSpPr>
        <p:spPr>
          <a:xfrm>
            <a:off x="5321808" y="1965960"/>
            <a:ext cx="777240" cy="5029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21808" y="1965960"/>
            <a:ext cx="777240" cy="502920"/>
          </a:xfrm>
          <a:prstGeom prst="rect">
            <a:avLst/>
          </a:prstGeom>
          <a:noFill/>
        </p:spPr>
        <p:txBody>
          <a:bodyPr wrap="square" lIns="0" rIns="0" tIns="0" bIns="0" anchor="ctr">
            <a:spAutoFit/>
          </a:bodyPr>
          <a:lstStyle/>
          <a:p>
            <a:pPr algn="ctr"/>
            <a:r>
              <a:rPr sz="1050" b="1" i="0">
                <a:solidFill>
                  <a:srgbClr val="12394D"/>
                </a:solidFill>
                <a:latin typeface="Calibri"/>
              </a:rPr>
              <a:t>(21, PF)</a:t>
            </a:r>
          </a:p>
        </p:txBody>
      </p:sp>
      <p:sp>
        <p:nvSpPr>
          <p:cNvPr id="16" name="TextBox 15"/>
          <p:cNvSpPr txBox="1"/>
          <p:nvPr/>
        </p:nvSpPr>
        <p:spPr>
          <a:xfrm>
            <a:off x="640080" y="2697480"/>
            <a:ext cx="1234440" cy="502920"/>
          </a:xfrm>
          <a:prstGeom prst="rect">
            <a:avLst/>
          </a:prstGeom>
          <a:noFill/>
        </p:spPr>
        <p:txBody>
          <a:bodyPr wrap="square" lIns="0" rIns="0" tIns="0" bIns="0" anchor="ctr">
            <a:spAutoFit/>
          </a:bodyPr>
          <a:lstStyle/>
          <a:p>
            <a:pPr algn="l"/>
            <a:r>
              <a:rPr sz="1200" b="1" i="0">
                <a:solidFill>
                  <a:srgbClr val="12394D"/>
                </a:solidFill>
                <a:latin typeface="Calibri"/>
              </a:rPr>
              <a:t>Reservation B</a:t>
            </a:r>
          </a:p>
        </p:txBody>
      </p:sp>
      <p:sp>
        <p:nvSpPr>
          <p:cNvPr id="17" name="Rounded Rectangle 16"/>
          <p:cNvSpPr/>
          <p:nvPr/>
        </p:nvSpPr>
        <p:spPr>
          <a:xfrm>
            <a:off x="1920240" y="2697480"/>
            <a:ext cx="777240" cy="5029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20240" y="2697480"/>
            <a:ext cx="777240" cy="502920"/>
          </a:xfrm>
          <a:prstGeom prst="rect">
            <a:avLst/>
          </a:prstGeom>
          <a:noFill/>
        </p:spPr>
        <p:txBody>
          <a:bodyPr wrap="square" lIns="0" rIns="0" tIns="0" bIns="0" anchor="ctr">
            <a:spAutoFit/>
          </a:bodyPr>
          <a:lstStyle/>
          <a:p>
            <a:pPr algn="ctr"/>
            <a:r>
              <a:rPr sz="1050" b="1" i="0">
                <a:solidFill>
                  <a:srgbClr val="12394D"/>
                </a:solidFill>
                <a:latin typeface="Calibri"/>
              </a:rPr>
              <a:t>(39, RR)</a:t>
            </a:r>
          </a:p>
        </p:txBody>
      </p:sp>
      <p:sp>
        <p:nvSpPr>
          <p:cNvPr id="19" name="Rounded Rectangle 18"/>
          <p:cNvSpPr/>
          <p:nvPr/>
        </p:nvSpPr>
        <p:spPr>
          <a:xfrm>
            <a:off x="2770632" y="2697480"/>
            <a:ext cx="777240" cy="5029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70632" y="2697480"/>
            <a:ext cx="777240" cy="502920"/>
          </a:xfrm>
          <a:prstGeom prst="rect">
            <a:avLst/>
          </a:prstGeom>
          <a:noFill/>
        </p:spPr>
        <p:txBody>
          <a:bodyPr wrap="square" lIns="0" rIns="0" tIns="0" bIns="0" anchor="ctr">
            <a:spAutoFit/>
          </a:bodyPr>
          <a:lstStyle/>
          <a:p>
            <a:pPr algn="ctr"/>
            <a:r>
              <a:rPr sz="1050" b="1" i="0">
                <a:solidFill>
                  <a:srgbClr val="12394D"/>
                </a:solidFill>
                <a:latin typeface="Calibri"/>
              </a:rPr>
              <a:t>(39, RR)</a:t>
            </a:r>
          </a:p>
        </p:txBody>
      </p:sp>
      <p:sp>
        <p:nvSpPr>
          <p:cNvPr id="21" name="Rounded Rectangle 20"/>
          <p:cNvSpPr/>
          <p:nvPr/>
        </p:nvSpPr>
        <p:spPr>
          <a:xfrm>
            <a:off x="3621024" y="2697480"/>
            <a:ext cx="777240" cy="5029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21024" y="2697480"/>
            <a:ext cx="777240" cy="502920"/>
          </a:xfrm>
          <a:prstGeom prst="rect">
            <a:avLst/>
          </a:prstGeom>
          <a:noFill/>
        </p:spPr>
        <p:txBody>
          <a:bodyPr wrap="square" lIns="0" rIns="0" tIns="0" bIns="0" anchor="ctr">
            <a:spAutoFit/>
          </a:bodyPr>
          <a:lstStyle/>
          <a:p>
            <a:pPr algn="ctr"/>
            <a:r>
              <a:rPr sz="1050" b="1" i="0">
                <a:solidFill>
                  <a:srgbClr val="12394D"/>
                </a:solidFill>
                <a:latin typeface="Calibri"/>
              </a:rPr>
              <a:t>(39, RR)</a:t>
            </a:r>
          </a:p>
        </p:txBody>
      </p:sp>
      <p:sp>
        <p:nvSpPr>
          <p:cNvPr id="23" name="Rounded Rectangle 22"/>
          <p:cNvSpPr/>
          <p:nvPr/>
        </p:nvSpPr>
        <p:spPr>
          <a:xfrm>
            <a:off x="4471416" y="2697480"/>
            <a:ext cx="777240" cy="5029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71416" y="2697480"/>
            <a:ext cx="777240" cy="502920"/>
          </a:xfrm>
          <a:prstGeom prst="rect">
            <a:avLst/>
          </a:prstGeom>
          <a:noFill/>
        </p:spPr>
        <p:txBody>
          <a:bodyPr wrap="square" lIns="0" rIns="0" tIns="0" bIns="0" anchor="ctr">
            <a:spAutoFit/>
          </a:bodyPr>
          <a:lstStyle/>
          <a:p>
            <a:pPr algn="ctr"/>
            <a:r>
              <a:rPr sz="1050" b="1" i="0">
                <a:solidFill>
                  <a:srgbClr val="12394D"/>
                </a:solidFill>
                <a:latin typeface="Calibri"/>
              </a:rPr>
              <a:t>(39, RR)</a:t>
            </a:r>
          </a:p>
        </p:txBody>
      </p:sp>
      <p:sp>
        <p:nvSpPr>
          <p:cNvPr id="25" name="Rounded Rectangle 24"/>
          <p:cNvSpPr/>
          <p:nvPr/>
        </p:nvSpPr>
        <p:spPr>
          <a:xfrm>
            <a:off x="5321808" y="2697480"/>
            <a:ext cx="777240" cy="5029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21808" y="2697480"/>
            <a:ext cx="777240" cy="502920"/>
          </a:xfrm>
          <a:prstGeom prst="rect">
            <a:avLst/>
          </a:prstGeom>
          <a:noFill/>
        </p:spPr>
        <p:txBody>
          <a:bodyPr wrap="square" lIns="0" rIns="0" tIns="0" bIns="0" anchor="ctr">
            <a:spAutoFit/>
          </a:bodyPr>
          <a:lstStyle/>
          <a:p>
            <a:pPr algn="ctr"/>
            <a:r>
              <a:rPr sz="1050" b="1" i="0">
                <a:solidFill>
                  <a:srgbClr val="12394D"/>
                </a:solidFill>
                <a:latin typeface="Calibri"/>
              </a:rPr>
              <a:t>(39, RR)</a:t>
            </a:r>
          </a:p>
        </p:txBody>
      </p:sp>
      <p:sp>
        <p:nvSpPr>
          <p:cNvPr id="27" name="TextBox 26"/>
          <p:cNvSpPr txBox="1"/>
          <p:nvPr/>
        </p:nvSpPr>
        <p:spPr>
          <a:xfrm>
            <a:off x="640080" y="3611880"/>
            <a:ext cx="1234440" cy="502920"/>
          </a:xfrm>
          <a:prstGeom prst="rect">
            <a:avLst/>
          </a:prstGeom>
          <a:noFill/>
        </p:spPr>
        <p:txBody>
          <a:bodyPr wrap="square" lIns="0" rIns="0" tIns="0" bIns="0" anchor="ctr">
            <a:spAutoFit/>
          </a:bodyPr>
          <a:lstStyle/>
          <a:p>
            <a:pPr algn="l"/>
            <a:r>
              <a:rPr sz="1200" b="1" i="0">
                <a:solidFill>
                  <a:srgbClr val="12394D"/>
                </a:solidFill>
                <a:latin typeface="Calibri"/>
              </a:rPr>
              <a:t>Learned policy</a:t>
            </a:r>
          </a:p>
        </p:txBody>
      </p:sp>
      <p:sp>
        <p:nvSpPr>
          <p:cNvPr id="28" name="Rounded Rectangle 27"/>
          <p:cNvSpPr/>
          <p:nvPr/>
        </p:nvSpPr>
        <p:spPr>
          <a:xfrm>
            <a:off x="1920240" y="3611880"/>
            <a:ext cx="777240" cy="50292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920240" y="3611880"/>
            <a:ext cx="777240" cy="502920"/>
          </a:xfrm>
          <a:prstGeom prst="rect">
            <a:avLst/>
          </a:prstGeom>
          <a:noFill/>
        </p:spPr>
        <p:txBody>
          <a:bodyPr wrap="square" lIns="0" rIns="0" tIns="0" bIns="0" anchor="ctr">
            <a:spAutoFit/>
          </a:bodyPr>
          <a:lstStyle/>
          <a:p>
            <a:pPr algn="ctr"/>
            <a:r>
              <a:rPr sz="1050" b="1" i="0">
                <a:solidFill>
                  <a:srgbClr val="12394D"/>
                </a:solidFill>
                <a:latin typeface="Calibri"/>
              </a:rPr>
              <a:t>(21, PF)</a:t>
            </a:r>
          </a:p>
        </p:txBody>
      </p:sp>
      <p:sp>
        <p:nvSpPr>
          <p:cNvPr id="30" name="Rounded Rectangle 29"/>
          <p:cNvSpPr/>
          <p:nvPr/>
        </p:nvSpPr>
        <p:spPr>
          <a:xfrm>
            <a:off x="2770632" y="3611880"/>
            <a:ext cx="777240" cy="50292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70632" y="3611880"/>
            <a:ext cx="777240" cy="502920"/>
          </a:xfrm>
          <a:prstGeom prst="rect">
            <a:avLst/>
          </a:prstGeom>
          <a:noFill/>
        </p:spPr>
        <p:txBody>
          <a:bodyPr wrap="square" lIns="0" rIns="0" tIns="0" bIns="0" anchor="ctr">
            <a:spAutoFit/>
          </a:bodyPr>
          <a:lstStyle/>
          <a:p>
            <a:pPr algn="ctr"/>
            <a:r>
              <a:rPr sz="1050" b="1" i="0">
                <a:solidFill>
                  <a:srgbClr val="12394D"/>
                </a:solidFill>
                <a:latin typeface="Calibri"/>
              </a:rPr>
              <a:t>(39, RR)</a:t>
            </a:r>
          </a:p>
        </p:txBody>
      </p:sp>
      <p:sp>
        <p:nvSpPr>
          <p:cNvPr id="32" name="TextBox 31"/>
          <p:cNvSpPr txBox="1"/>
          <p:nvPr/>
        </p:nvSpPr>
        <p:spPr>
          <a:xfrm>
            <a:off x="2551176" y="4160520"/>
            <a:ext cx="365760" cy="274320"/>
          </a:xfrm>
          <a:prstGeom prst="rect">
            <a:avLst/>
          </a:prstGeom>
          <a:noFill/>
        </p:spPr>
        <p:txBody>
          <a:bodyPr wrap="square" lIns="0" rIns="0" tIns="0" bIns="0" anchor="t">
            <a:spAutoFit/>
          </a:bodyPr>
          <a:lstStyle/>
          <a:p>
            <a:pPr algn="ctr"/>
            <a:r>
              <a:rPr sz="1400" b="1" i="0">
                <a:solidFill>
                  <a:srgbClr val="B03A2E"/>
                </a:solidFill>
                <a:latin typeface="Calibri"/>
              </a:rPr>
              <a:t>?</a:t>
            </a:r>
          </a:p>
        </p:txBody>
      </p:sp>
      <p:sp>
        <p:nvSpPr>
          <p:cNvPr id="33" name="Rounded Rectangle 32"/>
          <p:cNvSpPr/>
          <p:nvPr/>
        </p:nvSpPr>
        <p:spPr>
          <a:xfrm>
            <a:off x="3621024" y="3611880"/>
            <a:ext cx="777240" cy="50292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21024" y="3611880"/>
            <a:ext cx="777240" cy="502920"/>
          </a:xfrm>
          <a:prstGeom prst="rect">
            <a:avLst/>
          </a:prstGeom>
          <a:noFill/>
        </p:spPr>
        <p:txBody>
          <a:bodyPr wrap="square" lIns="0" rIns="0" tIns="0" bIns="0" anchor="ctr">
            <a:spAutoFit/>
          </a:bodyPr>
          <a:lstStyle/>
          <a:p>
            <a:pPr algn="ctr"/>
            <a:r>
              <a:rPr sz="1050" b="1" i="0">
                <a:solidFill>
                  <a:srgbClr val="12394D"/>
                </a:solidFill>
                <a:latin typeface="Calibri"/>
              </a:rPr>
              <a:t>(39, RR)</a:t>
            </a:r>
          </a:p>
        </p:txBody>
      </p:sp>
      <p:sp>
        <p:nvSpPr>
          <p:cNvPr id="35" name="Rounded Rectangle 34"/>
          <p:cNvSpPr/>
          <p:nvPr/>
        </p:nvSpPr>
        <p:spPr>
          <a:xfrm>
            <a:off x="4471416" y="3611880"/>
            <a:ext cx="777240" cy="50292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71416" y="3611880"/>
            <a:ext cx="777240" cy="502920"/>
          </a:xfrm>
          <a:prstGeom prst="rect">
            <a:avLst/>
          </a:prstGeom>
          <a:noFill/>
        </p:spPr>
        <p:txBody>
          <a:bodyPr wrap="square" lIns="0" rIns="0" tIns="0" bIns="0" anchor="ctr">
            <a:spAutoFit/>
          </a:bodyPr>
          <a:lstStyle/>
          <a:p>
            <a:pPr algn="ctr"/>
            <a:r>
              <a:rPr sz="1050" b="1" i="0">
                <a:solidFill>
                  <a:srgbClr val="12394D"/>
                </a:solidFill>
                <a:latin typeface="Calibri"/>
              </a:rPr>
              <a:t>(21, PF)</a:t>
            </a:r>
          </a:p>
        </p:txBody>
      </p:sp>
      <p:sp>
        <p:nvSpPr>
          <p:cNvPr id="37" name="TextBox 36"/>
          <p:cNvSpPr txBox="1"/>
          <p:nvPr/>
        </p:nvSpPr>
        <p:spPr>
          <a:xfrm>
            <a:off x="4251960" y="4160520"/>
            <a:ext cx="365760" cy="274320"/>
          </a:xfrm>
          <a:prstGeom prst="rect">
            <a:avLst/>
          </a:prstGeom>
          <a:noFill/>
        </p:spPr>
        <p:txBody>
          <a:bodyPr wrap="square" lIns="0" rIns="0" tIns="0" bIns="0" anchor="t">
            <a:spAutoFit/>
          </a:bodyPr>
          <a:lstStyle/>
          <a:p>
            <a:pPr algn="ctr"/>
            <a:r>
              <a:rPr sz="1400" b="1" i="0">
                <a:solidFill>
                  <a:srgbClr val="B03A2E"/>
                </a:solidFill>
                <a:latin typeface="Calibri"/>
              </a:rPr>
              <a:t>?</a:t>
            </a:r>
          </a:p>
        </p:txBody>
      </p:sp>
      <p:sp>
        <p:nvSpPr>
          <p:cNvPr id="38" name="Rounded Rectangle 37"/>
          <p:cNvSpPr/>
          <p:nvPr/>
        </p:nvSpPr>
        <p:spPr>
          <a:xfrm>
            <a:off x="5321808" y="3611880"/>
            <a:ext cx="777240" cy="50292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21808" y="3611880"/>
            <a:ext cx="777240" cy="502920"/>
          </a:xfrm>
          <a:prstGeom prst="rect">
            <a:avLst/>
          </a:prstGeom>
          <a:noFill/>
        </p:spPr>
        <p:txBody>
          <a:bodyPr wrap="square" lIns="0" rIns="0" tIns="0" bIns="0" anchor="ctr">
            <a:spAutoFit/>
          </a:bodyPr>
          <a:lstStyle/>
          <a:p>
            <a:pPr algn="ctr"/>
            <a:r>
              <a:rPr sz="1050" b="1" i="0">
                <a:solidFill>
                  <a:srgbClr val="12394D"/>
                </a:solidFill>
                <a:latin typeface="Calibri"/>
              </a:rPr>
              <a:t>(39, RR)</a:t>
            </a:r>
          </a:p>
        </p:txBody>
      </p:sp>
      <p:sp>
        <p:nvSpPr>
          <p:cNvPr id="40" name="TextBox 39"/>
          <p:cNvSpPr txBox="1"/>
          <p:nvPr/>
        </p:nvSpPr>
        <p:spPr>
          <a:xfrm>
            <a:off x="5102352" y="4160520"/>
            <a:ext cx="365760" cy="274320"/>
          </a:xfrm>
          <a:prstGeom prst="rect">
            <a:avLst/>
          </a:prstGeom>
          <a:noFill/>
        </p:spPr>
        <p:txBody>
          <a:bodyPr wrap="square" lIns="0" rIns="0" tIns="0" bIns="0" anchor="t">
            <a:spAutoFit/>
          </a:bodyPr>
          <a:lstStyle/>
          <a:p>
            <a:pPr algn="ctr"/>
            <a:r>
              <a:rPr sz="1400" b="1" i="0">
                <a:solidFill>
                  <a:srgbClr val="B03A2E"/>
                </a:solidFill>
                <a:latin typeface="Calibri"/>
              </a:rPr>
              <a:t>?</a:t>
            </a:r>
          </a:p>
        </p:txBody>
      </p:sp>
      <p:sp>
        <p:nvSpPr>
          <p:cNvPr id="41" name="TextBox 40"/>
          <p:cNvSpPr txBox="1"/>
          <p:nvPr/>
        </p:nvSpPr>
        <p:spPr>
          <a:xfrm>
            <a:off x="640080" y="4617720"/>
            <a:ext cx="5486400" cy="777240"/>
          </a:xfrm>
          <a:prstGeom prst="rect">
            <a:avLst/>
          </a:prstGeom>
          <a:noFill/>
        </p:spPr>
        <p:txBody>
          <a:bodyPr wrap="square" lIns="0" rIns="0" tIns="0" bIns="0" anchor="t">
            <a:spAutoFit/>
          </a:bodyPr>
          <a:lstStyle/>
          <a:p>
            <a:pPr algn="l"/>
            <a:r>
              <a:rPr sz="1200" b="1" i="0">
                <a:solidFill>
                  <a:srgbClr val="B03A2E"/>
                </a:solidFill>
                <a:latin typeface="Calibri"/>
              </a:rPr>
              <a:t>?</a:t>
            </a:r>
            <a:r>
              <a:rPr sz="1200" b="0" i="0">
                <a:solidFill>
                  <a:srgbClr val="2A3F4C"/>
                </a:solidFill>
                <a:latin typeface="Calibri"/>
              </a:rPr>
              <a:t>  A switch between configurations: never observed in 1,116 reservations, so its transition and its value are extrapolated.</a:t>
            </a:r>
          </a:p>
        </p:txBody>
      </p:sp>
      <p:sp>
        <p:nvSpPr>
          <p:cNvPr id="42" name="Rounded Rectangle 41"/>
          <p:cNvSpPr/>
          <p:nvPr/>
        </p:nvSpPr>
        <p:spPr>
          <a:xfrm>
            <a:off x="6400800" y="1600200"/>
            <a:ext cx="5120640" cy="379476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29400" y="1737360"/>
            <a:ext cx="4663440" cy="274320"/>
          </a:xfrm>
          <a:prstGeom prst="rect">
            <a:avLst/>
          </a:prstGeom>
          <a:noFill/>
        </p:spPr>
        <p:txBody>
          <a:bodyPr wrap="square" lIns="0" rIns="0" tIns="0" bIns="0" anchor="t">
            <a:spAutoFit/>
          </a:bodyPr>
          <a:lstStyle/>
          <a:p>
            <a:pPr algn="l"/>
            <a:r>
              <a:rPr sz="1200" b="1" i="0" spc="100">
                <a:solidFill>
                  <a:srgbClr val="1A8A99"/>
                </a:solidFill>
                <a:latin typeface="Calibri"/>
              </a:rPr>
              <a:t>THE TRACES SUPPORT</a:t>
            </a:r>
          </a:p>
        </p:txBody>
      </p:sp>
      <p:sp>
        <p:nvSpPr>
          <p:cNvPr id="44" name="TextBox 43"/>
          <p:cNvSpPr txBox="1"/>
          <p:nvPr/>
        </p:nvSpPr>
        <p:spPr>
          <a:xfrm>
            <a:off x="6629400" y="2057400"/>
            <a:ext cx="4709160" cy="1188720"/>
          </a:xfrm>
          <a:prstGeom prst="rect">
            <a:avLst/>
          </a:prstGeom>
          <a:noFill/>
        </p:spPr>
        <p:txBody>
          <a:bodyPr wrap="square" lIns="0" rIns="0" tIns="0" bIns="0" anchor="t">
            <a:spAutoFit/>
          </a:bodyPr>
          <a:lstStyle/>
          <a:p>
            <a:pPr algn="l">
              <a:spcAft>
                <a:spcPts val="400"/>
              </a:spcAft>
            </a:pPr>
            <a:r>
              <a:rPr sz="1200" b="1" i="0">
                <a:solidFill>
                  <a:srgbClr val="1A8A99"/>
                </a:solidFill>
                <a:latin typeface="Calibri"/>
              </a:rPr>
              <a:t>–  </a:t>
            </a:r>
            <a:r>
              <a:rPr sz="1200" b="0" i="0">
                <a:solidFill>
                  <a:srgbClr val="2A3F4C"/>
                </a:solidFill>
                <a:latin typeface="Calibri"/>
              </a:rPr>
              <a:t>Association between (configuration, load) and KPIs</a:t>
            </a:r>
          </a:p>
          <a:p>
            <a:pPr algn="l">
              <a:spcAft>
                <a:spcPts val="400"/>
              </a:spcAft>
            </a:pPr>
            <a:r>
              <a:rPr sz="1200" b="1" i="0">
                <a:solidFill>
                  <a:srgbClr val="1A8A99"/>
                </a:solidFill>
                <a:latin typeface="Calibri"/>
              </a:rPr>
              <a:t>–  </a:t>
            </a:r>
            <a:r>
              <a:rPr sz="1200" b="0" i="0">
                <a:solidFill>
                  <a:srgbClr val="2A3F4C"/>
                </a:solidFill>
                <a:latin typeface="Calibri"/>
              </a:rPr>
              <a:t>Scheduler dominance of the latency tail within logged configurations</a:t>
            </a:r>
          </a:p>
          <a:p>
            <a:pPr algn="l">
              <a:spcAft>
                <a:spcPts val="400"/>
              </a:spcAft>
            </a:pPr>
            <a:r>
              <a:rPr sz="1200" b="1" i="0">
                <a:solidFill>
                  <a:srgbClr val="1A8A99"/>
                </a:solidFill>
                <a:latin typeface="Calibri"/>
              </a:rPr>
              <a:t>–  </a:t>
            </a:r>
            <a:r>
              <a:rPr sz="1200" b="0" i="0">
                <a:solidFill>
                  <a:srgbClr val="2A3F4C"/>
                </a:solidFill>
                <a:latin typeface="Calibri"/>
              </a:rPr>
              <a:t>One-step policy value on the logged support</a:t>
            </a:r>
          </a:p>
        </p:txBody>
      </p:sp>
      <p:sp>
        <p:nvSpPr>
          <p:cNvPr id="45" name="TextBox 44"/>
          <p:cNvSpPr txBox="1"/>
          <p:nvPr/>
        </p:nvSpPr>
        <p:spPr>
          <a:xfrm>
            <a:off x="6629400" y="3246120"/>
            <a:ext cx="4663440" cy="274320"/>
          </a:xfrm>
          <a:prstGeom prst="rect">
            <a:avLst/>
          </a:prstGeom>
          <a:noFill/>
        </p:spPr>
        <p:txBody>
          <a:bodyPr wrap="square" lIns="0" rIns="0" tIns="0" bIns="0" anchor="t">
            <a:spAutoFit/>
          </a:bodyPr>
          <a:lstStyle/>
          <a:p>
            <a:pPr algn="l"/>
            <a:r>
              <a:rPr sz="1200" b="1" i="0" spc="100">
                <a:solidFill>
                  <a:srgbClr val="B03A2E"/>
                </a:solidFill>
                <a:latin typeface="Calibri"/>
              </a:rPr>
              <a:t>THEY CANNOT SUPPORT</a:t>
            </a:r>
          </a:p>
        </p:txBody>
      </p:sp>
      <p:sp>
        <p:nvSpPr>
          <p:cNvPr id="46" name="TextBox 45"/>
          <p:cNvSpPr txBox="1"/>
          <p:nvPr/>
        </p:nvSpPr>
        <p:spPr>
          <a:xfrm>
            <a:off x="6629400" y="3566160"/>
            <a:ext cx="4709160" cy="1097280"/>
          </a:xfrm>
          <a:prstGeom prst="rect">
            <a:avLst/>
          </a:prstGeom>
          <a:noFill/>
        </p:spPr>
        <p:txBody>
          <a:bodyPr wrap="square" lIns="0" rIns="0" tIns="0" bIns="0" anchor="t">
            <a:spAutoFit/>
          </a:bodyPr>
          <a:lstStyle/>
          <a:p>
            <a:pPr algn="l">
              <a:spcAft>
                <a:spcPts val="400"/>
              </a:spcAft>
            </a:pPr>
            <a:r>
              <a:rPr sz="1200" b="1" i="0">
                <a:solidFill>
                  <a:srgbClr val="B03A2E"/>
                </a:solidFill>
                <a:latin typeface="Calibri"/>
              </a:rPr>
              <a:t>–  </a:t>
            </a:r>
            <a:r>
              <a:rPr sz="1200" b="0" i="0">
                <a:solidFill>
                  <a:srgbClr val="2A3F4C"/>
                </a:solidFill>
                <a:latin typeface="Calibri"/>
              </a:rPr>
              <a:t>Transitions after a switch, hence multi-step value</a:t>
            </a:r>
          </a:p>
          <a:p>
            <a:pPr algn="l">
              <a:spcAft>
                <a:spcPts val="400"/>
              </a:spcAft>
            </a:pPr>
            <a:r>
              <a:rPr sz="1200" b="1" i="0">
                <a:solidFill>
                  <a:srgbClr val="B03A2E"/>
                </a:solidFill>
                <a:latin typeface="Calibri"/>
              </a:rPr>
              <a:t>–  </a:t>
            </a:r>
            <a:r>
              <a:rPr sz="1200" b="0" i="0">
                <a:solidFill>
                  <a:srgbClr val="2A3F4C"/>
                </a:solidFill>
                <a:latin typeface="Calibri"/>
              </a:rPr>
              <a:t>OPE of switching policies (matching covers ≈ 40 %)</a:t>
            </a:r>
          </a:p>
          <a:p>
            <a:pPr algn="l">
              <a:spcAft>
                <a:spcPts val="400"/>
              </a:spcAft>
            </a:pPr>
            <a:r>
              <a:rPr sz="1200" b="1" i="0">
                <a:solidFill>
                  <a:srgbClr val="B03A2E"/>
                </a:solidFill>
                <a:latin typeface="Calibri"/>
              </a:rPr>
              <a:t>–  </a:t>
            </a:r>
            <a:r>
              <a:rPr sz="1200" b="0" i="0">
                <a:solidFill>
                  <a:srgbClr val="2A3F4C"/>
                </a:solidFill>
                <a:latin typeface="Calibri"/>
              </a:rPr>
              <a:t>Causal claims under configuration–load confounding</a:t>
            </a:r>
          </a:p>
        </p:txBody>
      </p:sp>
      <p:sp>
        <p:nvSpPr>
          <p:cNvPr id="47" name="TextBox 46"/>
          <p:cNvSpPr txBox="1"/>
          <p:nvPr/>
        </p:nvSpPr>
        <p:spPr>
          <a:xfrm>
            <a:off x="6629400" y="4663440"/>
            <a:ext cx="4709160" cy="685800"/>
          </a:xfrm>
          <a:prstGeom prst="rect">
            <a:avLst/>
          </a:prstGeom>
          <a:noFill/>
        </p:spPr>
        <p:txBody>
          <a:bodyPr wrap="square" lIns="0" rIns="0" tIns="0" bIns="0" anchor="t">
            <a:spAutoFit/>
          </a:bodyPr>
          <a:lstStyle/>
          <a:p>
            <a:pPr algn="l"/>
            <a:r>
              <a:rPr sz="1150" b="0" i="0">
                <a:solidFill>
                  <a:srgbClr val="5F7A8A"/>
                </a:solidFill>
                <a:latin typeface="Cambria"/>
              </a:rPr>
              <a:t>“A static set of KPMs is not enough to reconstruct a sequential decision problem.” (Lu §X-C, p. 48)</a:t>
            </a:r>
          </a:p>
        </p:txBody>
      </p:sp>
      <p:sp>
        <p:nvSpPr>
          <p:cNvPr id="48" name="Rounded Rectangle 47"/>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Use these traces for one-step analysis and calibration; train sequential policies on data with logged switches.</a:t>
            </a:r>
          </a:p>
        </p:txBody>
      </p:sp>
      <p:sp>
        <p:nvSpPr>
          <p:cNvPr id="50" name="TextBox 49"/>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51"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19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E · A missing baseline</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A static configuration may already meet the budget</a:t>
            </a:r>
          </a:p>
        </p:txBody>
      </p:sp>
      <p:graphicFrame>
        <p:nvGraphicFramePr>
          <p:cNvPr id="4" name="Table 3"/>
          <p:cNvGraphicFramePr>
            <a:graphicFrameLocks noGrp="1"/>
          </p:cNvGraphicFramePr>
          <p:nvPr/>
        </p:nvGraphicFramePr>
        <p:xfrm>
          <a:off x="640080" y="1600200"/>
          <a:ext cx="4937760" cy="3291840"/>
        </p:xfrm>
        <a:graphic>
          <a:graphicData uri="http://schemas.openxmlformats.org/drawingml/2006/table">
            <a:tbl>
              <a:tblPr firstRow="1">
                <a:tableStyleId>{5C22544A-7EE6-4342-B048-85BDC9FD1C3A}</a:tableStyleId>
              </a:tblPr>
              <a:tblGrid>
                <a:gridCol w="1280160"/>
                <a:gridCol w="914400"/>
                <a:gridCol w="914400"/>
                <a:gridCol w="914400"/>
                <a:gridCol w="914400"/>
              </a:tblGrid>
              <a:tr h="365760">
                <a:tc>
                  <a:txBody>
                    <a:bodyPr wrap="square"/>
                    <a:lstStyle/>
                    <a:p>
                      <a:r>
                        <a:rPr sz="1200" b="1" i="0">
                          <a:solidFill>
                            <a:srgbClr val="FFFFFF"/>
                          </a:solidFill>
                          <a:latin typeface="Calibri"/>
                        </a:rPr>
                        <a:t>Action</a:t>
                      </a:r>
                    </a:p>
                  </a:txBody>
                  <a:tcPr marL="73152" marR="73152" marT="36576" marB="36576" anchor="ctr">
                    <a:solidFill>
                      <a:srgbClr val="12394D"/>
                    </a:solidFill>
                  </a:tcPr>
                </a:tc>
                <a:tc>
                  <a:txBody>
                    <a:bodyPr wrap="square"/>
                    <a:lstStyle/>
                    <a:p>
                      <a:r>
                        <a:rPr sz="1200" b="1" i="0">
                          <a:solidFill>
                            <a:srgbClr val="FFFFFF"/>
                          </a:solidFill>
                          <a:latin typeface="Calibri"/>
                        </a:rPr>
                        <a:t>low</a:t>
                      </a:r>
                    </a:p>
                  </a:txBody>
                  <a:tcPr marL="73152" marR="73152" marT="36576" marB="36576" anchor="ctr">
                    <a:solidFill>
                      <a:srgbClr val="12394D"/>
                    </a:solidFill>
                  </a:tcPr>
                </a:tc>
                <a:tc>
                  <a:txBody>
                    <a:bodyPr wrap="square"/>
                    <a:lstStyle/>
                    <a:p>
                      <a:r>
                        <a:rPr sz="1200" b="1" i="0">
                          <a:solidFill>
                            <a:srgbClr val="FFFFFF"/>
                          </a:solidFill>
                          <a:latin typeface="Calibri"/>
                        </a:rPr>
                        <a:t>med−</a:t>
                      </a:r>
                    </a:p>
                  </a:txBody>
                  <a:tcPr marL="73152" marR="73152" marT="36576" marB="36576" anchor="ctr">
                    <a:solidFill>
                      <a:srgbClr val="12394D"/>
                    </a:solidFill>
                  </a:tcPr>
                </a:tc>
                <a:tc>
                  <a:txBody>
                    <a:bodyPr wrap="square"/>
                    <a:lstStyle/>
                    <a:p>
                      <a:r>
                        <a:rPr sz="1200" b="1" i="0">
                          <a:solidFill>
                            <a:srgbClr val="FFFFFF"/>
                          </a:solidFill>
                          <a:latin typeface="Calibri"/>
                        </a:rPr>
                        <a:t>med+</a:t>
                      </a:r>
                    </a:p>
                  </a:txBody>
                  <a:tcPr marL="73152" marR="73152" marT="36576" marB="36576" anchor="ctr">
                    <a:solidFill>
                      <a:srgbClr val="12394D"/>
                    </a:solidFill>
                  </a:tcPr>
                </a:tc>
                <a:tc>
                  <a:txBody>
                    <a:bodyPr wrap="square"/>
                    <a:lstStyle/>
                    <a:p>
                      <a:r>
                        <a:rPr sz="1200" b="1" i="0">
                          <a:solidFill>
                            <a:srgbClr val="FFFFFF"/>
                          </a:solidFill>
                          <a:latin typeface="Calibri"/>
                        </a:rPr>
                        <a:t>high</a:t>
                      </a:r>
                    </a:p>
                  </a:txBody>
                  <a:tcPr marL="73152" marR="73152" marT="36576" marB="36576" anchor="ctr">
                    <a:solidFill>
                      <a:srgbClr val="12394D"/>
                    </a:solidFill>
                  </a:tcPr>
                </a:tc>
              </a:tr>
              <a:tr h="365760">
                <a:tc>
                  <a:txBody>
                    <a:bodyPr wrap="square"/>
                    <a:lstStyle/>
                    <a:p>
                      <a:r>
                        <a:rPr sz="1200" b="1" i="0">
                          <a:solidFill>
                            <a:srgbClr val="12394D"/>
                          </a:solidFill>
                          <a:latin typeface="Calibri"/>
                        </a:rPr>
                        <a:t>(9, RR)</a:t>
                      </a:r>
                    </a:p>
                  </a:txBody>
                  <a:tcPr marL="73152" marR="73152" marT="36576" marB="36576" anchor="ctr">
                    <a:solidFill>
                      <a:srgbClr val="FFFFFF"/>
                    </a:solidFill>
                  </a:tcPr>
                </a:tc>
                <a:tc>
                  <a:txBody>
                    <a:bodyPr wrap="square"/>
                    <a:lstStyle/>
                    <a:p>
                      <a:r>
                        <a:rPr sz="1200" b="0" i="0">
                          <a:solidFill>
                            <a:srgbClr val="2A3F4C"/>
                          </a:solidFill>
                          <a:latin typeface="Calibri"/>
                        </a:rPr>
                        <a:t>0.00</a:t>
                      </a:r>
                    </a:p>
                  </a:txBody>
                  <a:tcPr marL="73152" marR="73152" marT="36576" marB="36576" anchor="ctr">
                    <a:solidFill>
                      <a:srgbClr val="D4EDDA"/>
                    </a:solidFill>
                  </a:tcPr>
                </a:tc>
                <a:tc>
                  <a:txBody>
                    <a:bodyPr wrap="square"/>
                    <a:lstStyle/>
                    <a:p>
                      <a:r>
                        <a:rPr sz="1200" b="0" i="0">
                          <a:solidFill>
                            <a:srgbClr val="2A3F4C"/>
                          </a:solidFill>
                          <a:latin typeface="Calibri"/>
                        </a:rPr>
                        <a:t>0.00</a:t>
                      </a:r>
                    </a:p>
                  </a:txBody>
                  <a:tcPr marL="73152" marR="73152" marT="36576" marB="36576" anchor="ctr">
                    <a:solidFill>
                      <a:srgbClr val="D4EDDA"/>
                    </a:solidFill>
                  </a:tcPr>
                </a:tc>
                <a:tc>
                  <a:txBody>
                    <a:bodyPr wrap="square"/>
                    <a:lstStyle/>
                    <a:p>
                      <a:r>
                        <a:rPr sz="1200" b="0" i="0">
                          <a:solidFill>
                            <a:srgbClr val="2A3F4C"/>
                          </a:solidFill>
                          <a:latin typeface="Calibri"/>
                        </a:rPr>
                        <a:t>0.03</a:t>
                      </a:r>
                    </a:p>
                  </a:txBody>
                  <a:tcPr marL="73152" marR="73152" marT="36576" marB="36576" anchor="ctr">
                    <a:solidFill>
                      <a:srgbClr val="D4EDDA"/>
                    </a:solidFill>
                  </a:tcPr>
                </a:tc>
                <a:tc>
                  <a:txBody>
                    <a:bodyPr wrap="square"/>
                    <a:lstStyle/>
                    <a:p>
                      <a:r>
                        <a:rPr sz="1200" b="0" i="0">
                          <a:solidFill>
                            <a:srgbClr val="2A3F4C"/>
                          </a:solidFill>
                          <a:latin typeface="Calibri"/>
                        </a:rPr>
                        <a:t>0.02</a:t>
                      </a:r>
                    </a:p>
                  </a:txBody>
                  <a:tcPr marL="73152" marR="73152" marT="36576" marB="36576" anchor="ctr">
                    <a:solidFill>
                      <a:srgbClr val="D4EDDA"/>
                    </a:solidFill>
                  </a:tcPr>
                </a:tc>
              </a:tr>
              <a:tr h="365760">
                <a:tc>
                  <a:txBody>
                    <a:bodyPr wrap="square"/>
                    <a:lstStyle/>
                    <a:p>
                      <a:r>
                        <a:rPr sz="1200" b="1" i="0">
                          <a:solidFill>
                            <a:srgbClr val="12394D"/>
                          </a:solidFill>
                          <a:latin typeface="Calibri"/>
                        </a:rPr>
                        <a:t>(9, PF)</a:t>
                      </a:r>
                    </a:p>
                  </a:txBody>
                  <a:tcPr marL="73152" marR="73152" marT="36576" marB="36576" anchor="ctr">
                    <a:solidFill>
                      <a:srgbClr val="FFFFFF"/>
                    </a:solidFill>
                  </a:tcPr>
                </a:tc>
                <a:tc>
                  <a:txBody>
                    <a:bodyPr wrap="square"/>
                    <a:lstStyle/>
                    <a:p>
                      <a:r>
                        <a:rPr sz="1200" b="0" i="0">
                          <a:solidFill>
                            <a:srgbClr val="2A3F4C"/>
                          </a:solidFill>
                          <a:latin typeface="Calibri"/>
                        </a:rPr>
                        <a:t>0.02</a:t>
                      </a:r>
                    </a:p>
                  </a:txBody>
                  <a:tcPr marL="73152" marR="73152" marT="36576" marB="36576" anchor="ctr">
                    <a:solidFill>
                      <a:srgbClr val="D4EDDA"/>
                    </a:solidFill>
                  </a:tcPr>
                </a:tc>
                <a:tc>
                  <a:txBody>
                    <a:bodyPr wrap="square"/>
                    <a:lstStyle/>
                    <a:p>
                      <a:r>
                        <a:rPr sz="1200" b="0" i="0">
                          <a:solidFill>
                            <a:srgbClr val="2A3F4C"/>
                          </a:solidFill>
                          <a:latin typeface="Calibri"/>
                        </a:rPr>
                        <a:t>0.02</a:t>
                      </a:r>
                    </a:p>
                  </a:txBody>
                  <a:tcPr marL="73152" marR="73152" marT="36576" marB="36576" anchor="ctr">
                    <a:solidFill>
                      <a:srgbClr val="D4EDDA"/>
                    </a:solidFill>
                  </a:tcPr>
                </a:tc>
                <a:tc>
                  <a:txBody>
                    <a:bodyPr wrap="square"/>
                    <a:lstStyle/>
                    <a:p>
                      <a:r>
                        <a:rPr sz="1200" b="0" i="0">
                          <a:solidFill>
                            <a:srgbClr val="2A3F4C"/>
                          </a:solidFill>
                          <a:latin typeface="Calibri"/>
                        </a:rPr>
                        <a:t>0.27</a:t>
                      </a:r>
                    </a:p>
                  </a:txBody>
                  <a:tcPr marL="73152" marR="73152" marT="36576" marB="36576" anchor="ctr">
                    <a:solidFill>
                      <a:srgbClr val="F8D7DA"/>
                    </a:solidFill>
                  </a:tcPr>
                </a:tc>
                <a:tc>
                  <a:txBody>
                    <a:bodyPr wrap="square"/>
                    <a:lstStyle/>
                    <a:p>
                      <a:r>
                        <a:rPr sz="1200" b="0" i="0">
                          <a:solidFill>
                            <a:srgbClr val="2A3F4C"/>
                          </a:solidFill>
                          <a:latin typeface="Calibri"/>
                        </a:rPr>
                        <a:t>0.18</a:t>
                      </a:r>
                    </a:p>
                  </a:txBody>
                  <a:tcPr marL="73152" marR="73152" marT="36576" marB="36576" anchor="ctr">
                    <a:solidFill>
                      <a:srgbClr val="F8D7DA"/>
                    </a:solidFill>
                  </a:tcPr>
                </a:tc>
              </a:tr>
              <a:tr h="365760">
                <a:tc>
                  <a:txBody>
                    <a:bodyPr wrap="square"/>
                    <a:lstStyle/>
                    <a:p>
                      <a:r>
                        <a:rPr sz="1200" b="1" i="0">
                          <a:solidFill>
                            <a:srgbClr val="12394D"/>
                          </a:solidFill>
                          <a:latin typeface="Calibri"/>
                        </a:rPr>
                        <a:t>(21, RR)</a:t>
                      </a:r>
                    </a:p>
                  </a:txBody>
                  <a:tcPr marL="73152" marR="73152" marT="36576" marB="36576" anchor="ctr">
                    <a:solidFill>
                      <a:srgbClr val="FFFFFF"/>
                    </a:solidFill>
                  </a:tcPr>
                </a:tc>
                <a:tc>
                  <a:txBody>
                    <a:bodyPr wrap="square"/>
                    <a:lstStyle/>
                    <a:p>
                      <a:r>
                        <a:rPr sz="1200" b="0" i="0">
                          <a:solidFill>
                            <a:srgbClr val="2A3F4C"/>
                          </a:solidFill>
                          <a:latin typeface="Calibri"/>
                        </a:rPr>
                        <a:t>0.00</a:t>
                      </a:r>
                    </a:p>
                  </a:txBody>
                  <a:tcPr marL="73152" marR="73152" marT="36576" marB="36576" anchor="ctr">
                    <a:solidFill>
                      <a:srgbClr val="D4EDDA"/>
                    </a:solidFill>
                  </a:tcPr>
                </a:tc>
                <a:tc>
                  <a:txBody>
                    <a:bodyPr wrap="square"/>
                    <a:lstStyle/>
                    <a:p>
                      <a:r>
                        <a:rPr sz="1200" b="0" i="0">
                          <a:solidFill>
                            <a:srgbClr val="2A3F4C"/>
                          </a:solidFill>
                          <a:latin typeface="Calibri"/>
                        </a:rPr>
                        <a:t>0.00</a:t>
                      </a:r>
                    </a:p>
                  </a:txBody>
                  <a:tcPr marL="73152" marR="73152" marT="36576" marB="36576" anchor="ctr">
                    <a:solidFill>
                      <a:srgbClr val="D4EDDA"/>
                    </a:solidFill>
                  </a:tcPr>
                </a:tc>
                <a:tc>
                  <a:txBody>
                    <a:bodyPr wrap="square"/>
                    <a:lstStyle/>
                    <a:p>
                      <a:r>
                        <a:rPr sz="1200" b="0" i="0">
                          <a:solidFill>
                            <a:srgbClr val="2A3F4C"/>
                          </a:solidFill>
                          <a:latin typeface="Calibri"/>
                        </a:rPr>
                        <a:t>0.03</a:t>
                      </a:r>
                    </a:p>
                  </a:txBody>
                  <a:tcPr marL="73152" marR="73152" marT="36576" marB="36576" anchor="ctr">
                    <a:solidFill>
                      <a:srgbClr val="D4EDDA"/>
                    </a:solidFill>
                  </a:tcPr>
                </a:tc>
                <a:tc>
                  <a:txBody>
                    <a:bodyPr wrap="square"/>
                    <a:lstStyle/>
                    <a:p>
                      <a:r>
                        <a:rPr sz="1200" b="0" i="0">
                          <a:solidFill>
                            <a:srgbClr val="2A3F4C"/>
                          </a:solidFill>
                          <a:latin typeface="Calibri"/>
                        </a:rPr>
                        <a:t>0.03</a:t>
                      </a:r>
                    </a:p>
                  </a:txBody>
                  <a:tcPr marL="73152" marR="73152" marT="36576" marB="36576" anchor="ctr">
                    <a:solidFill>
                      <a:srgbClr val="D4EDDA"/>
                    </a:solidFill>
                  </a:tcPr>
                </a:tc>
              </a:tr>
              <a:tr h="365760">
                <a:tc>
                  <a:txBody>
                    <a:bodyPr wrap="square"/>
                    <a:lstStyle/>
                    <a:p>
                      <a:r>
                        <a:rPr sz="1200" b="1" i="0">
                          <a:solidFill>
                            <a:srgbClr val="12394D"/>
                          </a:solidFill>
                          <a:latin typeface="Calibri"/>
                        </a:rPr>
                        <a:t>(21, PF)</a:t>
                      </a:r>
                    </a:p>
                  </a:txBody>
                  <a:tcPr marL="73152" marR="73152" marT="36576" marB="36576" anchor="ctr">
                    <a:solidFill>
                      <a:srgbClr val="FFFFFF"/>
                    </a:solidFill>
                  </a:tcPr>
                </a:tc>
                <a:tc>
                  <a:txBody>
                    <a:bodyPr wrap="square"/>
                    <a:lstStyle/>
                    <a:p>
                      <a:r>
                        <a:rPr sz="1200" b="0" i="0">
                          <a:solidFill>
                            <a:srgbClr val="2A3F4C"/>
                          </a:solidFill>
                          <a:latin typeface="Calibri"/>
                        </a:rPr>
                        <a:t>0.05</a:t>
                      </a:r>
                    </a:p>
                  </a:txBody>
                  <a:tcPr marL="73152" marR="73152" marT="36576" marB="36576" anchor="ctr">
                    <a:solidFill>
                      <a:srgbClr val="FFF3CD"/>
                    </a:solidFill>
                  </a:tcPr>
                </a:tc>
                <a:tc>
                  <a:txBody>
                    <a:bodyPr wrap="square"/>
                    <a:lstStyle/>
                    <a:p>
                      <a:r>
                        <a:rPr sz="1200" b="0" i="0">
                          <a:solidFill>
                            <a:srgbClr val="2A3F4C"/>
                          </a:solidFill>
                          <a:latin typeface="Calibri"/>
                        </a:rPr>
                        <a:t>0.04</a:t>
                      </a:r>
                    </a:p>
                  </a:txBody>
                  <a:tcPr marL="73152" marR="73152" marT="36576" marB="36576" anchor="ctr">
                    <a:solidFill>
                      <a:srgbClr val="FFF3CD"/>
                    </a:solidFill>
                  </a:tcPr>
                </a:tc>
                <a:tc>
                  <a:txBody>
                    <a:bodyPr wrap="square"/>
                    <a:lstStyle/>
                    <a:p>
                      <a:r>
                        <a:rPr sz="1200" b="0" i="0">
                          <a:solidFill>
                            <a:srgbClr val="2A3F4C"/>
                          </a:solidFill>
                          <a:latin typeface="Calibri"/>
                        </a:rPr>
                        <a:t>0.19</a:t>
                      </a:r>
                    </a:p>
                  </a:txBody>
                  <a:tcPr marL="73152" marR="73152" marT="36576" marB="36576" anchor="ctr">
                    <a:solidFill>
                      <a:srgbClr val="F8D7DA"/>
                    </a:solidFill>
                  </a:tcPr>
                </a:tc>
                <a:tc>
                  <a:txBody>
                    <a:bodyPr wrap="square"/>
                    <a:lstStyle/>
                    <a:p>
                      <a:r>
                        <a:rPr sz="1200" b="0" i="0">
                          <a:solidFill>
                            <a:srgbClr val="2A3F4C"/>
                          </a:solidFill>
                          <a:latin typeface="Calibri"/>
                        </a:rPr>
                        <a:t>0.11</a:t>
                      </a:r>
                    </a:p>
                  </a:txBody>
                  <a:tcPr marL="73152" marR="73152" marT="36576" marB="36576" anchor="ctr">
                    <a:solidFill>
                      <a:srgbClr val="F8D7DA"/>
                    </a:solidFill>
                  </a:tcPr>
                </a:tc>
              </a:tr>
              <a:tr h="365760">
                <a:tc>
                  <a:txBody>
                    <a:bodyPr wrap="square"/>
                    <a:lstStyle/>
                    <a:p>
                      <a:r>
                        <a:rPr sz="1200" b="1" i="0">
                          <a:solidFill>
                            <a:srgbClr val="12394D"/>
                          </a:solidFill>
                          <a:latin typeface="Calibri"/>
                        </a:rPr>
                        <a:t>(30, RR)</a:t>
                      </a:r>
                    </a:p>
                  </a:txBody>
                  <a:tcPr marL="73152" marR="73152" marT="36576" marB="36576" anchor="ctr">
                    <a:solidFill>
                      <a:srgbClr val="FFFFFF"/>
                    </a:solidFill>
                  </a:tcPr>
                </a:tc>
                <a:tc>
                  <a:txBody>
                    <a:bodyPr wrap="square"/>
                    <a:lstStyle/>
                    <a:p>
                      <a:r>
                        <a:rPr sz="1200" b="0" i="0">
                          <a:solidFill>
                            <a:srgbClr val="2A3F4C"/>
                          </a:solidFill>
                          <a:latin typeface="Calibri"/>
                        </a:rPr>
                        <a:t>0.18</a:t>
                      </a:r>
                    </a:p>
                  </a:txBody>
                  <a:tcPr marL="73152" marR="73152" marT="36576" marB="36576" anchor="ctr">
                    <a:solidFill>
                      <a:srgbClr val="F8D7DA"/>
                    </a:solidFill>
                  </a:tcPr>
                </a:tc>
                <a:tc>
                  <a:txBody>
                    <a:bodyPr wrap="square"/>
                    <a:lstStyle/>
                    <a:p>
                      <a:r>
                        <a:rPr sz="1200" b="0" i="0">
                          <a:solidFill>
                            <a:srgbClr val="2A3F4C"/>
                          </a:solidFill>
                          <a:latin typeface="Calibri"/>
                        </a:rPr>
                        <a:t>0.00</a:t>
                      </a:r>
                    </a:p>
                  </a:txBody>
                  <a:tcPr marL="73152" marR="73152" marT="36576" marB="36576" anchor="ctr">
                    <a:solidFill>
                      <a:srgbClr val="D4EDDA"/>
                    </a:solidFill>
                  </a:tcPr>
                </a:tc>
                <a:tc>
                  <a:txBody>
                    <a:bodyPr wrap="square"/>
                    <a:lstStyle/>
                    <a:p>
                      <a:r>
                        <a:rPr sz="1200" b="0" i="0">
                          <a:solidFill>
                            <a:srgbClr val="2A3F4C"/>
                          </a:solidFill>
                          <a:latin typeface="Calibri"/>
                        </a:rPr>
                        <a:t>0.04</a:t>
                      </a:r>
                    </a:p>
                  </a:txBody>
                  <a:tcPr marL="73152" marR="73152" marT="36576" marB="36576" anchor="ctr">
                    <a:solidFill>
                      <a:srgbClr val="FFF3CD"/>
                    </a:solidFill>
                  </a:tcPr>
                </a:tc>
                <a:tc>
                  <a:txBody>
                    <a:bodyPr wrap="square"/>
                    <a:lstStyle/>
                    <a:p>
                      <a:r>
                        <a:rPr sz="1200" b="0" i="0">
                          <a:solidFill>
                            <a:srgbClr val="2A3F4C"/>
                          </a:solidFill>
                          <a:latin typeface="Calibri"/>
                        </a:rPr>
                        <a:t>0.03</a:t>
                      </a:r>
                    </a:p>
                  </a:txBody>
                  <a:tcPr marL="73152" marR="73152" marT="36576" marB="36576" anchor="ctr">
                    <a:solidFill>
                      <a:srgbClr val="D4EDDA"/>
                    </a:solidFill>
                  </a:tcPr>
                </a:tc>
              </a:tr>
              <a:tr h="365760">
                <a:tc>
                  <a:txBody>
                    <a:bodyPr wrap="square"/>
                    <a:lstStyle/>
                    <a:p>
                      <a:r>
                        <a:rPr sz="1200" b="1" i="0">
                          <a:solidFill>
                            <a:srgbClr val="12394D"/>
                          </a:solidFill>
                          <a:latin typeface="Calibri"/>
                        </a:rPr>
                        <a:t>(30, PF)</a:t>
                      </a:r>
                    </a:p>
                  </a:txBody>
                  <a:tcPr marL="73152" marR="73152" marT="36576" marB="36576" anchor="ctr">
                    <a:solidFill>
                      <a:srgbClr val="FFFFFF"/>
                    </a:solidFill>
                  </a:tcPr>
                </a:tc>
                <a:tc>
                  <a:txBody>
                    <a:bodyPr wrap="square"/>
                    <a:lstStyle/>
                    <a:p>
                      <a:r>
                        <a:rPr sz="1200" b="0" i="0">
                          <a:solidFill>
                            <a:srgbClr val="2A3F4C"/>
                          </a:solidFill>
                          <a:latin typeface="Calibri"/>
                        </a:rPr>
                        <a:t>0.03</a:t>
                      </a:r>
                    </a:p>
                  </a:txBody>
                  <a:tcPr marL="73152" marR="73152" marT="36576" marB="36576" anchor="ctr">
                    <a:solidFill>
                      <a:srgbClr val="D4EDDA"/>
                    </a:solidFill>
                  </a:tcPr>
                </a:tc>
                <a:tc>
                  <a:txBody>
                    <a:bodyPr wrap="square"/>
                    <a:lstStyle/>
                    <a:p>
                      <a:r>
                        <a:rPr sz="1200" b="0" i="0">
                          <a:solidFill>
                            <a:srgbClr val="2A3F4C"/>
                          </a:solidFill>
                          <a:latin typeface="Calibri"/>
                        </a:rPr>
                        <a:t>0.04</a:t>
                      </a:r>
                    </a:p>
                  </a:txBody>
                  <a:tcPr marL="73152" marR="73152" marT="36576" marB="36576" anchor="ctr">
                    <a:solidFill>
                      <a:srgbClr val="FFF3CD"/>
                    </a:solidFill>
                  </a:tcPr>
                </a:tc>
                <a:tc>
                  <a:txBody>
                    <a:bodyPr wrap="square"/>
                    <a:lstStyle/>
                    <a:p>
                      <a:r>
                        <a:rPr sz="1200" b="0" i="0">
                          <a:solidFill>
                            <a:srgbClr val="2A3F4C"/>
                          </a:solidFill>
                          <a:latin typeface="Calibri"/>
                        </a:rPr>
                        <a:t>0.21</a:t>
                      </a:r>
                    </a:p>
                  </a:txBody>
                  <a:tcPr marL="73152" marR="73152" marT="36576" marB="36576" anchor="ctr">
                    <a:solidFill>
                      <a:srgbClr val="F8D7DA"/>
                    </a:solidFill>
                  </a:tcPr>
                </a:tc>
                <a:tc>
                  <a:txBody>
                    <a:bodyPr wrap="square"/>
                    <a:lstStyle/>
                    <a:p>
                      <a:r>
                        <a:rPr sz="1200" b="0" i="0">
                          <a:solidFill>
                            <a:srgbClr val="2A3F4C"/>
                          </a:solidFill>
                          <a:latin typeface="Calibri"/>
                        </a:rPr>
                        <a:t>0.19</a:t>
                      </a:r>
                    </a:p>
                  </a:txBody>
                  <a:tcPr marL="73152" marR="73152" marT="36576" marB="36576" anchor="ctr">
                    <a:solidFill>
                      <a:srgbClr val="F8D7DA"/>
                    </a:solidFill>
                  </a:tcPr>
                </a:tc>
              </a:tr>
              <a:tr h="365760">
                <a:tc>
                  <a:txBody>
                    <a:bodyPr wrap="square"/>
                    <a:lstStyle/>
                    <a:p>
                      <a:r>
                        <a:rPr sz="1200" b="1" i="0">
                          <a:solidFill>
                            <a:srgbClr val="12394D"/>
                          </a:solidFill>
                          <a:latin typeface="Calibri"/>
                        </a:rPr>
                        <a:t>(39, RR)</a:t>
                      </a:r>
                    </a:p>
                  </a:txBody>
                  <a:tcPr marL="73152" marR="73152" marT="36576" marB="36576" anchor="ctr">
                    <a:solidFill>
                      <a:srgbClr val="E6F4F2"/>
                    </a:solidFill>
                  </a:tcPr>
                </a:tc>
                <a:tc>
                  <a:txBody>
                    <a:bodyPr wrap="square"/>
                    <a:lstStyle/>
                    <a:p>
                      <a:r>
                        <a:rPr sz="1200" b="1" i="0">
                          <a:solidFill>
                            <a:srgbClr val="2A3F4C"/>
                          </a:solidFill>
                          <a:latin typeface="Calibri"/>
                        </a:rPr>
                        <a:t>0.00</a:t>
                      </a:r>
                    </a:p>
                  </a:txBody>
                  <a:tcPr marL="73152" marR="73152" marT="36576" marB="36576" anchor="ctr">
                    <a:solidFill>
                      <a:srgbClr val="D4EDDA"/>
                    </a:solidFill>
                  </a:tcPr>
                </a:tc>
                <a:tc>
                  <a:txBody>
                    <a:bodyPr wrap="square"/>
                    <a:lstStyle/>
                    <a:p>
                      <a:r>
                        <a:rPr sz="1200" b="1" i="0">
                          <a:solidFill>
                            <a:srgbClr val="2A3F4C"/>
                          </a:solidFill>
                          <a:latin typeface="Calibri"/>
                        </a:rPr>
                        <a:t>0.02</a:t>
                      </a:r>
                    </a:p>
                  </a:txBody>
                  <a:tcPr marL="73152" marR="73152" marT="36576" marB="36576" anchor="ctr">
                    <a:solidFill>
                      <a:srgbClr val="D4EDDA"/>
                    </a:solidFill>
                  </a:tcPr>
                </a:tc>
                <a:tc>
                  <a:txBody>
                    <a:bodyPr wrap="square"/>
                    <a:lstStyle/>
                    <a:p>
                      <a:r>
                        <a:rPr sz="1200" b="1" i="0">
                          <a:solidFill>
                            <a:srgbClr val="2A3F4C"/>
                          </a:solidFill>
                          <a:latin typeface="Calibri"/>
                        </a:rPr>
                        <a:t>0.03</a:t>
                      </a:r>
                    </a:p>
                  </a:txBody>
                  <a:tcPr marL="73152" marR="73152" marT="36576" marB="36576" anchor="ctr">
                    <a:solidFill>
                      <a:srgbClr val="D4EDDA"/>
                    </a:solidFill>
                  </a:tcPr>
                </a:tc>
                <a:tc>
                  <a:txBody>
                    <a:bodyPr wrap="square"/>
                    <a:lstStyle/>
                    <a:p>
                      <a:r>
                        <a:rPr sz="1200" b="1" i="0">
                          <a:solidFill>
                            <a:srgbClr val="2A3F4C"/>
                          </a:solidFill>
                          <a:latin typeface="Calibri"/>
                        </a:rPr>
                        <a:t>0.03</a:t>
                      </a:r>
                    </a:p>
                  </a:txBody>
                  <a:tcPr marL="73152" marR="73152" marT="36576" marB="36576" anchor="ctr">
                    <a:solidFill>
                      <a:srgbClr val="D4EDDA"/>
                    </a:solidFill>
                  </a:tcPr>
                </a:tc>
              </a:tr>
              <a:tr h="365760">
                <a:tc>
                  <a:txBody>
                    <a:bodyPr wrap="square"/>
                    <a:lstStyle/>
                    <a:p>
                      <a:r>
                        <a:rPr sz="1200" b="1" i="0">
                          <a:solidFill>
                            <a:srgbClr val="12394D"/>
                          </a:solidFill>
                          <a:latin typeface="Calibri"/>
                        </a:rPr>
                        <a:t>(39, PF)</a:t>
                      </a:r>
                    </a:p>
                  </a:txBody>
                  <a:tcPr marL="73152" marR="73152" marT="36576" marB="36576" anchor="ctr">
                    <a:solidFill>
                      <a:srgbClr val="FFFFFF"/>
                    </a:solidFill>
                  </a:tcPr>
                </a:tc>
                <a:tc>
                  <a:txBody>
                    <a:bodyPr wrap="square"/>
                    <a:lstStyle/>
                    <a:p>
                      <a:r>
                        <a:rPr sz="1200" b="0" i="0">
                          <a:solidFill>
                            <a:srgbClr val="2A3F4C"/>
                          </a:solidFill>
                          <a:latin typeface="Calibri"/>
                        </a:rPr>
                        <a:t>0.05</a:t>
                      </a:r>
                    </a:p>
                  </a:txBody>
                  <a:tcPr marL="73152" marR="73152" marT="36576" marB="36576" anchor="ctr">
                    <a:solidFill>
                      <a:srgbClr val="FFF3CD"/>
                    </a:solidFill>
                  </a:tcPr>
                </a:tc>
                <a:tc>
                  <a:txBody>
                    <a:bodyPr wrap="square"/>
                    <a:lstStyle/>
                    <a:p>
                      <a:r>
                        <a:rPr sz="1200" b="0" i="0">
                          <a:solidFill>
                            <a:srgbClr val="2A3F4C"/>
                          </a:solidFill>
                          <a:latin typeface="Calibri"/>
                        </a:rPr>
                        <a:t>0.03</a:t>
                      </a:r>
                    </a:p>
                  </a:txBody>
                  <a:tcPr marL="73152" marR="73152" marT="36576" marB="36576" anchor="ctr">
                    <a:solidFill>
                      <a:srgbClr val="D4EDDA"/>
                    </a:solidFill>
                  </a:tcPr>
                </a:tc>
                <a:tc>
                  <a:txBody>
                    <a:bodyPr wrap="square"/>
                    <a:lstStyle/>
                    <a:p>
                      <a:r>
                        <a:rPr sz="1200" b="0" i="0">
                          <a:solidFill>
                            <a:srgbClr val="2A3F4C"/>
                          </a:solidFill>
                          <a:latin typeface="Calibri"/>
                        </a:rPr>
                        <a:t>0.18</a:t>
                      </a:r>
                    </a:p>
                  </a:txBody>
                  <a:tcPr marL="73152" marR="73152" marT="36576" marB="36576" anchor="ctr">
                    <a:solidFill>
                      <a:srgbClr val="F8D7DA"/>
                    </a:solidFill>
                  </a:tcPr>
                </a:tc>
                <a:tc>
                  <a:txBody>
                    <a:bodyPr wrap="square"/>
                    <a:lstStyle/>
                    <a:p>
                      <a:r>
                        <a:rPr sz="1200" b="0" i="0">
                          <a:solidFill>
                            <a:srgbClr val="2A3F4C"/>
                          </a:solidFill>
                          <a:latin typeface="Calibri"/>
                        </a:rPr>
                        <a:t>0.21</a:t>
                      </a:r>
                    </a:p>
                  </a:txBody>
                  <a:tcPr marL="73152" marR="73152" marT="36576" marB="36576" anchor="ctr">
                    <a:solidFill>
                      <a:srgbClr val="F8D7DA"/>
                    </a:solidFill>
                  </a:tcPr>
                </a:tc>
              </a:tr>
            </a:tbl>
          </a:graphicData>
        </a:graphic>
      </p:graphicFrame>
      <p:sp>
        <p:nvSpPr>
          <p:cNvPr id="5" name="TextBox 4"/>
          <p:cNvSpPr txBox="1"/>
          <p:nvPr/>
        </p:nvSpPr>
        <p:spPr>
          <a:xfrm>
            <a:off x="640080" y="4983480"/>
            <a:ext cx="4937760" cy="457200"/>
          </a:xfrm>
          <a:prstGeom prst="rect">
            <a:avLst/>
          </a:prstGeom>
          <a:noFill/>
        </p:spPr>
        <p:txBody>
          <a:bodyPr wrap="square" lIns="0" rIns="0" tIns="0" bIns="0" anchor="t">
            <a:spAutoFit/>
          </a:bodyPr>
          <a:lstStyle/>
          <a:p>
            <a:pPr algn="l"/>
            <a:r>
              <a:rPr sz="1100" b="0" i="0">
                <a:solidFill>
                  <a:srgbClr val="5F7A8A"/>
                </a:solidFill>
                <a:latin typeface="Calibri"/>
              </a:rPr>
              <a:t>URLLC violation rate per action and load, read from Fig. 1 of the paper. Green ≤ 0.03 (the budget).</a:t>
            </a:r>
          </a:p>
        </p:txBody>
      </p:sp>
      <p:sp>
        <p:nvSpPr>
          <p:cNvPr id="6" name="Rounded Rectangle 5"/>
          <p:cNvSpPr/>
          <p:nvPr/>
        </p:nvSpPr>
        <p:spPr>
          <a:xfrm>
            <a:off x="6080760" y="1600200"/>
            <a:ext cx="5440680" cy="379476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737360"/>
            <a:ext cx="5029200" cy="274320"/>
          </a:xfrm>
          <a:prstGeom prst="rect">
            <a:avLst/>
          </a:prstGeom>
          <a:noFill/>
        </p:spPr>
        <p:txBody>
          <a:bodyPr wrap="square" lIns="0" rIns="0" tIns="0" bIns="0" anchor="t">
            <a:spAutoFit/>
          </a:bodyPr>
          <a:lstStyle/>
          <a:p>
            <a:pPr algn="l"/>
            <a:r>
              <a:rPr sz="1200" b="1" i="0" spc="100">
                <a:solidFill>
                  <a:srgbClr val="1A8A99"/>
                </a:solidFill>
                <a:latin typeface="Calibri"/>
              </a:rPr>
              <a:t>HYPOTHESIS TO VERIFY</a:t>
            </a:r>
          </a:p>
        </p:txBody>
      </p:sp>
      <p:sp>
        <p:nvSpPr>
          <p:cNvPr id="8" name="Oval 7"/>
          <p:cNvSpPr/>
          <p:nvPr/>
        </p:nvSpPr>
        <p:spPr>
          <a:xfrm>
            <a:off x="6309360" y="2103120"/>
            <a:ext cx="347472" cy="347472"/>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2103120"/>
            <a:ext cx="347472" cy="347472"/>
          </a:xfrm>
          <a:prstGeom prst="rect">
            <a:avLst/>
          </a:prstGeom>
          <a:noFill/>
        </p:spPr>
        <p:txBody>
          <a:bodyPr wrap="square" lIns="0" rIns="0" tIns="0" bIns="0" anchor="ctr">
            <a:spAutoFit/>
          </a:bodyPr>
          <a:lstStyle/>
          <a:p>
            <a:pPr algn="ctr"/>
            <a:r>
              <a:rPr sz="1200" b="1" i="0">
                <a:solidFill>
                  <a:srgbClr val="FFFFFF"/>
                </a:solidFill>
                <a:latin typeface="Cambria"/>
              </a:rPr>
              <a:t>1</a:t>
            </a:r>
          </a:p>
        </p:txBody>
      </p:sp>
      <p:sp>
        <p:nvSpPr>
          <p:cNvPr id="10" name="TextBox 9"/>
          <p:cNvSpPr txBox="1"/>
          <p:nvPr/>
        </p:nvSpPr>
        <p:spPr>
          <a:xfrm>
            <a:off x="6812280" y="2075688"/>
            <a:ext cx="4526280" cy="731520"/>
          </a:xfrm>
          <a:prstGeom prst="rect">
            <a:avLst/>
          </a:prstGeom>
          <a:noFill/>
        </p:spPr>
        <p:txBody>
          <a:bodyPr wrap="square" lIns="0" rIns="0" tIns="0" bIns="0" anchor="t">
            <a:spAutoFit/>
          </a:bodyPr>
          <a:lstStyle/>
          <a:p>
            <a:pPr algn="l"/>
            <a:r>
              <a:rPr sz="1250" b="0" i="0">
                <a:solidFill>
                  <a:srgbClr val="2A3F4C"/>
                </a:solidFill>
                <a:latin typeface="Calibri"/>
              </a:rPr>
              <a:t>(39, RR) stays ≤ 0.03 at every load level, so it is feasible for d = 0.03 under any load mix.</a:t>
            </a:r>
          </a:p>
        </p:txBody>
      </p:sp>
      <p:sp>
        <p:nvSpPr>
          <p:cNvPr id="11" name="Oval 10"/>
          <p:cNvSpPr/>
          <p:nvPr/>
        </p:nvSpPr>
        <p:spPr>
          <a:xfrm>
            <a:off x="6309360" y="2880360"/>
            <a:ext cx="347472" cy="347472"/>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2880360"/>
            <a:ext cx="347472" cy="347472"/>
          </a:xfrm>
          <a:prstGeom prst="rect">
            <a:avLst/>
          </a:prstGeom>
          <a:noFill/>
        </p:spPr>
        <p:txBody>
          <a:bodyPr wrap="square" lIns="0" rIns="0" tIns="0" bIns="0" anchor="ctr">
            <a:spAutoFit/>
          </a:bodyPr>
          <a:lstStyle/>
          <a:p>
            <a:pPr algn="ctr"/>
            <a:r>
              <a:rPr sz="1200" b="1" i="0">
                <a:solidFill>
                  <a:srgbClr val="FFFFFF"/>
                </a:solidFill>
                <a:latin typeface="Cambria"/>
              </a:rPr>
              <a:t>2</a:t>
            </a:r>
          </a:p>
        </p:txBody>
      </p:sp>
      <p:sp>
        <p:nvSpPr>
          <p:cNvPr id="13" name="TextBox 12"/>
          <p:cNvSpPr txBox="1"/>
          <p:nvPr/>
        </p:nvSpPr>
        <p:spPr>
          <a:xfrm>
            <a:off x="6812280" y="2852928"/>
            <a:ext cx="4526280" cy="731520"/>
          </a:xfrm>
          <a:prstGeom prst="rect">
            <a:avLst/>
          </a:prstGeom>
          <a:noFill/>
        </p:spPr>
        <p:txBody>
          <a:bodyPr wrap="square" lIns="0" rIns="0" tIns="0" bIns="0" anchor="t">
            <a:spAutoFit/>
          </a:bodyPr>
          <a:lstStyle/>
          <a:p>
            <a:pPr algn="l"/>
            <a:r>
              <a:rPr sz="1250" b="0" i="0">
                <a:solidFill>
                  <a:srgbClr val="2A3F4C"/>
                </a:solidFill>
                <a:latin typeface="Calibri"/>
              </a:rPr>
              <a:t>eMBB throughput rises with eMBB PRBs (r = +0.73), and RR matches or beats PF in throughput (paper p. 3–4).</a:t>
            </a:r>
          </a:p>
        </p:txBody>
      </p:sp>
      <p:sp>
        <p:nvSpPr>
          <p:cNvPr id="14" name="Oval 13"/>
          <p:cNvSpPr/>
          <p:nvPr/>
        </p:nvSpPr>
        <p:spPr>
          <a:xfrm>
            <a:off x="6309360" y="3657600"/>
            <a:ext cx="347472" cy="347472"/>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3657600"/>
            <a:ext cx="347472" cy="347472"/>
          </a:xfrm>
          <a:prstGeom prst="rect">
            <a:avLst/>
          </a:prstGeom>
          <a:noFill/>
        </p:spPr>
        <p:txBody>
          <a:bodyPr wrap="square" lIns="0" rIns="0" tIns="0" bIns="0" anchor="ctr">
            <a:spAutoFit/>
          </a:bodyPr>
          <a:lstStyle/>
          <a:p>
            <a:pPr algn="ctr"/>
            <a:r>
              <a:rPr sz="1200" b="1" i="0">
                <a:solidFill>
                  <a:srgbClr val="FFFFFF"/>
                </a:solidFill>
                <a:latin typeface="Cambria"/>
              </a:rPr>
              <a:t>3</a:t>
            </a:r>
          </a:p>
        </p:txBody>
      </p:sp>
      <p:sp>
        <p:nvSpPr>
          <p:cNvPr id="16" name="TextBox 15"/>
          <p:cNvSpPr txBox="1"/>
          <p:nvPr/>
        </p:nvSpPr>
        <p:spPr>
          <a:xfrm>
            <a:off x="6812280" y="3630168"/>
            <a:ext cx="4526280" cy="731520"/>
          </a:xfrm>
          <a:prstGeom prst="rect">
            <a:avLst/>
          </a:prstGeom>
          <a:noFill/>
        </p:spPr>
        <p:txBody>
          <a:bodyPr wrap="square" lIns="0" rIns="0" tIns="0" bIns="0" anchor="t">
            <a:spAutoFit/>
          </a:bodyPr>
          <a:lstStyle/>
          <a:p>
            <a:pPr algn="l"/>
            <a:r>
              <a:rPr sz="1250" b="0" i="0">
                <a:solidFill>
                  <a:srgbClr val="2A3F4C"/>
                </a:solidFill>
                <a:latin typeface="Calibri"/>
              </a:rPr>
              <a:t>So “always (39, RR)” is plausibly near-optimal under the paper's own tabular model.</a:t>
            </a:r>
          </a:p>
        </p:txBody>
      </p:sp>
      <p:sp>
        <p:nvSpPr>
          <p:cNvPr id="17" name="TextBox 16"/>
          <p:cNvSpPr txBox="1"/>
          <p:nvPr/>
        </p:nvSpPr>
        <p:spPr>
          <a:xfrm>
            <a:off x="6309360" y="4480560"/>
            <a:ext cx="5029200" cy="868680"/>
          </a:xfrm>
          <a:prstGeom prst="rect">
            <a:avLst/>
          </a:prstGeom>
          <a:noFill/>
        </p:spPr>
        <p:txBody>
          <a:bodyPr wrap="square" lIns="0" rIns="0" tIns="0" bIns="0" anchor="t">
            <a:spAutoFit/>
          </a:bodyPr>
          <a:lstStyle/>
          <a:p>
            <a:pPr algn="l"/>
            <a:r>
              <a:rPr sz="1250" b="1" i="0">
                <a:solidFill>
                  <a:srgbClr val="12394D"/>
                </a:solidFill>
                <a:latin typeface="Calibri"/>
              </a:rPr>
              <a:t>P0 test (≈ 1 day): </a:t>
            </a:r>
            <a:r>
              <a:rPr sz="1250" b="0" i="0">
                <a:solidFill>
                  <a:srgbClr val="2A3F4C"/>
                </a:solidFill>
                <a:latin typeface="Calibri"/>
              </a:rPr>
              <a:t>evaluate always-(39, RR) and a per-load constrained oracle on cluster 1 with the same estimators. If they match Safe-CQL, the paper becomes an audit paper.</a:t>
            </a:r>
          </a:p>
        </p:txBody>
      </p:sp>
      <p:sp>
        <p:nvSpPr>
          <p:cNvPr id="18" name="Rounded Rectangle 17"/>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Before adding any algorithm, check that learning beats the best fixed configuration.</a:t>
            </a:r>
          </a:p>
        </p:txBody>
      </p:sp>
      <p:sp>
        <p:nvSpPr>
          <p:cNvPr id="20" name="TextBox 19"/>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21"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20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E · Revision plan</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Prioritised revision plan</a:t>
            </a:r>
          </a:p>
        </p:txBody>
      </p:sp>
      <p:graphicFrame>
        <p:nvGraphicFramePr>
          <p:cNvPr id="4" name="Table 3"/>
          <p:cNvGraphicFramePr>
            <a:graphicFrameLocks noGrp="1"/>
          </p:cNvGraphicFramePr>
          <p:nvPr/>
        </p:nvGraphicFramePr>
        <p:xfrm>
          <a:off x="640080" y="1600200"/>
          <a:ext cx="10881360" cy="3730752"/>
        </p:xfrm>
        <a:graphic>
          <a:graphicData uri="http://schemas.openxmlformats.org/drawingml/2006/table">
            <a:tbl>
              <a:tblPr firstRow="1">
                <a:tableStyleId>{5C22544A-7EE6-4342-B048-85BDC9FD1C3A}</a:tableStyleId>
              </a:tblPr>
              <a:tblGrid>
                <a:gridCol w="1005840"/>
                <a:gridCol w="6949440"/>
                <a:gridCol w="1463040"/>
                <a:gridCol w="1463040"/>
              </a:tblGrid>
              <a:tr h="365760">
                <a:tc>
                  <a:txBody>
                    <a:bodyPr wrap="square"/>
                    <a:lstStyle/>
                    <a:p>
                      <a:r>
                        <a:rPr sz="1200" b="1" i="0">
                          <a:solidFill>
                            <a:srgbClr val="FFFFFF"/>
                          </a:solidFill>
                          <a:latin typeface="Calibri"/>
                        </a:rPr>
                        <a:t>Priority</a:t>
                      </a:r>
                    </a:p>
                  </a:txBody>
                  <a:tcPr marL="73152" marR="73152" marT="36576" marB="36576" anchor="ctr">
                    <a:solidFill>
                      <a:srgbClr val="12394D"/>
                    </a:solidFill>
                  </a:tcPr>
                </a:tc>
                <a:tc>
                  <a:txBody>
                    <a:bodyPr wrap="square"/>
                    <a:lstStyle/>
                    <a:p>
                      <a:r>
                        <a:rPr sz="1200" b="1" i="0">
                          <a:solidFill>
                            <a:srgbClr val="FFFFFF"/>
                          </a:solidFill>
                          <a:latin typeface="Calibri"/>
                        </a:rPr>
                        <a:t>Action</a:t>
                      </a:r>
                    </a:p>
                  </a:txBody>
                  <a:tcPr marL="73152" marR="73152" marT="36576" marB="36576" anchor="ctr">
                    <a:solidFill>
                      <a:srgbClr val="12394D"/>
                    </a:solidFill>
                  </a:tcPr>
                </a:tc>
                <a:tc>
                  <a:txBody>
                    <a:bodyPr wrap="square"/>
                    <a:lstStyle/>
                    <a:p>
                      <a:r>
                        <a:rPr sz="1200" b="1" i="0">
                          <a:solidFill>
                            <a:srgbClr val="FFFFFF"/>
                          </a:solidFill>
                          <a:latin typeface="Calibri"/>
                        </a:rPr>
                        <a:t>Answers</a:t>
                      </a:r>
                    </a:p>
                  </a:txBody>
                  <a:tcPr marL="73152" marR="73152" marT="36576" marB="36576" anchor="ctr">
                    <a:solidFill>
                      <a:srgbClr val="12394D"/>
                    </a:solidFill>
                  </a:tcPr>
                </a:tc>
                <a:tc>
                  <a:txBody>
                    <a:bodyPr wrap="square"/>
                    <a:lstStyle/>
                    <a:p>
                      <a:r>
                        <a:rPr sz="1200" b="1" i="0">
                          <a:solidFill>
                            <a:srgbClr val="FFFFFF"/>
                          </a:solidFill>
                          <a:latin typeface="Calibri"/>
                        </a:rPr>
                        <a:t>Effort</a:t>
                      </a:r>
                    </a:p>
                  </a:txBody>
                  <a:tcPr marL="73152" marR="73152" marT="36576" marB="36576" anchor="ctr">
                    <a:solidFill>
                      <a:srgbClr val="12394D"/>
                    </a:solidFill>
                  </a:tcPr>
                </a:tc>
              </a:tr>
              <a:tr h="420624">
                <a:tc>
                  <a:txBody>
                    <a:bodyPr wrap="square"/>
                    <a:lstStyle/>
                    <a:p>
                      <a:r>
                        <a:rPr sz="1200" b="1" i="0">
                          <a:solidFill>
                            <a:srgbClr val="B03A2E"/>
                          </a:solidFill>
                          <a:latin typeface="Calibri"/>
                        </a:rPr>
                        <a:t>P0</a:t>
                      </a:r>
                    </a:p>
                  </a:txBody>
                  <a:tcPr marL="73152" marR="73152" marT="36576" marB="36576" anchor="ctr">
                    <a:solidFill>
                      <a:srgbClr val="F0F5F7"/>
                    </a:solidFill>
                  </a:tcPr>
                </a:tc>
                <a:tc>
                  <a:txBody>
                    <a:bodyPr wrap="square"/>
                    <a:lstStyle/>
                    <a:p>
                      <a:r>
                        <a:rPr sz="1200" b="0" i="0">
                          <a:solidFill>
                            <a:srgbClr val="2A3F4C"/>
                          </a:solidFill>
                          <a:latin typeface="Calibri"/>
                        </a:rPr>
                        <a:t>Static and per-load oracle baselines on the held-out cluster</a:t>
                      </a:r>
                    </a:p>
                  </a:txBody>
                  <a:tcPr marL="73152" marR="73152" marT="36576" marB="36576" anchor="ctr">
                    <a:solidFill>
                      <a:srgbClr val="F0F5F7"/>
                    </a:solidFill>
                  </a:tcPr>
                </a:tc>
                <a:tc>
                  <a:txBody>
                    <a:bodyPr wrap="square"/>
                    <a:lstStyle/>
                    <a:p>
                      <a:r>
                        <a:rPr sz="1200" b="0" i="0">
                          <a:solidFill>
                            <a:srgbClr val="2A3F4C"/>
                          </a:solidFill>
                          <a:latin typeface="Calibri"/>
                        </a:rPr>
                        <a:t>R3, audit</a:t>
                      </a:r>
                    </a:p>
                  </a:txBody>
                  <a:tcPr marL="73152" marR="73152" marT="36576" marB="36576" anchor="ctr">
                    <a:solidFill>
                      <a:srgbClr val="F0F5F7"/>
                    </a:solidFill>
                  </a:tcPr>
                </a:tc>
                <a:tc>
                  <a:txBody>
                    <a:bodyPr wrap="square"/>
                    <a:lstStyle/>
                    <a:p>
                      <a:r>
                        <a:rPr sz="1200" b="0" i="0">
                          <a:solidFill>
                            <a:srgbClr val="2A3F4C"/>
                          </a:solidFill>
                          <a:latin typeface="Calibri"/>
                        </a:rPr>
                        <a:t>1–2 days</a:t>
                      </a:r>
                    </a:p>
                  </a:txBody>
                  <a:tcPr marL="73152" marR="73152" marT="36576" marB="36576" anchor="ctr">
                    <a:solidFill>
                      <a:srgbClr val="F0F5F7"/>
                    </a:solidFill>
                  </a:tcPr>
                </a:tc>
              </a:tr>
              <a:tr h="420624">
                <a:tc>
                  <a:txBody>
                    <a:bodyPr wrap="square"/>
                    <a:lstStyle/>
                    <a:p>
                      <a:r>
                        <a:rPr sz="1200" b="1" i="0">
                          <a:solidFill>
                            <a:srgbClr val="B03A2E"/>
                          </a:solidFill>
                          <a:latin typeface="Calibri"/>
                        </a:rPr>
                        <a:t>P0</a:t>
                      </a:r>
                    </a:p>
                  </a:txBody>
                  <a:tcPr marL="73152" marR="73152" marT="36576" marB="36576" anchor="ctr">
                    <a:solidFill>
                      <a:srgbClr val="FFFFFF"/>
                    </a:solidFill>
                  </a:tcPr>
                </a:tc>
                <a:tc>
                  <a:txBody>
                    <a:bodyPr wrap="square"/>
                    <a:lstStyle/>
                    <a:p>
                      <a:r>
                        <a:rPr sz="1200" b="0" i="0">
                          <a:solidFill>
                            <a:srgbClr val="2A3F4C"/>
                          </a:solidFill>
                          <a:latin typeface="Calibri"/>
                        </a:rPr>
                        <a:t>Reposition: rApp / slow xApp; “latency-sensitive slice”; qualify “safe”</a:t>
                      </a:r>
                    </a:p>
                  </a:txBody>
                  <a:tcPr marL="73152" marR="73152" marT="36576" marB="36576" anchor="ctr">
                    <a:solidFill>
                      <a:srgbClr val="FFFFFF"/>
                    </a:solidFill>
                  </a:tcPr>
                </a:tc>
                <a:tc>
                  <a:txBody>
                    <a:bodyPr wrap="square"/>
                    <a:lstStyle/>
                    <a:p>
                      <a:r>
                        <a:rPr sz="1200" b="0" i="0">
                          <a:solidFill>
                            <a:srgbClr val="2A3F4C"/>
                          </a:solidFill>
                          <a:latin typeface="Calibri"/>
                        </a:rPr>
                        <a:t>R2, audit</a:t>
                      </a:r>
                    </a:p>
                  </a:txBody>
                  <a:tcPr marL="73152" marR="73152" marT="36576" marB="36576" anchor="ctr">
                    <a:solidFill>
                      <a:srgbClr val="FFFFFF"/>
                    </a:solidFill>
                  </a:tcPr>
                </a:tc>
                <a:tc>
                  <a:txBody>
                    <a:bodyPr wrap="square"/>
                    <a:lstStyle/>
                    <a:p>
                      <a:r>
                        <a:rPr sz="1200" b="0" i="0">
                          <a:solidFill>
                            <a:srgbClr val="2A3F4C"/>
                          </a:solidFill>
                          <a:latin typeface="Calibri"/>
                        </a:rPr>
                        <a:t>2–3 days</a:t>
                      </a:r>
                    </a:p>
                  </a:txBody>
                  <a:tcPr marL="73152" marR="73152" marT="36576" marB="36576" anchor="ctr">
                    <a:solidFill>
                      <a:srgbClr val="FFFFFF"/>
                    </a:solidFill>
                  </a:tcPr>
                </a:tc>
              </a:tr>
              <a:tr h="420624">
                <a:tc>
                  <a:txBody>
                    <a:bodyPr wrap="square"/>
                    <a:lstStyle/>
                    <a:p>
                      <a:r>
                        <a:rPr sz="1200" b="1" i="0">
                          <a:solidFill>
                            <a:srgbClr val="C46A1B"/>
                          </a:solidFill>
                          <a:latin typeface="Calibri"/>
                        </a:rPr>
                        <a:t>P1</a:t>
                      </a:r>
                    </a:p>
                  </a:txBody>
                  <a:tcPr marL="73152" marR="73152" marT="36576" marB="36576" anchor="ctr">
                    <a:solidFill>
                      <a:srgbClr val="F0F5F7"/>
                    </a:solidFill>
                  </a:tcPr>
                </a:tc>
                <a:tc>
                  <a:txBody>
                    <a:bodyPr wrap="square"/>
                    <a:lstStyle/>
                    <a:p>
                      <a:r>
                        <a:rPr sz="1200" b="0" i="0">
                          <a:solidFill>
                            <a:srgbClr val="2A3F4C"/>
                          </a:solidFill>
                          <a:latin typeface="Calibri"/>
                        </a:rPr>
                        <a:t>Decision model: contextual bandit vs CMDP, with an empirical test</a:t>
                      </a:r>
                    </a:p>
                  </a:txBody>
                  <a:tcPr marL="73152" marR="73152" marT="36576" marB="36576" anchor="ctr">
                    <a:solidFill>
                      <a:srgbClr val="F0F5F7"/>
                    </a:solidFill>
                  </a:tcPr>
                </a:tc>
                <a:tc>
                  <a:txBody>
                    <a:bodyPr wrap="square"/>
                    <a:lstStyle/>
                    <a:p>
                      <a:r>
                        <a:rPr sz="1200" b="0" i="0">
                          <a:solidFill>
                            <a:srgbClr val="2A3F4C"/>
                          </a:solidFill>
                          <a:latin typeface="Calibri"/>
                        </a:rPr>
                        <a:t>R1, R2</a:t>
                      </a:r>
                    </a:p>
                  </a:txBody>
                  <a:tcPr marL="73152" marR="73152" marT="36576" marB="36576" anchor="ctr">
                    <a:solidFill>
                      <a:srgbClr val="F0F5F7"/>
                    </a:solidFill>
                  </a:tcPr>
                </a:tc>
                <a:tc>
                  <a:txBody>
                    <a:bodyPr wrap="square"/>
                    <a:lstStyle/>
                    <a:p>
                      <a:r>
                        <a:rPr sz="1200" b="0" i="0">
                          <a:solidFill>
                            <a:srgbClr val="2A3F4C"/>
                          </a:solidFill>
                          <a:latin typeface="Calibri"/>
                        </a:rPr>
                        <a:t>1 week</a:t>
                      </a:r>
                    </a:p>
                  </a:txBody>
                  <a:tcPr marL="73152" marR="73152" marT="36576" marB="36576" anchor="ctr">
                    <a:solidFill>
                      <a:srgbClr val="F0F5F7"/>
                    </a:solidFill>
                  </a:tcPr>
                </a:tc>
              </a:tr>
              <a:tr h="420624">
                <a:tc>
                  <a:txBody>
                    <a:bodyPr wrap="square"/>
                    <a:lstStyle/>
                    <a:p>
                      <a:r>
                        <a:rPr sz="1200" b="1" i="0">
                          <a:solidFill>
                            <a:srgbClr val="C46A1B"/>
                          </a:solidFill>
                          <a:latin typeface="Calibri"/>
                        </a:rPr>
                        <a:t>P1</a:t>
                      </a:r>
                    </a:p>
                  </a:txBody>
                  <a:tcPr marL="73152" marR="73152" marT="36576" marB="36576" anchor="ctr">
                    <a:solidFill>
                      <a:srgbClr val="FFFFFF"/>
                    </a:solidFill>
                  </a:tcPr>
                </a:tc>
                <a:tc>
                  <a:txBody>
                    <a:bodyPr wrap="square"/>
                    <a:lstStyle/>
                    <a:p>
                      <a:r>
                        <a:rPr sz="1200" b="0" i="0">
                          <a:solidFill>
                            <a:srgbClr val="2A3F4C"/>
                          </a:solidFill>
                          <a:latin typeface="Calibri"/>
                        </a:rPr>
                        <a:t>Safe offline baselines (BCQ-Lag, CPQ, COptiDICE via OSRL); CQL + penalty sweep</a:t>
                      </a:r>
                    </a:p>
                  </a:txBody>
                  <a:tcPr marL="73152" marR="73152" marT="36576" marB="36576" anchor="ctr">
                    <a:solidFill>
                      <a:srgbClr val="FFFFFF"/>
                    </a:solidFill>
                  </a:tcPr>
                </a:tc>
                <a:tc>
                  <a:txBody>
                    <a:bodyPr wrap="square"/>
                    <a:lstStyle/>
                    <a:p>
                      <a:r>
                        <a:rPr sz="1200" b="0" i="0">
                          <a:solidFill>
                            <a:srgbClr val="2A3F4C"/>
                          </a:solidFill>
                          <a:latin typeface="Calibri"/>
                        </a:rPr>
                        <a:t>R3</a:t>
                      </a:r>
                    </a:p>
                  </a:txBody>
                  <a:tcPr marL="73152" marR="73152" marT="36576" marB="36576" anchor="ctr">
                    <a:solidFill>
                      <a:srgbClr val="FFFFFF"/>
                    </a:solidFill>
                  </a:tcPr>
                </a:tc>
                <a:tc>
                  <a:txBody>
                    <a:bodyPr wrap="square"/>
                    <a:lstStyle/>
                    <a:p>
                      <a:r>
                        <a:rPr sz="1200" b="0" i="0">
                          <a:solidFill>
                            <a:srgbClr val="2A3F4C"/>
                          </a:solidFill>
                          <a:latin typeface="Calibri"/>
                        </a:rPr>
                        <a:t>1–2 weeks</a:t>
                      </a:r>
                    </a:p>
                  </a:txBody>
                  <a:tcPr marL="73152" marR="73152" marT="36576" marB="36576" anchor="ctr">
                    <a:solidFill>
                      <a:srgbClr val="FFFFFF"/>
                    </a:solidFill>
                  </a:tcPr>
                </a:tc>
              </a:tr>
              <a:tr h="420624">
                <a:tc>
                  <a:txBody>
                    <a:bodyPr wrap="square"/>
                    <a:lstStyle/>
                    <a:p>
                      <a:r>
                        <a:rPr sz="1200" b="1" i="0">
                          <a:solidFill>
                            <a:srgbClr val="C46A1B"/>
                          </a:solidFill>
                          <a:latin typeface="Calibri"/>
                        </a:rPr>
                        <a:t>P1</a:t>
                      </a:r>
                    </a:p>
                  </a:txBody>
                  <a:tcPr marL="73152" marR="73152" marT="36576" marB="36576" anchor="ctr">
                    <a:solidFill>
                      <a:srgbClr val="F0F5F7"/>
                    </a:solidFill>
                  </a:tcPr>
                </a:tc>
                <a:tc>
                  <a:txBody>
                    <a:bodyPr wrap="square"/>
                    <a:lstStyle/>
                    <a:p>
                      <a:r>
                        <a:rPr sz="1200" b="0" i="0">
                          <a:solidFill>
                            <a:srgbClr val="2A3F4C"/>
                          </a:solidFill>
                          <a:latin typeface="Calibri"/>
                        </a:rPr>
                        <a:t>≥ 5 seeds for every method, bootstrap CIs, fix the Fig. 3 claim, state the selection protocol</a:t>
                      </a:r>
                    </a:p>
                  </a:txBody>
                  <a:tcPr marL="73152" marR="73152" marT="36576" marB="36576" anchor="ctr">
                    <a:solidFill>
                      <a:srgbClr val="F0F5F7"/>
                    </a:solidFill>
                  </a:tcPr>
                </a:tc>
                <a:tc>
                  <a:txBody>
                    <a:bodyPr wrap="square"/>
                    <a:lstStyle/>
                    <a:p>
                      <a:r>
                        <a:rPr sz="1200" b="0" i="0">
                          <a:solidFill>
                            <a:srgbClr val="2A3F4C"/>
                          </a:solidFill>
                          <a:latin typeface="Calibri"/>
                        </a:rPr>
                        <a:t>Statistics</a:t>
                      </a:r>
                    </a:p>
                  </a:txBody>
                  <a:tcPr marL="73152" marR="73152" marT="36576" marB="36576" anchor="ctr">
                    <a:solidFill>
                      <a:srgbClr val="F0F5F7"/>
                    </a:solidFill>
                  </a:tcPr>
                </a:tc>
                <a:tc>
                  <a:txBody>
                    <a:bodyPr wrap="square"/>
                    <a:lstStyle/>
                    <a:p>
                      <a:r>
                        <a:rPr sz="1200" b="0" i="0">
                          <a:solidFill>
                            <a:srgbClr val="2A3F4C"/>
                          </a:solidFill>
                          <a:latin typeface="Calibri"/>
                        </a:rPr>
                        <a:t>3–5 days</a:t>
                      </a:r>
                    </a:p>
                  </a:txBody>
                  <a:tcPr marL="73152" marR="73152" marT="36576" marB="36576" anchor="ctr">
                    <a:solidFill>
                      <a:srgbClr val="F0F5F7"/>
                    </a:solidFill>
                  </a:tcPr>
                </a:tc>
              </a:tr>
              <a:tr h="420624">
                <a:tc>
                  <a:txBody>
                    <a:bodyPr wrap="square"/>
                    <a:lstStyle/>
                    <a:p>
                      <a:r>
                        <a:rPr sz="1200" b="1" i="0">
                          <a:solidFill>
                            <a:srgbClr val="1A8A99"/>
                          </a:solidFill>
                          <a:latin typeface="Calibri"/>
                        </a:rPr>
                        <a:t>P2</a:t>
                      </a:r>
                    </a:p>
                  </a:txBody>
                  <a:tcPr marL="73152" marR="73152" marT="36576" marB="36576" anchor="ctr">
                    <a:solidFill>
                      <a:srgbClr val="FFFFFF"/>
                    </a:solidFill>
                  </a:tcPr>
                </a:tc>
                <a:tc>
                  <a:txBody>
                    <a:bodyPr wrap="square"/>
                    <a:lstStyle/>
                    <a:p>
                      <a:r>
                        <a:rPr sz="1200" b="0" i="0">
                          <a:solidFill>
                            <a:srgbClr val="2A3F4C"/>
                          </a:solidFill>
                          <a:latin typeface="Calibri"/>
                        </a:rPr>
                        <a:t>State-conditional cost model, bin sensitivity, p99/p99.9, CVaR variant</a:t>
                      </a:r>
                    </a:p>
                  </a:txBody>
                  <a:tcPr marL="73152" marR="73152" marT="36576" marB="36576" anchor="ctr">
                    <a:solidFill>
                      <a:srgbClr val="FFFFFF"/>
                    </a:solidFill>
                  </a:tcPr>
                </a:tc>
                <a:tc>
                  <a:txBody>
                    <a:bodyPr wrap="square"/>
                    <a:lstStyle/>
                    <a:p>
                      <a:r>
                        <a:rPr sz="1200" b="0" i="0">
                          <a:solidFill>
                            <a:srgbClr val="2A3F4C"/>
                          </a:solidFill>
                          <a:latin typeface="Calibri"/>
                        </a:rPr>
                        <a:t>R1</a:t>
                      </a:r>
                    </a:p>
                  </a:txBody>
                  <a:tcPr marL="73152" marR="73152" marT="36576" marB="36576" anchor="ctr">
                    <a:solidFill>
                      <a:srgbClr val="FFFFFF"/>
                    </a:solidFill>
                  </a:tcPr>
                </a:tc>
                <a:tc>
                  <a:txBody>
                    <a:bodyPr wrap="square"/>
                    <a:lstStyle/>
                    <a:p>
                      <a:r>
                        <a:rPr sz="1200" b="0" i="0">
                          <a:solidFill>
                            <a:srgbClr val="2A3F4C"/>
                          </a:solidFill>
                          <a:latin typeface="Calibri"/>
                        </a:rPr>
                        <a:t>1–2 weeks</a:t>
                      </a:r>
                    </a:p>
                  </a:txBody>
                  <a:tcPr marL="73152" marR="73152" marT="36576" marB="36576" anchor="ctr">
                    <a:solidFill>
                      <a:srgbClr val="FFFFFF"/>
                    </a:solidFill>
                  </a:tcPr>
                </a:tc>
              </a:tr>
              <a:tr h="420624">
                <a:tc>
                  <a:txBody>
                    <a:bodyPr wrap="square"/>
                    <a:lstStyle/>
                    <a:p>
                      <a:r>
                        <a:rPr sz="1200" b="1" i="0">
                          <a:solidFill>
                            <a:srgbClr val="1A8A99"/>
                          </a:solidFill>
                          <a:latin typeface="Calibri"/>
                        </a:rPr>
                        <a:t>P2</a:t>
                      </a:r>
                    </a:p>
                  </a:txBody>
                  <a:tcPr marL="73152" marR="73152" marT="36576" marB="36576" anchor="ctr">
                    <a:solidFill>
                      <a:srgbClr val="F0F5F7"/>
                    </a:solidFill>
                  </a:tcPr>
                </a:tc>
                <a:tc>
                  <a:txBody>
                    <a:bodyPr wrap="square"/>
                    <a:lstStyle/>
                    <a:p>
                      <a:r>
                        <a:rPr sz="1200" b="0" i="0">
                          <a:solidFill>
                            <a:srgbClr val="2A3F4C"/>
                          </a:solidFill>
                          <a:latin typeface="Calibri"/>
                        </a:rPr>
                        <a:t>Full proofreading pass</a:t>
                      </a:r>
                    </a:p>
                  </a:txBody>
                  <a:tcPr marL="73152" marR="73152" marT="36576" marB="36576" anchor="ctr">
                    <a:solidFill>
                      <a:srgbClr val="F0F5F7"/>
                    </a:solidFill>
                  </a:tcPr>
                </a:tc>
                <a:tc>
                  <a:txBody>
                    <a:bodyPr wrap="square"/>
                    <a:lstStyle/>
                    <a:p>
                      <a:r>
                        <a:rPr sz="1200" b="0" i="0">
                          <a:solidFill>
                            <a:srgbClr val="2A3F4C"/>
                          </a:solidFill>
                          <a:latin typeface="Calibri"/>
                        </a:rPr>
                        <a:t>R3</a:t>
                      </a:r>
                    </a:p>
                  </a:txBody>
                  <a:tcPr marL="73152" marR="73152" marT="36576" marB="36576" anchor="ctr">
                    <a:solidFill>
                      <a:srgbClr val="F0F5F7"/>
                    </a:solidFill>
                  </a:tcPr>
                </a:tc>
                <a:tc>
                  <a:txBody>
                    <a:bodyPr wrap="square"/>
                    <a:lstStyle/>
                    <a:p>
                      <a:r>
                        <a:rPr sz="1200" b="0" i="0">
                          <a:solidFill>
                            <a:srgbClr val="2A3F4C"/>
                          </a:solidFill>
                          <a:latin typeface="Calibri"/>
                        </a:rPr>
                        <a:t>2 days</a:t>
                      </a:r>
                    </a:p>
                  </a:txBody>
                  <a:tcPr marL="73152" marR="73152" marT="36576" marB="36576" anchor="ctr">
                    <a:solidFill>
                      <a:srgbClr val="F0F5F7"/>
                    </a:solidFill>
                  </a:tcPr>
                </a:tc>
              </a:tr>
              <a:tr h="420624">
                <a:tc>
                  <a:txBody>
                    <a:bodyPr wrap="square"/>
                    <a:lstStyle/>
                    <a:p>
                      <a:r>
                        <a:rPr sz="1200" b="1" i="0">
                          <a:solidFill>
                            <a:srgbClr val="5F7A8A"/>
                          </a:solidFill>
                          <a:latin typeface="Calibri"/>
                        </a:rPr>
                        <a:t>P3</a:t>
                      </a:r>
                    </a:p>
                  </a:txBody>
                  <a:tcPr marL="73152" marR="73152" marT="36576" marB="36576" anchor="ctr">
                    <a:solidFill>
                      <a:srgbClr val="FFFFFF"/>
                    </a:solidFill>
                  </a:tcPr>
                </a:tc>
                <a:tc>
                  <a:txBody>
                    <a:bodyPr wrap="square"/>
                    <a:lstStyle/>
                    <a:p>
                      <a:r>
                        <a:rPr sz="1200" b="0" i="0">
                          <a:solidFill>
                            <a:srgbClr val="2A3F4C"/>
                          </a:solidFill>
                          <a:latin typeface="Calibri"/>
                        </a:rPr>
                        <a:t>Data with configuration switches from ns-3 5G-LENA</a:t>
                      </a:r>
                    </a:p>
                  </a:txBody>
                  <a:tcPr marL="73152" marR="73152" marT="36576" marB="36576" anchor="ctr">
                    <a:solidFill>
                      <a:srgbClr val="FFFFFF"/>
                    </a:solidFill>
                  </a:tcPr>
                </a:tc>
                <a:tc>
                  <a:txBody>
                    <a:bodyPr wrap="square"/>
                    <a:lstStyle/>
                    <a:p>
                      <a:r>
                        <a:rPr sz="1200" b="0" i="0">
                          <a:solidFill>
                            <a:srgbClr val="2A3F4C"/>
                          </a:solidFill>
                          <a:latin typeface="Calibri"/>
                        </a:rPr>
                        <a:t>R1, R2</a:t>
                      </a:r>
                    </a:p>
                  </a:txBody>
                  <a:tcPr marL="73152" marR="73152" marT="36576" marB="36576" anchor="ctr">
                    <a:solidFill>
                      <a:srgbClr val="FFFFFF"/>
                    </a:solidFill>
                  </a:tcPr>
                </a:tc>
                <a:tc>
                  <a:txBody>
                    <a:bodyPr wrap="square"/>
                    <a:lstStyle/>
                    <a:p>
                      <a:r>
                        <a:rPr sz="1200" b="0" i="0">
                          <a:solidFill>
                            <a:srgbClr val="2A3F4C"/>
                          </a:solidFill>
                          <a:latin typeface="Calibri"/>
                        </a:rPr>
                        <a:t>1–3 months</a:t>
                      </a:r>
                    </a:p>
                  </a:txBody>
                  <a:tcPr marL="73152" marR="73152" marT="36576" marB="36576" anchor="ctr">
                    <a:solidFill>
                      <a:srgbClr val="FFFFFF"/>
                    </a:solidFill>
                  </a:tcPr>
                </a:tc>
              </a:tr>
            </a:tbl>
          </a:graphicData>
        </a:graphic>
      </p:graphicFrame>
      <p:sp>
        <p:nvSpPr>
          <p:cNvPr id="5" name="Rounded Rectangle 4"/>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If P0 shows the static rule matches Safe-CQL, the paper becomes an audit paper and the RL moves to simulation.</a:t>
            </a:r>
          </a:p>
        </p:txBody>
      </p:sp>
      <p:sp>
        <p:nvSpPr>
          <p:cNvPr id="7" name="TextBox 6"/>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8"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21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F · Positioning</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Where the paper stands in the research landscape</a:t>
            </a:r>
          </a:p>
        </p:txBody>
      </p:sp>
      <p:graphicFrame>
        <p:nvGraphicFramePr>
          <p:cNvPr id="4" name="Table 3"/>
          <p:cNvGraphicFramePr>
            <a:graphicFrameLocks noGrp="1"/>
          </p:cNvGraphicFramePr>
          <p:nvPr/>
        </p:nvGraphicFramePr>
        <p:xfrm>
          <a:off x="640080" y="1600200"/>
          <a:ext cx="10881360" cy="3657600"/>
        </p:xfrm>
        <a:graphic>
          <a:graphicData uri="http://schemas.openxmlformats.org/drawingml/2006/table">
            <a:tbl>
              <a:tblPr firstRow="1">
                <a:tableStyleId>{5C22544A-7EE6-4342-B048-85BDC9FD1C3A}</a:tableStyleId>
              </a:tblPr>
              <a:tblGrid>
                <a:gridCol w="2240280"/>
                <a:gridCol w="2240280"/>
                <a:gridCol w="2057400"/>
                <a:gridCol w="2194560"/>
                <a:gridCol w="2148840"/>
              </a:tblGrid>
              <a:tr h="365760">
                <a:tc>
                  <a:txBody>
                    <a:bodyPr wrap="square"/>
                    <a:lstStyle/>
                    <a:p>
                      <a:r>
                        <a:rPr sz="1150" b="1" i="0">
                          <a:solidFill>
                            <a:srgbClr val="FFFFFF"/>
                          </a:solidFill>
                          <a:latin typeface="Calibri"/>
                        </a:rPr>
                        <a:t>Research direction</a:t>
                      </a:r>
                    </a:p>
                  </a:txBody>
                  <a:tcPr marL="73152" marR="73152" marT="36576" marB="36576" anchor="ctr">
                    <a:solidFill>
                      <a:srgbClr val="12394D"/>
                    </a:solidFill>
                  </a:tcPr>
                </a:tc>
                <a:tc>
                  <a:txBody>
                    <a:bodyPr wrap="square"/>
                    <a:lstStyle/>
                    <a:p>
                      <a:r>
                        <a:rPr sz="1150" b="1" i="0">
                          <a:solidFill>
                            <a:srgbClr val="FFFFFF"/>
                          </a:solidFill>
                          <a:latin typeface="Calibri"/>
                        </a:rPr>
                        <a:t>Survey evidence</a:t>
                      </a:r>
                    </a:p>
                  </a:txBody>
                  <a:tcPr marL="73152" marR="73152" marT="36576" marB="36576" anchor="ctr">
                    <a:solidFill>
                      <a:srgbClr val="12394D"/>
                    </a:solidFill>
                  </a:tcPr>
                </a:tc>
                <a:tc>
                  <a:txBody>
                    <a:bodyPr wrap="square"/>
                    <a:lstStyle/>
                    <a:p>
                      <a:r>
                        <a:rPr sz="1150" b="1" i="0">
                          <a:solidFill>
                            <a:srgbClr val="FFFFFF"/>
                          </a:solidFill>
                          <a:latin typeface="Calibri"/>
                        </a:rPr>
                        <a:t>What my paper does</a:t>
                      </a:r>
                    </a:p>
                  </a:txBody>
                  <a:tcPr marL="73152" marR="73152" marT="36576" marB="36576" anchor="ctr">
                    <a:solidFill>
                      <a:srgbClr val="12394D"/>
                    </a:solidFill>
                  </a:tcPr>
                </a:tc>
                <a:tc>
                  <a:txBody>
                    <a:bodyPr wrap="square"/>
                    <a:lstStyle/>
                    <a:p>
                      <a:r>
                        <a:rPr sz="1150" b="1" i="0">
                          <a:solidFill>
                            <a:srgbClr val="FFFFFF"/>
                          </a:solidFill>
                          <a:latin typeface="Calibri"/>
                        </a:rPr>
                        <a:t>Remaining limitation</a:t>
                      </a:r>
                    </a:p>
                  </a:txBody>
                  <a:tcPr marL="73152" marR="73152" marT="36576" marB="36576" anchor="ctr">
                    <a:solidFill>
                      <a:srgbClr val="12394D"/>
                    </a:solidFill>
                  </a:tcPr>
                </a:tc>
                <a:tc>
                  <a:txBody>
                    <a:bodyPr wrap="square"/>
                    <a:lstStyle/>
                    <a:p>
                      <a:r>
                        <a:rPr sz="1150" b="1" i="0">
                          <a:solidFill>
                            <a:srgbClr val="FFFFFF"/>
                          </a:solidFill>
                          <a:latin typeface="Calibri"/>
                        </a:rPr>
                        <a:t>Opportunity</a:t>
                      </a:r>
                    </a:p>
                  </a:txBody>
                  <a:tcPr marL="73152" marR="73152" marT="36576" marB="36576" anchor="ctr">
                    <a:solidFill>
                      <a:srgbClr val="12394D"/>
                    </a:solidFill>
                  </a:tcPr>
                </a:tc>
              </a:tr>
              <a:tr h="548640">
                <a:tc>
                  <a:txBody>
                    <a:bodyPr wrap="square"/>
                    <a:lstStyle/>
                    <a:p>
                      <a:r>
                        <a:rPr sz="1150" b="1" i="0">
                          <a:solidFill>
                            <a:srgbClr val="12394D"/>
                          </a:solidFill>
                          <a:latin typeface="Calibri"/>
                        </a:rPr>
                        <a:t>Offline RL for O-RAN</a:t>
                      </a:r>
                    </a:p>
                  </a:txBody>
                  <a:tcPr marL="73152" marR="73152" marT="36576" marB="36576" anchor="ctr">
                    <a:solidFill>
                      <a:srgbClr val="F0F5F7"/>
                    </a:solidFill>
                  </a:tcPr>
                </a:tc>
                <a:tc>
                  <a:txBody>
                    <a:bodyPr wrap="square"/>
                    <a:lstStyle/>
                    <a:p>
                      <a:r>
                        <a:rPr sz="1150" b="0" i="0">
                          <a:solidFill>
                            <a:srgbClr val="2A3F4C"/>
                          </a:solidFill>
                          <a:latin typeface="Calibri"/>
                        </a:rPr>
                        <a:t>Lu §II-G, §IX-A; 2OffRAN</a:t>
                      </a:r>
                    </a:p>
                  </a:txBody>
                  <a:tcPr marL="73152" marR="73152" marT="36576" marB="36576" anchor="ctr">
                    <a:solidFill>
                      <a:srgbClr val="F0F5F7"/>
                    </a:solidFill>
                  </a:tcPr>
                </a:tc>
                <a:tc>
                  <a:txBody>
                    <a:bodyPr wrap="square"/>
                    <a:lstStyle/>
                    <a:p>
                      <a:r>
                        <a:rPr sz="1150" b="0" i="0">
                          <a:solidFill>
                            <a:srgbClr val="2A3F4C"/>
                          </a:solidFill>
                          <a:latin typeface="Calibri"/>
                        </a:rPr>
                        <a:t>CQL trained on logs</a:t>
                      </a:r>
                    </a:p>
                  </a:txBody>
                  <a:tcPr marL="73152" marR="73152" marT="36576" marB="36576" anchor="ctr">
                    <a:solidFill>
                      <a:srgbClr val="F0F5F7"/>
                    </a:solidFill>
                  </a:tcPr>
                </a:tc>
                <a:tc>
                  <a:txBody>
                    <a:bodyPr wrap="square"/>
                    <a:lstStyle/>
                    <a:p>
                      <a:r>
                        <a:rPr sz="1150" b="0" i="0">
                          <a:solidFill>
                            <a:srgbClr val="2A3F4C"/>
                          </a:solidFill>
                          <a:latin typeface="Calibri"/>
                        </a:rPr>
                        <a:t>Static configurations</a:t>
                      </a:r>
                    </a:p>
                  </a:txBody>
                  <a:tcPr marL="73152" marR="73152" marT="36576" marB="36576" anchor="ctr">
                    <a:solidFill>
                      <a:srgbClr val="F0F5F7"/>
                    </a:solidFill>
                  </a:tcPr>
                </a:tc>
                <a:tc>
                  <a:txBody>
                    <a:bodyPr wrap="square"/>
                    <a:lstStyle/>
                    <a:p>
                      <a:r>
                        <a:rPr sz="1150" b="0" i="0">
                          <a:solidFill>
                            <a:srgbClr val="2A3F4C"/>
                          </a:solidFill>
                          <a:latin typeface="Calibri"/>
                        </a:rPr>
                        <a:t>Decision-logged data</a:t>
                      </a:r>
                    </a:p>
                  </a:txBody>
                  <a:tcPr marL="73152" marR="73152" marT="36576" marB="36576" anchor="ctr">
                    <a:solidFill>
                      <a:srgbClr val="F0F5F7"/>
                    </a:solidFill>
                  </a:tcPr>
                </a:tc>
              </a:tr>
              <a:tr h="548640">
                <a:tc>
                  <a:txBody>
                    <a:bodyPr wrap="square"/>
                    <a:lstStyle/>
                    <a:p>
                      <a:r>
                        <a:rPr sz="1150" b="1" i="0">
                          <a:solidFill>
                            <a:srgbClr val="12394D"/>
                          </a:solidFill>
                          <a:latin typeface="Calibri"/>
                        </a:rPr>
                        <a:t>Safe / constrained RL</a:t>
                      </a:r>
                    </a:p>
                  </a:txBody>
                  <a:tcPr marL="73152" marR="73152" marT="36576" marB="36576" anchor="ctr">
                    <a:solidFill>
                      <a:srgbClr val="FFFFFF"/>
                    </a:solidFill>
                  </a:tcPr>
                </a:tc>
                <a:tc>
                  <a:txBody>
                    <a:bodyPr wrap="square"/>
                    <a:lstStyle/>
                    <a:p>
                      <a:r>
                        <a:rPr sz="1150" b="0" i="0">
                          <a:solidFill>
                            <a:srgbClr val="2A3F4C"/>
                          </a:solidFill>
                          <a:latin typeface="Calibri"/>
                        </a:rPr>
                        <a:t>Lu §II-H, §VIII-A; SafeSlice</a:t>
                      </a:r>
                    </a:p>
                  </a:txBody>
                  <a:tcPr marL="73152" marR="73152" marT="36576" marB="36576" anchor="ctr">
                    <a:solidFill>
                      <a:srgbClr val="FFFFFF"/>
                    </a:solidFill>
                  </a:tcPr>
                </a:tc>
                <a:tc>
                  <a:txBody>
                    <a:bodyPr wrap="square"/>
                    <a:lstStyle/>
                    <a:p>
                      <a:r>
                        <a:rPr sz="1150" b="0" i="0">
                          <a:solidFill>
                            <a:srgbClr val="2A3F4C"/>
                          </a:solidFill>
                          <a:latin typeface="Calibri"/>
                        </a:rPr>
                        <a:t>CMDP + adaptive λ, offline</a:t>
                      </a:r>
                    </a:p>
                  </a:txBody>
                  <a:tcPr marL="73152" marR="73152" marT="36576" marB="36576" anchor="ctr">
                    <a:solidFill>
                      <a:srgbClr val="FFFFFF"/>
                    </a:solidFill>
                  </a:tcPr>
                </a:tc>
                <a:tc>
                  <a:txBody>
                    <a:bodyPr wrap="square"/>
                    <a:lstStyle/>
                    <a:p>
                      <a:r>
                        <a:rPr sz="1150" b="0" i="0">
                          <a:solidFill>
                            <a:srgbClr val="2A3F4C"/>
                          </a:solidFill>
                          <a:latin typeface="Calibri"/>
                        </a:rPr>
                        <a:t>Mean-rate, myopic cost; no shield</a:t>
                      </a:r>
                    </a:p>
                  </a:txBody>
                  <a:tcPr marL="73152" marR="73152" marT="36576" marB="36576" anchor="ctr">
                    <a:solidFill>
                      <a:srgbClr val="FFFFFF"/>
                    </a:solidFill>
                  </a:tcPr>
                </a:tc>
                <a:tc>
                  <a:txBody>
                    <a:bodyPr wrap="square"/>
                    <a:lstStyle/>
                    <a:p>
                      <a:r>
                        <a:rPr sz="1150" b="0" i="0">
                          <a:solidFill>
                            <a:srgbClr val="2A3F4C"/>
                          </a:solidFill>
                          <a:latin typeface="Calibri"/>
                        </a:rPr>
                        <a:t>Chance / CVaR constraint + shield</a:t>
                      </a:r>
                    </a:p>
                  </a:txBody>
                  <a:tcPr marL="73152" marR="73152" marT="36576" marB="36576" anchor="ctr">
                    <a:solidFill>
                      <a:srgbClr val="FFFFFF"/>
                    </a:solidFill>
                  </a:tcPr>
                </a:tc>
              </a:tr>
              <a:tr h="548640">
                <a:tc>
                  <a:txBody>
                    <a:bodyPr wrap="square"/>
                    <a:lstStyle/>
                    <a:p>
                      <a:r>
                        <a:rPr sz="1150" b="1" i="0">
                          <a:solidFill>
                            <a:srgbClr val="12394D"/>
                          </a:solidFill>
                          <a:latin typeface="Calibri"/>
                        </a:rPr>
                        <a:t>eMBB/URLLC coexistence</a:t>
                      </a:r>
                    </a:p>
                  </a:txBody>
                  <a:tcPr marL="73152" marR="73152" marT="36576" marB="36576" anchor="ctr">
                    <a:solidFill>
                      <a:srgbClr val="F0F5F7"/>
                    </a:solidFill>
                  </a:tcPr>
                </a:tc>
                <a:tc>
                  <a:txBody>
                    <a:bodyPr wrap="square"/>
                    <a:lstStyle/>
                    <a:p>
                      <a:r>
                        <a:rPr sz="1150" b="0" i="0">
                          <a:solidFill>
                            <a:srgbClr val="2A3F4C"/>
                          </a:solidFill>
                          <a:latin typeface="Calibri"/>
                        </a:rPr>
                        <a:t>Adhikari §III, §V; Haque §V</a:t>
                      </a:r>
                    </a:p>
                  </a:txBody>
                  <a:tcPr marL="73152" marR="73152" marT="36576" marB="36576" anchor="ctr">
                    <a:solidFill>
                      <a:srgbClr val="F0F5F7"/>
                    </a:solidFill>
                  </a:tcPr>
                </a:tc>
                <a:tc>
                  <a:txBody>
                    <a:bodyPr wrap="square"/>
                    <a:lstStyle/>
                    <a:p>
                      <a:r>
                        <a:rPr sz="1150" b="0" i="0">
                          <a:solidFill>
                            <a:srgbClr val="2A3F4C"/>
                          </a:solidFill>
                          <a:latin typeface="Calibri"/>
                        </a:rPr>
                        <a:t>Slice PRBs + scheduler</a:t>
                      </a:r>
                    </a:p>
                  </a:txBody>
                  <a:tcPr marL="73152" marR="73152" marT="36576" marB="36576" anchor="ctr">
                    <a:solidFill>
                      <a:srgbClr val="F0F5F7"/>
                    </a:solidFill>
                  </a:tcPr>
                </a:tc>
                <a:tc>
                  <a:txBody>
                    <a:bodyPr wrap="square"/>
                    <a:lstStyle/>
                    <a:p>
                      <a:r>
                        <a:rPr sz="1150" b="0" i="0">
                          <a:solidFill>
                            <a:srgbClr val="2A3F4C"/>
                          </a:solidFill>
                          <a:latin typeface="Calibri"/>
                        </a:rPr>
                        <a:t>LTE, 20 ms, no mini-slots</a:t>
                      </a:r>
                    </a:p>
                  </a:txBody>
                  <a:tcPr marL="73152" marR="73152" marT="36576" marB="36576" anchor="ctr">
                    <a:solidFill>
                      <a:srgbClr val="F0F5F7"/>
                    </a:solidFill>
                  </a:tcPr>
                </a:tc>
                <a:tc>
                  <a:txBody>
                    <a:bodyPr wrap="square"/>
                    <a:lstStyle/>
                    <a:p>
                      <a:r>
                        <a:rPr sz="1150" b="0" i="0">
                          <a:solidFill>
                            <a:srgbClr val="2A3F4C"/>
                          </a:solidFill>
                          <a:latin typeface="Calibri"/>
                        </a:rPr>
                        <a:t>NR numerologies in 5G-LENA</a:t>
                      </a:r>
                    </a:p>
                  </a:txBody>
                  <a:tcPr marL="73152" marR="73152" marT="36576" marB="36576" anchor="ctr">
                    <a:solidFill>
                      <a:srgbClr val="F0F5F7"/>
                    </a:solidFill>
                  </a:tcPr>
                </a:tc>
              </a:tr>
              <a:tr h="548640">
                <a:tc>
                  <a:txBody>
                    <a:bodyPr wrap="square"/>
                    <a:lstStyle/>
                    <a:p>
                      <a:r>
                        <a:rPr sz="1150" b="1" i="0">
                          <a:solidFill>
                            <a:srgbClr val="12394D"/>
                          </a:solidFill>
                          <a:latin typeface="Calibri"/>
                        </a:rPr>
                        <a:t>RIC placement and timescale</a:t>
                      </a:r>
                    </a:p>
                  </a:txBody>
                  <a:tcPr marL="73152" marR="73152" marT="36576" marB="36576" anchor="ctr">
                    <a:solidFill>
                      <a:srgbClr val="FFFFFF"/>
                    </a:solidFill>
                  </a:tcPr>
                </a:tc>
                <a:tc>
                  <a:txBody>
                    <a:bodyPr wrap="square"/>
                    <a:lstStyle/>
                    <a:p>
                      <a:r>
                        <a:rPr sz="1150" b="0" i="0">
                          <a:solidFill>
                            <a:srgbClr val="2A3F4C"/>
                          </a:solidFill>
                          <a:latin typeface="Calibri"/>
                        </a:rPr>
                        <a:t>Lu §III, p. 14</a:t>
                      </a:r>
                    </a:p>
                  </a:txBody>
                  <a:tcPr marL="73152" marR="73152" marT="36576" marB="36576" anchor="ctr">
                    <a:solidFill>
                      <a:srgbClr val="FFFFFF"/>
                    </a:solidFill>
                  </a:tcPr>
                </a:tc>
                <a:tc>
                  <a:txBody>
                    <a:bodyPr wrap="square"/>
                    <a:lstStyle/>
                    <a:p>
                      <a:r>
                        <a:rPr sz="1150" b="0" i="0">
                          <a:solidFill>
                            <a:srgbClr val="2A3F4C"/>
                          </a:solidFill>
                          <a:latin typeface="Calibri"/>
                        </a:rPr>
                        <a:t>Claims Near-RT</a:t>
                      </a:r>
                    </a:p>
                  </a:txBody>
                  <a:tcPr marL="73152" marR="73152" marT="36576" marB="36576" anchor="ctr">
                    <a:solidFill>
                      <a:srgbClr val="FFFFFF"/>
                    </a:solidFill>
                  </a:tcPr>
                </a:tc>
                <a:tc>
                  <a:txBody>
                    <a:bodyPr wrap="square"/>
                    <a:lstStyle/>
                    <a:p>
                      <a:r>
                        <a:rPr sz="1150" b="0" i="0">
                          <a:solidFill>
                            <a:srgbClr val="2A3F4C"/>
                          </a:solidFill>
                          <a:latin typeface="Calibri"/>
                        </a:rPr>
                        <a:t>5 s is a Non-RT loop</a:t>
                      </a:r>
                    </a:p>
                  </a:txBody>
                  <a:tcPr marL="73152" marR="73152" marT="36576" marB="36576" anchor="ctr">
                    <a:solidFill>
                      <a:srgbClr val="FFFFFF"/>
                    </a:solidFill>
                  </a:tcPr>
                </a:tc>
                <a:tc>
                  <a:txBody>
                    <a:bodyPr wrap="square"/>
                    <a:lstStyle/>
                    <a:p>
                      <a:r>
                        <a:rPr sz="1150" b="0" i="0">
                          <a:solidFill>
                            <a:srgbClr val="2A3F4C"/>
                          </a:solidFill>
                          <a:latin typeface="Calibri"/>
                        </a:rPr>
                        <a:t>100 ms–1 s loop, or rApp framing</a:t>
                      </a:r>
                    </a:p>
                  </a:txBody>
                  <a:tcPr marL="73152" marR="73152" marT="36576" marB="36576" anchor="ctr">
                    <a:solidFill>
                      <a:srgbClr val="FFFFFF"/>
                    </a:solidFill>
                  </a:tcPr>
                </a:tc>
              </a:tr>
              <a:tr h="548640">
                <a:tc>
                  <a:txBody>
                    <a:bodyPr wrap="square"/>
                    <a:lstStyle/>
                    <a:p>
                      <a:r>
                        <a:rPr sz="1150" b="1" i="0">
                          <a:solidFill>
                            <a:srgbClr val="12394D"/>
                          </a:solidFill>
                          <a:latin typeface="Calibri"/>
                        </a:rPr>
                        <a:t>Offline→online adaptation</a:t>
                      </a:r>
                    </a:p>
                  </a:txBody>
                  <a:tcPr marL="73152" marR="73152" marT="36576" marB="36576" anchor="ctr">
                    <a:solidFill>
                      <a:srgbClr val="F0F5F7"/>
                    </a:solidFill>
                  </a:tcPr>
                </a:tc>
                <a:tc>
                  <a:txBody>
                    <a:bodyPr wrap="square"/>
                    <a:lstStyle/>
                    <a:p>
                      <a:r>
                        <a:rPr sz="1150" b="0" i="0">
                          <a:solidFill>
                            <a:srgbClr val="2A3F4C"/>
                          </a:solidFill>
                          <a:latin typeface="Calibri"/>
                        </a:rPr>
                        <a:t>Lu §XII-A, p. 54</a:t>
                      </a:r>
                    </a:p>
                  </a:txBody>
                  <a:tcPr marL="73152" marR="73152" marT="36576" marB="36576" anchor="ctr">
                    <a:solidFill>
                      <a:srgbClr val="F0F5F7"/>
                    </a:solidFill>
                  </a:tcPr>
                </a:tc>
                <a:tc>
                  <a:txBody>
                    <a:bodyPr wrap="square"/>
                    <a:lstStyle/>
                    <a:p>
                      <a:r>
                        <a:rPr sz="1150" b="0" i="0">
                          <a:solidFill>
                            <a:srgbClr val="2A3F4C"/>
                          </a:solidFill>
                          <a:latin typeface="Calibri"/>
                        </a:rPr>
                        <a:t>Not addressed</a:t>
                      </a:r>
                    </a:p>
                  </a:txBody>
                  <a:tcPr marL="73152" marR="73152" marT="36576" marB="36576" anchor="ctr">
                    <a:solidFill>
                      <a:srgbClr val="F0F5F7"/>
                    </a:solidFill>
                  </a:tcPr>
                </a:tc>
                <a:tc>
                  <a:txBody>
                    <a:bodyPr wrap="square"/>
                    <a:lstStyle/>
                    <a:p>
                      <a:r>
                        <a:rPr sz="1150" b="0" i="0">
                          <a:solidFill>
                            <a:srgbClr val="2A3F4C"/>
                          </a:solidFill>
                          <a:latin typeface="Calibri"/>
                        </a:rPr>
                        <a:t>—</a:t>
                      </a:r>
                    </a:p>
                  </a:txBody>
                  <a:tcPr marL="73152" marR="73152" marT="36576" marB="36576" anchor="ctr">
                    <a:solidFill>
                      <a:srgbClr val="F0F5F7"/>
                    </a:solidFill>
                  </a:tcPr>
                </a:tc>
                <a:tc>
                  <a:txBody>
                    <a:bodyPr wrap="square"/>
                    <a:lstStyle/>
                    <a:p>
                      <a:r>
                        <a:rPr sz="1150" b="0" i="0">
                          <a:solidFill>
                            <a:srgbClr val="2A3F4C"/>
                          </a:solidFill>
                          <a:latin typeface="Calibri"/>
                        </a:rPr>
                        <a:t>Thesis core</a:t>
                      </a:r>
                    </a:p>
                  </a:txBody>
                  <a:tcPr marL="73152" marR="73152" marT="36576" marB="36576" anchor="ctr">
                    <a:solidFill>
                      <a:srgbClr val="F0F5F7"/>
                    </a:solidFill>
                  </a:tcPr>
                </a:tc>
              </a:tr>
              <a:tr h="548640">
                <a:tc>
                  <a:txBody>
                    <a:bodyPr wrap="square"/>
                    <a:lstStyle/>
                    <a:p>
                      <a:r>
                        <a:rPr sz="1150" b="1" i="0">
                          <a:solidFill>
                            <a:srgbClr val="12394D"/>
                          </a:solidFill>
                          <a:latin typeface="Calibri"/>
                        </a:rPr>
                        <a:t>Benchmarks and reproducibility</a:t>
                      </a:r>
                    </a:p>
                  </a:txBody>
                  <a:tcPr marL="73152" marR="73152" marT="36576" marB="36576" anchor="ctr">
                    <a:solidFill>
                      <a:srgbClr val="FFFFFF"/>
                    </a:solidFill>
                  </a:tcPr>
                </a:tc>
                <a:tc>
                  <a:txBody>
                    <a:bodyPr wrap="square"/>
                    <a:lstStyle/>
                    <a:p>
                      <a:r>
                        <a:rPr sz="1150" b="0" i="0">
                          <a:solidFill>
                            <a:srgbClr val="2A3F4C"/>
                          </a:solidFill>
                          <a:latin typeface="Calibri"/>
                        </a:rPr>
                        <a:t>Lu §X-D, §XII-G</a:t>
                      </a:r>
                    </a:p>
                  </a:txBody>
                  <a:tcPr marL="73152" marR="73152" marT="36576" marB="36576" anchor="ctr">
                    <a:solidFill>
                      <a:srgbClr val="FFFFFF"/>
                    </a:solidFill>
                  </a:tcPr>
                </a:tc>
                <a:tc>
                  <a:txBody>
                    <a:bodyPr wrap="square"/>
                    <a:lstStyle/>
                    <a:p>
                      <a:r>
                        <a:rPr sz="1150" b="0" i="0">
                          <a:solidFill>
                            <a:srgbClr val="2A3F4C"/>
                          </a:solidFill>
                          <a:latin typeface="Calibri"/>
                        </a:rPr>
                        <a:t>2–5 seeds, one dataset</a:t>
                      </a:r>
                    </a:p>
                  </a:txBody>
                  <a:tcPr marL="73152" marR="73152" marT="36576" marB="36576" anchor="ctr">
                    <a:solidFill>
                      <a:srgbClr val="FFFFFF"/>
                    </a:solidFill>
                  </a:tcPr>
                </a:tc>
                <a:tc>
                  <a:txBody>
                    <a:bodyPr wrap="square"/>
                    <a:lstStyle/>
                    <a:p>
                      <a:r>
                        <a:rPr sz="1150" b="0" i="0">
                          <a:solidFill>
                            <a:srgbClr val="2A3F4C"/>
                          </a:solidFill>
                          <a:latin typeface="Calibri"/>
                        </a:rPr>
                        <a:t>No CIs, no code release</a:t>
                      </a:r>
                    </a:p>
                  </a:txBody>
                  <a:tcPr marL="73152" marR="73152" marT="36576" marB="36576" anchor="ctr">
                    <a:solidFill>
                      <a:srgbClr val="FFFFFF"/>
                    </a:solidFill>
                  </a:tcPr>
                </a:tc>
                <a:tc>
                  <a:txBody>
                    <a:bodyPr wrap="square"/>
                    <a:lstStyle/>
                    <a:p>
                      <a:r>
                        <a:rPr sz="1150" b="0" i="0">
                          <a:solidFill>
                            <a:srgbClr val="2A3F4C"/>
                          </a:solidFill>
                          <a:latin typeface="Calibri"/>
                        </a:rPr>
                        <a:t>≥ 10 seeds, CIs, released code</a:t>
                      </a:r>
                    </a:p>
                  </a:txBody>
                  <a:tcPr marL="73152" marR="73152" marT="36576" marB="36576" anchor="ctr">
                    <a:solidFill>
                      <a:srgbClr val="FFFFFF"/>
                    </a:solidFill>
                  </a:tcPr>
                </a:tc>
              </a:tr>
            </a:tbl>
          </a:graphicData>
        </a:graphic>
      </p:graphicFrame>
      <p:sp>
        <p:nvSpPr>
          <p:cNvPr id="5" name="Rounded Rectangle 4"/>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Addressed: offline RL with a constraint. Not addressed: switching dynamics, tails, timescale, offline→online.</a:t>
            </a:r>
          </a:p>
        </p:txBody>
      </p:sp>
      <p:sp>
        <p:nvSpPr>
          <p:cNvPr id="7" name="TextBox 6"/>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8"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22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F · Research directions</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Ranked research directions</a:t>
            </a:r>
          </a:p>
        </p:txBody>
      </p:sp>
      <p:graphicFrame>
        <p:nvGraphicFramePr>
          <p:cNvPr id="4" name="Table 3"/>
          <p:cNvGraphicFramePr>
            <a:graphicFrameLocks noGrp="1"/>
          </p:cNvGraphicFramePr>
          <p:nvPr/>
        </p:nvGraphicFramePr>
        <p:xfrm>
          <a:off x="640080" y="1600200"/>
          <a:ext cx="10881360" cy="2633472"/>
        </p:xfrm>
        <a:graphic>
          <a:graphicData uri="http://schemas.openxmlformats.org/drawingml/2006/table">
            <a:tbl>
              <a:tblPr firstRow="1">
                <a:tableStyleId>{5C22544A-7EE6-4342-B048-85BDC9FD1C3A}</a:tableStyleId>
              </a:tblPr>
              <a:tblGrid>
                <a:gridCol w="411480"/>
                <a:gridCol w="5166360"/>
                <a:gridCol w="868680"/>
                <a:gridCol w="1005840"/>
                <a:gridCol w="1005840"/>
                <a:gridCol w="1005840"/>
                <a:gridCol w="914400"/>
                <a:gridCol w="502920"/>
              </a:tblGrid>
              <a:tr h="365760">
                <a:tc>
                  <a:txBody>
                    <a:bodyPr wrap="square"/>
                    <a:lstStyle/>
                    <a:p>
                      <a:r>
                        <a:rPr sz="1150" b="1" i="0">
                          <a:solidFill>
                            <a:srgbClr val="FFFFFF"/>
                          </a:solidFill>
                          <a:latin typeface="Calibri"/>
                        </a:rPr>
                        <a:t>#</a:t>
                      </a:r>
                    </a:p>
                  </a:txBody>
                  <a:tcPr marL="73152" marR="73152" marT="36576" marB="36576" anchor="ctr">
                    <a:solidFill>
                      <a:srgbClr val="12394D"/>
                    </a:solidFill>
                  </a:tcPr>
                </a:tc>
                <a:tc>
                  <a:txBody>
                    <a:bodyPr wrap="square"/>
                    <a:lstStyle/>
                    <a:p>
                      <a:r>
                        <a:rPr sz="1150" b="1" i="0">
                          <a:solidFill>
                            <a:srgbClr val="FFFFFF"/>
                          </a:solidFill>
                          <a:latin typeface="Calibri"/>
                        </a:rPr>
                        <a:t>Direction</a:t>
                      </a:r>
                    </a:p>
                  </a:txBody>
                  <a:tcPr marL="73152" marR="73152" marT="36576" marB="36576" anchor="ctr">
                    <a:solidFill>
                      <a:srgbClr val="12394D"/>
                    </a:solidFill>
                  </a:tcPr>
                </a:tc>
                <a:tc>
                  <a:txBody>
                    <a:bodyPr wrap="square"/>
                    <a:lstStyle/>
                    <a:p>
                      <a:r>
                        <a:rPr sz="1150" b="1" i="0">
                          <a:solidFill>
                            <a:srgbClr val="FFFFFF"/>
                          </a:solidFill>
                          <a:latin typeface="Calibri"/>
                        </a:rPr>
                        <a:t>Novelty</a:t>
                      </a:r>
                    </a:p>
                  </a:txBody>
                  <a:tcPr marL="73152" marR="73152" marT="36576" marB="36576" anchor="ctr">
                    <a:solidFill>
                      <a:srgbClr val="12394D"/>
                    </a:solidFill>
                  </a:tcPr>
                </a:tc>
                <a:tc>
                  <a:txBody>
                    <a:bodyPr wrap="square"/>
                    <a:lstStyle/>
                    <a:p>
                      <a:r>
                        <a:rPr sz="1150" b="1" i="0">
                          <a:solidFill>
                            <a:srgbClr val="FFFFFF"/>
                          </a:solidFill>
                          <a:latin typeface="Calibri"/>
                        </a:rPr>
                        <a:t>Importance</a:t>
                      </a:r>
                    </a:p>
                  </a:txBody>
                  <a:tcPr marL="73152" marR="73152" marT="36576" marB="36576" anchor="ctr">
                    <a:solidFill>
                      <a:srgbClr val="12394D"/>
                    </a:solidFill>
                  </a:tcPr>
                </a:tc>
                <a:tc>
                  <a:txBody>
                    <a:bodyPr wrap="square"/>
                    <a:lstStyle/>
                    <a:p>
                      <a:r>
                        <a:rPr sz="1150" b="1" i="0">
                          <a:solidFill>
                            <a:srgbClr val="FFFFFF"/>
                          </a:solidFill>
                          <a:latin typeface="Calibri"/>
                        </a:rPr>
                        <a:t>Feasibility</a:t>
                      </a:r>
                    </a:p>
                  </a:txBody>
                  <a:tcPr marL="73152" marR="73152" marT="36576" marB="36576" anchor="ctr">
                    <a:solidFill>
                      <a:srgbClr val="12394D"/>
                    </a:solidFill>
                  </a:tcPr>
                </a:tc>
                <a:tc>
                  <a:txBody>
                    <a:bodyPr wrap="square"/>
                    <a:lstStyle/>
                    <a:p>
                      <a:r>
                        <a:rPr sz="1150" b="1" i="0">
                          <a:solidFill>
                            <a:srgbClr val="FFFFFF"/>
                          </a:solidFill>
                          <a:latin typeface="Calibri"/>
                        </a:rPr>
                        <a:t>Credibility</a:t>
                      </a:r>
                    </a:p>
                  </a:txBody>
                  <a:tcPr marL="73152" marR="73152" marT="36576" marB="36576" anchor="ctr">
                    <a:solidFill>
                      <a:srgbClr val="12394D"/>
                    </a:solidFill>
                  </a:tcPr>
                </a:tc>
                <a:tc>
                  <a:txBody>
                    <a:bodyPr wrap="square"/>
                    <a:lstStyle/>
                    <a:p>
                      <a:r>
                        <a:rPr sz="1150" b="1" i="0">
                          <a:solidFill>
                            <a:srgbClr val="FFFFFF"/>
                          </a:solidFill>
                          <a:latin typeface="Calibri"/>
                        </a:rPr>
                        <a:t>Alignment</a:t>
                      </a:r>
                    </a:p>
                  </a:txBody>
                  <a:tcPr marL="73152" marR="73152" marT="36576" marB="36576" anchor="ctr">
                    <a:solidFill>
                      <a:srgbClr val="12394D"/>
                    </a:solidFill>
                  </a:tcPr>
                </a:tc>
                <a:tc>
                  <a:txBody>
                    <a:bodyPr wrap="square"/>
                    <a:lstStyle/>
                    <a:p>
                      <a:r>
                        <a:rPr sz="1150" b="1" i="0">
                          <a:solidFill>
                            <a:srgbClr val="FFFFFF"/>
                          </a:solidFill>
                          <a:latin typeface="Calibri"/>
                        </a:rPr>
                        <a:t>Total</a:t>
                      </a:r>
                    </a:p>
                  </a:txBody>
                  <a:tcPr marL="73152" marR="73152" marT="36576" marB="36576" anchor="ctr">
                    <a:solidFill>
                      <a:srgbClr val="12394D"/>
                    </a:solidFill>
                  </a:tcPr>
                </a:tc>
              </a:tr>
              <a:tr h="566928">
                <a:tc>
                  <a:txBody>
                    <a:bodyPr wrap="square"/>
                    <a:lstStyle/>
                    <a:p>
                      <a:r>
                        <a:rPr sz="1200" b="1" i="0">
                          <a:solidFill>
                            <a:srgbClr val="12394D"/>
                          </a:solidFill>
                          <a:latin typeface="Calibri"/>
                        </a:rPr>
                        <a:t>1</a:t>
                      </a:r>
                    </a:p>
                  </a:txBody>
                  <a:tcPr marL="73152" marR="73152" marT="36576" marB="36576" anchor="ctr">
                    <a:solidFill>
                      <a:srgbClr val="E6F4F2"/>
                    </a:solidFill>
                  </a:tcPr>
                </a:tc>
                <a:tc>
                  <a:txBody>
                    <a:bodyPr wrap="square"/>
                    <a:lstStyle/>
                    <a:p>
                      <a:r>
                        <a:rPr sz="1200" b="1" i="0">
                          <a:solidFill>
                            <a:srgbClr val="12394D"/>
                          </a:solidFill>
                          <a:latin typeface="Calibri"/>
                        </a:rPr>
                        <a:t>Constrained offline→online slice-configuration control with tail-latency constraints</a:t>
                      </a:r>
                    </a:p>
                  </a:txBody>
                  <a:tcPr marL="73152" marR="73152" marT="36576" marB="36576" anchor="ctr">
                    <a:solidFill>
                      <a:srgbClr val="E6F4F2"/>
                    </a:solidFill>
                  </a:tcPr>
                </a:tc>
                <a:tc>
                  <a:txBody>
                    <a:bodyPr wrap="square"/>
                    <a:lstStyle/>
                    <a:p>
                      <a:r>
                        <a:rPr sz="1200" b="1" i="0">
                          <a:solidFill>
                            <a:srgbClr val="12394D"/>
                          </a:solidFill>
                          <a:latin typeface="Calibri"/>
                        </a:rPr>
                        <a:t>3</a:t>
                      </a:r>
                    </a:p>
                  </a:txBody>
                  <a:tcPr marL="73152" marR="73152" marT="36576" marB="36576" anchor="ctr">
                    <a:solidFill>
                      <a:srgbClr val="E6F4F2"/>
                    </a:solidFill>
                  </a:tcPr>
                </a:tc>
                <a:tc>
                  <a:txBody>
                    <a:bodyPr wrap="square"/>
                    <a:lstStyle/>
                    <a:p>
                      <a:r>
                        <a:rPr sz="1200" b="1" i="0">
                          <a:solidFill>
                            <a:srgbClr val="12394D"/>
                          </a:solidFill>
                          <a:latin typeface="Calibri"/>
                        </a:rPr>
                        <a:t>5</a:t>
                      </a:r>
                    </a:p>
                  </a:txBody>
                  <a:tcPr marL="73152" marR="73152" marT="36576" marB="36576" anchor="ctr">
                    <a:solidFill>
                      <a:srgbClr val="E6F4F2"/>
                    </a:solidFill>
                  </a:tcPr>
                </a:tc>
                <a:tc>
                  <a:txBody>
                    <a:bodyPr wrap="square"/>
                    <a:lstStyle/>
                    <a:p>
                      <a:r>
                        <a:rPr sz="1200" b="1" i="0">
                          <a:solidFill>
                            <a:srgbClr val="12394D"/>
                          </a:solidFill>
                          <a:latin typeface="Calibri"/>
                        </a:rPr>
                        <a:t>3</a:t>
                      </a:r>
                    </a:p>
                  </a:txBody>
                  <a:tcPr marL="73152" marR="73152" marT="36576" marB="36576" anchor="ctr">
                    <a:solidFill>
                      <a:srgbClr val="E6F4F2"/>
                    </a:solidFill>
                  </a:tcPr>
                </a:tc>
                <a:tc>
                  <a:txBody>
                    <a:bodyPr wrap="square"/>
                    <a:lstStyle/>
                    <a:p>
                      <a:r>
                        <a:rPr sz="1200" b="1" i="0">
                          <a:solidFill>
                            <a:srgbClr val="12394D"/>
                          </a:solidFill>
                          <a:latin typeface="Calibri"/>
                        </a:rPr>
                        <a:t>4</a:t>
                      </a:r>
                    </a:p>
                  </a:txBody>
                  <a:tcPr marL="73152" marR="73152" marT="36576" marB="36576" anchor="ctr">
                    <a:solidFill>
                      <a:srgbClr val="E6F4F2"/>
                    </a:solidFill>
                  </a:tcPr>
                </a:tc>
                <a:tc>
                  <a:txBody>
                    <a:bodyPr wrap="square"/>
                    <a:lstStyle/>
                    <a:p>
                      <a:r>
                        <a:rPr sz="1200" b="1" i="0">
                          <a:solidFill>
                            <a:srgbClr val="12394D"/>
                          </a:solidFill>
                          <a:latin typeface="Calibri"/>
                        </a:rPr>
                        <a:t>5</a:t>
                      </a:r>
                    </a:p>
                  </a:txBody>
                  <a:tcPr marL="73152" marR="73152" marT="36576" marB="36576" anchor="ctr">
                    <a:solidFill>
                      <a:srgbClr val="E6F4F2"/>
                    </a:solidFill>
                  </a:tcPr>
                </a:tc>
                <a:tc>
                  <a:txBody>
                    <a:bodyPr wrap="square"/>
                    <a:lstStyle/>
                    <a:p>
                      <a:r>
                        <a:rPr sz="1200" b="1" i="0">
                          <a:solidFill>
                            <a:srgbClr val="12394D"/>
                          </a:solidFill>
                          <a:latin typeface="Calibri"/>
                        </a:rPr>
                        <a:t>20</a:t>
                      </a:r>
                    </a:p>
                  </a:txBody>
                  <a:tcPr marL="73152" marR="73152" marT="36576" marB="36576" anchor="ctr">
                    <a:solidFill>
                      <a:srgbClr val="E6F4F2"/>
                    </a:solidFill>
                  </a:tcPr>
                </a:tc>
              </a:tr>
              <a:tr h="566928">
                <a:tc>
                  <a:txBody>
                    <a:bodyPr wrap="square"/>
                    <a:lstStyle/>
                    <a:p>
                      <a:r>
                        <a:rPr sz="1200" b="0" i="0">
                          <a:solidFill>
                            <a:srgbClr val="2A3F4C"/>
                          </a:solidFill>
                          <a:latin typeface="Calibri"/>
                        </a:rPr>
                        <a:t>2</a:t>
                      </a:r>
                    </a:p>
                  </a:txBody>
                  <a:tcPr marL="73152" marR="73152" marT="36576" marB="36576" anchor="ctr">
                    <a:solidFill>
                      <a:srgbClr val="FFFFFF"/>
                    </a:solidFill>
                  </a:tcPr>
                </a:tc>
                <a:tc>
                  <a:txBody>
                    <a:bodyPr wrap="square"/>
                    <a:lstStyle/>
                    <a:p>
                      <a:r>
                        <a:rPr sz="1200" b="0" i="0">
                          <a:solidFill>
                            <a:srgbClr val="2A3F4C"/>
                          </a:solidFill>
                          <a:latin typeface="Calibri"/>
                        </a:rPr>
                        <a:t>Honest revision of Safe-CQL: constrained one-step policy from traces + audit</a:t>
                      </a:r>
                    </a:p>
                  </a:txBody>
                  <a:tcPr marL="73152" marR="73152" marT="36576" marB="36576" anchor="ctr">
                    <a:solidFill>
                      <a:srgbClr val="FFFFFF"/>
                    </a:solidFill>
                  </a:tcPr>
                </a:tc>
                <a:tc>
                  <a:txBody>
                    <a:bodyPr wrap="square"/>
                    <a:lstStyle/>
                    <a:p>
                      <a:r>
                        <a:rPr sz="1200" b="0" i="0">
                          <a:solidFill>
                            <a:srgbClr val="2A3F4C"/>
                          </a:solidFill>
                          <a:latin typeface="Calibri"/>
                        </a:rPr>
                        <a:t>2</a:t>
                      </a:r>
                    </a:p>
                  </a:txBody>
                  <a:tcPr marL="73152" marR="73152" marT="36576" marB="36576" anchor="ctr">
                    <a:solidFill>
                      <a:srgbClr val="FFFFFF"/>
                    </a:solidFill>
                  </a:tcPr>
                </a:tc>
                <a:tc>
                  <a:txBody>
                    <a:bodyPr wrap="square"/>
                    <a:lstStyle/>
                    <a:p>
                      <a:r>
                        <a:rPr sz="1200" b="0" i="0">
                          <a:solidFill>
                            <a:srgbClr val="2A3F4C"/>
                          </a:solidFill>
                          <a:latin typeface="Calibri"/>
                        </a:rPr>
                        <a:t>3</a:t>
                      </a:r>
                    </a:p>
                  </a:txBody>
                  <a:tcPr marL="73152" marR="73152" marT="36576" marB="36576" anchor="ctr">
                    <a:solidFill>
                      <a:srgbClr val="FFFFFF"/>
                    </a:solidFill>
                  </a:tcPr>
                </a:tc>
                <a:tc>
                  <a:txBody>
                    <a:bodyPr wrap="square"/>
                    <a:lstStyle/>
                    <a:p>
                      <a:r>
                        <a:rPr sz="1200" b="0" i="0">
                          <a:solidFill>
                            <a:srgbClr val="2A3F4C"/>
                          </a:solidFill>
                          <a:latin typeface="Calibri"/>
                        </a:rPr>
                        <a:t>5</a:t>
                      </a:r>
                    </a:p>
                  </a:txBody>
                  <a:tcPr marL="73152" marR="73152" marT="36576" marB="36576" anchor="ctr">
                    <a:solidFill>
                      <a:srgbClr val="FFFFFF"/>
                    </a:solidFill>
                  </a:tcPr>
                </a:tc>
                <a:tc>
                  <a:txBody>
                    <a:bodyPr wrap="square"/>
                    <a:lstStyle/>
                    <a:p>
                      <a:r>
                        <a:rPr sz="1200" b="0" i="0">
                          <a:solidFill>
                            <a:srgbClr val="2A3F4C"/>
                          </a:solidFill>
                          <a:latin typeface="Calibri"/>
                        </a:rPr>
                        <a:t>3</a:t>
                      </a:r>
                    </a:p>
                  </a:txBody>
                  <a:tcPr marL="73152" marR="73152" marT="36576" marB="36576" anchor="ctr">
                    <a:solidFill>
                      <a:srgbClr val="FFFFFF"/>
                    </a:solidFill>
                  </a:tcPr>
                </a:tc>
                <a:tc>
                  <a:txBody>
                    <a:bodyPr wrap="square"/>
                    <a:lstStyle/>
                    <a:p>
                      <a:r>
                        <a:rPr sz="1200" b="0" i="0">
                          <a:solidFill>
                            <a:srgbClr val="2A3F4C"/>
                          </a:solidFill>
                          <a:latin typeface="Calibri"/>
                        </a:rPr>
                        <a:t>5</a:t>
                      </a:r>
                    </a:p>
                  </a:txBody>
                  <a:tcPr marL="73152" marR="73152" marT="36576" marB="36576" anchor="ctr">
                    <a:solidFill>
                      <a:srgbClr val="FFFFFF"/>
                    </a:solidFill>
                  </a:tcPr>
                </a:tc>
                <a:tc>
                  <a:txBody>
                    <a:bodyPr wrap="square"/>
                    <a:lstStyle/>
                    <a:p>
                      <a:r>
                        <a:rPr sz="1200" b="0" i="0">
                          <a:solidFill>
                            <a:srgbClr val="2A3F4C"/>
                          </a:solidFill>
                          <a:latin typeface="Calibri"/>
                        </a:rPr>
                        <a:t>18</a:t>
                      </a:r>
                    </a:p>
                  </a:txBody>
                  <a:tcPr marL="73152" marR="73152" marT="36576" marB="36576" anchor="ctr">
                    <a:solidFill>
                      <a:srgbClr val="FFFFFF"/>
                    </a:solidFill>
                  </a:tcPr>
                </a:tc>
              </a:tr>
              <a:tr h="566928">
                <a:tc>
                  <a:txBody>
                    <a:bodyPr wrap="square"/>
                    <a:lstStyle/>
                    <a:p>
                      <a:r>
                        <a:rPr sz="1200" b="0" i="0">
                          <a:solidFill>
                            <a:srgbClr val="2A3F4C"/>
                          </a:solidFill>
                          <a:latin typeface="Calibri"/>
                        </a:rPr>
                        <a:t>3</a:t>
                      </a:r>
                    </a:p>
                  </a:txBody>
                  <a:tcPr marL="73152" marR="73152" marT="36576" marB="36576" anchor="ctr">
                    <a:solidFill>
                      <a:srgbClr val="F0F5F7"/>
                    </a:solidFill>
                  </a:tcPr>
                </a:tc>
                <a:tc>
                  <a:txBody>
                    <a:bodyPr wrap="square"/>
                    <a:lstStyle/>
                    <a:p>
                      <a:r>
                        <a:rPr sz="1200" b="0" i="0">
                          <a:solidFill>
                            <a:srgbClr val="2A3F4C"/>
                          </a:solidFill>
                          <a:latin typeface="Calibri"/>
                        </a:rPr>
                        <a:t>Trace-calibrated ns-3 5G-LENA twin with policy-level fidelity</a:t>
                      </a:r>
                    </a:p>
                  </a:txBody>
                  <a:tcPr marL="73152" marR="73152" marT="36576" marB="36576" anchor="ctr">
                    <a:solidFill>
                      <a:srgbClr val="F0F5F7"/>
                    </a:solidFill>
                  </a:tcPr>
                </a:tc>
                <a:tc>
                  <a:txBody>
                    <a:bodyPr wrap="square"/>
                    <a:lstStyle/>
                    <a:p>
                      <a:r>
                        <a:rPr sz="1200" b="0" i="0">
                          <a:solidFill>
                            <a:srgbClr val="2A3F4C"/>
                          </a:solidFill>
                          <a:latin typeface="Calibri"/>
                        </a:rPr>
                        <a:t>3</a:t>
                      </a:r>
                    </a:p>
                  </a:txBody>
                  <a:tcPr marL="73152" marR="73152" marT="36576" marB="36576" anchor="ctr">
                    <a:solidFill>
                      <a:srgbClr val="F0F5F7"/>
                    </a:solidFill>
                  </a:tcPr>
                </a:tc>
                <a:tc>
                  <a:txBody>
                    <a:bodyPr wrap="square"/>
                    <a:lstStyle/>
                    <a:p>
                      <a:r>
                        <a:rPr sz="1200" b="0" i="0">
                          <a:solidFill>
                            <a:srgbClr val="2A3F4C"/>
                          </a:solidFill>
                          <a:latin typeface="Calibri"/>
                        </a:rPr>
                        <a:t>4</a:t>
                      </a:r>
                    </a:p>
                  </a:txBody>
                  <a:tcPr marL="73152" marR="73152" marT="36576" marB="36576" anchor="ctr">
                    <a:solidFill>
                      <a:srgbClr val="F0F5F7"/>
                    </a:solidFill>
                  </a:tcPr>
                </a:tc>
                <a:tc>
                  <a:txBody>
                    <a:bodyPr wrap="square"/>
                    <a:lstStyle/>
                    <a:p>
                      <a:r>
                        <a:rPr sz="1200" b="0" i="0">
                          <a:solidFill>
                            <a:srgbClr val="2A3F4C"/>
                          </a:solidFill>
                          <a:latin typeface="Calibri"/>
                        </a:rPr>
                        <a:t>3</a:t>
                      </a:r>
                    </a:p>
                  </a:txBody>
                  <a:tcPr marL="73152" marR="73152" marT="36576" marB="36576" anchor="ctr">
                    <a:solidFill>
                      <a:srgbClr val="F0F5F7"/>
                    </a:solidFill>
                  </a:tcPr>
                </a:tc>
                <a:tc>
                  <a:txBody>
                    <a:bodyPr wrap="square"/>
                    <a:lstStyle/>
                    <a:p>
                      <a:r>
                        <a:rPr sz="1200" b="0" i="0">
                          <a:solidFill>
                            <a:srgbClr val="2A3F4C"/>
                          </a:solidFill>
                          <a:latin typeface="Calibri"/>
                        </a:rPr>
                        <a:t>4</a:t>
                      </a:r>
                    </a:p>
                  </a:txBody>
                  <a:tcPr marL="73152" marR="73152" marT="36576" marB="36576" anchor="ctr">
                    <a:solidFill>
                      <a:srgbClr val="F0F5F7"/>
                    </a:solidFill>
                  </a:tcPr>
                </a:tc>
                <a:tc>
                  <a:txBody>
                    <a:bodyPr wrap="square"/>
                    <a:lstStyle/>
                    <a:p>
                      <a:r>
                        <a:rPr sz="1200" b="0" i="0">
                          <a:solidFill>
                            <a:srgbClr val="2A3F4C"/>
                          </a:solidFill>
                          <a:latin typeface="Calibri"/>
                        </a:rPr>
                        <a:t>4</a:t>
                      </a:r>
                    </a:p>
                  </a:txBody>
                  <a:tcPr marL="73152" marR="73152" marT="36576" marB="36576" anchor="ctr">
                    <a:solidFill>
                      <a:srgbClr val="F0F5F7"/>
                    </a:solidFill>
                  </a:tcPr>
                </a:tc>
                <a:tc>
                  <a:txBody>
                    <a:bodyPr wrap="square"/>
                    <a:lstStyle/>
                    <a:p>
                      <a:r>
                        <a:rPr sz="1200" b="0" i="0">
                          <a:solidFill>
                            <a:srgbClr val="2A3F4C"/>
                          </a:solidFill>
                          <a:latin typeface="Calibri"/>
                        </a:rPr>
                        <a:t>18</a:t>
                      </a:r>
                    </a:p>
                  </a:txBody>
                  <a:tcPr marL="73152" marR="73152" marT="36576" marB="36576" anchor="ctr">
                    <a:solidFill>
                      <a:srgbClr val="F0F5F7"/>
                    </a:solidFill>
                  </a:tcPr>
                </a:tc>
              </a:tr>
              <a:tr h="566928">
                <a:tc>
                  <a:txBody>
                    <a:bodyPr wrap="square"/>
                    <a:lstStyle/>
                    <a:p>
                      <a:r>
                        <a:rPr sz="1200" b="0" i="0">
                          <a:solidFill>
                            <a:srgbClr val="2A3F4C"/>
                          </a:solidFill>
                          <a:latin typeface="Calibri"/>
                        </a:rPr>
                        <a:t>4</a:t>
                      </a:r>
                    </a:p>
                  </a:txBody>
                  <a:tcPr marL="73152" marR="73152" marT="36576" marB="36576" anchor="ctr">
                    <a:solidFill>
                      <a:srgbClr val="FFFFFF"/>
                    </a:solidFill>
                  </a:tcPr>
                </a:tc>
                <a:tc>
                  <a:txBody>
                    <a:bodyPr wrap="square"/>
                    <a:lstStyle/>
                    <a:p>
                      <a:r>
                        <a:rPr sz="1200" b="0" i="0">
                          <a:solidFill>
                            <a:srgbClr val="2A3F4C"/>
                          </a:solidFill>
                          <a:latin typeface="Calibri"/>
                        </a:rPr>
                        <a:t>Off-policy evaluation and support diagnostics for configuration policies</a:t>
                      </a:r>
                    </a:p>
                  </a:txBody>
                  <a:tcPr marL="73152" marR="73152" marT="36576" marB="36576" anchor="ctr">
                    <a:solidFill>
                      <a:srgbClr val="FFFFFF"/>
                    </a:solidFill>
                  </a:tcPr>
                </a:tc>
                <a:tc>
                  <a:txBody>
                    <a:bodyPr wrap="square"/>
                    <a:lstStyle/>
                    <a:p>
                      <a:r>
                        <a:rPr sz="1200" b="0" i="0">
                          <a:solidFill>
                            <a:srgbClr val="2A3F4C"/>
                          </a:solidFill>
                          <a:latin typeface="Calibri"/>
                        </a:rPr>
                        <a:t>3</a:t>
                      </a:r>
                    </a:p>
                  </a:txBody>
                  <a:tcPr marL="73152" marR="73152" marT="36576" marB="36576" anchor="ctr">
                    <a:solidFill>
                      <a:srgbClr val="FFFFFF"/>
                    </a:solidFill>
                  </a:tcPr>
                </a:tc>
                <a:tc>
                  <a:txBody>
                    <a:bodyPr wrap="square"/>
                    <a:lstStyle/>
                    <a:p>
                      <a:r>
                        <a:rPr sz="1200" b="0" i="0">
                          <a:solidFill>
                            <a:srgbClr val="2A3F4C"/>
                          </a:solidFill>
                          <a:latin typeface="Calibri"/>
                        </a:rPr>
                        <a:t>3</a:t>
                      </a:r>
                    </a:p>
                  </a:txBody>
                  <a:tcPr marL="73152" marR="73152" marT="36576" marB="36576" anchor="ctr">
                    <a:solidFill>
                      <a:srgbClr val="FFFFFF"/>
                    </a:solidFill>
                  </a:tcPr>
                </a:tc>
                <a:tc>
                  <a:txBody>
                    <a:bodyPr wrap="square"/>
                    <a:lstStyle/>
                    <a:p>
                      <a:r>
                        <a:rPr sz="1200" b="0" i="0">
                          <a:solidFill>
                            <a:srgbClr val="2A3F4C"/>
                          </a:solidFill>
                          <a:latin typeface="Calibri"/>
                        </a:rPr>
                        <a:t>4</a:t>
                      </a:r>
                    </a:p>
                  </a:txBody>
                  <a:tcPr marL="73152" marR="73152" marT="36576" marB="36576" anchor="ctr">
                    <a:solidFill>
                      <a:srgbClr val="FFFFFF"/>
                    </a:solidFill>
                  </a:tcPr>
                </a:tc>
                <a:tc>
                  <a:txBody>
                    <a:bodyPr wrap="square"/>
                    <a:lstStyle/>
                    <a:p>
                      <a:r>
                        <a:rPr sz="1200" b="0" i="0">
                          <a:solidFill>
                            <a:srgbClr val="2A3F4C"/>
                          </a:solidFill>
                          <a:latin typeface="Calibri"/>
                        </a:rPr>
                        <a:t>3</a:t>
                      </a:r>
                    </a:p>
                  </a:txBody>
                  <a:tcPr marL="73152" marR="73152" marT="36576" marB="36576" anchor="ctr">
                    <a:solidFill>
                      <a:srgbClr val="FFFFFF"/>
                    </a:solidFill>
                  </a:tcPr>
                </a:tc>
                <a:tc>
                  <a:txBody>
                    <a:bodyPr wrap="square"/>
                    <a:lstStyle/>
                    <a:p>
                      <a:r>
                        <a:rPr sz="1200" b="0" i="0">
                          <a:solidFill>
                            <a:srgbClr val="2A3F4C"/>
                          </a:solidFill>
                          <a:latin typeface="Calibri"/>
                        </a:rPr>
                        <a:t>4</a:t>
                      </a:r>
                    </a:p>
                  </a:txBody>
                  <a:tcPr marL="73152" marR="73152" marT="36576" marB="36576" anchor="ctr">
                    <a:solidFill>
                      <a:srgbClr val="FFFFFF"/>
                    </a:solidFill>
                  </a:tcPr>
                </a:tc>
                <a:tc>
                  <a:txBody>
                    <a:bodyPr wrap="square"/>
                    <a:lstStyle/>
                    <a:p>
                      <a:r>
                        <a:rPr sz="1200" b="0" i="0">
                          <a:solidFill>
                            <a:srgbClr val="2A3F4C"/>
                          </a:solidFill>
                          <a:latin typeface="Calibri"/>
                        </a:rPr>
                        <a:t>17</a:t>
                      </a:r>
                    </a:p>
                  </a:txBody>
                  <a:tcPr marL="73152" marR="73152" marT="36576" marB="36576" anchor="ctr">
                    <a:solidFill>
                      <a:srgbClr val="FFFFFF"/>
                    </a:solidFill>
                  </a:tcPr>
                </a:tc>
              </a:tr>
            </a:tbl>
          </a:graphicData>
        </a:graphic>
      </p:graphicFrame>
      <p:sp>
        <p:nvSpPr>
          <p:cNvPr id="5" name="TextBox 4"/>
          <p:cNvSpPr txBox="1"/>
          <p:nvPr/>
        </p:nvSpPr>
        <p:spPr>
          <a:xfrm>
            <a:off x="640080" y="4343400"/>
            <a:ext cx="10881360" cy="274320"/>
          </a:xfrm>
          <a:prstGeom prst="rect">
            <a:avLst/>
          </a:prstGeom>
          <a:noFill/>
        </p:spPr>
        <p:txBody>
          <a:bodyPr wrap="square" lIns="0" rIns="0" tIns="0" bIns="0" anchor="t">
            <a:spAutoFit/>
          </a:bodyPr>
          <a:lstStyle/>
          <a:p>
            <a:pPr algn="l"/>
            <a:r>
              <a:rPr sz="1200" b="1" i="0" spc="100">
                <a:solidFill>
                  <a:srgbClr val="1A8A99"/>
                </a:solidFill>
                <a:latin typeface="Calibri"/>
              </a:rPr>
              <a:t>SET ASIDE FOR NOW</a:t>
            </a:r>
          </a:p>
        </p:txBody>
      </p:sp>
      <p:sp>
        <p:nvSpPr>
          <p:cNvPr id="6" name="TextBox 5"/>
          <p:cNvSpPr txBox="1"/>
          <p:nvPr/>
        </p:nvSpPr>
        <p:spPr>
          <a:xfrm>
            <a:off x="640080" y="4663440"/>
            <a:ext cx="10881360" cy="777240"/>
          </a:xfrm>
          <a:prstGeom prst="rect">
            <a:avLst/>
          </a:prstGeom>
          <a:noFill/>
        </p:spPr>
        <p:txBody>
          <a:bodyPr wrap="square" lIns="0" rIns="0" tIns="0" bIns="0" anchor="t">
            <a:spAutoFit/>
          </a:bodyPr>
          <a:lstStyle/>
          <a:p>
            <a:pPr algn="l"/>
            <a:r>
              <a:rPr sz="1250" b="0" i="0">
                <a:solidFill>
                  <a:srgbClr val="2A3F4C"/>
                </a:solidFill>
                <a:latin typeface="Calibri"/>
              </a:rPr>
              <a:t>Multi-xApp MARL (premature before single-cell credibility) · LLM / agentic control (weak alignment) · mini-slot puncturing dApp (sub-10 ms, outside RIC reach) · RIS/UAV coexistence (different expertise).</a:t>
            </a:r>
          </a:p>
        </p:txBody>
      </p:sp>
      <p:sp>
        <p:nvSpPr>
          <p:cNvPr id="7" name="Rounded Rectangle 6"/>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Do 2 now, build 3 as the enabler, and make 1 the thesis core.</a:t>
            </a:r>
          </a:p>
        </p:txBody>
      </p:sp>
      <p:sp>
        <p:nvSpPr>
          <p:cNvPr id="9" name="TextBox 8"/>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10"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23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F · Recommended core</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Core direction: constrained offline-to-online control</a:t>
            </a:r>
          </a:p>
        </p:txBody>
      </p:sp>
      <p:sp>
        <p:nvSpPr>
          <p:cNvPr id="4" name="Rounded Rectangle 3"/>
          <p:cNvSpPr/>
          <p:nvPr/>
        </p:nvSpPr>
        <p:spPr>
          <a:xfrm>
            <a:off x="640080" y="1600200"/>
            <a:ext cx="5486400" cy="1600200"/>
          </a:xfrm>
          <a:prstGeom prst="roundRect">
            <a:avLst>
              <a:gd name="adj" fmla="val 8000"/>
            </a:avLst>
          </a:prstGeom>
          <a:solidFill>
            <a:srgbClr val="123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37360"/>
            <a:ext cx="5029200" cy="274320"/>
          </a:xfrm>
          <a:prstGeom prst="rect">
            <a:avLst/>
          </a:prstGeom>
          <a:noFill/>
        </p:spPr>
        <p:txBody>
          <a:bodyPr wrap="square" lIns="0" rIns="0" tIns="0" bIns="0" anchor="t">
            <a:spAutoFit/>
          </a:bodyPr>
          <a:lstStyle/>
          <a:p>
            <a:pPr algn="l"/>
            <a:r>
              <a:rPr sz="1200" b="1" i="0" spc="100">
                <a:solidFill>
                  <a:srgbClr val="2BB3A3"/>
                </a:solidFill>
                <a:latin typeface="Calibri"/>
              </a:rPr>
              <a:t>RESEARCH QUESTION</a:t>
            </a:r>
          </a:p>
        </p:txBody>
      </p:sp>
      <p:sp>
        <p:nvSpPr>
          <p:cNvPr id="6" name="TextBox 5"/>
          <p:cNvSpPr txBox="1"/>
          <p:nvPr/>
        </p:nvSpPr>
        <p:spPr>
          <a:xfrm>
            <a:off x="868680" y="2057400"/>
            <a:ext cx="5074920" cy="1097280"/>
          </a:xfrm>
          <a:prstGeom prst="rect">
            <a:avLst/>
          </a:prstGeom>
          <a:noFill/>
        </p:spPr>
        <p:txBody>
          <a:bodyPr wrap="square" lIns="0" rIns="0" tIns="0" bIns="0" anchor="t">
            <a:spAutoFit/>
          </a:bodyPr>
          <a:lstStyle/>
          <a:p>
            <a:pPr algn="l"/>
            <a:r>
              <a:rPr sz="1400" b="1" i="0">
                <a:solidFill>
                  <a:srgbClr val="FFFFFF"/>
                </a:solidFill>
                <a:latin typeface="Cambria"/>
              </a:rPr>
              <a:t>Can a policy pre-trained on logged slice-configuration decisions be fine-tuned online with bounded cumulative tail-latency violations under traffic shift, faster than constrained RL from scratch?</a:t>
            </a:r>
          </a:p>
        </p:txBody>
      </p:sp>
      <p:sp>
        <p:nvSpPr>
          <p:cNvPr id="7" name="TextBox 6"/>
          <p:cNvSpPr txBox="1"/>
          <p:nvPr/>
        </p:nvSpPr>
        <p:spPr>
          <a:xfrm>
            <a:off x="640080" y="3383280"/>
            <a:ext cx="5486400" cy="274320"/>
          </a:xfrm>
          <a:prstGeom prst="rect">
            <a:avLst/>
          </a:prstGeom>
          <a:noFill/>
        </p:spPr>
        <p:txBody>
          <a:bodyPr wrap="square" lIns="0" rIns="0" tIns="0" bIns="0" anchor="t">
            <a:spAutoFit/>
          </a:bodyPr>
          <a:lstStyle/>
          <a:p>
            <a:pPr algn="l"/>
            <a:r>
              <a:rPr sz="1200" b="1" i="0" spc="100">
                <a:solidFill>
                  <a:srgbClr val="1A8A99"/>
                </a:solidFill>
                <a:latin typeface="Calibri"/>
              </a:rPr>
              <a:t>EXPECTED CONTRIBUTIONS</a:t>
            </a:r>
          </a:p>
        </p:txBody>
      </p:sp>
      <p:sp>
        <p:nvSpPr>
          <p:cNvPr id="8" name="Oval 7"/>
          <p:cNvSpPr/>
          <p:nvPr/>
        </p:nvSpPr>
        <p:spPr>
          <a:xfrm>
            <a:off x="640080" y="3730752"/>
            <a:ext cx="347472" cy="347472"/>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730752"/>
            <a:ext cx="347472" cy="347472"/>
          </a:xfrm>
          <a:prstGeom prst="rect">
            <a:avLst/>
          </a:prstGeom>
          <a:noFill/>
        </p:spPr>
        <p:txBody>
          <a:bodyPr wrap="square" lIns="0" rIns="0" tIns="0" bIns="0" anchor="ctr">
            <a:spAutoFit/>
          </a:bodyPr>
          <a:lstStyle/>
          <a:p>
            <a:pPr algn="ctr"/>
            <a:r>
              <a:rPr sz="1200" b="1" i="0">
                <a:solidFill>
                  <a:srgbClr val="FFFFFF"/>
                </a:solidFill>
                <a:latin typeface="Cambria"/>
              </a:rPr>
              <a:t>1</a:t>
            </a:r>
          </a:p>
        </p:txBody>
      </p:sp>
      <p:sp>
        <p:nvSpPr>
          <p:cNvPr id="10" name="TextBox 9"/>
          <p:cNvSpPr txBox="1"/>
          <p:nvPr/>
        </p:nvSpPr>
        <p:spPr>
          <a:xfrm>
            <a:off x="1143000" y="3712464"/>
            <a:ext cx="4983480" cy="548640"/>
          </a:xfrm>
          <a:prstGeom prst="rect">
            <a:avLst/>
          </a:prstGeom>
          <a:noFill/>
        </p:spPr>
        <p:txBody>
          <a:bodyPr wrap="square" lIns="0" rIns="0" tIns="0" bIns="0" anchor="t">
            <a:spAutoFit/>
          </a:bodyPr>
          <a:lstStyle/>
          <a:p>
            <a:pPr algn="l"/>
            <a:r>
              <a:rPr sz="1250" b="0" i="0">
                <a:solidFill>
                  <a:srgbClr val="2A3F4C"/>
                </a:solidFill>
                <a:latin typeface="Calibri"/>
              </a:rPr>
              <a:t>Decision-logged eMBB / latency-sensitive dataset generator with known behaviour propensities</a:t>
            </a:r>
          </a:p>
        </p:txBody>
      </p:sp>
      <p:sp>
        <p:nvSpPr>
          <p:cNvPr id="11" name="Oval 10"/>
          <p:cNvSpPr/>
          <p:nvPr/>
        </p:nvSpPr>
        <p:spPr>
          <a:xfrm>
            <a:off x="640080" y="4297680"/>
            <a:ext cx="347472" cy="347472"/>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297680"/>
            <a:ext cx="347472" cy="347472"/>
          </a:xfrm>
          <a:prstGeom prst="rect">
            <a:avLst/>
          </a:prstGeom>
          <a:noFill/>
        </p:spPr>
        <p:txBody>
          <a:bodyPr wrap="square" lIns="0" rIns="0" tIns="0" bIns="0" anchor="ctr">
            <a:spAutoFit/>
          </a:bodyPr>
          <a:lstStyle/>
          <a:p>
            <a:pPr algn="ctr"/>
            <a:r>
              <a:rPr sz="1200" b="1" i="0">
                <a:solidFill>
                  <a:srgbClr val="FFFFFF"/>
                </a:solidFill>
                <a:latin typeface="Cambria"/>
              </a:rPr>
              <a:t>2</a:t>
            </a:r>
          </a:p>
        </p:txBody>
      </p:sp>
      <p:sp>
        <p:nvSpPr>
          <p:cNvPr id="13" name="TextBox 12"/>
          <p:cNvSpPr txBox="1"/>
          <p:nvPr/>
        </p:nvSpPr>
        <p:spPr>
          <a:xfrm>
            <a:off x="1143000" y="4279392"/>
            <a:ext cx="4983480" cy="548640"/>
          </a:xfrm>
          <a:prstGeom prst="rect">
            <a:avLst/>
          </a:prstGeom>
          <a:noFill/>
        </p:spPr>
        <p:txBody>
          <a:bodyPr wrap="square" lIns="0" rIns="0" tIns="0" bIns="0" anchor="t">
            <a:spAutoFit/>
          </a:bodyPr>
          <a:lstStyle/>
          <a:p>
            <a:pPr algn="l"/>
            <a:r>
              <a:rPr sz="1250" b="0" i="0">
                <a:solidFill>
                  <a:srgbClr val="2A3F4C"/>
                </a:solidFill>
                <a:latin typeface="Calibri"/>
              </a:rPr>
              <a:t>Support-aware shield and chance / CVaR latency constraint for offline→online fine-tuning</a:t>
            </a:r>
          </a:p>
        </p:txBody>
      </p:sp>
      <p:sp>
        <p:nvSpPr>
          <p:cNvPr id="14" name="Oval 13"/>
          <p:cNvSpPr/>
          <p:nvPr/>
        </p:nvSpPr>
        <p:spPr>
          <a:xfrm>
            <a:off x="640080" y="4864608"/>
            <a:ext cx="347472" cy="347472"/>
          </a:xfrm>
          <a:prstGeom prst="ellipse">
            <a:avLst/>
          </a:prstGeom>
          <a:solidFill>
            <a:srgbClr val="1A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864608"/>
            <a:ext cx="347472" cy="347472"/>
          </a:xfrm>
          <a:prstGeom prst="rect">
            <a:avLst/>
          </a:prstGeom>
          <a:noFill/>
        </p:spPr>
        <p:txBody>
          <a:bodyPr wrap="square" lIns="0" rIns="0" tIns="0" bIns="0" anchor="ctr">
            <a:spAutoFit/>
          </a:bodyPr>
          <a:lstStyle/>
          <a:p>
            <a:pPr algn="ctr"/>
            <a:r>
              <a:rPr sz="1200" b="1" i="0">
                <a:solidFill>
                  <a:srgbClr val="FFFFFF"/>
                </a:solidFill>
                <a:latin typeface="Cambria"/>
              </a:rPr>
              <a:t>3</a:t>
            </a:r>
          </a:p>
        </p:txBody>
      </p:sp>
      <p:sp>
        <p:nvSpPr>
          <p:cNvPr id="16" name="TextBox 15"/>
          <p:cNvSpPr txBox="1"/>
          <p:nvPr/>
        </p:nvSpPr>
        <p:spPr>
          <a:xfrm>
            <a:off x="1143000" y="4846320"/>
            <a:ext cx="4983480" cy="548640"/>
          </a:xfrm>
          <a:prstGeom prst="rect">
            <a:avLst/>
          </a:prstGeom>
          <a:noFill/>
        </p:spPr>
        <p:txBody>
          <a:bodyPr wrap="square" lIns="0" rIns="0" tIns="0" bIns="0" anchor="t">
            <a:spAutoFit/>
          </a:bodyPr>
          <a:lstStyle/>
          <a:p>
            <a:pPr algn="l"/>
            <a:r>
              <a:rPr sz="1250" b="0" i="0">
                <a:solidFill>
                  <a:srgbClr val="2A3F4C"/>
                </a:solidFill>
                <a:latin typeface="Calibri"/>
              </a:rPr>
              <a:t>Evidence on cumulative violations and sample efficiency against online baselines</a:t>
            </a:r>
          </a:p>
        </p:txBody>
      </p:sp>
      <p:sp>
        <p:nvSpPr>
          <p:cNvPr id="17" name="Rounded Rectangle 16"/>
          <p:cNvSpPr/>
          <p:nvPr/>
        </p:nvSpPr>
        <p:spPr>
          <a:xfrm>
            <a:off x="6400800" y="1600200"/>
            <a:ext cx="5120640" cy="379476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1737360"/>
            <a:ext cx="4663440" cy="274320"/>
          </a:xfrm>
          <a:prstGeom prst="rect">
            <a:avLst/>
          </a:prstGeom>
          <a:noFill/>
        </p:spPr>
        <p:txBody>
          <a:bodyPr wrap="square" lIns="0" rIns="0" tIns="0" bIns="0" anchor="t">
            <a:spAutoFit/>
          </a:bodyPr>
          <a:lstStyle/>
          <a:p>
            <a:pPr algn="l"/>
            <a:r>
              <a:rPr sz="1200" b="1" i="0" spc="100">
                <a:solidFill>
                  <a:srgbClr val="1A8A99"/>
                </a:solidFill>
                <a:latin typeface="Calibri"/>
              </a:rPr>
              <a:t>FORMULATION CHANGES</a:t>
            </a:r>
          </a:p>
        </p:txBody>
      </p:sp>
      <p:sp>
        <p:nvSpPr>
          <p:cNvPr id="19" name="TextBox 18"/>
          <p:cNvSpPr txBox="1"/>
          <p:nvPr/>
        </p:nvSpPr>
        <p:spPr>
          <a:xfrm>
            <a:off x="6629400" y="2057400"/>
            <a:ext cx="4709160" cy="1554480"/>
          </a:xfrm>
          <a:prstGeom prst="rect">
            <a:avLst/>
          </a:prstGeom>
          <a:noFill/>
        </p:spPr>
        <p:txBody>
          <a:bodyPr wrap="square" lIns="0" rIns="0" tIns="0" bIns="0" anchor="t">
            <a:spAutoFit/>
          </a:bodyPr>
          <a:lstStyle/>
          <a:p>
            <a:pPr algn="l">
              <a:spcAft>
                <a:spcPts val="400"/>
              </a:spcAft>
            </a:pPr>
            <a:r>
              <a:rPr sz="1200" b="1" i="0">
                <a:solidFill>
                  <a:srgbClr val="1A8A99"/>
                </a:solidFill>
                <a:latin typeface="Calibri"/>
              </a:rPr>
              <a:t>–  </a:t>
            </a:r>
            <a:r>
              <a:rPr sz="1200" b="0" i="0">
                <a:solidFill>
                  <a:srgbClr val="2A3F4C"/>
                </a:solidFill>
                <a:latin typeface="Calibri"/>
              </a:rPr>
              <a:t>Constraint P(ℓ &gt; L_max) ≤ ε, or a CVaR, instead of a mean rate</a:t>
            </a:r>
          </a:p>
          <a:p>
            <a:pPr algn="l">
              <a:spcAft>
                <a:spcPts val="400"/>
              </a:spcAft>
            </a:pPr>
            <a:r>
              <a:rPr sz="1200" b="1" i="0">
                <a:solidFill>
                  <a:srgbClr val="1A8A99"/>
                </a:solidFill>
                <a:latin typeface="Calibri"/>
              </a:rPr>
              <a:t>–  </a:t>
            </a:r>
            <a:r>
              <a:rPr sz="1200" b="0" i="0">
                <a:solidFill>
                  <a:srgbClr val="2A3F4C"/>
                </a:solidFill>
                <a:latin typeface="Calibri"/>
              </a:rPr>
              <a:t>Quantile cost critic with a pessimistic (upper-bound) estimate</a:t>
            </a:r>
          </a:p>
          <a:p>
            <a:pPr algn="l">
              <a:spcAft>
                <a:spcPts val="400"/>
              </a:spcAft>
            </a:pPr>
            <a:r>
              <a:rPr sz="1200" b="1" i="0">
                <a:solidFill>
                  <a:srgbClr val="1A8A99"/>
                </a:solidFill>
                <a:latin typeface="Calibri"/>
              </a:rPr>
              <a:t>–  </a:t>
            </a:r>
            <a:r>
              <a:rPr sz="1200" b="0" i="0">
                <a:solidFill>
                  <a:srgbClr val="2A3F4C"/>
                </a:solidFill>
                <a:latin typeface="Calibri"/>
              </a:rPr>
              <a:t>Decision period 100 ms–1 s; aₜ₋₁ and switching cost in the state</a:t>
            </a:r>
          </a:p>
          <a:p>
            <a:pPr algn="l">
              <a:spcAft>
                <a:spcPts val="400"/>
              </a:spcAft>
            </a:pPr>
            <a:r>
              <a:rPr sz="1200" b="1" i="0">
                <a:solidFill>
                  <a:srgbClr val="1A8A99"/>
                </a:solidFill>
                <a:latin typeface="Calibri"/>
              </a:rPr>
              <a:t>–  </a:t>
            </a:r>
            <a:r>
              <a:rPr sz="1200" b="0" i="0">
                <a:solidFill>
                  <a:srgbClr val="2A3F4C"/>
                </a:solidFill>
                <a:latin typeface="Calibri"/>
              </a:rPr>
              <a:t>Shield: choose among actions whose cost upper bound is ≤ d</a:t>
            </a:r>
          </a:p>
        </p:txBody>
      </p:sp>
      <p:sp>
        <p:nvSpPr>
          <p:cNvPr id="20" name="TextBox 19"/>
          <p:cNvSpPr txBox="1"/>
          <p:nvPr/>
        </p:nvSpPr>
        <p:spPr>
          <a:xfrm>
            <a:off x="6629400" y="3291840"/>
            <a:ext cx="4663440" cy="274320"/>
          </a:xfrm>
          <a:prstGeom prst="rect">
            <a:avLst/>
          </a:prstGeom>
          <a:noFill/>
        </p:spPr>
        <p:txBody>
          <a:bodyPr wrap="square" lIns="0" rIns="0" tIns="0" bIns="0" anchor="t">
            <a:spAutoFit/>
          </a:bodyPr>
          <a:lstStyle/>
          <a:p>
            <a:pPr algn="l"/>
            <a:r>
              <a:rPr sz="1200" b="1" i="0" spc="100">
                <a:solidFill>
                  <a:srgbClr val="B03A2E"/>
                </a:solidFill>
                <a:latin typeface="Calibri"/>
              </a:rPr>
              <a:t>RISKS</a:t>
            </a:r>
          </a:p>
        </p:txBody>
      </p:sp>
      <p:sp>
        <p:nvSpPr>
          <p:cNvPr id="21" name="TextBox 20"/>
          <p:cNvSpPr txBox="1"/>
          <p:nvPr/>
        </p:nvSpPr>
        <p:spPr>
          <a:xfrm>
            <a:off x="6629400" y="3611880"/>
            <a:ext cx="4709160" cy="914400"/>
          </a:xfrm>
          <a:prstGeom prst="rect">
            <a:avLst/>
          </a:prstGeom>
          <a:noFill/>
        </p:spPr>
        <p:txBody>
          <a:bodyPr wrap="square" lIns="0" rIns="0" tIns="0" bIns="0" anchor="t">
            <a:spAutoFit/>
          </a:bodyPr>
          <a:lstStyle/>
          <a:p>
            <a:pPr algn="l">
              <a:spcAft>
                <a:spcPts val="400"/>
              </a:spcAft>
            </a:pPr>
            <a:r>
              <a:rPr sz="1200" b="1" i="0">
                <a:solidFill>
                  <a:srgbClr val="B03A2E"/>
                </a:solidFill>
                <a:latin typeface="Calibri"/>
              </a:rPr>
              <a:t>–  </a:t>
            </a:r>
            <a:r>
              <a:rPr sz="1200" b="0" i="0">
                <a:solidFill>
                  <a:srgbClr val="2A3F4C"/>
                </a:solidFill>
                <a:latin typeface="Calibri"/>
              </a:rPr>
              <a:t>Simulated latency tail may differ from the testbed's</a:t>
            </a:r>
          </a:p>
          <a:p>
            <a:pPr algn="l">
              <a:spcAft>
                <a:spcPts val="400"/>
              </a:spcAft>
            </a:pPr>
            <a:r>
              <a:rPr sz="1200" b="1" i="0">
                <a:solidFill>
                  <a:srgbClr val="B03A2E"/>
                </a:solidFill>
                <a:latin typeface="Calibri"/>
              </a:rPr>
              <a:t>–  </a:t>
            </a:r>
            <a:r>
              <a:rPr sz="1200" b="0" i="0">
                <a:solidFill>
                  <a:srgbClr val="2A3F4C"/>
                </a:solidFill>
                <a:latin typeface="Calibri"/>
              </a:rPr>
              <a:t>Slicing in 5G-LENA needs custom scheduler code</a:t>
            </a:r>
          </a:p>
          <a:p>
            <a:pPr algn="l">
              <a:spcAft>
                <a:spcPts val="400"/>
              </a:spcAft>
            </a:pPr>
            <a:r>
              <a:rPr sz="1200" b="1" i="0">
                <a:solidFill>
                  <a:srgbClr val="B03A2E"/>
                </a:solidFill>
                <a:latin typeface="Calibri"/>
              </a:rPr>
              <a:t>–  </a:t>
            </a:r>
            <a:r>
              <a:rPr sz="1200" b="0" i="0">
                <a:solidFill>
                  <a:srgbClr val="2A3F4C"/>
                </a:solidFill>
                <a:latin typeface="Calibri"/>
              </a:rPr>
              <a:t>Tail metrics need many packets per condition</a:t>
            </a:r>
          </a:p>
        </p:txBody>
      </p:sp>
      <p:sp>
        <p:nvSpPr>
          <p:cNvPr id="22" name="TextBox 21"/>
          <p:cNvSpPr txBox="1"/>
          <p:nvPr/>
        </p:nvSpPr>
        <p:spPr>
          <a:xfrm>
            <a:off x="6629400" y="4663440"/>
            <a:ext cx="4709160" cy="640080"/>
          </a:xfrm>
          <a:prstGeom prst="rect">
            <a:avLst/>
          </a:prstGeom>
          <a:noFill/>
        </p:spPr>
        <p:txBody>
          <a:bodyPr wrap="square" lIns="0" rIns="0" tIns="0" bIns="0" anchor="t">
            <a:spAutoFit/>
          </a:bodyPr>
          <a:lstStyle/>
          <a:p>
            <a:pPr algn="l"/>
            <a:r>
              <a:rPr sz="1100" b="0" i="0">
                <a:solidFill>
                  <a:srgbClr val="5F7A8A"/>
                </a:solidFill>
                <a:latin typeface="Calibri"/>
              </a:rPr>
              <a:t>Novelty to verify: Nagib et al. 2023, SafeSlice 2025, Yang et al. 2024, 2OffRAN 2025, FISOR 2024.</a:t>
            </a:r>
          </a:p>
        </p:txBody>
      </p:sp>
      <p:sp>
        <p:nvSpPr>
          <p:cNvPr id="23" name="Rounded Rectangle 22"/>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Lu names this pipeline as the first open direction (§XII-A, p. 54); Safe-CQL becomes its offline stage.</a:t>
            </a:r>
          </a:p>
        </p:txBody>
      </p:sp>
      <p:sp>
        <p:nvSpPr>
          <p:cNvPr id="25" name="TextBox 24"/>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26"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24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G · Data</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Datasets: what each one can and cannot support</a:t>
            </a:r>
          </a:p>
        </p:txBody>
      </p:sp>
      <p:graphicFrame>
        <p:nvGraphicFramePr>
          <p:cNvPr id="4" name="Table 3"/>
          <p:cNvGraphicFramePr>
            <a:graphicFrameLocks noGrp="1"/>
          </p:cNvGraphicFramePr>
          <p:nvPr/>
        </p:nvGraphicFramePr>
        <p:xfrm>
          <a:off x="640080" y="1600200"/>
          <a:ext cx="10881360" cy="3364992"/>
        </p:xfrm>
        <a:graphic>
          <a:graphicData uri="http://schemas.openxmlformats.org/drawingml/2006/table">
            <a:tbl>
              <a:tblPr firstRow="1">
                <a:tableStyleId>{5C22544A-7EE6-4342-B048-85BDC9FD1C3A}</a:tableStyleId>
              </a:tblPr>
              <a:tblGrid>
                <a:gridCol w="2514600"/>
                <a:gridCol w="4251960"/>
                <a:gridCol w="1783080"/>
                <a:gridCol w="2331720"/>
              </a:tblGrid>
              <a:tr h="365760">
                <a:tc>
                  <a:txBody>
                    <a:bodyPr wrap="square"/>
                    <a:lstStyle/>
                    <a:p>
                      <a:r>
                        <a:rPr sz="1150" b="1" i="0">
                          <a:solidFill>
                            <a:srgbClr val="FFFFFF"/>
                          </a:solidFill>
                          <a:latin typeface="Calibri"/>
                        </a:rPr>
                        <a:t>Dataset</a:t>
                      </a:r>
                    </a:p>
                  </a:txBody>
                  <a:tcPr marL="73152" marR="73152" marT="36576" marB="36576" anchor="ctr">
                    <a:solidFill>
                      <a:srgbClr val="12394D"/>
                    </a:solidFill>
                  </a:tcPr>
                </a:tc>
                <a:tc>
                  <a:txBody>
                    <a:bodyPr wrap="square"/>
                    <a:lstStyle/>
                    <a:p>
                      <a:r>
                        <a:rPr sz="1150" b="1" i="0">
                          <a:solidFill>
                            <a:srgbClr val="FFFFFF"/>
                          </a:solidFill>
                          <a:latin typeface="Calibri"/>
                        </a:rPr>
                        <a:t>Content (checked against documentation)</a:t>
                      </a:r>
                    </a:p>
                  </a:txBody>
                  <a:tcPr marL="73152" marR="73152" marT="36576" marB="36576" anchor="ctr">
                    <a:solidFill>
                      <a:srgbClr val="12394D"/>
                    </a:solidFill>
                  </a:tcPr>
                </a:tc>
                <a:tc>
                  <a:txBody>
                    <a:bodyPr wrap="square"/>
                    <a:lstStyle/>
                    <a:p>
                      <a:r>
                        <a:rPr sz="1150" b="1" i="0">
                          <a:solidFill>
                            <a:srgbClr val="FFFFFF"/>
                          </a:solidFill>
                          <a:latin typeface="Calibri"/>
                        </a:rPr>
                        <a:t>Actions logged?</a:t>
                      </a:r>
                    </a:p>
                  </a:txBody>
                  <a:tcPr marL="73152" marR="73152" marT="36576" marB="36576" anchor="ctr">
                    <a:solidFill>
                      <a:srgbClr val="12394D"/>
                    </a:solidFill>
                  </a:tcPr>
                </a:tc>
                <a:tc>
                  <a:txBody>
                    <a:bodyPr wrap="square"/>
                    <a:lstStyle/>
                    <a:p>
                      <a:r>
                        <a:rPr sz="1150" b="1" i="0">
                          <a:solidFill>
                            <a:srgbClr val="FFFFFF"/>
                          </a:solidFill>
                          <a:latin typeface="Calibri"/>
                        </a:rPr>
                        <a:t>Best use</a:t>
                      </a:r>
                    </a:p>
                  </a:txBody>
                  <a:tcPr marL="73152" marR="73152" marT="36576" marB="36576" anchor="ctr">
                    <a:solidFill>
                      <a:srgbClr val="12394D"/>
                    </a:solidFill>
                  </a:tcPr>
                </a:tc>
              </a:tr>
              <a:tr h="566928">
                <a:tc>
                  <a:txBody>
                    <a:bodyPr wrap="square"/>
                    <a:lstStyle/>
                    <a:p>
                      <a:r>
                        <a:rPr sz="1150" b="1" i="0">
                          <a:solidFill>
                            <a:srgbClr val="12394D"/>
                          </a:solidFill>
                          <a:latin typeface="Calibri"/>
                        </a:rPr>
                        <a:t>ns-3 5G-LENA decision logs (to build)</a:t>
                      </a:r>
                    </a:p>
                  </a:txBody>
                  <a:tcPr marL="73152" marR="73152" marT="36576" marB="36576" anchor="ctr">
                    <a:solidFill>
                      <a:srgbClr val="F0F5F7"/>
                    </a:solidFill>
                  </a:tcPr>
                </a:tc>
                <a:tc>
                  <a:txBody>
                    <a:bodyPr wrap="square"/>
                    <a:lstStyle/>
                    <a:p>
                      <a:r>
                        <a:rPr sz="1150" b="0" i="0">
                          <a:solidFill>
                            <a:srgbClr val="2A3F4C"/>
                          </a:solidFill>
                          <a:latin typeface="Calibri"/>
                        </a:rPr>
                        <a:t>(s, a, r, s′, Δt, z) with behaviour propensities, as in Lu Eq. 32</a:t>
                      </a:r>
                    </a:p>
                  </a:txBody>
                  <a:tcPr marL="73152" marR="73152" marT="36576" marB="36576" anchor="ctr">
                    <a:solidFill>
                      <a:srgbClr val="F0F5F7"/>
                    </a:solidFill>
                  </a:tcPr>
                </a:tc>
                <a:tc>
                  <a:txBody>
                    <a:bodyPr wrap="square"/>
                    <a:lstStyle/>
                    <a:p>
                      <a:r>
                        <a:rPr sz="1150" b="1" i="0">
                          <a:solidFill>
                            <a:srgbClr val="1A8A99"/>
                          </a:solidFill>
                          <a:latin typeface="Calibri"/>
                        </a:rPr>
                        <a:t>Yes, with switches</a:t>
                      </a:r>
                    </a:p>
                  </a:txBody>
                  <a:tcPr marL="73152" marR="73152" marT="36576" marB="36576" anchor="ctr">
                    <a:solidFill>
                      <a:srgbClr val="F0F5F7"/>
                    </a:solidFill>
                  </a:tcPr>
                </a:tc>
                <a:tc>
                  <a:txBody>
                    <a:bodyPr wrap="square"/>
                    <a:lstStyle/>
                    <a:p>
                      <a:r>
                        <a:rPr sz="1150" b="0" i="0">
                          <a:solidFill>
                            <a:srgbClr val="2A3F4C"/>
                          </a:solidFill>
                          <a:latin typeface="Calibri"/>
                        </a:rPr>
                        <a:t>Offline RL; counterfactual evaluation</a:t>
                      </a:r>
                    </a:p>
                  </a:txBody>
                  <a:tcPr marL="73152" marR="73152" marT="36576" marB="36576" anchor="ctr">
                    <a:solidFill>
                      <a:srgbClr val="F0F5F7"/>
                    </a:solidFill>
                  </a:tcPr>
                </a:tc>
              </a:tr>
              <a:tr h="731520">
                <a:tc>
                  <a:txBody>
                    <a:bodyPr wrap="square"/>
                    <a:lstStyle/>
                    <a:p>
                      <a:r>
                        <a:rPr sz="1150" b="1" i="0">
                          <a:solidFill>
                            <a:srgbClr val="12394D"/>
                          </a:solidFill>
                          <a:latin typeface="Calibri"/>
                        </a:rPr>
                        <a:t>Open RAN Commercial Traffic Twinning (WINES)</a:t>
                      </a:r>
                    </a:p>
                  </a:txBody>
                  <a:tcPr marL="73152" marR="73152" marT="36576" marB="36576" anchor="ctr">
                    <a:solidFill>
                      <a:srgbClr val="FFFFFF"/>
                    </a:solidFill>
                  </a:tcPr>
                </a:tc>
                <a:tc>
                  <a:txBody>
                    <a:bodyPr wrap="square"/>
                    <a:lstStyle/>
                    <a:p>
                      <a:r>
                        <a:rPr sz="1150" b="0" i="0">
                          <a:solidFill>
                            <a:srgbClr val="2A3F4C"/>
                          </a:solidFill>
                          <a:latin typeface="Calibri"/>
                        </a:rPr>
                        <a:t>1 BS, 50 PRBs, 8 static UEs; 5 PRB splits × {RR, PF}; 3 clusters; PHY/MAC KPMs + MGEN latency; CC-BY-SA-4.0</a:t>
                      </a:r>
                    </a:p>
                  </a:txBody>
                  <a:tcPr marL="73152" marR="73152" marT="36576" marB="36576" anchor="ctr">
                    <a:solidFill>
                      <a:srgbClr val="FFFFFF"/>
                    </a:solidFill>
                  </a:tcPr>
                </a:tc>
                <a:tc>
                  <a:txBody>
                    <a:bodyPr wrap="square"/>
                    <a:lstStyle/>
                    <a:p>
                      <a:r>
                        <a:rPr sz="1150" b="1" i="0">
                          <a:solidFill>
                            <a:srgbClr val="B03A2E"/>
                          </a:solidFill>
                          <a:latin typeface="Calibri"/>
                        </a:rPr>
                        <a:t>Static per reservation</a:t>
                      </a:r>
                    </a:p>
                  </a:txBody>
                  <a:tcPr marL="73152" marR="73152" marT="36576" marB="36576" anchor="ctr">
                    <a:solidFill>
                      <a:srgbClr val="FFFFFF"/>
                    </a:solidFill>
                  </a:tcPr>
                </a:tc>
                <a:tc>
                  <a:txBody>
                    <a:bodyPr wrap="square"/>
                    <a:lstStyle/>
                    <a:p>
                      <a:r>
                        <a:rPr sz="1150" b="0" i="0">
                          <a:solidFill>
                            <a:srgbClr val="2A3F4C"/>
                          </a:solidFill>
                          <a:latin typeface="Calibri"/>
                        </a:rPr>
                        <a:t>Traffic driver, calibration, one-step analysis</a:t>
                      </a:r>
                    </a:p>
                  </a:txBody>
                  <a:tcPr marL="73152" marR="73152" marT="36576" marB="36576" anchor="ctr">
                    <a:solidFill>
                      <a:srgbClr val="FFFFFF"/>
                    </a:solidFill>
                  </a:tcPr>
                </a:tc>
              </a:tr>
              <a:tr h="566928">
                <a:tc>
                  <a:txBody>
                    <a:bodyPr wrap="square"/>
                    <a:lstStyle/>
                    <a:p>
                      <a:r>
                        <a:rPr sz="1150" b="1" i="0">
                          <a:solidFill>
                            <a:srgbClr val="12394D"/>
                          </a:solidFill>
                          <a:latin typeface="Calibri"/>
                        </a:rPr>
                        <a:t>ColO-RAN (Colosseum)</a:t>
                      </a:r>
                    </a:p>
                  </a:txBody>
                  <a:tcPr marL="73152" marR="73152" marT="36576" marB="36576" anchor="ctr">
                    <a:solidFill>
                      <a:srgbClr val="F0F5F7"/>
                    </a:solidFill>
                  </a:tcPr>
                </a:tc>
                <a:tc>
                  <a:txBody>
                    <a:bodyPr wrap="square"/>
                    <a:lstStyle/>
                    <a:p>
                      <a:r>
                        <a:rPr sz="1150" b="0" i="0">
                          <a:solidFill>
                            <a:srgbClr val="2A3F4C"/>
                          </a:solidFill>
                          <a:latin typeface="Calibri"/>
                        </a:rPr>
                        <a:t>3 slices (eMBB / MTC / URLLC); RR, WF or PF per slice; 250 ms logs</a:t>
                      </a:r>
                    </a:p>
                  </a:txBody>
                  <a:tcPr marL="73152" marR="73152" marT="36576" marB="36576" anchor="ctr">
                    <a:solidFill>
                      <a:srgbClr val="F0F5F7"/>
                    </a:solidFill>
                  </a:tcPr>
                </a:tc>
                <a:tc>
                  <a:txBody>
                    <a:bodyPr wrap="square"/>
                    <a:lstStyle/>
                    <a:p>
                      <a:r>
                        <a:rPr sz="1150" b="1" i="0">
                          <a:solidFill>
                            <a:srgbClr val="B03A2E"/>
                          </a:solidFill>
                          <a:latin typeface="Calibri"/>
                        </a:rPr>
                        <a:t>Static per experiment</a:t>
                      </a:r>
                    </a:p>
                  </a:txBody>
                  <a:tcPr marL="73152" marR="73152" marT="36576" marB="36576" anchor="ctr">
                    <a:solidFill>
                      <a:srgbClr val="F0F5F7"/>
                    </a:solidFill>
                  </a:tcPr>
                </a:tc>
                <a:tc>
                  <a:txBody>
                    <a:bodyPr wrap="square"/>
                    <a:lstStyle/>
                    <a:p>
                      <a:r>
                        <a:rPr sz="1150" b="0" i="0">
                          <a:solidFill>
                            <a:srgbClr val="2A3F4C"/>
                          </a:solidFill>
                          <a:latin typeface="Calibri"/>
                        </a:rPr>
                        <a:t>Cross-dataset generalisation</a:t>
                      </a:r>
                    </a:p>
                  </a:txBody>
                  <a:tcPr marL="73152" marR="73152" marT="36576" marB="36576" anchor="ctr">
                    <a:solidFill>
                      <a:srgbClr val="F0F5F7"/>
                    </a:solidFill>
                  </a:tcPr>
                </a:tc>
              </a:tr>
              <a:tr h="566928">
                <a:tc>
                  <a:txBody>
                    <a:bodyPr wrap="square"/>
                    <a:lstStyle/>
                    <a:p>
                      <a:r>
                        <a:rPr sz="1150" b="1" i="0">
                          <a:solidFill>
                            <a:srgbClr val="12394D"/>
                          </a:solidFill>
                          <a:latin typeface="Calibri"/>
                        </a:rPr>
                        <a:t>Colosseum COMMAG</a:t>
                      </a:r>
                    </a:p>
                  </a:txBody>
                  <a:tcPr marL="73152" marR="73152" marT="36576" marB="36576" anchor="ctr">
                    <a:solidFill>
                      <a:srgbClr val="FFFFFF"/>
                    </a:solidFill>
                  </a:tcPr>
                </a:tc>
                <a:tc>
                  <a:txBody>
                    <a:bodyPr wrap="square"/>
                    <a:lstStyle/>
                    <a:p>
                      <a:r>
                        <a:rPr sz="1150" b="0" i="0">
                          <a:solidFill>
                            <a:srgbClr val="2A3F4C"/>
                          </a:solidFill>
                          <a:latin typeface="Calibri"/>
                        </a:rPr>
                        <a:t>4 BSs, 15 PRBs, 3 slices, 40 UEs; configurations tr0–tr5</a:t>
                      </a:r>
                    </a:p>
                  </a:txBody>
                  <a:tcPr marL="73152" marR="73152" marT="36576" marB="36576" anchor="ctr">
                    <a:solidFill>
                      <a:srgbClr val="FFFFFF"/>
                    </a:solidFill>
                  </a:tcPr>
                </a:tc>
                <a:tc>
                  <a:txBody>
                    <a:bodyPr wrap="square"/>
                    <a:lstStyle/>
                    <a:p>
                      <a:r>
                        <a:rPr sz="1150" b="1" i="0">
                          <a:solidFill>
                            <a:srgbClr val="B03A2E"/>
                          </a:solidFill>
                          <a:latin typeface="Calibri"/>
                        </a:rPr>
                        <a:t>Static configurations</a:t>
                      </a:r>
                    </a:p>
                  </a:txBody>
                  <a:tcPr marL="73152" marR="73152" marT="36576" marB="36576" anchor="ctr">
                    <a:solidFill>
                      <a:srgbClr val="FFFFFF"/>
                    </a:solidFill>
                  </a:tcPr>
                </a:tc>
                <a:tc>
                  <a:txBody>
                    <a:bodyPr wrap="square"/>
                    <a:lstStyle/>
                    <a:p>
                      <a:r>
                        <a:rPr sz="1150" b="0" i="0">
                          <a:solidFill>
                            <a:srgbClr val="2A3F4C"/>
                          </a:solidFill>
                          <a:latin typeface="Calibri"/>
                        </a:rPr>
                        <a:t>Multi-cell sanity checks</a:t>
                      </a:r>
                    </a:p>
                  </a:txBody>
                  <a:tcPr marL="73152" marR="73152" marT="36576" marB="36576" anchor="ctr">
                    <a:solidFill>
                      <a:srgbClr val="FFFFFF"/>
                    </a:solidFill>
                  </a:tcPr>
                </a:tc>
              </a:tr>
              <a:tr h="566928">
                <a:tc>
                  <a:txBody>
                    <a:bodyPr wrap="square"/>
                    <a:lstStyle/>
                    <a:p>
                      <a:r>
                        <a:rPr sz="1150" b="1" i="0">
                          <a:solidFill>
                            <a:srgbClr val="12394D"/>
                          </a:solidFill>
                          <a:latin typeface="Calibri"/>
                        </a:rPr>
                        <a:t>Public O-RAN dataset catalogue (Couto et al. 2024)</a:t>
                      </a:r>
                    </a:p>
                  </a:txBody>
                  <a:tcPr marL="73152" marR="73152" marT="36576" marB="36576" anchor="ctr">
                    <a:solidFill>
                      <a:srgbClr val="F0F5F7"/>
                    </a:solidFill>
                  </a:tcPr>
                </a:tc>
                <a:tc>
                  <a:txBody>
                    <a:bodyPr wrap="square"/>
                    <a:lstStyle/>
                    <a:p>
                      <a:r>
                        <a:rPr sz="1150" b="0" i="0">
                          <a:solidFill>
                            <a:srgbClr val="2A3F4C"/>
                          </a:solidFill>
                          <a:latin typeface="Calibri"/>
                        </a:rPr>
                        <a:t>Survey of public O-RAN datasets</a:t>
                      </a:r>
                    </a:p>
                  </a:txBody>
                  <a:tcPr marL="73152" marR="73152" marT="36576" marB="36576" anchor="ctr">
                    <a:solidFill>
                      <a:srgbClr val="F0F5F7"/>
                    </a:solidFill>
                  </a:tcPr>
                </a:tc>
                <a:tc>
                  <a:txBody>
                    <a:bodyPr wrap="square"/>
                    <a:lstStyle/>
                    <a:p>
                      <a:r>
                        <a:rPr sz="1150" b="0" i="0">
                          <a:solidFill>
                            <a:srgbClr val="2A3F4C"/>
                          </a:solidFill>
                          <a:latin typeface="Calibri"/>
                        </a:rPr>
                        <a:t>Varies</a:t>
                      </a:r>
                    </a:p>
                  </a:txBody>
                  <a:tcPr marL="73152" marR="73152" marT="36576" marB="36576" anchor="ctr">
                    <a:solidFill>
                      <a:srgbClr val="F0F5F7"/>
                    </a:solidFill>
                  </a:tcPr>
                </a:tc>
                <a:tc>
                  <a:txBody>
                    <a:bodyPr wrap="square"/>
                    <a:lstStyle/>
                    <a:p>
                      <a:r>
                        <a:rPr sz="1150" b="0" i="0">
                          <a:solidFill>
                            <a:srgbClr val="2A3F4C"/>
                          </a:solidFill>
                          <a:latin typeface="Calibri"/>
                        </a:rPr>
                        <a:t>Search for further candidates</a:t>
                      </a:r>
                    </a:p>
                  </a:txBody>
                  <a:tcPr marL="73152" marR="73152" marT="36576" marB="36576" anchor="ctr">
                    <a:solidFill>
                      <a:srgbClr val="F0F5F7"/>
                    </a:solidFill>
                  </a:tcPr>
                </a:tc>
              </a:tr>
            </a:tbl>
          </a:graphicData>
        </a:graphic>
      </p:graphicFrame>
      <p:sp>
        <p:nvSpPr>
          <p:cNvPr id="5" name="TextBox 4"/>
          <p:cNvSpPr txBox="1"/>
          <p:nvPr/>
        </p:nvSpPr>
        <p:spPr>
          <a:xfrm>
            <a:off x="640080" y="5074920"/>
            <a:ext cx="10881360" cy="411480"/>
          </a:xfrm>
          <a:prstGeom prst="rect">
            <a:avLst/>
          </a:prstGeom>
          <a:noFill/>
        </p:spPr>
        <p:txBody>
          <a:bodyPr wrap="square" lIns="0" rIns="0" tIns="0" bIns="0" anchor="t">
            <a:spAutoFit/>
          </a:bodyPr>
          <a:lstStyle/>
          <a:p>
            <a:pPr algn="l"/>
            <a:r>
              <a:rPr sz="1150" b="0" i="0">
                <a:solidFill>
                  <a:srgbClr val="5F7A8A"/>
                </a:solidFill>
                <a:latin typeface="Calibri"/>
              </a:rPr>
              <a:t>Slice labels in the Colosseum datasets are slice IDs assigned per UE; “URLLC” there is not 3GPP URLLC traffic.</a:t>
            </a:r>
          </a:p>
        </p:txBody>
      </p:sp>
      <p:sp>
        <p:nvSpPr>
          <p:cNvPr id="6" name="Rounded Rectangle 5"/>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None of the datasets checked logs action switches: generate them in simulation, use the traces to calibrate.</a:t>
            </a:r>
          </a:p>
        </p:txBody>
      </p:sp>
      <p:sp>
        <p:nvSpPr>
          <p:cNvPr id="8" name="TextBox 7"/>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9"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25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G · Infrastructure</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Five levels of experimental realism are not equivalent</a:t>
            </a:r>
          </a:p>
        </p:txBody>
      </p:sp>
      <p:sp>
        <p:nvSpPr>
          <p:cNvPr id="4" name="Rounded Rectangle 3"/>
          <p:cNvSpPr/>
          <p:nvPr/>
        </p:nvSpPr>
        <p:spPr>
          <a:xfrm>
            <a:off x="640080" y="3566159"/>
            <a:ext cx="2057400" cy="178308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1" y="3703320"/>
            <a:ext cx="1783080" cy="685800"/>
          </a:xfrm>
          <a:prstGeom prst="rect">
            <a:avLst/>
          </a:prstGeom>
          <a:noFill/>
        </p:spPr>
        <p:txBody>
          <a:bodyPr wrap="square" lIns="0" rIns="0" tIns="0" bIns="0" anchor="t">
            <a:spAutoFit/>
          </a:bodyPr>
          <a:lstStyle/>
          <a:p>
            <a:pPr algn="l"/>
            <a:r>
              <a:rPr sz="1400" b="1" i="0">
                <a:solidFill>
                  <a:srgbClr val="1A8A99"/>
                </a:solidFill>
                <a:latin typeface="Cambria"/>
              </a:rPr>
              <a:t>1  </a:t>
            </a:r>
            <a:r>
              <a:rPr sz="1400" b="1" i="0">
                <a:solidFill>
                  <a:srgbClr val="12394D"/>
                </a:solidFill>
                <a:latin typeface="Cambria"/>
              </a:rPr>
              <a:t>Abstract RL environment</a:t>
            </a:r>
          </a:p>
        </p:txBody>
      </p:sp>
      <p:sp>
        <p:nvSpPr>
          <p:cNvPr id="6" name="TextBox 5"/>
          <p:cNvSpPr txBox="1"/>
          <p:nvPr/>
        </p:nvSpPr>
        <p:spPr>
          <a:xfrm>
            <a:off x="804671" y="4389120"/>
            <a:ext cx="1783080" cy="868680"/>
          </a:xfrm>
          <a:prstGeom prst="rect">
            <a:avLst/>
          </a:prstGeom>
          <a:noFill/>
        </p:spPr>
        <p:txBody>
          <a:bodyPr wrap="square" lIns="0" rIns="0" tIns="0" bIns="0" anchor="t">
            <a:spAutoFit/>
          </a:bodyPr>
          <a:lstStyle/>
          <a:p>
            <a:pPr algn="l"/>
            <a:r>
              <a:rPr sz="1200" b="0" i="0">
                <a:solidFill>
                  <a:srgbClr val="2A3F4C"/>
                </a:solidFill>
                <a:latin typeface="Calibri"/>
              </a:rPr>
              <a:t>Analytical queues and rates. Fast, but no PHY/MAC realism.</a:t>
            </a:r>
          </a:p>
        </p:txBody>
      </p:sp>
      <p:sp>
        <p:nvSpPr>
          <p:cNvPr id="7" name="Rounded Rectangle 6"/>
          <p:cNvSpPr/>
          <p:nvPr/>
        </p:nvSpPr>
        <p:spPr>
          <a:xfrm>
            <a:off x="2852928" y="3182111"/>
            <a:ext cx="2057400" cy="2167128"/>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3319271"/>
            <a:ext cx="1783080" cy="685800"/>
          </a:xfrm>
          <a:prstGeom prst="rect">
            <a:avLst/>
          </a:prstGeom>
          <a:noFill/>
        </p:spPr>
        <p:txBody>
          <a:bodyPr wrap="square" lIns="0" rIns="0" tIns="0" bIns="0" anchor="t">
            <a:spAutoFit/>
          </a:bodyPr>
          <a:lstStyle/>
          <a:p>
            <a:pPr algn="l"/>
            <a:r>
              <a:rPr sz="1400" b="1" i="0">
                <a:solidFill>
                  <a:srgbClr val="1A8A99"/>
                </a:solidFill>
                <a:latin typeface="Cambria"/>
              </a:rPr>
              <a:t>2  </a:t>
            </a:r>
            <a:r>
              <a:rPr sz="1400" b="1" i="0">
                <a:solidFill>
                  <a:srgbClr val="12394D"/>
                </a:solidFill>
                <a:latin typeface="Cambria"/>
              </a:rPr>
              <a:t>Trace-driven</a:t>
            </a:r>
          </a:p>
        </p:txBody>
      </p:sp>
      <p:sp>
        <p:nvSpPr>
          <p:cNvPr id="9" name="TextBox 8"/>
          <p:cNvSpPr txBox="1"/>
          <p:nvPr/>
        </p:nvSpPr>
        <p:spPr>
          <a:xfrm>
            <a:off x="3017520" y="4005072"/>
            <a:ext cx="1783080" cy="1252728"/>
          </a:xfrm>
          <a:prstGeom prst="rect">
            <a:avLst/>
          </a:prstGeom>
          <a:noFill/>
        </p:spPr>
        <p:txBody>
          <a:bodyPr wrap="square" lIns="0" rIns="0" tIns="0" bIns="0" anchor="t">
            <a:spAutoFit/>
          </a:bodyPr>
          <a:lstStyle/>
          <a:p>
            <a:pPr algn="l"/>
            <a:r>
              <a:rPr sz="1200" b="0" i="0">
                <a:solidFill>
                  <a:srgbClr val="2A3F4C"/>
                </a:solidFill>
                <a:latin typeface="Calibri"/>
              </a:rPr>
              <a:t>Replays logged KPMs. Real data, but no counterfactuals.</a:t>
            </a:r>
          </a:p>
        </p:txBody>
      </p:sp>
      <p:sp>
        <p:nvSpPr>
          <p:cNvPr id="10" name="TextBox 9"/>
          <p:cNvSpPr txBox="1"/>
          <p:nvPr/>
        </p:nvSpPr>
        <p:spPr>
          <a:xfrm>
            <a:off x="2852928" y="2834639"/>
            <a:ext cx="2057400" cy="274320"/>
          </a:xfrm>
          <a:prstGeom prst="rect">
            <a:avLst/>
          </a:prstGeom>
          <a:noFill/>
        </p:spPr>
        <p:txBody>
          <a:bodyPr wrap="square" lIns="0" rIns="0" tIns="0" bIns="0" anchor="t">
            <a:spAutoFit/>
          </a:bodyPr>
          <a:lstStyle/>
          <a:p>
            <a:pPr algn="ctr"/>
            <a:r>
              <a:rPr sz="1100" b="1" i="0">
                <a:solidFill>
                  <a:srgbClr val="B03A2E"/>
                </a:solidFill>
                <a:latin typeface="Calibri"/>
              </a:rPr>
              <a:t>CURRENT PAPER</a:t>
            </a:r>
          </a:p>
        </p:txBody>
      </p:sp>
      <p:sp>
        <p:nvSpPr>
          <p:cNvPr id="11" name="Rounded Rectangle 10"/>
          <p:cNvSpPr/>
          <p:nvPr/>
        </p:nvSpPr>
        <p:spPr>
          <a:xfrm>
            <a:off x="5065776" y="2798063"/>
            <a:ext cx="2057400" cy="2551176"/>
          </a:xfrm>
          <a:prstGeom prst="roundRect">
            <a:avLst>
              <a:gd name="adj" fmla="val 8000"/>
            </a:avLst>
          </a:prstGeom>
          <a:solidFill>
            <a:srgbClr val="123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30368" y="2935223"/>
            <a:ext cx="1783080" cy="685800"/>
          </a:xfrm>
          <a:prstGeom prst="rect">
            <a:avLst/>
          </a:prstGeom>
          <a:noFill/>
        </p:spPr>
        <p:txBody>
          <a:bodyPr wrap="square" lIns="0" rIns="0" tIns="0" bIns="0" anchor="t">
            <a:spAutoFit/>
          </a:bodyPr>
          <a:lstStyle/>
          <a:p>
            <a:pPr algn="l"/>
            <a:r>
              <a:rPr sz="1400" b="1" i="0">
                <a:solidFill>
                  <a:srgbClr val="2BB3A3"/>
                </a:solidFill>
                <a:latin typeface="Cambria"/>
              </a:rPr>
              <a:t>3  </a:t>
            </a:r>
            <a:r>
              <a:rPr sz="1400" b="1" i="0">
                <a:solidFill>
                  <a:srgbClr val="FFFFFF"/>
                </a:solidFill>
                <a:latin typeface="Cambria"/>
              </a:rPr>
              <a:t>Calibrated simulator</a:t>
            </a:r>
          </a:p>
        </p:txBody>
      </p:sp>
      <p:sp>
        <p:nvSpPr>
          <p:cNvPr id="13" name="TextBox 12"/>
          <p:cNvSpPr txBox="1"/>
          <p:nvPr/>
        </p:nvSpPr>
        <p:spPr>
          <a:xfrm>
            <a:off x="5230368" y="3621023"/>
            <a:ext cx="1783080" cy="1636776"/>
          </a:xfrm>
          <a:prstGeom prst="rect">
            <a:avLst/>
          </a:prstGeom>
          <a:noFill/>
        </p:spPr>
        <p:txBody>
          <a:bodyPr wrap="square" lIns="0" rIns="0" tIns="0" bIns="0" anchor="t">
            <a:spAutoFit/>
          </a:bodyPr>
          <a:lstStyle/>
          <a:p>
            <a:pPr algn="l"/>
            <a:r>
              <a:rPr sz="1200" b="0" i="0">
                <a:solidFill>
                  <a:srgbClr val="C3D3DD"/>
                </a:solidFill>
                <a:latin typeface="Calibri"/>
              </a:rPr>
              <a:t>ns-3 + 5G-LENA with trace-driven traffic. Counterfactuals and NR models.</a:t>
            </a:r>
          </a:p>
        </p:txBody>
      </p:sp>
      <p:sp>
        <p:nvSpPr>
          <p:cNvPr id="14" name="TextBox 13"/>
          <p:cNvSpPr txBox="1"/>
          <p:nvPr/>
        </p:nvSpPr>
        <p:spPr>
          <a:xfrm>
            <a:off x="5065776" y="2450591"/>
            <a:ext cx="2057400" cy="274320"/>
          </a:xfrm>
          <a:prstGeom prst="rect">
            <a:avLst/>
          </a:prstGeom>
          <a:noFill/>
        </p:spPr>
        <p:txBody>
          <a:bodyPr wrap="square" lIns="0" rIns="0" tIns="0" bIns="0" anchor="t">
            <a:spAutoFit/>
          </a:bodyPr>
          <a:lstStyle/>
          <a:p>
            <a:pPr algn="ctr"/>
            <a:r>
              <a:rPr sz="1100" b="1" i="0">
                <a:solidFill>
                  <a:srgbClr val="1A8A99"/>
                </a:solidFill>
                <a:latin typeface="Calibri"/>
              </a:rPr>
              <a:t>NEXT PAPER (MINIMUM)</a:t>
            </a:r>
          </a:p>
        </p:txBody>
      </p:sp>
      <p:sp>
        <p:nvSpPr>
          <p:cNvPr id="15" name="Rounded Rectangle 14"/>
          <p:cNvSpPr/>
          <p:nvPr/>
        </p:nvSpPr>
        <p:spPr>
          <a:xfrm>
            <a:off x="7278624" y="2414015"/>
            <a:ext cx="2057400" cy="2935224"/>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43216" y="2551175"/>
            <a:ext cx="1783080" cy="685800"/>
          </a:xfrm>
          <a:prstGeom prst="rect">
            <a:avLst/>
          </a:prstGeom>
          <a:noFill/>
        </p:spPr>
        <p:txBody>
          <a:bodyPr wrap="square" lIns="0" rIns="0" tIns="0" bIns="0" anchor="t">
            <a:spAutoFit/>
          </a:bodyPr>
          <a:lstStyle/>
          <a:p>
            <a:pPr algn="l"/>
            <a:r>
              <a:rPr sz="1400" b="1" i="0">
                <a:solidFill>
                  <a:srgbClr val="1A8A99"/>
                </a:solidFill>
                <a:latin typeface="Cambria"/>
              </a:rPr>
              <a:t>4  </a:t>
            </a:r>
            <a:r>
              <a:rPr sz="1400" b="1" i="0">
                <a:solidFill>
                  <a:srgbClr val="12394D"/>
                </a:solidFill>
                <a:latin typeface="Cambria"/>
              </a:rPr>
              <a:t>Simulator + RIC loop</a:t>
            </a:r>
          </a:p>
        </p:txBody>
      </p:sp>
      <p:sp>
        <p:nvSpPr>
          <p:cNvPr id="17" name="TextBox 16"/>
          <p:cNvSpPr txBox="1"/>
          <p:nvPr/>
        </p:nvSpPr>
        <p:spPr>
          <a:xfrm>
            <a:off x="7443216" y="3236975"/>
            <a:ext cx="1783080" cy="2020824"/>
          </a:xfrm>
          <a:prstGeom prst="rect">
            <a:avLst/>
          </a:prstGeom>
          <a:noFill/>
        </p:spPr>
        <p:txBody>
          <a:bodyPr wrap="square" lIns="0" rIns="0" tIns="0" bIns="0" anchor="t">
            <a:spAutoFit/>
          </a:bodyPr>
          <a:lstStyle/>
          <a:p>
            <a:pPr algn="l"/>
            <a:r>
              <a:rPr sz="1200" b="0" i="0">
                <a:solidFill>
                  <a:srgbClr val="2A3F4C"/>
                </a:solidFill>
                <a:latin typeface="Calibri"/>
              </a:rPr>
              <a:t>NORI or ns-O-RAN with an OSC Near-RT RIC over E2. Real interfaces and loop delay.</a:t>
            </a:r>
          </a:p>
        </p:txBody>
      </p:sp>
      <p:sp>
        <p:nvSpPr>
          <p:cNvPr id="18" name="TextBox 17"/>
          <p:cNvSpPr txBox="1"/>
          <p:nvPr/>
        </p:nvSpPr>
        <p:spPr>
          <a:xfrm>
            <a:off x="7278624" y="2066543"/>
            <a:ext cx="2057400" cy="274320"/>
          </a:xfrm>
          <a:prstGeom prst="rect">
            <a:avLst/>
          </a:prstGeom>
          <a:noFill/>
        </p:spPr>
        <p:txBody>
          <a:bodyPr wrap="square" lIns="0" rIns="0" tIns="0" bIns="0" anchor="t">
            <a:spAutoFit/>
          </a:bodyPr>
          <a:lstStyle/>
          <a:p>
            <a:pPr algn="ctr"/>
            <a:r>
              <a:rPr sz="1100" b="1" i="0">
                <a:solidFill>
                  <a:srgbClr val="1A8A99"/>
                </a:solidFill>
                <a:latin typeface="Calibri"/>
              </a:rPr>
              <a:t>JOURNAL VERSION</a:t>
            </a:r>
          </a:p>
        </p:txBody>
      </p:sp>
      <p:sp>
        <p:nvSpPr>
          <p:cNvPr id="19" name="Rounded Rectangle 18"/>
          <p:cNvSpPr/>
          <p:nvPr/>
        </p:nvSpPr>
        <p:spPr>
          <a:xfrm>
            <a:off x="9491472" y="2029967"/>
            <a:ext cx="2057400" cy="3319272"/>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56063" y="2167127"/>
            <a:ext cx="1783080" cy="685800"/>
          </a:xfrm>
          <a:prstGeom prst="rect">
            <a:avLst/>
          </a:prstGeom>
          <a:noFill/>
        </p:spPr>
        <p:txBody>
          <a:bodyPr wrap="square" lIns="0" rIns="0" tIns="0" bIns="0" anchor="t">
            <a:spAutoFit/>
          </a:bodyPr>
          <a:lstStyle/>
          <a:p>
            <a:pPr algn="l"/>
            <a:r>
              <a:rPr sz="1400" b="1" i="0">
                <a:solidFill>
                  <a:srgbClr val="1A8A99"/>
                </a:solidFill>
                <a:latin typeface="Cambria"/>
              </a:rPr>
              <a:t>5  </a:t>
            </a:r>
            <a:r>
              <a:rPr sz="1400" b="1" i="0">
                <a:solidFill>
                  <a:srgbClr val="12394D"/>
                </a:solidFill>
                <a:latin typeface="Cambria"/>
              </a:rPr>
              <a:t>Software / physical testbed</a:t>
            </a:r>
          </a:p>
        </p:txBody>
      </p:sp>
      <p:sp>
        <p:nvSpPr>
          <p:cNvPr id="21" name="TextBox 20"/>
          <p:cNvSpPr txBox="1"/>
          <p:nvPr/>
        </p:nvSpPr>
        <p:spPr>
          <a:xfrm>
            <a:off x="9656063" y="2852927"/>
            <a:ext cx="1783080" cy="2404872"/>
          </a:xfrm>
          <a:prstGeom prst="rect">
            <a:avLst/>
          </a:prstGeom>
          <a:noFill/>
        </p:spPr>
        <p:txBody>
          <a:bodyPr wrap="square" lIns="0" rIns="0" tIns="0" bIns="0" anchor="t">
            <a:spAutoFit/>
          </a:bodyPr>
          <a:lstStyle/>
          <a:p>
            <a:pPr algn="l"/>
            <a:r>
              <a:rPr sz="1200" b="0" i="0">
                <a:solidFill>
                  <a:srgbClr val="2A3F4C"/>
                </a:solidFill>
                <a:latin typeface="Calibri"/>
              </a:rPr>
              <a:t>srsRAN or OAI + RIC, Colosseum. Real stacks; costly, small scale.</a:t>
            </a:r>
          </a:p>
        </p:txBody>
      </p:sp>
      <p:sp>
        <p:nvSpPr>
          <p:cNvPr id="22" name="TextBox 21"/>
          <p:cNvSpPr txBox="1"/>
          <p:nvPr/>
        </p:nvSpPr>
        <p:spPr>
          <a:xfrm>
            <a:off x="9491472" y="1682495"/>
            <a:ext cx="2057400" cy="274320"/>
          </a:xfrm>
          <a:prstGeom prst="rect">
            <a:avLst/>
          </a:prstGeom>
          <a:noFill/>
        </p:spPr>
        <p:txBody>
          <a:bodyPr wrap="square" lIns="0" rIns="0" tIns="0" bIns="0" anchor="t">
            <a:spAutoFit/>
          </a:bodyPr>
          <a:lstStyle/>
          <a:p>
            <a:pPr algn="ctr"/>
            <a:r>
              <a:rPr sz="1100" b="1" i="0">
                <a:solidFill>
                  <a:srgbClr val="1A8A99"/>
                </a:solidFill>
                <a:latin typeface="Calibri"/>
              </a:rPr>
              <a:t>OPTIONAL</a:t>
            </a:r>
          </a:p>
        </p:txBody>
      </p:sp>
      <p:sp>
        <p:nvSpPr>
          <p:cNvPr id="23" name="Rounded Rectangle 22"/>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Minimum for the next paper: level 3, calibrated on level-2 traces; level 4 strengthens a journal version.</a:t>
            </a:r>
          </a:p>
        </p:txBody>
      </p:sp>
      <p:sp>
        <p:nvSpPr>
          <p:cNvPr id="25" name="TextBox 24"/>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26"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26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G · Infrastructure</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Stage 1 set-up: ns-3 5G-LENA with a Python control loop</a:t>
            </a:r>
          </a:p>
        </p:txBody>
      </p:sp>
      <p:sp>
        <p:nvSpPr>
          <p:cNvPr id="4" name="Rounded Rectangle 3"/>
          <p:cNvSpPr/>
          <p:nvPr/>
        </p:nvSpPr>
        <p:spPr>
          <a:xfrm>
            <a:off x="640080" y="1600200"/>
            <a:ext cx="4754880" cy="251460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19072"/>
            <a:ext cx="4389120" cy="320040"/>
          </a:xfrm>
          <a:prstGeom prst="rect">
            <a:avLst/>
          </a:prstGeom>
          <a:noFill/>
        </p:spPr>
        <p:txBody>
          <a:bodyPr wrap="square" lIns="0" rIns="0" tIns="0" bIns="0" anchor="t">
            <a:spAutoFit/>
          </a:bodyPr>
          <a:lstStyle/>
          <a:p>
            <a:pPr algn="l"/>
            <a:r>
              <a:rPr sz="1400" b="1" i="0">
                <a:solidFill>
                  <a:srgbClr val="12394D"/>
                </a:solidFill>
                <a:latin typeface="Cambria"/>
              </a:rPr>
              <a:t>ns-3 + 5G-LENA (C++)</a:t>
            </a:r>
          </a:p>
        </p:txBody>
      </p:sp>
      <p:sp>
        <p:nvSpPr>
          <p:cNvPr id="6" name="Rounded Rectangle 5"/>
          <p:cNvSpPr/>
          <p:nvPr/>
        </p:nvSpPr>
        <p:spPr>
          <a:xfrm>
            <a:off x="868680" y="2103120"/>
            <a:ext cx="4297680" cy="58521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39"/>
            <a:ext cx="4069080" cy="530352"/>
          </a:xfrm>
          <a:prstGeom prst="rect">
            <a:avLst/>
          </a:prstGeom>
          <a:noFill/>
        </p:spPr>
        <p:txBody>
          <a:bodyPr wrap="square" lIns="0" rIns="0" tIns="0" bIns="0" anchor="ctr">
            <a:spAutoFit/>
          </a:bodyPr>
          <a:lstStyle/>
          <a:p>
            <a:pPr algn="l"/>
            <a:r>
              <a:rPr sz="1150" b="1" i="0">
                <a:solidFill>
                  <a:srgbClr val="1A8A99"/>
                </a:solidFill>
                <a:latin typeface="Calibri"/>
              </a:rPr>
              <a:t>Traffic: </a:t>
            </a:r>
            <a:r>
              <a:rPr sz="1150" b="0" i="0">
                <a:solidFill>
                  <a:srgbClr val="2A3F4C"/>
                </a:solidFill>
                <a:latin typeface="Calibri"/>
              </a:rPr>
              <a:t>eMBB video or full buffer + latency-sensitive Poisson small packets; load from the twinning traces</a:t>
            </a:r>
          </a:p>
        </p:txBody>
      </p:sp>
      <p:sp>
        <p:nvSpPr>
          <p:cNvPr id="8" name="Rounded Rectangle 7"/>
          <p:cNvSpPr/>
          <p:nvPr/>
        </p:nvSpPr>
        <p:spPr>
          <a:xfrm>
            <a:off x="868680" y="2761487"/>
            <a:ext cx="4297680" cy="58521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807207"/>
            <a:ext cx="4069080" cy="530352"/>
          </a:xfrm>
          <a:prstGeom prst="rect">
            <a:avLst/>
          </a:prstGeom>
          <a:noFill/>
        </p:spPr>
        <p:txBody>
          <a:bodyPr wrap="square" lIns="0" rIns="0" tIns="0" bIns="0" anchor="ctr">
            <a:spAutoFit/>
          </a:bodyPr>
          <a:lstStyle/>
          <a:p>
            <a:pPr algn="l"/>
            <a:r>
              <a:rPr sz="1150" b="1" i="0">
                <a:solidFill>
                  <a:srgbClr val="1A8A99"/>
                </a:solidFill>
                <a:latin typeface="Calibri"/>
              </a:rPr>
              <a:t>gNB: </a:t>
            </a:r>
            <a:r>
              <a:rPr sz="1150" b="0" i="0">
                <a:solidFill>
                  <a:srgbClr val="2A3F4C"/>
                </a:solidFill>
                <a:latin typeface="Calibri"/>
              </a:rPr>
              <a:t>Numerology μ = 1–2; two slices via RB masks or BWPs; RR / PF / QoS schedulers</a:t>
            </a:r>
          </a:p>
        </p:txBody>
      </p:sp>
      <p:sp>
        <p:nvSpPr>
          <p:cNvPr id="10" name="Rounded Rectangle 9"/>
          <p:cNvSpPr/>
          <p:nvPr/>
        </p:nvSpPr>
        <p:spPr>
          <a:xfrm>
            <a:off x="868680" y="3419856"/>
            <a:ext cx="4297680" cy="58521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465575"/>
            <a:ext cx="4069080" cy="530352"/>
          </a:xfrm>
          <a:prstGeom prst="rect">
            <a:avLst/>
          </a:prstGeom>
          <a:noFill/>
        </p:spPr>
        <p:txBody>
          <a:bodyPr wrap="square" lIns="0" rIns="0" tIns="0" bIns="0" anchor="ctr">
            <a:spAutoFit/>
          </a:bodyPr>
          <a:lstStyle/>
          <a:p>
            <a:pPr algn="l"/>
            <a:r>
              <a:rPr sz="1150" b="1" i="0">
                <a:solidFill>
                  <a:srgbClr val="1A8A99"/>
                </a:solidFill>
                <a:latin typeface="Calibri"/>
              </a:rPr>
              <a:t>Measurement: </a:t>
            </a:r>
            <a:r>
              <a:rPr sz="1150" b="0" i="0">
                <a:solidFill>
                  <a:srgbClr val="2A3F4C"/>
                </a:solidFill>
                <a:latin typeface="Calibri"/>
              </a:rPr>
              <a:t>Per-packet latency, slice throughput, buffer occupancy</a:t>
            </a:r>
          </a:p>
        </p:txBody>
      </p:sp>
      <p:sp>
        <p:nvSpPr>
          <p:cNvPr id="12" name="Rounded Rectangle 11"/>
          <p:cNvSpPr/>
          <p:nvPr/>
        </p:nvSpPr>
        <p:spPr>
          <a:xfrm>
            <a:off x="6766560" y="1600200"/>
            <a:ext cx="4754880" cy="2514600"/>
          </a:xfrm>
          <a:prstGeom prst="roundRect">
            <a:avLst>
              <a:gd name="adj" fmla="val 8000"/>
            </a:avLst>
          </a:prstGeom>
          <a:solidFill>
            <a:srgbClr val="123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719072"/>
            <a:ext cx="4389120" cy="320040"/>
          </a:xfrm>
          <a:prstGeom prst="rect">
            <a:avLst/>
          </a:prstGeom>
          <a:noFill/>
        </p:spPr>
        <p:txBody>
          <a:bodyPr wrap="square" lIns="0" rIns="0" tIns="0" bIns="0" anchor="t">
            <a:spAutoFit/>
          </a:bodyPr>
          <a:lstStyle/>
          <a:p>
            <a:pPr algn="l"/>
            <a:r>
              <a:rPr sz="1400" b="1" i="0">
                <a:solidFill>
                  <a:srgbClr val="FFFFFF"/>
                </a:solidFill>
                <a:latin typeface="Cambria"/>
              </a:rPr>
              <a:t>Python agent (PyTorch)</a:t>
            </a:r>
          </a:p>
        </p:txBody>
      </p:sp>
      <p:sp>
        <p:nvSpPr>
          <p:cNvPr id="14" name="TextBox 13"/>
          <p:cNvSpPr txBox="1"/>
          <p:nvPr/>
        </p:nvSpPr>
        <p:spPr>
          <a:xfrm>
            <a:off x="6995160" y="2148840"/>
            <a:ext cx="4389120" cy="1920240"/>
          </a:xfrm>
          <a:prstGeom prst="rect">
            <a:avLst/>
          </a:prstGeom>
          <a:noFill/>
        </p:spPr>
        <p:txBody>
          <a:bodyPr wrap="square" lIns="0" rIns="0" tIns="0" bIns="0" anchor="t">
            <a:spAutoFit/>
          </a:bodyPr>
          <a:lstStyle/>
          <a:p>
            <a:pPr algn="l">
              <a:spcAft>
                <a:spcPts val="600"/>
              </a:spcAft>
            </a:pPr>
            <a:r>
              <a:rPr sz="1250" b="1" i="0">
                <a:solidFill>
                  <a:srgbClr val="2BB3A3"/>
                </a:solidFill>
                <a:latin typeface="Calibri"/>
              </a:rPr>
              <a:t>–  </a:t>
            </a:r>
            <a:r>
              <a:rPr sz="1250" b="0" i="0">
                <a:solidFill>
                  <a:srgbClr val="C3D3DD"/>
                </a:solidFill>
                <a:latin typeface="Calibri"/>
              </a:rPr>
              <a:t>Policy: CQL-Lagrangian, then online fine-tuning</a:t>
            </a:r>
          </a:p>
          <a:p>
            <a:pPr algn="l">
              <a:spcAft>
                <a:spcPts val="600"/>
              </a:spcAft>
            </a:pPr>
            <a:r>
              <a:rPr sz="1250" b="1" i="0">
                <a:solidFill>
                  <a:srgbClr val="2BB3A3"/>
                </a:solidFill>
                <a:latin typeface="Calibri"/>
              </a:rPr>
              <a:t>–  </a:t>
            </a:r>
            <a:r>
              <a:rPr sz="1250" b="0" i="0">
                <a:solidFill>
                  <a:srgbClr val="C3D3DD"/>
                </a:solidFill>
                <a:latin typeface="Calibri"/>
              </a:rPr>
              <a:t>Shield: keep actions whose cost upper bound is ≤ d</a:t>
            </a:r>
          </a:p>
          <a:p>
            <a:pPr algn="l">
              <a:spcAft>
                <a:spcPts val="600"/>
              </a:spcAft>
            </a:pPr>
            <a:r>
              <a:rPr sz="1250" b="1" i="0">
                <a:solidFill>
                  <a:srgbClr val="2BB3A3"/>
                </a:solidFill>
                <a:latin typeface="Calibri"/>
              </a:rPr>
              <a:t>–  </a:t>
            </a:r>
            <a:r>
              <a:rPr sz="1250" b="0" i="0">
                <a:solidFill>
                  <a:srgbClr val="C3D3DD"/>
                </a:solidFill>
                <a:latin typeface="Calibri"/>
              </a:rPr>
              <a:t>Logger: (s, a, r, s′, Δt, z, π_b) for every decision</a:t>
            </a:r>
          </a:p>
          <a:p>
            <a:pPr algn="l">
              <a:spcAft>
                <a:spcPts val="600"/>
              </a:spcAft>
            </a:pPr>
            <a:r>
              <a:rPr sz="1250" b="1" i="0">
                <a:solidFill>
                  <a:srgbClr val="2BB3A3"/>
                </a:solidFill>
                <a:latin typeface="Calibri"/>
              </a:rPr>
              <a:t>–  </a:t>
            </a:r>
            <a:r>
              <a:rPr sz="1250" b="0" i="0">
                <a:solidFill>
                  <a:srgbClr val="C3D3DD"/>
                </a:solidFill>
                <a:latin typeface="Calibri"/>
              </a:rPr>
              <a:t>Inference time measured on the target CPU</a:t>
            </a:r>
          </a:p>
        </p:txBody>
      </p:sp>
      <p:cxnSp>
        <p:nvCxnSpPr>
          <p:cNvPr id="15" name="Connector 14"/>
          <p:cNvCxnSpPr/>
          <p:nvPr/>
        </p:nvCxnSpPr>
        <p:spPr>
          <a:xfrm>
            <a:off x="5440680" y="2377440"/>
            <a:ext cx="1280160" cy="0"/>
          </a:xfrm>
          <a:prstGeom prst="line">
            <a:avLst/>
          </a:prstGeom>
          <a:ln w="22225">
            <a:solidFill>
              <a:srgbClr val="1A8A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40680" y="1965960"/>
            <a:ext cx="1280160" cy="365760"/>
          </a:xfrm>
          <a:prstGeom prst="rect">
            <a:avLst/>
          </a:prstGeom>
          <a:noFill/>
        </p:spPr>
        <p:txBody>
          <a:bodyPr wrap="square" lIns="0" rIns="0" tIns="0" bIns="0" anchor="t">
            <a:spAutoFit/>
          </a:bodyPr>
          <a:lstStyle/>
          <a:p>
            <a:pPr algn="ctr"/>
            <a:r>
              <a:rPr sz="1050" b="1" i="0">
                <a:solidFill>
                  <a:srgbClr val="1A8A99"/>
                </a:solidFill>
                <a:latin typeface="Calibri"/>
              </a:rPr>
              <a:t>KPMs every 0.1–1 s</a:t>
            </a:r>
          </a:p>
        </p:txBody>
      </p:sp>
      <p:cxnSp>
        <p:nvCxnSpPr>
          <p:cNvPr id="17" name="Connector 16"/>
          <p:cNvCxnSpPr/>
          <p:nvPr/>
        </p:nvCxnSpPr>
        <p:spPr>
          <a:xfrm flipH="1">
            <a:off x="5440680" y="3291840"/>
            <a:ext cx="1280160" cy="0"/>
          </a:xfrm>
          <a:prstGeom prst="line">
            <a:avLst/>
          </a:prstGeom>
          <a:ln w="22225">
            <a:solidFill>
              <a:srgbClr val="1A8A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40680" y="3364992"/>
            <a:ext cx="1280160" cy="502920"/>
          </a:xfrm>
          <a:prstGeom prst="rect">
            <a:avLst/>
          </a:prstGeom>
          <a:noFill/>
        </p:spPr>
        <p:txBody>
          <a:bodyPr wrap="square" lIns="0" rIns="0" tIns="0" bIns="0" anchor="t">
            <a:spAutoFit/>
          </a:bodyPr>
          <a:lstStyle/>
          <a:p>
            <a:pPr algn="ctr"/>
            <a:r>
              <a:rPr sz="1050" b="1" i="0">
                <a:solidFill>
                  <a:srgbClr val="1A8A99"/>
                </a:solidFill>
                <a:latin typeface="Calibri"/>
              </a:rPr>
              <a:t>PRB quota, scheduler</a:t>
            </a:r>
          </a:p>
        </p:txBody>
      </p:sp>
      <p:sp>
        <p:nvSpPr>
          <p:cNvPr id="19" name="TextBox 18"/>
          <p:cNvSpPr txBox="1"/>
          <p:nvPr/>
        </p:nvSpPr>
        <p:spPr>
          <a:xfrm>
            <a:off x="5440680" y="2743200"/>
            <a:ext cx="1280160" cy="320040"/>
          </a:xfrm>
          <a:prstGeom prst="rect">
            <a:avLst/>
          </a:prstGeom>
          <a:noFill/>
        </p:spPr>
        <p:txBody>
          <a:bodyPr wrap="square" lIns="0" rIns="0" tIns="0" bIns="0" anchor="t">
            <a:spAutoFit/>
          </a:bodyPr>
          <a:lstStyle/>
          <a:p>
            <a:pPr algn="ctr"/>
            <a:r>
              <a:rPr sz="1050" b="0" i="0">
                <a:solidFill>
                  <a:srgbClr val="5F7A8A"/>
                </a:solidFill>
                <a:latin typeface="Calibri"/>
              </a:rPr>
              <a:t>ns3-ai / ns3-gym</a:t>
            </a:r>
          </a:p>
        </p:txBody>
      </p:sp>
      <p:sp>
        <p:nvSpPr>
          <p:cNvPr id="20" name="Rounded Rectangle 19"/>
          <p:cNvSpPr/>
          <p:nvPr/>
        </p:nvSpPr>
        <p:spPr>
          <a:xfrm>
            <a:off x="640080" y="4297680"/>
            <a:ext cx="2606040" cy="77724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343400"/>
            <a:ext cx="2423160" cy="731520"/>
          </a:xfrm>
          <a:prstGeom prst="rect">
            <a:avLst/>
          </a:prstGeom>
          <a:noFill/>
        </p:spPr>
        <p:txBody>
          <a:bodyPr wrap="square" lIns="0" rIns="0" tIns="0" bIns="0" anchor="t">
            <a:spAutoFit/>
          </a:bodyPr>
          <a:lstStyle/>
          <a:p>
            <a:pPr algn="l"/>
            <a:r>
              <a:rPr sz="1150" b="1" i="0">
                <a:solidFill>
                  <a:srgbClr val="12394D"/>
                </a:solidFill>
                <a:latin typeface="Calibri"/>
              </a:rPr>
              <a:t>Stage 0 · now–1 mo</a:t>
            </a:r>
          </a:p>
          <a:p>
            <a:pPr algn="l"/>
            <a:r>
              <a:rPr sz="1150" b="0" i="0">
                <a:solidFill>
                  <a:srgbClr val="2A3F4C"/>
                </a:solidFill>
                <a:latin typeface="Calibri"/>
              </a:rPr>
              <a:t>Revise the paper on existing data</a:t>
            </a:r>
          </a:p>
        </p:txBody>
      </p:sp>
      <p:sp>
        <p:nvSpPr>
          <p:cNvPr id="22" name="Rounded Rectangle 21"/>
          <p:cNvSpPr/>
          <p:nvPr/>
        </p:nvSpPr>
        <p:spPr>
          <a:xfrm>
            <a:off x="3383280" y="4297680"/>
            <a:ext cx="2606040" cy="777240"/>
          </a:xfrm>
          <a:prstGeom prst="roundRect">
            <a:avLst>
              <a:gd name="adj" fmla="val 8000"/>
            </a:avLst>
          </a:prstGeom>
          <a:solidFill>
            <a:srgbClr val="E6F4F2"/>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93008" y="4343400"/>
            <a:ext cx="2423160" cy="731520"/>
          </a:xfrm>
          <a:prstGeom prst="rect">
            <a:avLst/>
          </a:prstGeom>
          <a:noFill/>
        </p:spPr>
        <p:txBody>
          <a:bodyPr wrap="square" lIns="0" rIns="0" tIns="0" bIns="0" anchor="t">
            <a:spAutoFit/>
          </a:bodyPr>
          <a:lstStyle/>
          <a:p>
            <a:pPr algn="l"/>
            <a:r>
              <a:rPr sz="1150" b="1" i="0">
                <a:solidFill>
                  <a:srgbClr val="12394D"/>
                </a:solidFill>
                <a:latin typeface="Calibri"/>
              </a:rPr>
              <a:t>Stage 1 · 1–3 mo</a:t>
            </a:r>
          </a:p>
          <a:p>
            <a:pPr algn="l"/>
            <a:r>
              <a:rPr sz="1150" b="0" i="0">
                <a:solidFill>
                  <a:srgbClr val="2A3F4C"/>
                </a:solidFill>
                <a:latin typeface="Calibri"/>
              </a:rPr>
              <a:t>This set-up; decision-logged datasets</a:t>
            </a:r>
          </a:p>
        </p:txBody>
      </p:sp>
      <p:sp>
        <p:nvSpPr>
          <p:cNvPr id="24" name="Rounded Rectangle 23"/>
          <p:cNvSpPr/>
          <p:nvPr/>
        </p:nvSpPr>
        <p:spPr>
          <a:xfrm>
            <a:off x="6126480" y="4297680"/>
            <a:ext cx="2606040" cy="77724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36208" y="4343400"/>
            <a:ext cx="2423160" cy="731520"/>
          </a:xfrm>
          <a:prstGeom prst="rect">
            <a:avLst/>
          </a:prstGeom>
          <a:noFill/>
        </p:spPr>
        <p:txBody>
          <a:bodyPr wrap="square" lIns="0" rIns="0" tIns="0" bIns="0" anchor="t">
            <a:spAutoFit/>
          </a:bodyPr>
          <a:lstStyle/>
          <a:p>
            <a:pPr algn="l"/>
            <a:r>
              <a:rPr sz="1150" b="1" i="0">
                <a:solidFill>
                  <a:srgbClr val="12394D"/>
                </a:solidFill>
                <a:latin typeface="Calibri"/>
              </a:rPr>
              <a:t>Stage 2 · 3–6 mo</a:t>
            </a:r>
          </a:p>
          <a:p>
            <a:pPr algn="l"/>
            <a:r>
              <a:rPr sz="1150" b="0" i="0">
                <a:solidFill>
                  <a:srgbClr val="2A3F4C"/>
                </a:solidFill>
                <a:latin typeface="Calibri"/>
              </a:rPr>
              <a:t>Offline→online under traffic shifts</a:t>
            </a:r>
          </a:p>
        </p:txBody>
      </p:sp>
      <p:sp>
        <p:nvSpPr>
          <p:cNvPr id="26" name="Rounded Rectangle 25"/>
          <p:cNvSpPr/>
          <p:nvPr/>
        </p:nvSpPr>
        <p:spPr>
          <a:xfrm>
            <a:off x="8869680" y="4297680"/>
            <a:ext cx="2606040" cy="777240"/>
          </a:xfrm>
          <a:prstGeom prst="roundRect">
            <a:avLst>
              <a:gd name="adj" fmla="val 8000"/>
            </a:avLst>
          </a:prstGeom>
          <a:solidFill>
            <a:srgbClr val="FFFFFF"/>
          </a:solidFill>
          <a:ln w="15875">
            <a:solidFill>
              <a:srgbClr val="1A8A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79407" y="4343400"/>
            <a:ext cx="2423160" cy="731520"/>
          </a:xfrm>
          <a:prstGeom prst="rect">
            <a:avLst/>
          </a:prstGeom>
          <a:noFill/>
        </p:spPr>
        <p:txBody>
          <a:bodyPr wrap="square" lIns="0" rIns="0" tIns="0" bIns="0" anchor="t">
            <a:spAutoFit/>
          </a:bodyPr>
          <a:lstStyle/>
          <a:p>
            <a:pPr algn="l"/>
            <a:r>
              <a:rPr sz="1150" b="1" i="0">
                <a:solidFill>
                  <a:srgbClr val="12394D"/>
                </a:solidFill>
                <a:latin typeface="Calibri"/>
              </a:rPr>
              <a:t>Stage 3 · 6–12 mo</a:t>
            </a:r>
          </a:p>
          <a:p>
            <a:pPr algn="l"/>
            <a:r>
              <a:rPr sz="1150" b="0" i="0">
                <a:solidFill>
                  <a:srgbClr val="2A3F4C"/>
                </a:solidFill>
                <a:latin typeface="Calibri"/>
              </a:rPr>
              <a:t>E2 via NORI / ns-O-RAN + OSC RIC</a:t>
            </a:r>
          </a:p>
        </p:txBody>
      </p:sp>
      <p:sp>
        <p:nvSpPr>
          <p:cNvPr id="28" name="TextBox 27"/>
          <p:cNvSpPr txBox="1"/>
          <p:nvPr/>
        </p:nvSpPr>
        <p:spPr>
          <a:xfrm>
            <a:off x="640080" y="5166360"/>
            <a:ext cx="10881360" cy="320040"/>
          </a:xfrm>
          <a:prstGeom prst="rect">
            <a:avLst/>
          </a:prstGeom>
          <a:noFill/>
        </p:spPr>
        <p:txBody>
          <a:bodyPr wrap="square" lIns="0" rIns="0" tIns="0" bIns="0" anchor="t">
            <a:spAutoFit/>
          </a:bodyPr>
          <a:lstStyle/>
          <a:p>
            <a:pPr algn="l"/>
            <a:r>
              <a:rPr sz="1150" b="1" i="0">
                <a:solidFill>
                  <a:srgbClr val="B03A2E"/>
                </a:solidFill>
                <a:latin typeface="Calibri"/>
              </a:rPr>
              <a:t>Engineering risks: </a:t>
            </a:r>
            <a:r>
              <a:rPr sz="1150" b="0" i="0">
                <a:solidFill>
                  <a:srgbClr val="2A3F4C"/>
                </a:solidFill>
                <a:latin typeface="Calibri"/>
              </a:rPr>
              <a:t>run time for tail statistics, reconfiguration during a run, 5G-LENA / ns-3 version drift.</a:t>
            </a:r>
          </a:p>
        </p:txBody>
      </p:sp>
      <p:sp>
        <p:nvSpPr>
          <p:cNvPr id="29" name="Rounded Rectangle 28"/>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This set-up produces decision logs with known propensities, exactly what the trace dataset lacks.</a:t>
            </a:r>
          </a:p>
        </p:txBody>
      </p:sp>
      <p:sp>
        <p:nvSpPr>
          <p:cNvPr id="31" name="TextBox 30"/>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32"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27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G · Protocol</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Evaluation protocol: each claim gets its comparison</a:t>
            </a:r>
          </a:p>
        </p:txBody>
      </p:sp>
      <p:graphicFrame>
        <p:nvGraphicFramePr>
          <p:cNvPr id="4" name="Table 3"/>
          <p:cNvGraphicFramePr>
            <a:graphicFrameLocks noGrp="1"/>
          </p:cNvGraphicFramePr>
          <p:nvPr/>
        </p:nvGraphicFramePr>
        <p:xfrm>
          <a:off x="640080" y="1600200"/>
          <a:ext cx="6400799" cy="3749040"/>
        </p:xfrm>
        <a:graphic>
          <a:graphicData uri="http://schemas.openxmlformats.org/drawingml/2006/table">
            <a:tbl>
              <a:tblPr firstRow="1">
                <a:tableStyleId>{5C22544A-7EE6-4342-B048-85BDC9FD1C3A}</a:tableStyleId>
              </a:tblPr>
              <a:tblGrid>
                <a:gridCol w="2651760"/>
                <a:gridCol w="3749039"/>
              </a:tblGrid>
              <a:tr h="365760">
                <a:tc>
                  <a:txBody>
                    <a:bodyPr wrap="square"/>
                    <a:lstStyle/>
                    <a:p>
                      <a:r>
                        <a:rPr sz="1200" b="1" i="0">
                          <a:solidFill>
                            <a:srgbClr val="FFFFFF"/>
                          </a:solidFill>
                          <a:latin typeface="Calibri"/>
                        </a:rPr>
                        <a:t>Claim</a:t>
                      </a:r>
                    </a:p>
                  </a:txBody>
                  <a:tcPr marL="73152" marR="73152" marT="36576" marB="36576" anchor="ctr">
                    <a:solidFill>
                      <a:srgbClr val="12394D"/>
                    </a:solidFill>
                  </a:tcPr>
                </a:tc>
                <a:tc>
                  <a:txBody>
                    <a:bodyPr wrap="square"/>
                    <a:lstStyle/>
                    <a:p>
                      <a:r>
                        <a:rPr sz="1200" b="1" i="0">
                          <a:solidFill>
                            <a:srgbClr val="FFFFFF"/>
                          </a:solidFill>
                          <a:latin typeface="Calibri"/>
                        </a:rPr>
                        <a:t>Essential comparison</a:t>
                      </a:r>
                    </a:p>
                  </a:txBody>
                  <a:tcPr marL="73152" marR="73152" marT="36576" marB="36576" anchor="ctr">
                    <a:solidFill>
                      <a:srgbClr val="12394D"/>
                    </a:solidFill>
                  </a:tcPr>
                </a:tc>
              </a:tr>
              <a:tr h="676656">
                <a:tc>
                  <a:txBody>
                    <a:bodyPr wrap="square"/>
                    <a:lstStyle/>
                    <a:p>
                      <a:r>
                        <a:rPr sz="1200" b="1" i="0">
                          <a:solidFill>
                            <a:srgbClr val="12394D"/>
                          </a:solidFill>
                          <a:latin typeface="Calibri"/>
                        </a:rPr>
                        <a:t>Learning beats configuration rules</a:t>
                      </a:r>
                    </a:p>
                  </a:txBody>
                  <a:tcPr marL="73152" marR="73152" marT="36576" marB="36576" anchor="ctr">
                    <a:solidFill>
                      <a:srgbClr val="F0F5F7"/>
                    </a:solidFill>
                  </a:tcPr>
                </a:tc>
                <a:tc>
                  <a:txBody>
                    <a:bodyPr wrap="square"/>
                    <a:lstStyle/>
                    <a:p>
                      <a:r>
                        <a:rPr sz="1200" b="0" i="0">
                          <a:solidFill>
                            <a:srgbClr val="2A3F4C"/>
                          </a:solidFill>
                          <a:latin typeface="Calibri"/>
                        </a:rPr>
                        <a:t>Best static feasible configuration; per-load oracle; QoS scheduler</a:t>
                      </a:r>
                    </a:p>
                  </a:txBody>
                  <a:tcPr marL="73152" marR="73152" marT="36576" marB="36576" anchor="ctr">
                    <a:solidFill>
                      <a:srgbClr val="F0F5F7"/>
                    </a:solidFill>
                  </a:tcPr>
                </a:tc>
              </a:tr>
              <a:tr h="676656">
                <a:tc>
                  <a:txBody>
                    <a:bodyPr wrap="square"/>
                    <a:lstStyle/>
                    <a:p>
                      <a:r>
                        <a:rPr sz="1200" b="1" i="0">
                          <a:solidFill>
                            <a:srgbClr val="12394D"/>
                          </a:solidFill>
                          <a:latin typeface="Calibri"/>
                        </a:rPr>
                        <a:t>Better than existing safe offline RL</a:t>
                      </a:r>
                    </a:p>
                  </a:txBody>
                  <a:tcPr marL="73152" marR="73152" marT="36576" marB="36576" anchor="ctr">
                    <a:solidFill>
                      <a:srgbClr val="FFFFFF"/>
                    </a:solidFill>
                  </a:tcPr>
                </a:tc>
                <a:tc>
                  <a:txBody>
                    <a:bodyPr wrap="square"/>
                    <a:lstStyle/>
                    <a:p>
                      <a:r>
                        <a:rPr sz="1200" b="0" i="0">
                          <a:solidFill>
                            <a:srgbClr val="2A3F4C"/>
                          </a:solidFill>
                          <a:latin typeface="Calibri"/>
                        </a:rPr>
                        <a:t>CQL-Lag, BCQ-Lag, CPQ, COptiDICE, CQL + penalty sweep</a:t>
                      </a:r>
                    </a:p>
                  </a:txBody>
                  <a:tcPr marL="73152" marR="73152" marT="36576" marB="36576" anchor="ctr">
                    <a:solidFill>
                      <a:srgbClr val="FFFFFF"/>
                    </a:solidFill>
                  </a:tcPr>
                </a:tc>
              </a:tr>
              <a:tr h="676656">
                <a:tc>
                  <a:txBody>
                    <a:bodyPr wrap="square"/>
                    <a:lstStyle/>
                    <a:p>
                      <a:r>
                        <a:rPr sz="1200" b="1" i="0">
                          <a:solidFill>
                            <a:srgbClr val="12394D"/>
                          </a:solidFill>
                          <a:latin typeface="Calibri"/>
                        </a:rPr>
                        <a:t>The constraint matters</a:t>
                      </a:r>
                    </a:p>
                  </a:txBody>
                  <a:tcPr marL="73152" marR="73152" marT="36576" marB="36576" anchor="ctr">
                    <a:solidFill>
                      <a:srgbClr val="F0F5F7"/>
                    </a:solidFill>
                  </a:tcPr>
                </a:tc>
                <a:tc>
                  <a:txBody>
                    <a:bodyPr wrap="square"/>
                    <a:lstStyle/>
                    <a:p>
                      <a:r>
                        <a:rPr sz="1200" b="0" i="0">
                          <a:solidFill>
                            <a:srgbClr val="2A3F4C"/>
                          </a:solidFill>
                          <a:latin typeface="Calibri"/>
                        </a:rPr>
                        <a:t>Same method with λ = 0</a:t>
                      </a:r>
                    </a:p>
                  </a:txBody>
                  <a:tcPr marL="73152" marR="73152" marT="36576" marB="36576" anchor="ctr">
                    <a:solidFill>
                      <a:srgbClr val="F0F5F7"/>
                    </a:solidFill>
                  </a:tcPr>
                </a:tc>
              </a:tr>
              <a:tr h="676656">
                <a:tc>
                  <a:txBody>
                    <a:bodyPr wrap="square"/>
                    <a:lstStyle/>
                    <a:p>
                      <a:r>
                        <a:rPr sz="1200" b="1" i="0">
                          <a:solidFill>
                            <a:srgbClr val="12394D"/>
                          </a:solidFill>
                          <a:latin typeface="Calibri"/>
                        </a:rPr>
                        <a:t>Offline pre-training helps safe online learning</a:t>
                      </a:r>
                    </a:p>
                  </a:txBody>
                  <a:tcPr marL="73152" marR="73152" marT="36576" marB="36576" anchor="ctr">
                    <a:solidFill>
                      <a:srgbClr val="FFFFFF"/>
                    </a:solidFill>
                  </a:tcPr>
                </a:tc>
                <a:tc>
                  <a:txBody>
                    <a:bodyPr wrap="square"/>
                    <a:lstStyle/>
                    <a:p>
                      <a:r>
                        <a:rPr sz="1200" b="0" i="0">
                          <a:solidFill>
                            <a:srgbClr val="2A3F4C"/>
                          </a:solidFill>
                          <a:latin typeface="Calibri"/>
                        </a:rPr>
                        <a:t>PPO-Lag / SAC-Lag from scratch; offline only; unconstrained fine-tuning</a:t>
                      </a:r>
                    </a:p>
                  </a:txBody>
                  <a:tcPr marL="73152" marR="73152" marT="36576" marB="36576" anchor="ctr">
                    <a:solidFill>
                      <a:srgbClr val="FFFFFF"/>
                    </a:solidFill>
                  </a:tcPr>
                </a:tc>
              </a:tr>
              <a:tr h="676656">
                <a:tc>
                  <a:txBody>
                    <a:bodyPr wrap="square"/>
                    <a:lstStyle/>
                    <a:p>
                      <a:r>
                        <a:rPr sz="1200" b="1" i="0">
                          <a:solidFill>
                            <a:srgbClr val="12394D"/>
                          </a:solidFill>
                          <a:latin typeface="Calibri"/>
                        </a:rPr>
                        <a:t>Each component matters</a:t>
                      </a:r>
                    </a:p>
                  </a:txBody>
                  <a:tcPr marL="73152" marR="73152" marT="36576" marB="36576" anchor="ctr">
                    <a:solidFill>
                      <a:srgbClr val="F0F5F7"/>
                    </a:solidFill>
                  </a:tcPr>
                </a:tc>
                <a:tc>
                  <a:txBody>
                    <a:bodyPr wrap="square"/>
                    <a:lstStyle/>
                    <a:p>
                      <a:r>
                        <a:rPr sz="1200" b="0" i="0">
                          <a:solidFill>
                            <a:srgbClr val="2A3F4C"/>
                          </a:solidFill>
                          <a:latin typeface="Calibri"/>
                        </a:rPr>
                        <a:t>Ablations: cost model, shield, aₜ₋₁, history length</a:t>
                      </a:r>
                    </a:p>
                  </a:txBody>
                  <a:tcPr marL="73152" marR="73152" marT="36576" marB="36576" anchor="ctr">
                    <a:solidFill>
                      <a:srgbClr val="F0F5F7"/>
                    </a:solidFill>
                  </a:tcPr>
                </a:tc>
              </a:tr>
            </a:tbl>
          </a:graphicData>
        </a:graphic>
      </p:graphicFrame>
      <p:sp>
        <p:nvSpPr>
          <p:cNvPr id="5" name="Rounded Rectangle 4"/>
          <p:cNvSpPr/>
          <p:nvPr/>
        </p:nvSpPr>
        <p:spPr>
          <a:xfrm>
            <a:off x="7269480" y="1600200"/>
            <a:ext cx="4251960" cy="379476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79" y="1737360"/>
            <a:ext cx="3840480" cy="274320"/>
          </a:xfrm>
          <a:prstGeom prst="rect">
            <a:avLst/>
          </a:prstGeom>
          <a:noFill/>
        </p:spPr>
        <p:txBody>
          <a:bodyPr wrap="square" lIns="0" rIns="0" tIns="0" bIns="0" anchor="t">
            <a:spAutoFit/>
          </a:bodyPr>
          <a:lstStyle/>
          <a:p>
            <a:pPr algn="l"/>
            <a:r>
              <a:rPr sz="1200" b="1" i="0" spc="100">
                <a:solidFill>
                  <a:srgbClr val="1A8A99"/>
                </a:solidFill>
                <a:latin typeface="Calibri"/>
              </a:rPr>
              <a:t>METRICS</a:t>
            </a:r>
          </a:p>
        </p:txBody>
      </p:sp>
      <p:sp>
        <p:nvSpPr>
          <p:cNvPr id="7" name="TextBox 6"/>
          <p:cNvSpPr txBox="1"/>
          <p:nvPr/>
        </p:nvSpPr>
        <p:spPr>
          <a:xfrm>
            <a:off x="7498079" y="2029968"/>
            <a:ext cx="3886200" cy="2011680"/>
          </a:xfrm>
          <a:prstGeom prst="rect">
            <a:avLst/>
          </a:prstGeom>
          <a:noFill/>
        </p:spPr>
        <p:txBody>
          <a:bodyPr wrap="square" lIns="0" rIns="0" tIns="0" bIns="0" anchor="t">
            <a:spAutoFit/>
          </a:bodyPr>
          <a:lstStyle/>
          <a:p>
            <a:pPr algn="l">
              <a:spcAft>
                <a:spcPts val="200"/>
              </a:spcAft>
            </a:pPr>
            <a:r>
              <a:rPr sz="1150" b="1" i="0">
                <a:solidFill>
                  <a:srgbClr val="1A8A99"/>
                </a:solidFill>
                <a:latin typeface="Calibri"/>
              </a:rPr>
              <a:t>–  </a:t>
            </a:r>
            <a:r>
              <a:rPr sz="1150" b="0" i="0">
                <a:solidFill>
                  <a:srgbClr val="2A3F4C"/>
                </a:solidFill>
                <a:latin typeface="Calibri"/>
              </a:rPr>
              <a:t>eMBB throughput: mean and 5th percentile</a:t>
            </a:r>
          </a:p>
          <a:p>
            <a:pPr algn="l">
              <a:spcAft>
                <a:spcPts val="200"/>
              </a:spcAft>
            </a:pPr>
            <a:r>
              <a:rPr sz="1150" b="1" i="0">
                <a:solidFill>
                  <a:srgbClr val="1A8A99"/>
                </a:solidFill>
                <a:latin typeface="Calibri"/>
              </a:rPr>
              <a:t>–  </a:t>
            </a:r>
            <a:r>
              <a:rPr sz="1150" b="0" i="0">
                <a:solidFill>
                  <a:srgbClr val="2A3F4C"/>
                </a:solidFill>
                <a:latin typeface="Calibri"/>
              </a:rPr>
              <a:t>Latency p50 / p99 / p99.9, with packet counts</a:t>
            </a:r>
          </a:p>
          <a:p>
            <a:pPr algn="l">
              <a:spcAft>
                <a:spcPts val="200"/>
              </a:spcAft>
            </a:pPr>
            <a:r>
              <a:rPr sz="1150" b="1" i="0">
                <a:solidFill>
                  <a:srgbClr val="1A8A99"/>
                </a:solidFill>
                <a:latin typeface="Calibri"/>
              </a:rPr>
              <a:t>–  </a:t>
            </a:r>
            <a:r>
              <a:rPr sz="1150" b="0" i="0">
                <a:solidFill>
                  <a:srgbClr val="2A3F4C"/>
                </a:solidFill>
                <a:latin typeface="Calibri"/>
              </a:rPr>
              <a:t>Deadline-miss rate P(ℓ &gt; L_max)</a:t>
            </a:r>
          </a:p>
          <a:p>
            <a:pPr algn="l">
              <a:spcAft>
                <a:spcPts val="200"/>
              </a:spcAft>
            </a:pPr>
            <a:r>
              <a:rPr sz="1150" b="1" i="0">
                <a:solidFill>
                  <a:srgbClr val="1A8A99"/>
                </a:solidFill>
                <a:latin typeface="Calibri"/>
              </a:rPr>
              <a:t>–  </a:t>
            </a:r>
            <a:r>
              <a:rPr sz="1150" b="0" i="0">
                <a:solidFill>
                  <a:srgbClr val="2A3F4C"/>
                </a:solidFill>
                <a:latin typeface="Calibri"/>
              </a:rPr>
              <a:t>Violation frequency and severity: E[(c − d)⁺], CVaR</a:t>
            </a:r>
          </a:p>
          <a:p>
            <a:pPr algn="l">
              <a:spcAft>
                <a:spcPts val="200"/>
              </a:spcAft>
            </a:pPr>
            <a:r>
              <a:rPr sz="1150" b="1" i="0">
                <a:solidFill>
                  <a:srgbClr val="1A8A99"/>
                </a:solidFill>
                <a:latin typeface="Calibri"/>
              </a:rPr>
              <a:t>–  </a:t>
            </a:r>
            <a:r>
              <a:rPr sz="1150" b="0" i="0">
                <a:solidFill>
                  <a:srgbClr val="2A3F4C"/>
                </a:solidFill>
                <a:latin typeface="Calibri"/>
              </a:rPr>
              <a:t>Cumulative violations while fine-tuning</a:t>
            </a:r>
          </a:p>
          <a:p>
            <a:pPr algn="l">
              <a:spcAft>
                <a:spcPts val="200"/>
              </a:spcAft>
            </a:pPr>
            <a:r>
              <a:rPr sz="1150" b="1" i="0">
                <a:solidFill>
                  <a:srgbClr val="1A8A99"/>
                </a:solidFill>
                <a:latin typeface="Calibri"/>
              </a:rPr>
              <a:t>–  </a:t>
            </a:r>
            <a:r>
              <a:rPr sz="1150" b="0" i="0">
                <a:solidFill>
                  <a:srgbClr val="2A3F4C"/>
                </a:solidFill>
                <a:latin typeface="Calibri"/>
              </a:rPr>
              <a:t>Inference time on the target CPU</a:t>
            </a:r>
          </a:p>
        </p:txBody>
      </p:sp>
      <p:sp>
        <p:nvSpPr>
          <p:cNvPr id="8" name="TextBox 7"/>
          <p:cNvSpPr txBox="1"/>
          <p:nvPr/>
        </p:nvSpPr>
        <p:spPr>
          <a:xfrm>
            <a:off x="7498079" y="3749039"/>
            <a:ext cx="3840480" cy="274320"/>
          </a:xfrm>
          <a:prstGeom prst="rect">
            <a:avLst/>
          </a:prstGeom>
          <a:noFill/>
        </p:spPr>
        <p:txBody>
          <a:bodyPr wrap="square" lIns="0" rIns="0" tIns="0" bIns="0" anchor="t">
            <a:spAutoFit/>
          </a:bodyPr>
          <a:lstStyle/>
          <a:p>
            <a:pPr algn="l"/>
            <a:r>
              <a:rPr sz="1200" b="1" i="0" spc="100">
                <a:solidFill>
                  <a:srgbClr val="1A8A99"/>
                </a:solidFill>
                <a:latin typeface="Calibri"/>
              </a:rPr>
              <a:t>STATISTICS AND DATA HYGIENE</a:t>
            </a:r>
          </a:p>
        </p:txBody>
      </p:sp>
      <p:sp>
        <p:nvSpPr>
          <p:cNvPr id="9" name="TextBox 8"/>
          <p:cNvSpPr txBox="1"/>
          <p:nvPr/>
        </p:nvSpPr>
        <p:spPr>
          <a:xfrm>
            <a:off x="7498079" y="4041648"/>
            <a:ext cx="3886200" cy="1005840"/>
          </a:xfrm>
          <a:prstGeom prst="rect">
            <a:avLst/>
          </a:prstGeom>
          <a:noFill/>
        </p:spPr>
        <p:txBody>
          <a:bodyPr wrap="square" lIns="0" rIns="0" tIns="0" bIns="0" anchor="t">
            <a:spAutoFit/>
          </a:bodyPr>
          <a:lstStyle/>
          <a:p>
            <a:pPr algn="l">
              <a:spcAft>
                <a:spcPts val="200"/>
              </a:spcAft>
            </a:pPr>
            <a:r>
              <a:rPr sz="1150" b="1" i="0">
                <a:solidFill>
                  <a:srgbClr val="1A8A99"/>
                </a:solidFill>
                <a:latin typeface="Calibri"/>
              </a:rPr>
              <a:t>–  </a:t>
            </a:r>
            <a:r>
              <a:rPr sz="1150" b="0" i="0">
                <a:solidFill>
                  <a:srgbClr val="2A3F4C"/>
                </a:solidFill>
                <a:latin typeface="Calibri"/>
              </a:rPr>
              <a:t>≥ 10 seeds (simulation), ≥ 5 (offline); bootstrap 95 % CIs</a:t>
            </a:r>
          </a:p>
          <a:p>
            <a:pPr algn="l">
              <a:spcAft>
                <a:spcPts val="200"/>
              </a:spcAft>
            </a:pPr>
            <a:r>
              <a:rPr sz="1150" b="1" i="0">
                <a:solidFill>
                  <a:srgbClr val="1A8A99"/>
                </a:solidFill>
                <a:latin typeface="Calibri"/>
              </a:rPr>
              <a:t>–  </a:t>
            </a:r>
            <a:r>
              <a:rPr sz="1150" b="0" i="0">
                <a:solidFill>
                  <a:srgbClr val="2A3F4C"/>
                </a:solidFill>
                <a:latin typeface="Calibri"/>
              </a:rPr>
              <a:t>Leave-one-cluster-out and time-block splits</a:t>
            </a:r>
          </a:p>
          <a:p>
            <a:pPr algn="l">
              <a:spcAft>
                <a:spcPts val="200"/>
              </a:spcAft>
            </a:pPr>
            <a:r>
              <a:rPr sz="1150" b="1" i="0">
                <a:solidFill>
                  <a:srgbClr val="1A8A99"/>
                </a:solidFill>
                <a:latin typeface="Calibri"/>
              </a:rPr>
              <a:t>–  </a:t>
            </a:r>
            <a:r>
              <a:rPr sz="1150" b="0" i="0">
                <a:solidFill>
                  <a:srgbClr val="2A3F4C"/>
                </a:solidFill>
                <a:latin typeface="Calibri"/>
              </a:rPr>
              <a:t>Hyperparameters chosen on validation data only</a:t>
            </a:r>
          </a:p>
        </p:txBody>
      </p:sp>
      <p:sp>
        <p:nvSpPr>
          <p:cNvPr id="10" name="Rounded Rectangle 9"/>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Separate mean from tail performance, and empirical safety from guarantees.</a:t>
            </a:r>
          </a:p>
        </p:txBody>
      </p:sp>
      <p:sp>
        <p:nvSpPr>
          <p:cNvPr id="12" name="TextBox 11"/>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13"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28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Part H · Next steps</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Decisions and next steps to agree today</a:t>
            </a:r>
          </a:p>
        </p:txBody>
      </p:sp>
      <p:sp>
        <p:nvSpPr>
          <p:cNvPr id="4" name="Rounded Rectangle 3"/>
          <p:cNvSpPr/>
          <p:nvPr/>
        </p:nvSpPr>
        <p:spPr>
          <a:xfrm>
            <a:off x="640080" y="1600200"/>
            <a:ext cx="3520440" cy="2331720"/>
          </a:xfrm>
          <a:prstGeom prst="roundRect">
            <a:avLst>
              <a:gd name="adj" fmla="val 8000"/>
            </a:avLst>
          </a:prstGeom>
          <a:solidFill>
            <a:srgbClr val="1239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719072"/>
            <a:ext cx="3154680" cy="274320"/>
          </a:xfrm>
          <a:prstGeom prst="rect">
            <a:avLst/>
          </a:prstGeom>
          <a:noFill/>
        </p:spPr>
        <p:txBody>
          <a:bodyPr wrap="square" lIns="0" rIns="0" tIns="0" bIns="0" anchor="t">
            <a:spAutoFit/>
          </a:bodyPr>
          <a:lstStyle/>
          <a:p>
            <a:pPr algn="l"/>
            <a:r>
              <a:rPr sz="1200" b="1" i="0">
                <a:solidFill>
                  <a:srgbClr val="2BB3A3"/>
                </a:solidFill>
                <a:latin typeface="Calibri"/>
              </a:rPr>
              <a:t>NOW · ≤ 4 WEEKS</a:t>
            </a:r>
          </a:p>
        </p:txBody>
      </p:sp>
      <p:sp>
        <p:nvSpPr>
          <p:cNvPr id="6" name="TextBox 5"/>
          <p:cNvSpPr txBox="1"/>
          <p:nvPr/>
        </p:nvSpPr>
        <p:spPr>
          <a:xfrm>
            <a:off x="841247" y="2057400"/>
            <a:ext cx="3154680" cy="1828800"/>
          </a:xfrm>
          <a:prstGeom prst="rect">
            <a:avLst/>
          </a:prstGeom>
          <a:noFill/>
        </p:spPr>
        <p:txBody>
          <a:bodyPr wrap="square" lIns="0" rIns="0" tIns="0" bIns="0" anchor="t">
            <a:spAutoFit/>
          </a:bodyPr>
          <a:lstStyle/>
          <a:p>
            <a:pPr algn="l">
              <a:spcAft>
                <a:spcPts val="300"/>
              </a:spcAft>
            </a:pPr>
            <a:r>
              <a:rPr sz="1200" b="1" i="0">
                <a:solidFill>
                  <a:srgbClr val="2BB3A3"/>
                </a:solidFill>
                <a:latin typeface="Calibri"/>
              </a:rPr>
              <a:t>–  </a:t>
            </a:r>
            <a:r>
              <a:rPr sz="1200" b="0" i="0">
                <a:solidFill>
                  <a:srgbClr val="C3D3DD"/>
                </a:solidFill>
                <a:latin typeface="Calibri"/>
              </a:rPr>
              <a:t>P0: static and oracle baselines</a:t>
            </a:r>
          </a:p>
          <a:p>
            <a:pPr algn="l">
              <a:spcAft>
                <a:spcPts val="300"/>
              </a:spcAft>
            </a:pPr>
            <a:r>
              <a:rPr sz="1200" b="1" i="0">
                <a:solidFill>
                  <a:srgbClr val="2BB3A3"/>
                </a:solidFill>
                <a:latin typeface="Calibri"/>
              </a:rPr>
              <a:t>–  </a:t>
            </a:r>
            <a:r>
              <a:rPr sz="1200" b="0" i="0">
                <a:solidFill>
                  <a:srgbClr val="C3D3DD"/>
                </a:solidFill>
                <a:latin typeface="Calibri"/>
              </a:rPr>
              <a:t>Reposition: rApp, latency-sensitive slice, qualified “safe”</a:t>
            </a:r>
          </a:p>
          <a:p>
            <a:pPr algn="l">
              <a:spcAft>
                <a:spcPts val="300"/>
              </a:spcAft>
            </a:pPr>
            <a:r>
              <a:rPr sz="1200" b="1" i="0">
                <a:solidFill>
                  <a:srgbClr val="2BB3A3"/>
                </a:solidFill>
                <a:latin typeface="Calibri"/>
              </a:rPr>
              <a:t>–  </a:t>
            </a:r>
            <a:r>
              <a:rPr sz="1200" b="0" i="0">
                <a:solidFill>
                  <a:srgbClr val="C3D3DD"/>
                </a:solidFill>
                <a:latin typeface="Calibri"/>
              </a:rPr>
              <a:t>≥ 5 seeds, CIs; OSRL baselines</a:t>
            </a:r>
          </a:p>
          <a:p>
            <a:pPr algn="l">
              <a:spcAft>
                <a:spcPts val="300"/>
              </a:spcAft>
            </a:pPr>
            <a:r>
              <a:rPr sz="1200" b="1" i="0">
                <a:solidFill>
                  <a:srgbClr val="2BB3A3"/>
                </a:solidFill>
                <a:latin typeface="Calibri"/>
              </a:rPr>
              <a:t>–  </a:t>
            </a:r>
            <a:r>
              <a:rPr sz="1200" b="0" i="0">
                <a:solidFill>
                  <a:srgbClr val="C3D3DD"/>
                </a:solidFill>
                <a:latin typeface="Calibri"/>
              </a:rPr>
              <a:t>Systematic related-work search</a:t>
            </a:r>
          </a:p>
        </p:txBody>
      </p:sp>
      <p:sp>
        <p:nvSpPr>
          <p:cNvPr id="7" name="Rounded Rectangle 6"/>
          <p:cNvSpPr/>
          <p:nvPr/>
        </p:nvSpPr>
        <p:spPr>
          <a:xfrm>
            <a:off x="4325112" y="1600200"/>
            <a:ext cx="3520440" cy="23317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719072"/>
            <a:ext cx="3154680" cy="274320"/>
          </a:xfrm>
          <a:prstGeom prst="rect">
            <a:avLst/>
          </a:prstGeom>
          <a:noFill/>
        </p:spPr>
        <p:txBody>
          <a:bodyPr wrap="square" lIns="0" rIns="0" tIns="0" bIns="0" anchor="t">
            <a:spAutoFit/>
          </a:bodyPr>
          <a:lstStyle/>
          <a:p>
            <a:pPr algn="l"/>
            <a:r>
              <a:rPr sz="1200" b="1" i="0">
                <a:solidFill>
                  <a:srgbClr val="1A8A99"/>
                </a:solidFill>
                <a:latin typeface="Calibri"/>
              </a:rPr>
              <a:t>MEDIUM TERM · 1–6 MONTHS</a:t>
            </a:r>
          </a:p>
        </p:txBody>
      </p:sp>
      <p:sp>
        <p:nvSpPr>
          <p:cNvPr id="9" name="TextBox 8"/>
          <p:cNvSpPr txBox="1"/>
          <p:nvPr/>
        </p:nvSpPr>
        <p:spPr>
          <a:xfrm>
            <a:off x="4526280" y="2057400"/>
            <a:ext cx="3154680" cy="1828800"/>
          </a:xfrm>
          <a:prstGeom prst="rect">
            <a:avLst/>
          </a:prstGeom>
          <a:noFill/>
        </p:spPr>
        <p:txBody>
          <a:bodyPr wrap="square" lIns="0" rIns="0" tIns="0" bIns="0" anchor="t">
            <a:spAutoFit/>
          </a:bodyPr>
          <a:lstStyle/>
          <a:p>
            <a:pPr algn="l">
              <a:spcAft>
                <a:spcPts val="300"/>
              </a:spcAft>
            </a:pPr>
            <a:r>
              <a:rPr sz="1200" b="1" i="0">
                <a:solidFill>
                  <a:srgbClr val="1A8A99"/>
                </a:solidFill>
                <a:latin typeface="Calibri"/>
              </a:rPr>
              <a:t>–  </a:t>
            </a:r>
            <a:r>
              <a:rPr sz="1200" b="0" i="0">
                <a:solidFill>
                  <a:srgbClr val="2A3F4C"/>
                </a:solidFill>
                <a:latin typeface="Calibri"/>
              </a:rPr>
              <a:t>ns-3 5G-LENA two-slice scenario with per-packet latency</a:t>
            </a:r>
          </a:p>
          <a:p>
            <a:pPr algn="l">
              <a:spcAft>
                <a:spcPts val="300"/>
              </a:spcAft>
            </a:pPr>
            <a:r>
              <a:rPr sz="1200" b="1" i="0">
                <a:solidFill>
                  <a:srgbClr val="1A8A99"/>
                </a:solidFill>
                <a:latin typeface="Calibri"/>
              </a:rPr>
              <a:t>–  </a:t>
            </a:r>
            <a:r>
              <a:rPr sz="1200" b="0" i="0">
                <a:solidFill>
                  <a:srgbClr val="2A3F4C"/>
                </a:solidFill>
                <a:latin typeface="Calibri"/>
              </a:rPr>
              <a:t>Decision-logged dataset generator</a:t>
            </a:r>
          </a:p>
          <a:p>
            <a:pPr algn="l">
              <a:spcAft>
                <a:spcPts val="300"/>
              </a:spcAft>
            </a:pPr>
            <a:r>
              <a:rPr sz="1200" b="1" i="0">
                <a:solidFill>
                  <a:srgbClr val="1A8A99"/>
                </a:solidFill>
                <a:latin typeface="Calibri"/>
              </a:rPr>
              <a:t>–  </a:t>
            </a:r>
            <a:r>
              <a:rPr sz="1200" b="0" i="0">
                <a:solidFill>
                  <a:srgbClr val="2A3F4C"/>
                </a:solidFill>
                <a:latin typeface="Calibri"/>
              </a:rPr>
              <a:t>Trace calibration with policy-level fidelity</a:t>
            </a:r>
          </a:p>
          <a:p>
            <a:pPr algn="l">
              <a:spcAft>
                <a:spcPts val="300"/>
              </a:spcAft>
            </a:pPr>
            <a:r>
              <a:rPr sz="1200" b="1" i="0">
                <a:solidFill>
                  <a:srgbClr val="1A8A99"/>
                </a:solidFill>
                <a:latin typeface="Calibri"/>
              </a:rPr>
              <a:t>–  </a:t>
            </a:r>
            <a:r>
              <a:rPr sz="1200" b="0" i="0">
                <a:solidFill>
                  <a:srgbClr val="2A3F4C"/>
                </a:solidFill>
                <a:latin typeface="Calibri"/>
              </a:rPr>
              <a:t>Offline→online constrained experiments</a:t>
            </a:r>
          </a:p>
        </p:txBody>
      </p:sp>
      <p:sp>
        <p:nvSpPr>
          <p:cNvPr id="10" name="Rounded Rectangle 9"/>
          <p:cNvSpPr/>
          <p:nvPr/>
        </p:nvSpPr>
        <p:spPr>
          <a:xfrm>
            <a:off x="8010144" y="1600200"/>
            <a:ext cx="3520440" cy="2331720"/>
          </a:xfrm>
          <a:prstGeom prst="roundRect">
            <a:avLst>
              <a:gd name="adj" fmla="val 8000"/>
            </a:avLst>
          </a:prstGeom>
          <a:solidFill>
            <a:srgbClr val="F0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719072"/>
            <a:ext cx="3154680" cy="274320"/>
          </a:xfrm>
          <a:prstGeom prst="rect">
            <a:avLst/>
          </a:prstGeom>
          <a:noFill/>
        </p:spPr>
        <p:txBody>
          <a:bodyPr wrap="square" lIns="0" rIns="0" tIns="0" bIns="0" anchor="t">
            <a:spAutoFit/>
          </a:bodyPr>
          <a:lstStyle/>
          <a:p>
            <a:pPr algn="l"/>
            <a:r>
              <a:rPr sz="1200" b="1" i="0">
                <a:solidFill>
                  <a:srgbClr val="1A8A99"/>
                </a:solidFill>
                <a:latin typeface="Calibri"/>
              </a:rPr>
              <a:t>LONGER TERM · 6–18 MONTHS</a:t>
            </a:r>
          </a:p>
        </p:txBody>
      </p:sp>
      <p:sp>
        <p:nvSpPr>
          <p:cNvPr id="12" name="TextBox 11"/>
          <p:cNvSpPr txBox="1"/>
          <p:nvPr/>
        </p:nvSpPr>
        <p:spPr>
          <a:xfrm>
            <a:off x="8211312" y="2057400"/>
            <a:ext cx="3154680" cy="1828800"/>
          </a:xfrm>
          <a:prstGeom prst="rect">
            <a:avLst/>
          </a:prstGeom>
          <a:noFill/>
        </p:spPr>
        <p:txBody>
          <a:bodyPr wrap="square" lIns="0" rIns="0" tIns="0" bIns="0" anchor="t">
            <a:spAutoFit/>
          </a:bodyPr>
          <a:lstStyle/>
          <a:p>
            <a:pPr algn="l">
              <a:spcAft>
                <a:spcPts val="300"/>
              </a:spcAft>
            </a:pPr>
            <a:r>
              <a:rPr sz="1200" b="1" i="0">
                <a:solidFill>
                  <a:srgbClr val="1A8A99"/>
                </a:solidFill>
                <a:latin typeface="Calibri"/>
              </a:rPr>
              <a:t>–  </a:t>
            </a:r>
            <a:r>
              <a:rPr sz="1200" b="0" i="0">
                <a:solidFill>
                  <a:srgbClr val="2A3F4C"/>
                </a:solidFill>
                <a:latin typeface="Calibri"/>
              </a:rPr>
              <a:t>E2 loop via NORI / ns-O-RAN + OSC RIC</a:t>
            </a:r>
          </a:p>
          <a:p>
            <a:pPr algn="l">
              <a:spcAft>
                <a:spcPts val="300"/>
              </a:spcAft>
            </a:pPr>
            <a:r>
              <a:rPr sz="1200" b="1" i="0">
                <a:solidFill>
                  <a:srgbClr val="1A8A99"/>
                </a:solidFill>
                <a:latin typeface="Calibri"/>
              </a:rPr>
              <a:t>–  </a:t>
            </a:r>
            <a:r>
              <a:rPr sz="1200" b="0" i="0">
                <a:solidFill>
                  <a:srgbClr val="2A3F4C"/>
                </a:solidFill>
                <a:latin typeface="Calibri"/>
              </a:rPr>
              <a:t>Testbed validation (srsRAN or Colosseum)</a:t>
            </a:r>
          </a:p>
          <a:p>
            <a:pPr algn="l">
              <a:spcAft>
                <a:spcPts val="300"/>
              </a:spcAft>
            </a:pPr>
            <a:r>
              <a:rPr sz="1200" b="1" i="0">
                <a:solidFill>
                  <a:srgbClr val="1A8A99"/>
                </a:solidFill>
                <a:latin typeface="Calibri"/>
              </a:rPr>
              <a:t>–  </a:t>
            </a:r>
            <a:r>
              <a:rPr sz="1200" b="0" i="0">
                <a:solidFill>
                  <a:srgbClr val="2A3F4C"/>
                </a:solidFill>
                <a:latin typeface="Calibri"/>
              </a:rPr>
              <a:t>Multi-cell and multi-xApp extension</a:t>
            </a:r>
          </a:p>
          <a:p>
            <a:pPr algn="l">
              <a:spcAft>
                <a:spcPts val="300"/>
              </a:spcAft>
            </a:pPr>
            <a:r>
              <a:rPr sz="1200" b="1" i="0">
                <a:solidFill>
                  <a:srgbClr val="1A8A99"/>
                </a:solidFill>
                <a:latin typeface="Calibri"/>
              </a:rPr>
              <a:t>–  </a:t>
            </a:r>
            <a:r>
              <a:rPr sz="1200" b="0" i="0">
                <a:solidFill>
                  <a:srgbClr val="2A3F4C"/>
                </a:solidFill>
                <a:latin typeface="Calibri"/>
              </a:rPr>
              <a:t>Runtime assurance: shield + fallback</a:t>
            </a:r>
          </a:p>
        </p:txBody>
      </p:sp>
      <p:sp>
        <p:nvSpPr>
          <p:cNvPr id="13" name="TextBox 12"/>
          <p:cNvSpPr txBox="1"/>
          <p:nvPr/>
        </p:nvSpPr>
        <p:spPr>
          <a:xfrm>
            <a:off x="640080" y="4069080"/>
            <a:ext cx="10881360" cy="274320"/>
          </a:xfrm>
          <a:prstGeom prst="rect">
            <a:avLst/>
          </a:prstGeom>
          <a:noFill/>
        </p:spPr>
        <p:txBody>
          <a:bodyPr wrap="square" lIns="0" rIns="0" tIns="0" bIns="0" anchor="t">
            <a:spAutoFit/>
          </a:bodyPr>
          <a:lstStyle/>
          <a:p>
            <a:pPr algn="l"/>
            <a:r>
              <a:rPr sz="1200" b="1" i="0" spc="100">
                <a:solidFill>
                  <a:srgbClr val="1A8A99"/>
                </a:solidFill>
                <a:latin typeface="Calibri"/>
              </a:rPr>
              <a:t>QUESTIONS FOR MY SUPERVISORS</a:t>
            </a:r>
          </a:p>
        </p:txBody>
      </p:sp>
      <p:sp>
        <p:nvSpPr>
          <p:cNvPr id="14" name="TextBox 13"/>
          <p:cNvSpPr txBox="1"/>
          <p:nvPr/>
        </p:nvSpPr>
        <p:spPr>
          <a:xfrm>
            <a:off x="640080" y="4370832"/>
            <a:ext cx="10881360" cy="731520"/>
          </a:xfrm>
          <a:prstGeom prst="rect">
            <a:avLst/>
          </a:prstGeom>
          <a:noFill/>
        </p:spPr>
        <p:txBody>
          <a:bodyPr wrap="square" lIns="0" rIns="0" tIns="0" bIns="0" anchor="t">
            <a:spAutoFit/>
          </a:bodyPr>
          <a:lstStyle/>
          <a:p>
            <a:pPr algn="l"/>
            <a:r>
              <a:rPr sz="1250" b="0" i="0">
                <a:solidFill>
                  <a:srgbClr val="2A3F4C"/>
                </a:solidFill>
                <a:latin typeface="Calibri"/>
              </a:rPr>
              <a:t>1. Quick revision of the paper, or fold it into the simulator paper?   2. Thesis scope: configuration level (rApp / xApp) or scheduling level (dApp)?   3. Is LTE-twinned data acceptable as the main evidence?   4. Colosseum access, or commit to ns-3 + NORI?</a:t>
            </a:r>
          </a:p>
        </p:txBody>
      </p:sp>
      <p:sp>
        <p:nvSpPr>
          <p:cNvPr id="15" name="TextBox 14"/>
          <p:cNvSpPr txBox="1"/>
          <p:nvPr/>
        </p:nvSpPr>
        <p:spPr>
          <a:xfrm>
            <a:off x="640080" y="5074920"/>
            <a:ext cx="10881360" cy="411480"/>
          </a:xfrm>
          <a:prstGeom prst="rect">
            <a:avLst/>
          </a:prstGeom>
          <a:noFill/>
        </p:spPr>
        <p:txBody>
          <a:bodyPr wrap="square" lIns="0" rIns="0" tIns="0" bIns="0" anchor="t">
            <a:spAutoFit/>
          </a:bodyPr>
          <a:lstStyle/>
          <a:p>
            <a:pPr algn="l"/>
            <a:r>
              <a:rPr sz="1200" b="1" i="0">
                <a:solidFill>
                  <a:srgbClr val="12394D"/>
                </a:solidFill>
                <a:latin typeface="Calibri"/>
              </a:rPr>
              <a:t>Venue fit (deadlines not checked): </a:t>
            </a:r>
            <a:r>
              <a:rPr sz="1200" b="0" i="0">
                <a:solidFill>
                  <a:srgbClr val="2A3F4C"/>
                </a:solidFill>
                <a:latin typeface="Calibri"/>
              </a:rPr>
              <a:t>revised paper → ICMLCN, NetSoft, CNSM, ICC/Globecom workshops; core paper → IEEE TMLCN, TNSM, TCCN, OJ-COMS.</a:t>
            </a:r>
          </a:p>
        </p:txBody>
      </p:sp>
      <p:sp>
        <p:nvSpPr>
          <p:cNvPr id="16" name="Rounded Rectangle 15"/>
          <p:cNvSpPr/>
          <p:nvPr/>
        </p:nvSpPr>
        <p:spPr>
          <a:xfrm>
            <a:off x="640080" y="5596128"/>
            <a:ext cx="10881360" cy="502920"/>
          </a:xfrm>
          <a:prstGeom prst="roundRect">
            <a:avLst>
              <a:gd name="adj" fmla="val 8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596128"/>
            <a:ext cx="10469880" cy="502920"/>
          </a:xfrm>
          <a:prstGeom prst="rect">
            <a:avLst/>
          </a:prstGeom>
          <a:noFill/>
        </p:spPr>
        <p:txBody>
          <a:bodyPr wrap="square" lIns="0" rIns="0" tIns="0" bIns="0" anchor="ctr">
            <a:spAutoFit/>
          </a:bodyPr>
          <a:lstStyle/>
          <a:p>
            <a:pPr algn="l"/>
            <a:r>
              <a:rPr sz="1400" b="1" i="0">
                <a:solidFill>
                  <a:srgbClr val="1A8A99"/>
                </a:solidFill>
                <a:latin typeface="Calibri"/>
              </a:rPr>
              <a:t>Takeaway  </a:t>
            </a:r>
            <a:r>
              <a:rPr sz="1400" b="0" i="0">
                <a:solidFill>
                  <a:srgbClr val="12394D"/>
                </a:solidFill>
                <a:latin typeface="Calibri"/>
              </a:rPr>
              <a:t>Agree today on the thesis scope, and on the fate of the paper once the P0 test is done.</a:t>
            </a:r>
          </a:p>
        </p:txBody>
      </p:sp>
      <p:sp>
        <p:nvSpPr>
          <p:cNvPr id="18" name="TextBox 17"/>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19"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29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881360" cy="320040"/>
          </a:xfrm>
          <a:prstGeom prst="rect">
            <a:avLst/>
          </a:prstGeom>
          <a:noFill/>
        </p:spPr>
        <p:txBody>
          <a:bodyPr wrap="square" lIns="0" rIns="0" tIns="0" bIns="0" anchor="t">
            <a:spAutoFit/>
          </a:bodyPr>
          <a:lstStyle/>
          <a:p>
            <a:pPr algn="l"/>
            <a:r>
              <a:rPr sz="1400" b="1" i="0" spc="200">
                <a:solidFill>
                  <a:srgbClr val="2BB3A3"/>
                </a:solidFill>
                <a:latin typeface="Calibri"/>
              </a:rPr>
              <a:t>References</a:t>
            </a:r>
          </a:p>
        </p:txBody>
      </p:sp>
      <p:sp>
        <p:nvSpPr>
          <p:cNvPr id="3" name="TextBox 2"/>
          <p:cNvSpPr txBox="1"/>
          <p:nvPr/>
        </p:nvSpPr>
        <p:spPr>
          <a:xfrm>
            <a:off x="640080" y="786384"/>
            <a:ext cx="10881360" cy="640080"/>
          </a:xfrm>
          <a:prstGeom prst="rect">
            <a:avLst/>
          </a:prstGeom>
          <a:noFill/>
        </p:spPr>
        <p:txBody>
          <a:bodyPr wrap="square" lIns="0" rIns="0" tIns="0" bIns="0" anchor="t">
            <a:spAutoFit/>
          </a:bodyPr>
          <a:lstStyle/>
          <a:p>
            <a:pPr algn="l"/>
            <a:r>
              <a:rPr sz="2700" b="1" i="0">
                <a:solidFill>
                  <a:srgbClr val="12394D"/>
                </a:solidFill>
                <a:latin typeface="Cambria"/>
              </a:rPr>
              <a:t>References</a:t>
            </a:r>
          </a:p>
        </p:txBody>
      </p:sp>
      <p:sp>
        <p:nvSpPr>
          <p:cNvPr id="4" name="TextBox 3"/>
          <p:cNvSpPr txBox="1"/>
          <p:nvPr/>
        </p:nvSpPr>
        <p:spPr>
          <a:xfrm>
            <a:off x="640080" y="1600200"/>
            <a:ext cx="5303520" cy="4572000"/>
          </a:xfrm>
          <a:prstGeom prst="rect">
            <a:avLst/>
          </a:prstGeom>
          <a:noFill/>
        </p:spPr>
        <p:txBody>
          <a:bodyPr wrap="square" lIns="0" rIns="0" tIns="0" bIns="0" anchor="t">
            <a:spAutoFit/>
          </a:bodyPr>
          <a:lstStyle/>
          <a:p>
            <a:pPr algn="l">
              <a:spcAft>
                <a:spcPts val="400"/>
              </a:spcAft>
            </a:pPr>
            <a:r>
              <a:rPr sz="1050" b="0" i="0">
                <a:solidFill>
                  <a:srgbClr val="2A3F4C"/>
                </a:solidFill>
                <a:latin typeface="Calibri"/>
              </a:rPr>
              <a:t>[1] Haque et al., “A Comprehensive Survey of 5G URLLC and Challenges in the 6G Era,” IEEE COMST, 2025.</a:t>
            </a:r>
          </a:p>
          <a:p>
            <a:pPr algn="l">
              <a:spcAft>
                <a:spcPts val="400"/>
              </a:spcAft>
            </a:pPr>
            <a:r>
              <a:rPr sz="1050" b="0" i="0">
                <a:solidFill>
                  <a:srgbClr val="2A3F4C"/>
                </a:solidFill>
                <a:latin typeface="Calibri"/>
              </a:rPr>
              <a:t>[2] Lu et al., “Deep Reinforcement Learning for 6G AI-RAN: A Comprehensive Survey,” arXiv, 2026.</a:t>
            </a:r>
          </a:p>
          <a:p>
            <a:pPr algn="l">
              <a:spcAft>
                <a:spcPts val="400"/>
              </a:spcAft>
            </a:pPr>
            <a:r>
              <a:rPr sz="1050" b="0" i="0">
                <a:solidFill>
                  <a:srgbClr val="2A3F4C"/>
                </a:solidFill>
                <a:latin typeface="Calibri"/>
              </a:rPr>
              <a:t>[3] Adhikari, Jaseemuddin, Anpalagan, “Resource Allocation for Co-Existence of eMBB and URLLC Services in 6G Wireless Networks: A Survey,” IEEE Access, vol. 12, 2024.</a:t>
            </a:r>
          </a:p>
          <a:p>
            <a:pPr algn="l">
              <a:spcAft>
                <a:spcPts val="400"/>
              </a:spcAft>
            </a:pPr>
            <a:r>
              <a:rPr sz="1050" b="0" i="0">
                <a:solidFill>
                  <a:srgbClr val="2A3F4C"/>
                </a:solidFill>
                <a:latin typeface="Calibri"/>
              </a:rPr>
              <a:t>[4] Ben Cheikh, Chaouchi, Laouiti, Yellas, “Offline Safe RL for eMBB/URLLC Resource Allocation in O-RAN using Real Network Traces,” manuscript (rejected).</a:t>
            </a:r>
          </a:p>
          <a:p>
            <a:pPr algn="l">
              <a:spcAft>
                <a:spcPts val="400"/>
              </a:spcAft>
            </a:pPr>
            <a:r>
              <a:rPr sz="1050" b="0" i="0">
                <a:solidFill>
                  <a:srgbClr val="2A3F4C"/>
                </a:solidFill>
                <a:latin typeface="Calibri"/>
              </a:rPr>
              <a:t>[5] Bonati et al., “Twinning Commercial Network Traces on Experimental Open RAN Platforms,” ACM WiNTECH (MobiCom), 2024.</a:t>
            </a:r>
          </a:p>
          <a:p>
            <a:pPr algn="l">
              <a:spcAft>
                <a:spcPts val="400"/>
              </a:spcAft>
            </a:pPr>
            <a:r>
              <a:rPr sz="1050" b="0" i="0">
                <a:solidFill>
                  <a:srgbClr val="2A3F4C"/>
                </a:solidFill>
                <a:latin typeface="Calibri"/>
              </a:rPr>
              <a:t>[6] Polese et al., “ColO-RAN: Developing ML-based xApps for Open RAN Closed-loop Control,” IEEE TMC, 2022.</a:t>
            </a:r>
          </a:p>
          <a:p>
            <a:pPr algn="l">
              <a:spcAft>
                <a:spcPts val="400"/>
              </a:spcAft>
            </a:pPr>
            <a:r>
              <a:rPr sz="1050" b="0" i="0">
                <a:solidFill>
                  <a:srgbClr val="2A3F4C"/>
                </a:solidFill>
                <a:latin typeface="Calibri"/>
              </a:rPr>
              <a:t>[7] Kumar et al., “Conservative Q-Learning for Offline RL,” NeurIPS, 2020.</a:t>
            </a:r>
          </a:p>
          <a:p>
            <a:pPr algn="l">
              <a:spcAft>
                <a:spcPts val="400"/>
              </a:spcAft>
            </a:pPr>
            <a:r>
              <a:rPr sz="1050" b="0" i="0">
                <a:solidFill>
                  <a:srgbClr val="2A3F4C"/>
                </a:solidFill>
                <a:latin typeface="Calibri"/>
              </a:rPr>
              <a:t>[8] Xu et al., “Constraints Penalized Q-learning for Safe Offline RL,” AAAI, 2022.</a:t>
            </a:r>
          </a:p>
          <a:p>
            <a:pPr algn="l">
              <a:spcAft>
                <a:spcPts val="400"/>
              </a:spcAft>
            </a:pPr>
            <a:r>
              <a:rPr sz="1050" b="0" i="0">
                <a:solidFill>
                  <a:srgbClr val="2A3F4C"/>
                </a:solidFill>
                <a:latin typeface="Calibri"/>
              </a:rPr>
              <a:t>[9] Liu et al., “Datasets and Benchmarks for Offline Safe RL” (OSRL/DSRL), 2023.</a:t>
            </a:r>
          </a:p>
          <a:p>
            <a:pPr algn="l">
              <a:spcAft>
                <a:spcPts val="400"/>
              </a:spcAft>
            </a:pPr>
            <a:r>
              <a:rPr sz="1050" b="0" i="0">
                <a:solidFill>
                  <a:srgbClr val="2A3F4C"/>
                </a:solidFill>
                <a:latin typeface="Calibri"/>
              </a:rPr>
              <a:t>[10] Zheng et al., “Safe Offline RL with Feasibility-Guided Diffusion Model” (FISOR), ICLR, 2024.</a:t>
            </a:r>
          </a:p>
          <a:p>
            <a:pPr algn="l">
              <a:spcAft>
                <a:spcPts val="400"/>
              </a:spcAft>
            </a:pPr>
            <a:r>
              <a:rPr sz="1050" b="0" i="0">
                <a:solidFill>
                  <a:srgbClr val="2A3F4C"/>
                </a:solidFill>
                <a:latin typeface="Calibri"/>
              </a:rPr>
              <a:t>[11] Yang et al., “Advancing RAN Slicing with Offline Reinforcement Learning,” 2024.</a:t>
            </a:r>
          </a:p>
        </p:txBody>
      </p:sp>
      <p:sp>
        <p:nvSpPr>
          <p:cNvPr id="5" name="TextBox 4"/>
          <p:cNvSpPr txBox="1"/>
          <p:nvPr/>
        </p:nvSpPr>
        <p:spPr>
          <a:xfrm>
            <a:off x="6217920" y="1600200"/>
            <a:ext cx="5303520" cy="4572000"/>
          </a:xfrm>
          <a:prstGeom prst="rect">
            <a:avLst/>
          </a:prstGeom>
          <a:noFill/>
        </p:spPr>
        <p:txBody>
          <a:bodyPr wrap="square" lIns="0" rIns="0" tIns="0" bIns="0" anchor="t">
            <a:spAutoFit/>
          </a:bodyPr>
          <a:lstStyle/>
          <a:p>
            <a:pPr algn="l">
              <a:spcAft>
                <a:spcPts val="400"/>
              </a:spcAft>
            </a:pPr>
            <a:r>
              <a:rPr sz="1050" b="0" i="0">
                <a:solidFill>
                  <a:srgbClr val="2A3F4C"/>
                </a:solidFill>
                <a:latin typeface="Calibri"/>
              </a:rPr>
              <a:t>[12] Navarro et al., “2OffRAN: Offline Off-Policy RL for Safe Handover in O-RAN,” IEEE ICMLCN, 2025.</a:t>
            </a:r>
          </a:p>
          <a:p>
            <a:pPr algn="l">
              <a:spcAft>
                <a:spcPts val="400"/>
              </a:spcAft>
            </a:pPr>
            <a:r>
              <a:rPr sz="1050" b="0" i="0">
                <a:solidFill>
                  <a:srgbClr val="2A3F4C"/>
                </a:solidFill>
                <a:latin typeface="Calibri"/>
              </a:rPr>
              <a:t>[13] Nagib et al., “SafeSlice: Enabling SLA-compliant O-RAN Slicing via Safe DRL,” IEEE ICMLCN, 2025.</a:t>
            </a:r>
          </a:p>
          <a:p>
            <a:pPr algn="l">
              <a:spcAft>
                <a:spcPts val="400"/>
              </a:spcAft>
            </a:pPr>
            <a:r>
              <a:rPr sz="1050" b="0" i="0">
                <a:solidFill>
                  <a:srgbClr val="2A3F4C"/>
                </a:solidFill>
                <a:latin typeface="Calibri"/>
              </a:rPr>
              <a:t>[14] Nagib et al., “Safe and Accelerated DRL-based O-RAN Slicing: A Hybrid Transfer Learning Approach,” IEEE JSAC, 2023.</a:t>
            </a:r>
          </a:p>
          <a:p>
            <a:pPr algn="l">
              <a:spcAft>
                <a:spcPts val="400"/>
              </a:spcAft>
            </a:pPr>
            <a:r>
              <a:rPr sz="1050" b="0" i="0">
                <a:solidFill>
                  <a:srgbClr val="2A3F4C"/>
                </a:solidFill>
                <a:latin typeface="Calibri"/>
              </a:rPr>
              <a:t>[15] Alsenwi et al., “Intelligent Resource Slicing for eMBB and URLLC Coexistence in 5G and Beyond: A DRL Based Approach,” IEEE TWC, 2021.</a:t>
            </a:r>
          </a:p>
          <a:p>
            <a:pPr algn="l">
              <a:spcAft>
                <a:spcPts val="400"/>
              </a:spcAft>
            </a:pPr>
            <a:r>
              <a:rPr sz="1050" b="0" i="0">
                <a:solidFill>
                  <a:srgbClr val="2A3F4C"/>
                </a:solidFill>
                <a:latin typeface="Calibri"/>
              </a:rPr>
              <a:t>[16] Lacava et al., “ns-O-RAN: Simulating O-RAN 5G Systems in ns-3,” WNS3, 2023.</a:t>
            </a:r>
          </a:p>
          <a:p>
            <a:pPr algn="l">
              <a:spcAft>
                <a:spcPts val="400"/>
              </a:spcAft>
            </a:pPr>
            <a:r>
              <a:rPr sz="1050" b="0" i="0">
                <a:solidFill>
                  <a:srgbClr val="2A3F4C"/>
                </a:solidFill>
                <a:latin typeface="Calibri"/>
              </a:rPr>
              <a:t>[17] “Enabling NS-3 Simulations Integrated with Latest Versions of Open RAN Near-RT RICs” (NORI), SBrT, 2025.</a:t>
            </a:r>
          </a:p>
          <a:p>
            <a:pPr algn="l">
              <a:spcAft>
                <a:spcPts val="400"/>
              </a:spcAft>
            </a:pPr>
            <a:r>
              <a:rPr sz="1050" b="0" i="0">
                <a:solidFill>
                  <a:srgbClr val="2A3F4C"/>
                </a:solidFill>
                <a:latin typeface="Calibri"/>
              </a:rPr>
              <a:t>[18] CTTC, 5G-LENA ns-3 NR module, v4.1, 2025.</a:t>
            </a:r>
          </a:p>
          <a:p>
            <a:pPr algn="l">
              <a:spcAft>
                <a:spcPts val="400"/>
              </a:spcAft>
            </a:pPr>
            <a:r>
              <a:rPr sz="1050" b="0" i="0">
                <a:solidFill>
                  <a:srgbClr val="2A3F4C"/>
                </a:solidFill>
                <a:latin typeface="Calibri"/>
              </a:rPr>
              <a:t>[19] Tsampazi et al., “PandORA: Automated Design and Comprehensive Evaluation of DRL Agents for Open RAN,” IEEE TMC, 2024.</a:t>
            </a:r>
          </a:p>
          <a:p>
            <a:pPr algn="l">
              <a:spcAft>
                <a:spcPts val="400"/>
              </a:spcAft>
            </a:pPr>
            <a:r>
              <a:rPr sz="1050" b="0" i="0">
                <a:solidFill>
                  <a:srgbClr val="2A3F4C"/>
                </a:solidFill>
                <a:latin typeface="Calibri"/>
              </a:rPr>
              <a:t>[20] Agarwal et al., “Deep RL at the Edge of the Statistical Precipice,” NeurIPS, 2021.</a:t>
            </a:r>
          </a:p>
          <a:p>
            <a:pPr algn="l">
              <a:spcAft>
                <a:spcPts val="400"/>
              </a:spcAft>
            </a:pPr>
            <a:r>
              <a:rPr sz="1050" b="0" i="0">
                <a:solidFill>
                  <a:srgbClr val="2A3F4C"/>
                </a:solidFill>
                <a:latin typeface="Calibri"/>
              </a:rPr>
              <a:t>[21] Couto et al., “A Survey of Public Datasets for O-RAN,” Annals of Telecommunications, 2024.</a:t>
            </a:r>
          </a:p>
        </p:txBody>
      </p:sp>
      <p:sp>
        <p:nvSpPr>
          <p:cNvPr id="6" name="TextBox 5"/>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5F7A8A"/>
                </a:solidFill>
                <a:latin typeface="Calibri"/>
              </a:rPr>
              <a:t>RS2M Department · Télécom SudParis · Palaiseau, France</a:t>
            </a:r>
          </a:p>
        </p:txBody>
      </p:sp>
      <p:sp>
        <p:nvSpPr>
          <p:cNvPr id="7"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5F7A8A"/>
                </a:solidFill>
                <a:latin typeface="Calibri"/>
              </a:rPr>
              <a:t>30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B2B3C"/>
        </a:solidFill>
        <a:effectLst/>
      </p:bgPr>
    </p:bg>
    <p:spTree>
      <p:nvGrpSpPr>
        <p:cNvPr id="1" name=""/>
        <p:cNvGrpSpPr/>
        <p:nvPr/>
      </p:nvGrpSpPr>
      <p:grpSpPr/>
      <p:sp>
        <p:nvSpPr>
          <p:cNvPr id="2" name="TextBox 1"/>
          <p:cNvSpPr txBox="1"/>
          <p:nvPr/>
        </p:nvSpPr>
        <p:spPr>
          <a:xfrm>
            <a:off x="822960" y="2103120"/>
            <a:ext cx="10058400" cy="365760"/>
          </a:xfrm>
          <a:prstGeom prst="rect">
            <a:avLst/>
          </a:prstGeom>
          <a:noFill/>
        </p:spPr>
        <p:txBody>
          <a:bodyPr wrap="square" lIns="0" rIns="0" tIns="0" bIns="0" anchor="t">
            <a:spAutoFit/>
          </a:bodyPr>
          <a:lstStyle/>
          <a:p>
            <a:pPr algn="l"/>
            <a:r>
              <a:rPr sz="1600" b="1" i="0">
                <a:solidFill>
                  <a:srgbClr val="2BB3A3"/>
                </a:solidFill>
                <a:latin typeface="Calibri"/>
              </a:rPr>
              <a:t>Appendix</a:t>
            </a:r>
          </a:p>
        </p:txBody>
      </p:sp>
      <p:sp>
        <p:nvSpPr>
          <p:cNvPr id="3" name="TextBox 2"/>
          <p:cNvSpPr txBox="1"/>
          <p:nvPr/>
        </p:nvSpPr>
        <p:spPr>
          <a:xfrm>
            <a:off x="822960" y="2560320"/>
            <a:ext cx="10058400" cy="868680"/>
          </a:xfrm>
          <a:prstGeom prst="rect">
            <a:avLst/>
          </a:prstGeom>
          <a:noFill/>
        </p:spPr>
        <p:txBody>
          <a:bodyPr wrap="square" lIns="0" rIns="0" tIns="0" bIns="0" anchor="t">
            <a:spAutoFit/>
          </a:bodyPr>
          <a:lstStyle/>
          <a:p>
            <a:pPr algn="l"/>
            <a:r>
              <a:rPr sz="3600" b="1" i="0">
                <a:solidFill>
                  <a:srgbClr val="FFFFFF"/>
                </a:solidFill>
                <a:latin typeface="Cambria"/>
              </a:rPr>
              <a:t>Detailed survey material</a:t>
            </a:r>
          </a:p>
        </p:txBody>
      </p:sp>
      <p:sp>
        <p:nvSpPr>
          <p:cNvPr id="4" name="TextBox 3"/>
          <p:cNvSpPr txBox="1"/>
          <p:nvPr/>
        </p:nvSpPr>
        <p:spPr>
          <a:xfrm>
            <a:off x="822960" y="3520440"/>
            <a:ext cx="9601200" cy="914400"/>
          </a:xfrm>
          <a:prstGeom prst="rect">
            <a:avLst/>
          </a:prstGeom>
          <a:noFill/>
        </p:spPr>
        <p:txBody>
          <a:bodyPr wrap="square" lIns="0" rIns="0" tIns="0" bIns="0" anchor="t">
            <a:spAutoFit/>
          </a:bodyPr>
          <a:lstStyle/>
          <a:p>
            <a:pPr algn="l"/>
            <a:r>
              <a:rPr sz="1600" b="0" i="0">
                <a:solidFill>
                  <a:srgbClr val="C3D3DD"/>
                </a:solidFill>
                <a:latin typeface="Calibri"/>
              </a:rPr>
              <a:t>Original slides kept intact for reference: survey structures, URLLC PHY/MAC detail, DRL methods and O-RAN use cases, coexistence mechanisms and results.</a:t>
            </a:r>
          </a:p>
        </p:txBody>
      </p:sp>
      <p:sp>
        <p:nvSpPr>
          <p:cNvPr id="5" name="TextBox 4"/>
          <p:cNvSpPr txBox="1"/>
          <p:nvPr/>
        </p:nvSpPr>
        <p:spPr>
          <a:xfrm>
            <a:off x="640080" y="6355080"/>
            <a:ext cx="6400800" cy="274320"/>
          </a:xfrm>
          <a:prstGeom prst="rect">
            <a:avLst/>
          </a:prstGeom>
          <a:noFill/>
        </p:spPr>
        <p:txBody>
          <a:bodyPr wrap="square" lIns="0" rIns="0" tIns="0" bIns="0" anchor="t">
            <a:spAutoFit/>
          </a:bodyPr>
          <a:lstStyle/>
          <a:p>
            <a:pPr algn="l"/>
            <a:r>
              <a:rPr sz="1100" b="0" i="0">
                <a:solidFill>
                  <a:srgbClr val="C3D3DD"/>
                </a:solidFill>
                <a:latin typeface="Calibri"/>
              </a:rPr>
              <a:t>RS2M Department · Télécom SudParis · Palaiseau, France</a:t>
            </a:r>
          </a:p>
        </p:txBody>
      </p:sp>
      <p:sp>
        <p:nvSpPr>
          <p:cNvPr id="6" name="PageNumber"/>
          <p:cNvSpPr txBox="1"/>
          <p:nvPr/>
        </p:nvSpPr>
        <p:spPr>
          <a:xfrm>
            <a:off x="11064240" y="6355080"/>
            <a:ext cx="457200" cy="274320"/>
          </a:xfrm>
          <a:prstGeom prst="rect">
            <a:avLst/>
          </a:prstGeom>
          <a:noFill/>
        </p:spPr>
        <p:txBody>
          <a:bodyPr wrap="square" lIns="0" rIns="0" tIns="0" bIns="0" anchor="t">
            <a:spAutoFit/>
          </a:bodyPr>
          <a:lstStyle/>
          <a:p>
            <a:pPr algn="r"/>
            <a:r>
              <a:rPr sz="1100" b="0" i="0">
                <a:solidFill>
                  <a:srgbClr val="C3D3DD"/>
                </a:solidFill>
                <a:latin typeface="Calibri"/>
              </a:rP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3217</TotalTime>
  <Words>6076</Words>
  <Application>Microsoft Office PowerPoint</Application>
  <PresentationFormat>Grand écran</PresentationFormat>
  <Paragraphs>625</Paragraphs>
  <Slides>34</Slides>
  <Notes>30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34</vt:i4>
      </vt:variant>
    </vt:vector>
  </HeadingPairs>
  <TitlesOfParts>
    <vt:vector size="38"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Offline Safe RL for eMBB/URLLC Resource Allocation in O-RAN</dc:title>
  <dc:subject>PptxGenJS Presentation</dc:subject>
  <dc:creator>Ben Cheikh Ali</dc:creator>
  <cp:lastModifiedBy>Ali BEN CHEIKH</cp:lastModifiedBy>
  <cp:revision>6</cp:revision>
  <dcterms:created xsi:type="dcterms:W3CDTF">2026-07-02T12:04:53Z</dcterms:created>
  <dcterms:modified xsi:type="dcterms:W3CDTF">2026-10-08T21:09:52Z</dcterms:modified>
</cp:coreProperties>
</file>