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61" r:id="rId3"/>
    <p:sldId id="262" r:id="rId4"/>
    <p:sldId id="259" r:id="rId5"/>
    <p:sldId id="257" r:id="rId6"/>
    <p:sldId id="258" r:id="rId7"/>
    <p:sldId id="276" r:id="rId8"/>
    <p:sldId id="267" r:id="rId9"/>
    <p:sldId id="280" r:id="rId10"/>
    <p:sldId id="281" r:id="rId11"/>
    <p:sldId id="268" r:id="rId12"/>
    <p:sldId id="282" r:id="rId13"/>
    <p:sldId id="269" r:id="rId14"/>
    <p:sldId id="263" r:id="rId15"/>
    <p:sldId id="283" r:id="rId16"/>
    <p:sldId id="284" r:id="rId17"/>
    <p:sldId id="285" r:id="rId18"/>
    <p:sldId id="286" r:id="rId19"/>
    <p:sldId id="287" r:id="rId20"/>
    <p:sldId id="270" r:id="rId21"/>
    <p:sldId id="271" r:id="rId22"/>
    <p:sldId id="289" r:id="rId23"/>
    <p:sldId id="288" r:id="rId24"/>
    <p:sldId id="290" r:id="rId25"/>
    <p:sldId id="291" r:id="rId26"/>
    <p:sldId id="292" r:id="rId27"/>
    <p:sldId id="273" r:id="rId28"/>
    <p:sldId id="277" r:id="rId29"/>
    <p:sldId id="278" r:id="rId30"/>
    <p:sldId id="293" r:id="rId31"/>
    <p:sldId id="294" r:id="rId32"/>
    <p:sldId id="295" r:id="rId33"/>
    <p:sldId id="296" r:id="rId34"/>
    <p:sldId id="297" r:id="rId3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10"/>
  </p:normalViewPr>
  <p:slideViewPr>
    <p:cSldViewPr snapToGrid="0" snapToObjects="1">
      <p:cViewPr varScale="1">
        <p:scale>
          <a:sx n="111" d="100"/>
          <a:sy n="111" d="100"/>
        </p:scale>
        <p:origin x="59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673030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Title slide. This work learns a resource-allocation policy for O-RAN entirely offline from real network traces, with an explicit safety constraint on URLLC latency violations. No online exploration on a live network.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Six parts in three phases. First, where the field stands: the landscape from three recent surveys and where I position my thesis. Second, how I will experiment: the ns-3 5G-LENA simulation setup and candidate datasets for offline training. Third, where it goes next: future research ideas and the publication strategy.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I read three recent surveys, each looking at the problem through a different lens. Haque et al. tell us what must be guaranteed: URLLC requirements across PHY, MAC and cross-layer design, with ML and 6G perspectives. Lu et al. tell us how a DRL agent can actually control the RAN in O-RAN, from MDP modelling to safe deployment. Adhikari et al. focus on how eMBB and URLLC share the same resources, which is exactly my application setting. The next three slides go through each survey's structure in that order.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Machine-type traffic changes the requirements: VoIP tolerates 50 ms, automation needs 1 ms. NGMN defines reliability as packets delivered within the deadline. The core tension is that short packets lower latency but lose coding gain, while redundancy adds reliability but costs latency. Figure: Haque Fig. 1 (ITU triangle), PDF p. 2. The timeline summarises Fig. 3 (p. 4); paste Fig. 3 instead if you prefer the original.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Section V. Fig. 6 (PDF p. 9) shows why grant-free access is faster: no scheduling request or grant before data. Coexistence: under the 3GPP framework URLLC interrupts eMBB immediately and without notification, which the survey calls the coexistence problem. Resource optimisation: the authors ask for joint models of queuing delay, end-to-end delay and error probability.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Section VI. Paste Fig. 7(a) from PDF p. 12: URLLC mini-slots with their own control bits cut into the eMBB data, which is puncturing seen at the frame level. Decoding complexity figures are from Table IV (p. 14), relative to turbo = 100 %. Field trial worth quoting: 60 kHz spacing with 0.25 ms slots reached 99.999 % at under 1 ms.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Section IX and Table IX (PDF p. 25). Stress row 2: a DNN trained with a primal-dual method that learns Lagrange multipliers is the closest conceptual cousin of my Lagrangian approach, but it learns a static allocation, not a sequential policy. ASTEROID is the only work that handles a long-term URLLC constraint explicitly, and it is online.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Section I. Paste Table I (PDF p. 3): earlier survey groups rated Low/Medium/High on RL/DRL, O-RAN architecture, use cases, foundation models, trustworthy AI and deployment; this paper is High on all six. Point 4 is the core argument: RAN control is sequential decision-making, not prediction.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Section I-C. Paste only the top row of Fig. 1 (PDF p. 4), which shows the survey structure: Context, Methodology, Application, Advanced paradigms, Deployment, Path forward. The middle and bottom rows (use cases and O-RAN stack) come back on later slides.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Section II-A to II-C. Keep it brisk: the supervisors know RL. The O-RAN-specific point is the POMDP: RICs see telemetry that is sampled, aggregated and delayed, so the agent never sees the true state. PPO is the most used algorithm in the DRL-for-O-RAN literature; SAC is the standard continuous-control baseline.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Sections II-G and II-H, equations (24)–(26). Left: the central risk of offline RL is distribution shift: the critic overestimates actions that the dataset barely contains, and bootstrapping amplifies the error. CQL answers by lowering Q-values of unsupported actions. Right: the CMDP avoids hand-tuned penalty weights, but Lagrangian methods satisfy the constraint only in expectation and at convergence. Combining both is exactly the gap Safe-CQL targets.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Sections II-E, II-F, II-I and II-J. Horizontal FRL: the same xApp trained at many base stations. Vertical FRL: different stakeholders see different parts of the same network, such as RAN telemetry at the RIC and core data at the SMO. The sim-to-real gap is defined as the return lost on the real network by the simulator-optimal policy; it is always non-negative.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Section III. Paste Fig. 3 (PDF p. 13). Table II (p. 15) is the textual version of the three rows on the right. E2 is the key interface for an xApp: the KPM service model defines observations and the RC (RAN Control) service model defines feasible actions. O2 manages the O-Cloud, which is the compute substrate, not an interface itself.</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Section IV and Table III (PDF p. 16). The survey compares the literature along these five dimensions. PandORA is the key evidence: changing only the reward, the action space or the decision period changes which DRL agent comes out best, so formulation choices must be reported.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Section V. Paste Fig. 4 (PDF p. 20), the bottom panel shows use cases by timescale. Table V (p. 26) gives the state, action and reward template per domain if a supervisor asks. The four works on the right are the closest to my setting and the ones I must position against.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Section VI. Paste Fig. 5 (PDF p. 27). Example of the xApp conflict problem: a traffic-steering xApp and an energy-saving xApp issue contradictory decisions on the same radio resources. The game-theoretic warning is useful for a multi-cell extension of my work: agents that each look good in isolation can be unstable or unfair together.</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Section VII. Paste Fig. 6 (PDF p. 31): inputs, then the foundation-model layer, then the DRL controller, then RIC actions with verification. The survey insists that these models augment DRL. Relevant for later work: world models and decision transformers are another way to exploit offline logs.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Section VIII, Table VIII (PDF p. 36). Optional: paste Fig. 7 (p. 36) on a backup slide. Safety is the dimension that concerns me most: SafeSlice uses a risk-sensitive reward plus action projection online, and 2OffRAN trains a handover policy fully offline and validates it with off-policy evaluation before deployment.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Section IX. Offline training needs more than a dataset: telemetry, control commands and outcomes must be re-aligned into transitions, and the behaviour policy recorded. Sim-to-real runs in four stages. Shadow mode lets a candidate policy read live observations while the incumbent keeps control. RLOps adds versioning of data, environment and model, staged rollout and rollback.</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I. Paste FIGURE 1 (PDF p. 3), the 6G service scenarios. Table 2 (p. 5) shows that earlier surveys cover URLLC alone or the two services separately; only this one covers both coexistence and resource allocation. mURLLC means massive URLLC; MBRLLC combines high rate with low latency and high reliability.</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II. Paste FIGURE 3 (p. 6, puncturing) in the top frame and FIGURE 5 (p. 7, OMA vs NOMA) in the bottom one. Puncturing is the special case of superposition where the URLLC power factor equals 1. NOMA is more spectrally efficient, but successive interference cancellation at the receiver adds delay that conflicts with URLLC latency.</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II-A, from Anand et al. Paste FIGURE 4 (PDF p. 6), cropping the caption. The linear model is the only one where the joint scheduler decomposes cleanly. Under the threshold model, eMBB loses nothing until puncturing passes a level, then loses the whole codeword. Each eMBB user's QoS therefore caps how much URLLC load the cell can carry.</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III-A to III-C, Tables 4–7. Paste FIGURE 6 (PDF p. 13), which shows resource blocks of different time–frequency shapes per service. The scheduling result is the one to remember: joint link adaptation and scheduling bring URLLC from 1.3 to 1 ms at the 99.999th percentile, for about 10 % less eMBB throughput.</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Sections III-D and III-E, Table 8 (PDF p. 18) and Table 9 (p. 20). Alsenwi et al. is the closest work to mine: DRL maximising eMBB rate under URLLC constraints, but trained online in simulation. Careful with vocabulary: when this survey says offline, it means offline optimisation with perfect CSI, not offline reinforcement learning.</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Sections III-F, III-G and IV. Paste FIGURE 7 (PDF p. 21), the RIS-assisted coexistence scenario. The RIS result is strong for eMBB, but optimising the phase shifts and estimating CSI adds latency that matters for URLLC. The table gives the application requirements quoted in Section IV.</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V. The five challenges are the survey's own. On the right is my position and three concrete changes I take from this survey: state which rate-loss model my simulator implies, sweep the URLLC load, and add coexistence baselines including an online constrained DRL in the style of Alsenwi et al. Next section: positioning decisions.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B3C"/>
        </a:solidFill>
        <a:effectLst/>
      </p:bgPr>
    </p:bg>
    <p:spTree>
      <p:nvGrpSpPr>
        <p:cNvPr id="1" name=""/>
        <p:cNvGrpSpPr/>
        <p:nvPr/>
      </p:nvGrpSpPr>
      <p:grpSpPr>
        <a:xfrm>
          <a:off x="0" y="0"/>
          <a:ext cx="0" cy="0"/>
          <a:chOff x="0" y="0"/>
          <a:chExt cx="0" cy="0"/>
        </a:xfrm>
      </p:grpSpPr>
      <p:sp>
        <p:nvSpPr>
          <p:cNvPr id="2" name="Shape 0"/>
          <p:cNvSpPr/>
          <p:nvPr/>
        </p:nvSpPr>
        <p:spPr>
          <a:xfrm>
            <a:off x="9601200" y="172960"/>
            <a:ext cx="2011680" cy="2011680"/>
          </a:xfrm>
          <a:prstGeom prst="ellipse">
            <a:avLst/>
          </a:prstGeom>
          <a:ln w="12700">
            <a:solidFill>
              <a:srgbClr val="028090">
                <a:alpha val="45000"/>
              </a:srgbClr>
            </a:solidFill>
            <a:prstDash val="solid"/>
          </a:ln>
        </p:spPr>
        <p:txBody>
          <a:bodyPr/>
          <a:lstStyle/>
          <a:p>
            <a:endParaRPr lang="en-US"/>
          </a:p>
        </p:txBody>
      </p:sp>
      <p:sp>
        <p:nvSpPr>
          <p:cNvPr id="3" name="Shape 1"/>
          <p:cNvSpPr/>
          <p:nvPr/>
        </p:nvSpPr>
        <p:spPr>
          <a:xfrm>
            <a:off x="9115425" y="0"/>
            <a:ext cx="2962276" cy="2395728"/>
          </a:xfrm>
          <a:prstGeom prst="ellipse">
            <a:avLst/>
          </a:prstGeom>
          <a:ln w="12700">
            <a:solidFill>
              <a:srgbClr val="028090">
                <a:alpha val="45000"/>
              </a:srgbClr>
            </a:solidFill>
            <a:prstDash val="solid"/>
          </a:ln>
        </p:spPr>
        <p:txBody>
          <a:bodyPr/>
          <a:lstStyle/>
          <a:p>
            <a:endParaRPr lang="en-US"/>
          </a:p>
        </p:txBody>
      </p:sp>
      <p:sp>
        <p:nvSpPr>
          <p:cNvPr id="6" name="Shape 4"/>
          <p:cNvSpPr/>
          <p:nvPr/>
        </p:nvSpPr>
        <p:spPr>
          <a:xfrm>
            <a:off x="822960" y="777240"/>
            <a:ext cx="822960" cy="822960"/>
          </a:xfrm>
          <a:prstGeom prst="ellipse">
            <a:avLst/>
          </a:prstGeom>
          <a:solidFill>
            <a:srgbClr val="028090"/>
          </a:solidFill>
          <a:ln/>
          <a:effectLst>
            <a:outerShdw blurRad="63500" dist="25400" dir="5400000" algn="bl" rotWithShape="0">
              <a:srgbClr val="000000">
                <a:alpha val="10000"/>
              </a:srgbClr>
            </a:outerShdw>
          </a:effectLst>
        </p:spPr>
        <p:txBody>
          <a:bodyPr/>
          <a:lstStyle/>
          <a:p>
            <a:endParaRPr lang="en-US"/>
          </a:p>
        </p:txBody>
      </p:sp>
      <p:pic>
        <p:nvPicPr>
          <p:cNvPr id="7" name="Image 0" descr="preencoded.png"/>
          <p:cNvPicPr>
            <a:picLocks noChangeAspect="1"/>
          </p:cNvPicPr>
          <p:nvPr/>
        </p:nvPicPr>
        <p:blipFill>
          <a:blip r:embed="rId3"/>
          <a:stretch>
            <a:fillRect/>
          </a:stretch>
        </p:blipFill>
        <p:spPr>
          <a:xfrm>
            <a:off x="1008126" y="962406"/>
            <a:ext cx="452628" cy="452628"/>
          </a:xfrm>
          <a:prstGeom prst="rect">
            <a:avLst/>
          </a:prstGeom>
        </p:spPr>
      </p:pic>
      <p:sp>
        <p:nvSpPr>
          <p:cNvPr id="8" name="Text 5"/>
          <p:cNvSpPr/>
          <p:nvPr/>
        </p:nvSpPr>
        <p:spPr>
          <a:xfrm>
            <a:off x="1783080" y="896112"/>
            <a:ext cx="5486400" cy="548640"/>
          </a:xfrm>
          <a:prstGeom prst="rect">
            <a:avLst/>
          </a:prstGeom>
          <a:noFill/>
          <a:ln/>
        </p:spPr>
        <p:txBody>
          <a:bodyPr wrap="square" lIns="0" tIns="0" rIns="0" bIns="0" rtlCol="0" anchor="ctr"/>
          <a:lstStyle/>
          <a:p>
            <a:r>
              <a:rPr lang="en-US" sz="1500" b="1" kern="0" spc="200" dirty="0">
                <a:solidFill>
                  <a:srgbClr val="02C39A"/>
                </a:solidFill>
                <a:latin typeface="Calibri" pitchFamily="34" charset="0"/>
                <a:ea typeface="Calibri" pitchFamily="34" charset="-122"/>
                <a:cs typeface="Calibri" pitchFamily="34" charset="-120"/>
              </a:rPr>
              <a:t>Research landscape, methodology &amp; future-direction</a:t>
            </a:r>
          </a:p>
        </p:txBody>
      </p:sp>
      <p:sp>
        <p:nvSpPr>
          <p:cNvPr id="9" name="Text 6"/>
          <p:cNvSpPr/>
          <p:nvPr/>
        </p:nvSpPr>
        <p:spPr>
          <a:xfrm>
            <a:off x="822960" y="1965960"/>
            <a:ext cx="10515600" cy="868680"/>
          </a:xfrm>
          <a:prstGeom prst="rect">
            <a:avLst/>
          </a:prstGeom>
          <a:noFill/>
          <a:ln/>
        </p:spPr>
        <p:txBody>
          <a:bodyPr wrap="square" lIns="0" tIns="0" rIns="0" bIns="0" rtlCol="0" anchor="ctr"/>
          <a:lstStyle/>
          <a:p>
            <a:pPr marL="0" indent="0">
              <a:buNone/>
            </a:pPr>
            <a:r>
              <a:rPr lang="fr-FR" sz="4000" b="1" dirty="0">
                <a:solidFill>
                  <a:srgbClr val="FFFFFF"/>
                </a:solidFill>
                <a:latin typeface="Cambria" pitchFamily="34" charset="0"/>
                <a:ea typeface="Cambria" pitchFamily="34" charset="-122"/>
              </a:rPr>
              <a:t>M</a:t>
            </a:r>
            <a:r>
              <a:rPr lang="en-US" sz="4000" b="1" dirty="0">
                <a:solidFill>
                  <a:srgbClr val="FFFFFF"/>
                </a:solidFill>
                <a:latin typeface="Cambria" pitchFamily="34" charset="0"/>
                <a:ea typeface="Cambria" pitchFamily="34" charset="-122"/>
              </a:rPr>
              <a:t>eeting presentation</a:t>
            </a:r>
            <a:endParaRPr lang="en-US" sz="4000" dirty="0"/>
          </a:p>
        </p:txBody>
      </p:sp>
      <p:sp>
        <p:nvSpPr>
          <p:cNvPr id="10" name="Text 7"/>
          <p:cNvSpPr/>
          <p:nvPr/>
        </p:nvSpPr>
        <p:spPr>
          <a:xfrm>
            <a:off x="822960" y="2788920"/>
            <a:ext cx="10515600" cy="640080"/>
          </a:xfrm>
          <a:prstGeom prst="rect">
            <a:avLst/>
          </a:prstGeom>
          <a:noFill/>
          <a:ln/>
        </p:spPr>
        <p:txBody>
          <a:bodyPr wrap="square" lIns="0" tIns="0" rIns="0" bIns="0" rtlCol="0" anchor="ctr"/>
          <a:lstStyle/>
          <a:p>
            <a:pPr marL="0" indent="0">
              <a:buNone/>
            </a:pPr>
            <a:r>
              <a:rPr lang="en-US" sz="3000" dirty="0">
                <a:solidFill>
                  <a:srgbClr val="00A896"/>
                </a:solidFill>
                <a:latin typeface="Cambria" pitchFamily="34" charset="0"/>
                <a:ea typeface="Cambria" pitchFamily="34" charset="-122"/>
                <a:cs typeface="Cambria" pitchFamily="34" charset="-120"/>
              </a:rPr>
              <a:t>Dynamic resource allocation for 5G and future 6G</a:t>
            </a:r>
            <a:endParaRPr lang="en-US" sz="3000" dirty="0"/>
          </a:p>
        </p:txBody>
      </p:sp>
      <p:sp>
        <p:nvSpPr>
          <p:cNvPr id="11" name="Text 8"/>
          <p:cNvSpPr/>
          <p:nvPr/>
        </p:nvSpPr>
        <p:spPr>
          <a:xfrm>
            <a:off x="822960" y="3401568"/>
            <a:ext cx="10515600" cy="548640"/>
          </a:xfrm>
          <a:prstGeom prst="rect">
            <a:avLst/>
          </a:prstGeom>
          <a:noFill/>
          <a:ln/>
        </p:spPr>
        <p:txBody>
          <a:bodyPr wrap="square" lIns="0" tIns="0" rIns="0" bIns="0" rtlCol="0" anchor="ctr"/>
          <a:lstStyle/>
          <a:p>
            <a:pPr marL="0" indent="0">
              <a:buNone/>
            </a:pPr>
            <a:r>
              <a:rPr lang="fr-FR" sz="2400" i="1" dirty="0">
                <a:solidFill>
                  <a:srgbClr val="CBD5E1"/>
                </a:solidFill>
                <a:latin typeface="Cambria" pitchFamily="34" charset="0"/>
                <a:ea typeface="Cambria" pitchFamily="34" charset="-122"/>
              </a:rPr>
              <a:t>A</a:t>
            </a:r>
            <a:r>
              <a:rPr lang="en-US" sz="2400" i="1" dirty="0">
                <a:solidFill>
                  <a:srgbClr val="CBD5E1"/>
                </a:solidFill>
                <a:latin typeface="Cambria" pitchFamily="34" charset="0"/>
                <a:ea typeface="Cambria" pitchFamily="34" charset="-122"/>
              </a:rPr>
              <a:t> summary</a:t>
            </a:r>
            <a:endParaRPr lang="en-US" sz="2400" dirty="0"/>
          </a:p>
        </p:txBody>
      </p:sp>
      <p:sp>
        <p:nvSpPr>
          <p:cNvPr id="12" name="Shape 9"/>
          <p:cNvSpPr/>
          <p:nvPr/>
        </p:nvSpPr>
        <p:spPr>
          <a:xfrm>
            <a:off x="841248" y="4160520"/>
            <a:ext cx="3108960" cy="18288"/>
          </a:xfrm>
          <a:prstGeom prst="rect">
            <a:avLst/>
          </a:prstGeom>
          <a:solidFill>
            <a:srgbClr val="028090"/>
          </a:solidFill>
          <a:ln/>
        </p:spPr>
        <p:txBody>
          <a:bodyPr/>
          <a:lstStyle/>
          <a:p>
            <a:endParaRPr lang="en-US"/>
          </a:p>
        </p:txBody>
      </p:sp>
      <p:sp>
        <p:nvSpPr>
          <p:cNvPr id="13" name="Text 10"/>
          <p:cNvSpPr/>
          <p:nvPr/>
        </p:nvSpPr>
        <p:spPr>
          <a:xfrm>
            <a:off x="822960" y="4343400"/>
            <a:ext cx="7315200" cy="822960"/>
          </a:xfrm>
          <a:prstGeom prst="rect">
            <a:avLst/>
          </a:prstGeom>
          <a:noFill/>
          <a:ln/>
        </p:spPr>
        <p:txBody>
          <a:bodyPr wrap="square" lIns="0" tIns="0" rIns="0" bIns="0" rtlCol="0" anchor="ctr"/>
          <a:lstStyle/>
          <a:p>
            <a:pPr marL="0" indent="0">
              <a:lnSpc>
                <a:spcPct val="115000"/>
              </a:lnSpc>
              <a:buNone/>
            </a:pPr>
            <a:r>
              <a:rPr lang="en-US" sz="1600" b="1" dirty="0">
                <a:solidFill>
                  <a:srgbClr val="FFFFFF"/>
                </a:solidFill>
                <a:latin typeface="Calibri" pitchFamily="34" charset="0"/>
                <a:ea typeface="Calibri" pitchFamily="34" charset="-122"/>
                <a:cs typeface="Calibri" pitchFamily="34" charset="-120"/>
              </a:rPr>
              <a:t>PhD student	   Ben Cheikh Ali</a:t>
            </a:r>
          </a:p>
          <a:p>
            <a:pPr marL="0" indent="0">
              <a:lnSpc>
                <a:spcPct val="115000"/>
              </a:lnSpc>
              <a:buNone/>
            </a:pPr>
            <a:endParaRPr lang="en-US" sz="1600" dirty="0"/>
          </a:p>
          <a:p>
            <a:pPr>
              <a:lnSpc>
                <a:spcPct val="100000"/>
              </a:lnSpc>
            </a:pPr>
            <a:r>
              <a:rPr lang="en-US" sz="1600" b="1" dirty="0">
                <a:solidFill>
                  <a:srgbClr val="FFFFFF"/>
                </a:solidFill>
                <a:latin typeface="Calibri" pitchFamily="34" charset="0"/>
                <a:ea typeface="Calibri" pitchFamily="34" charset="-122"/>
                <a:cs typeface="Calibri" pitchFamily="34" charset="-120"/>
              </a:rPr>
              <a:t> Supervisors</a:t>
            </a:r>
            <a:r>
              <a:rPr lang="en-US" sz="1600" dirty="0">
                <a:solidFill>
                  <a:srgbClr val="9FB3C8"/>
                </a:solidFill>
                <a:latin typeface="Calibri" pitchFamily="34" charset="0"/>
                <a:ea typeface="Calibri" pitchFamily="34" charset="-122"/>
                <a:cs typeface="Calibri" pitchFamily="34" charset="-120"/>
              </a:rPr>
              <a:t>                   Hakima Chaouchi   ·   Anis Laouiti    · Nour-El-Houda Yellas </a:t>
            </a:r>
          </a:p>
        </p:txBody>
      </p:sp>
      <p:sp>
        <p:nvSpPr>
          <p:cNvPr id="14" name="Text 11"/>
          <p:cNvSpPr/>
          <p:nvPr/>
        </p:nvSpPr>
        <p:spPr>
          <a:xfrm>
            <a:off x="822960" y="5989320"/>
            <a:ext cx="10058400" cy="365760"/>
          </a:xfrm>
          <a:prstGeom prst="rect">
            <a:avLst/>
          </a:prstGeom>
          <a:noFill/>
          <a:ln/>
        </p:spPr>
        <p:txBody>
          <a:bodyPr wrap="square" lIns="0" tIns="0" rIns="0" bIns="0" rtlCol="0" anchor="ctr"/>
          <a:lstStyle/>
          <a:p>
            <a:pPr marL="0" indent="0">
              <a:buNone/>
            </a:pPr>
            <a:r>
              <a:rPr lang="en-US" sz="1300" dirty="0">
                <a:solidFill>
                  <a:srgbClr val="7E93A8"/>
                </a:solidFill>
                <a:latin typeface="Calibri" pitchFamily="34" charset="0"/>
                <a:ea typeface="Calibri" pitchFamily="34" charset="-122"/>
                <a:cs typeface="Calibri" pitchFamily="34" charset="-120"/>
              </a:rPr>
              <a:t>RS2M Department · Télécom SudParis · Palaiseau, France</a:t>
            </a:r>
            <a:endParaRPr lang="en-US" sz="1300" dirty="0"/>
          </a:p>
        </p:txBody>
      </p:sp>
      <p:pic>
        <p:nvPicPr>
          <p:cNvPr id="16" name="Image 15">
            <a:extLst>
              <a:ext uri="{FF2B5EF4-FFF2-40B4-BE49-F238E27FC236}">
                <a16:creationId xmlns:a16="http://schemas.microsoft.com/office/drawing/2014/main" id="{EF5A5CC8-BBB5-DA33-D4E5-D79C30FED670}"/>
              </a:ext>
            </a:extLst>
          </p:cNvPr>
          <p:cNvPicPr>
            <a:picLocks noChangeAspect="1"/>
          </p:cNvPicPr>
          <p:nvPr/>
        </p:nvPicPr>
        <p:blipFill>
          <a:blip r:embed="rId4"/>
          <a:stretch>
            <a:fillRect/>
          </a:stretch>
        </p:blipFill>
        <p:spPr>
          <a:xfrm>
            <a:off x="10143096" y="502920"/>
            <a:ext cx="909916" cy="139816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txBox="1"/>
          <p:nvPr/>
        </p:nvSpPr>
        <p:spPr>
          <a:xfrm>
            <a:off x="640080" y="411480"/>
            <a:ext cx="7315200" cy="320040"/>
          </a:xfrm>
          <a:prstGeom prst="rect">
            <a:avLst/>
          </a:prstGeom>
          <a:noFill/>
          <a:ln/>
        </p:spPr>
        <p:txBody>
          <a:bodyPr wrap="square" lIns="0" tIns="0" rIns="0" bIns="0" rtlCol="0" anchor="ctr"/>
          <a:lstStyle/>
          <a:p>
            <a:pPr marL="0" indent="0">
              <a:buNone/>
            </a:pPr>
            <a:r>
              <a:rPr lang="en-US" sz="1400" b="1" kern="0" spc="200" dirty="0">
                <a:solidFill>
                  <a:srgbClr val="2BB3A3"/>
                </a:solidFill>
                <a:latin typeface="Calibri" pitchFamily="34" charset="0"/>
                <a:ea typeface="Calibri" pitchFamily="34" charset="-122"/>
                <a:cs typeface="Calibri" pitchFamily="34" charset="-120"/>
              </a:rPr>
              <a:t>Presentation overall structure</a:t>
            </a:r>
            <a:endParaRPr lang="en-US" sz="1400" dirty="0"/>
          </a:p>
        </p:txBody>
      </p:sp>
      <p:sp>
        <p:nvSpPr>
          <p:cNvPr id="6" name="Text 4"/>
          <p:cNvSpPr txBox="1"/>
          <p:nvPr/>
        </p:nvSpPr>
        <p:spPr>
          <a:xfrm>
            <a:off x="1435608" y="1828800"/>
            <a:ext cx="2095500" cy="320040"/>
          </a:xfrm>
          <a:prstGeom prst="rect">
            <a:avLst/>
          </a:prstGeom>
          <a:noFill/>
          <a:ln/>
        </p:spPr>
        <p:txBody>
          <a:bodyPr wrap="square" lIns="0" tIns="0" rIns="0" bIns="0" rtlCol="0" anchor="ctr"/>
          <a:lstStyle/>
          <a:p>
            <a:pPr marL="0" indent="0">
              <a:buNone/>
            </a:pPr>
            <a:r>
              <a:rPr lang="en-US" sz="1200" b="1" kern="0" spc="150" dirty="0">
                <a:solidFill>
                  <a:srgbClr val="9FB4C2"/>
                </a:solidFill>
                <a:latin typeface="Calibri" pitchFamily="34" charset="0"/>
                <a:ea typeface="Calibri" pitchFamily="34" charset="-122"/>
                <a:cs typeface="Calibri" pitchFamily="34" charset="-120"/>
              </a:rPr>
              <a:t>WHAT IS BEING DONE</a:t>
            </a:r>
            <a:endParaRPr lang="en-US" sz="1200" dirty="0"/>
          </a:p>
        </p:txBody>
      </p:sp>
      <p:sp>
        <p:nvSpPr>
          <p:cNvPr id="7" name="Shape 5"/>
          <p:cNvSpPr/>
          <p:nvPr/>
        </p:nvSpPr>
        <p:spPr>
          <a:xfrm>
            <a:off x="640080" y="2286000"/>
            <a:ext cx="3429000" cy="1645920"/>
          </a:xfrm>
          <a:prstGeom prst="roundRect">
            <a:avLst>
              <a:gd name="adj" fmla="val 4444"/>
            </a:avLst>
          </a:prstGeom>
          <a:solidFill>
            <a:srgbClr val="123A4E"/>
          </a:solidFill>
          <a:ln w="12700">
            <a:solidFill>
              <a:srgbClr val="123A4E"/>
            </a:solidFill>
            <a:prstDash val="solid"/>
          </a:ln>
        </p:spPr>
        <p:txBody>
          <a:bodyPr/>
          <a:lstStyle/>
          <a:p>
            <a:endParaRPr lang="en-US"/>
          </a:p>
        </p:txBody>
      </p:sp>
      <p:sp>
        <p:nvSpPr>
          <p:cNvPr id="8" name="Shape 6"/>
          <p:cNvSpPr/>
          <p:nvPr/>
        </p:nvSpPr>
        <p:spPr>
          <a:xfrm>
            <a:off x="868680" y="2542032"/>
            <a:ext cx="566928" cy="566928"/>
          </a:xfrm>
          <a:prstGeom prst="ellipse">
            <a:avLst/>
          </a:prstGeom>
          <a:solidFill>
            <a:srgbClr val="1A8A99"/>
          </a:solidFill>
          <a:ln w="12700">
            <a:solidFill>
              <a:srgbClr val="1A8A99"/>
            </a:solidFill>
            <a:prstDash val="solid"/>
          </a:ln>
        </p:spPr>
        <p:txBody>
          <a:bodyPr/>
          <a:lstStyle/>
          <a:p>
            <a:endParaRPr lang="en-US"/>
          </a:p>
        </p:txBody>
      </p:sp>
      <p:sp>
        <p:nvSpPr>
          <p:cNvPr id="9" name="Text 7"/>
          <p:cNvSpPr txBox="1"/>
          <p:nvPr/>
        </p:nvSpPr>
        <p:spPr>
          <a:xfrm>
            <a:off x="868680" y="2542032"/>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10" name="Text 8"/>
          <p:cNvSpPr txBox="1"/>
          <p:nvPr/>
        </p:nvSpPr>
        <p:spPr>
          <a:xfrm>
            <a:off x="1600200" y="2487168"/>
            <a:ext cx="2286000" cy="6858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Research landscape</a:t>
            </a:r>
            <a:endParaRPr lang="en-US" sz="1800" dirty="0"/>
          </a:p>
        </p:txBody>
      </p:sp>
      <p:sp>
        <p:nvSpPr>
          <p:cNvPr id="11" name="Text 9"/>
          <p:cNvSpPr txBox="1"/>
          <p:nvPr/>
        </p:nvSpPr>
        <p:spPr>
          <a:xfrm>
            <a:off x="868680" y="3246120"/>
            <a:ext cx="2971800" cy="566928"/>
          </a:xfrm>
          <a:prstGeom prst="rect">
            <a:avLst/>
          </a:prstGeom>
          <a:noFill/>
          <a:ln/>
        </p:spPr>
        <p:txBody>
          <a:bodyPr wrap="square" lIns="0" tIns="0" rIns="0" bIns="0" rtlCol="0" anchor="t"/>
          <a:lstStyle/>
          <a:p>
            <a:pPr marL="0" indent="0">
              <a:buNone/>
            </a:pPr>
            <a:r>
              <a:rPr lang="en-US" sz="1250" dirty="0">
                <a:solidFill>
                  <a:srgbClr val="9FB4C2"/>
                </a:solidFill>
                <a:latin typeface="Calibri" pitchFamily="34" charset="0"/>
                <a:ea typeface="Calibri" pitchFamily="34" charset="-122"/>
                <a:cs typeface="Calibri" pitchFamily="34" charset="-120"/>
              </a:rPr>
              <a:t>Three recent surveys considered: URLLC in 5G/6G, DRL for AI-RAN, eMBB–URLLC coexistence.</a:t>
            </a:r>
            <a:endParaRPr lang="en-US" sz="1250" dirty="0"/>
          </a:p>
        </p:txBody>
      </p:sp>
      <p:sp>
        <p:nvSpPr>
          <p:cNvPr id="12" name="Shape 10"/>
          <p:cNvSpPr/>
          <p:nvPr/>
        </p:nvSpPr>
        <p:spPr>
          <a:xfrm>
            <a:off x="640080" y="4206240"/>
            <a:ext cx="3429000" cy="1645920"/>
          </a:xfrm>
          <a:prstGeom prst="roundRect">
            <a:avLst>
              <a:gd name="adj" fmla="val 4444"/>
            </a:avLst>
          </a:prstGeom>
          <a:solidFill>
            <a:srgbClr val="123A4E"/>
          </a:solidFill>
          <a:ln w="12700">
            <a:solidFill>
              <a:srgbClr val="123A4E"/>
            </a:solidFill>
            <a:prstDash val="solid"/>
          </a:ln>
        </p:spPr>
        <p:txBody>
          <a:bodyPr/>
          <a:lstStyle/>
          <a:p>
            <a:endParaRPr lang="en-US"/>
          </a:p>
        </p:txBody>
      </p:sp>
      <p:sp>
        <p:nvSpPr>
          <p:cNvPr id="13" name="Shape 11"/>
          <p:cNvSpPr/>
          <p:nvPr/>
        </p:nvSpPr>
        <p:spPr>
          <a:xfrm>
            <a:off x="868680" y="4462272"/>
            <a:ext cx="566928" cy="566928"/>
          </a:xfrm>
          <a:prstGeom prst="ellipse">
            <a:avLst/>
          </a:prstGeom>
          <a:solidFill>
            <a:srgbClr val="1A8A99"/>
          </a:solidFill>
          <a:ln w="12700">
            <a:solidFill>
              <a:srgbClr val="1A8A99"/>
            </a:solidFill>
            <a:prstDash val="solid"/>
          </a:ln>
        </p:spPr>
        <p:txBody>
          <a:bodyPr/>
          <a:lstStyle/>
          <a:p>
            <a:endParaRPr lang="en-US"/>
          </a:p>
        </p:txBody>
      </p:sp>
      <p:sp>
        <p:nvSpPr>
          <p:cNvPr id="14" name="Text 12"/>
          <p:cNvSpPr txBox="1"/>
          <p:nvPr/>
        </p:nvSpPr>
        <p:spPr>
          <a:xfrm>
            <a:off x="868680" y="4462272"/>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5" name="Text 13"/>
          <p:cNvSpPr txBox="1"/>
          <p:nvPr/>
        </p:nvSpPr>
        <p:spPr>
          <a:xfrm>
            <a:off x="1600200" y="4407408"/>
            <a:ext cx="2286000" cy="6858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Positioning decisions</a:t>
            </a:r>
            <a:endParaRPr lang="en-US" sz="1800" dirty="0"/>
          </a:p>
        </p:txBody>
      </p:sp>
      <p:sp>
        <p:nvSpPr>
          <p:cNvPr id="16" name="Text 14"/>
          <p:cNvSpPr txBox="1"/>
          <p:nvPr/>
        </p:nvSpPr>
        <p:spPr>
          <a:xfrm>
            <a:off x="868680" y="5166360"/>
            <a:ext cx="2971800" cy="566928"/>
          </a:xfrm>
          <a:prstGeom prst="rect">
            <a:avLst/>
          </a:prstGeom>
          <a:noFill/>
          <a:ln/>
        </p:spPr>
        <p:txBody>
          <a:bodyPr wrap="square" lIns="0" tIns="0" rIns="0" bIns="0" rtlCol="0" anchor="t"/>
          <a:lstStyle/>
          <a:p>
            <a:pPr marL="0" indent="0">
              <a:buNone/>
            </a:pPr>
            <a:r>
              <a:rPr lang="en-US" sz="1250" dirty="0">
                <a:solidFill>
                  <a:srgbClr val="9FB4C2"/>
                </a:solidFill>
                <a:latin typeface="Calibri" pitchFamily="34" charset="0"/>
                <a:ea typeface="Calibri" pitchFamily="34" charset="-122"/>
                <a:cs typeface="Calibri" pitchFamily="34" charset="-120"/>
              </a:rPr>
              <a:t>How my thesis work will reduce E2E URLLC latency while meeting the very challenging reliability goals.</a:t>
            </a:r>
            <a:endParaRPr lang="en-US" sz="1250" dirty="0"/>
          </a:p>
        </p:txBody>
      </p:sp>
      <p:sp>
        <p:nvSpPr>
          <p:cNvPr id="17" name="Text 15"/>
          <p:cNvSpPr txBox="1"/>
          <p:nvPr/>
        </p:nvSpPr>
        <p:spPr>
          <a:xfrm>
            <a:off x="4991100" y="1847850"/>
            <a:ext cx="2209800" cy="320040"/>
          </a:xfrm>
          <a:prstGeom prst="rect">
            <a:avLst/>
          </a:prstGeom>
          <a:noFill/>
          <a:ln/>
        </p:spPr>
        <p:txBody>
          <a:bodyPr wrap="square" lIns="0" tIns="0" rIns="0" bIns="0" rtlCol="0" anchor="ctr"/>
          <a:lstStyle/>
          <a:p>
            <a:pPr marL="0" indent="0">
              <a:buNone/>
            </a:pPr>
            <a:r>
              <a:rPr lang="en-US" sz="1200" b="1" kern="0" spc="150" dirty="0">
                <a:solidFill>
                  <a:srgbClr val="9FB4C2"/>
                </a:solidFill>
                <a:latin typeface="Calibri" pitchFamily="34" charset="0"/>
                <a:ea typeface="Calibri" pitchFamily="34" charset="-122"/>
                <a:cs typeface="Calibri" pitchFamily="34" charset="-120"/>
              </a:rPr>
              <a:t>HOW I WILL EXPERIMENT</a:t>
            </a:r>
            <a:endParaRPr lang="en-US" sz="1200" dirty="0"/>
          </a:p>
        </p:txBody>
      </p:sp>
      <p:sp>
        <p:nvSpPr>
          <p:cNvPr id="18" name="Shape 16"/>
          <p:cNvSpPr/>
          <p:nvPr/>
        </p:nvSpPr>
        <p:spPr>
          <a:xfrm>
            <a:off x="4343400" y="2286000"/>
            <a:ext cx="3429000" cy="1645920"/>
          </a:xfrm>
          <a:prstGeom prst="roundRect">
            <a:avLst>
              <a:gd name="adj" fmla="val 4444"/>
            </a:avLst>
          </a:prstGeom>
          <a:solidFill>
            <a:schemeClr val="bg2">
              <a:lumMod val="50000"/>
            </a:schemeClr>
          </a:solidFill>
          <a:ln w="12700">
            <a:solidFill>
              <a:srgbClr val="123A4E"/>
            </a:solidFill>
            <a:prstDash val="solid"/>
          </a:ln>
        </p:spPr>
        <p:txBody>
          <a:bodyPr/>
          <a:lstStyle/>
          <a:p>
            <a:endParaRPr lang="en-US"/>
          </a:p>
        </p:txBody>
      </p:sp>
      <p:sp>
        <p:nvSpPr>
          <p:cNvPr id="19" name="Shape 17"/>
          <p:cNvSpPr/>
          <p:nvPr/>
        </p:nvSpPr>
        <p:spPr>
          <a:xfrm>
            <a:off x="4572000" y="2542032"/>
            <a:ext cx="566928" cy="566928"/>
          </a:xfrm>
          <a:prstGeom prst="ellipse">
            <a:avLst/>
          </a:prstGeom>
          <a:solidFill>
            <a:srgbClr val="1A8A99"/>
          </a:solidFill>
          <a:ln w="12700">
            <a:solidFill>
              <a:srgbClr val="1A8A99"/>
            </a:solidFill>
            <a:prstDash val="solid"/>
          </a:ln>
        </p:spPr>
        <p:txBody>
          <a:bodyPr/>
          <a:lstStyle/>
          <a:p>
            <a:endParaRPr lang="en-US"/>
          </a:p>
        </p:txBody>
      </p:sp>
      <p:sp>
        <p:nvSpPr>
          <p:cNvPr id="20" name="Text 18"/>
          <p:cNvSpPr txBox="1"/>
          <p:nvPr/>
        </p:nvSpPr>
        <p:spPr>
          <a:xfrm>
            <a:off x="4572000" y="2542032"/>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21" name="Text 19"/>
          <p:cNvSpPr txBox="1"/>
          <p:nvPr/>
        </p:nvSpPr>
        <p:spPr>
          <a:xfrm>
            <a:off x="5303520" y="2487168"/>
            <a:ext cx="2286000" cy="6858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ns-3 5G-LENA &amp; setup</a:t>
            </a:r>
            <a:endParaRPr lang="en-US" sz="1800" dirty="0"/>
          </a:p>
        </p:txBody>
      </p:sp>
      <p:sp>
        <p:nvSpPr>
          <p:cNvPr id="22" name="Text 20"/>
          <p:cNvSpPr txBox="1"/>
          <p:nvPr/>
        </p:nvSpPr>
        <p:spPr>
          <a:xfrm>
            <a:off x="4572000" y="3246120"/>
            <a:ext cx="2971800" cy="566928"/>
          </a:xfrm>
          <a:prstGeom prst="rect">
            <a:avLst/>
          </a:prstGeom>
          <a:noFill/>
          <a:ln/>
        </p:spPr>
        <p:txBody>
          <a:bodyPr wrap="square" lIns="0" tIns="0" rIns="0" bIns="0" rtlCol="0" anchor="t"/>
          <a:lstStyle/>
          <a:p>
            <a:pPr marL="0" indent="0">
              <a:buNone/>
            </a:pPr>
            <a:r>
              <a:rPr lang="en-US" sz="1250" dirty="0">
                <a:solidFill>
                  <a:srgbClr val="9FB4C2"/>
                </a:solidFill>
                <a:latin typeface="Calibri" pitchFamily="34" charset="0"/>
                <a:ea typeface="Calibri" pitchFamily="34" charset="-122"/>
                <a:cs typeface="Calibri" pitchFamily="34" charset="-120"/>
              </a:rPr>
              <a:t>Simulation stack, scenarios and the setup still needed.</a:t>
            </a:r>
            <a:endParaRPr lang="en-US" sz="1250" dirty="0"/>
          </a:p>
        </p:txBody>
      </p:sp>
      <p:sp>
        <p:nvSpPr>
          <p:cNvPr id="23" name="Shape 21"/>
          <p:cNvSpPr/>
          <p:nvPr/>
        </p:nvSpPr>
        <p:spPr>
          <a:xfrm>
            <a:off x="4343400" y="4206240"/>
            <a:ext cx="3429000" cy="1645920"/>
          </a:xfrm>
          <a:prstGeom prst="roundRect">
            <a:avLst>
              <a:gd name="adj" fmla="val 4444"/>
            </a:avLst>
          </a:prstGeom>
          <a:solidFill>
            <a:schemeClr val="bg2">
              <a:lumMod val="50000"/>
            </a:schemeClr>
          </a:solidFill>
          <a:ln w="12700">
            <a:solidFill>
              <a:srgbClr val="123A4E"/>
            </a:solidFill>
            <a:prstDash val="solid"/>
          </a:ln>
        </p:spPr>
        <p:txBody>
          <a:bodyPr/>
          <a:lstStyle/>
          <a:p>
            <a:endParaRPr lang="en-US"/>
          </a:p>
        </p:txBody>
      </p:sp>
      <p:sp>
        <p:nvSpPr>
          <p:cNvPr id="24" name="Shape 22"/>
          <p:cNvSpPr/>
          <p:nvPr/>
        </p:nvSpPr>
        <p:spPr>
          <a:xfrm>
            <a:off x="4572000" y="4462272"/>
            <a:ext cx="566928" cy="566928"/>
          </a:xfrm>
          <a:prstGeom prst="ellipse">
            <a:avLst/>
          </a:prstGeom>
          <a:solidFill>
            <a:srgbClr val="1A8A99"/>
          </a:solidFill>
          <a:ln w="12700">
            <a:solidFill>
              <a:srgbClr val="1A8A99"/>
            </a:solidFill>
            <a:prstDash val="solid"/>
          </a:ln>
        </p:spPr>
        <p:txBody>
          <a:bodyPr/>
          <a:lstStyle/>
          <a:p>
            <a:endParaRPr lang="en-US"/>
          </a:p>
        </p:txBody>
      </p:sp>
      <p:sp>
        <p:nvSpPr>
          <p:cNvPr id="25" name="Text 23"/>
          <p:cNvSpPr txBox="1"/>
          <p:nvPr/>
        </p:nvSpPr>
        <p:spPr>
          <a:xfrm>
            <a:off x="4572000" y="4462272"/>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6" name="Text 24"/>
          <p:cNvSpPr txBox="1"/>
          <p:nvPr/>
        </p:nvSpPr>
        <p:spPr>
          <a:xfrm>
            <a:off x="5303520" y="4407408"/>
            <a:ext cx="2286000" cy="6858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Potentially relevant datasets</a:t>
            </a:r>
            <a:endParaRPr lang="en-US" sz="1800" dirty="0"/>
          </a:p>
        </p:txBody>
      </p:sp>
      <p:sp>
        <p:nvSpPr>
          <p:cNvPr id="27" name="Text 25"/>
          <p:cNvSpPr txBox="1"/>
          <p:nvPr/>
        </p:nvSpPr>
        <p:spPr>
          <a:xfrm>
            <a:off x="4572000" y="5166360"/>
            <a:ext cx="2971800" cy="566928"/>
          </a:xfrm>
          <a:prstGeom prst="rect">
            <a:avLst/>
          </a:prstGeom>
          <a:noFill/>
          <a:ln/>
        </p:spPr>
        <p:txBody>
          <a:bodyPr wrap="square" lIns="0" tIns="0" rIns="0" bIns="0" rtlCol="0" anchor="t"/>
          <a:lstStyle/>
          <a:p>
            <a:pPr marL="0" indent="0">
              <a:buNone/>
            </a:pPr>
            <a:r>
              <a:rPr lang="en-US" sz="1250" dirty="0">
                <a:solidFill>
                  <a:srgbClr val="9FB4C2"/>
                </a:solidFill>
                <a:latin typeface="Calibri" pitchFamily="34" charset="0"/>
                <a:ea typeface="Calibri" pitchFamily="34" charset="-122"/>
                <a:cs typeface="Calibri" pitchFamily="34" charset="-120"/>
              </a:rPr>
              <a:t>Candidate traces for offline pre-training and their limits.</a:t>
            </a:r>
            <a:endParaRPr lang="en-US" sz="1250" dirty="0"/>
          </a:p>
        </p:txBody>
      </p:sp>
      <p:sp>
        <p:nvSpPr>
          <p:cNvPr id="28" name="Text 26"/>
          <p:cNvSpPr txBox="1"/>
          <p:nvPr/>
        </p:nvSpPr>
        <p:spPr>
          <a:xfrm>
            <a:off x="8737472" y="1865376"/>
            <a:ext cx="2209799" cy="320040"/>
          </a:xfrm>
          <a:prstGeom prst="rect">
            <a:avLst/>
          </a:prstGeom>
          <a:noFill/>
          <a:ln/>
        </p:spPr>
        <p:txBody>
          <a:bodyPr wrap="square" lIns="0" tIns="0" rIns="0" bIns="0" rtlCol="0" anchor="ctr"/>
          <a:lstStyle/>
          <a:p>
            <a:pPr marL="0" indent="0">
              <a:buNone/>
            </a:pPr>
            <a:r>
              <a:rPr lang="en-US" sz="1200" b="1" kern="0" spc="150" dirty="0">
                <a:solidFill>
                  <a:srgbClr val="9FB4C2"/>
                </a:solidFill>
                <a:latin typeface="Calibri" pitchFamily="34" charset="0"/>
                <a:ea typeface="Calibri" pitchFamily="34" charset="-122"/>
                <a:cs typeface="Calibri" pitchFamily="34" charset="-120"/>
              </a:rPr>
              <a:t>WHAT ARE THE NEXT STEPS</a:t>
            </a:r>
            <a:endParaRPr lang="en-US" sz="1200" dirty="0"/>
          </a:p>
        </p:txBody>
      </p:sp>
      <p:sp>
        <p:nvSpPr>
          <p:cNvPr id="29" name="Shape 27"/>
          <p:cNvSpPr/>
          <p:nvPr/>
        </p:nvSpPr>
        <p:spPr>
          <a:xfrm>
            <a:off x="8046720" y="2286000"/>
            <a:ext cx="3429000" cy="1645920"/>
          </a:xfrm>
          <a:prstGeom prst="roundRect">
            <a:avLst>
              <a:gd name="adj" fmla="val 4444"/>
            </a:avLst>
          </a:prstGeom>
          <a:solidFill>
            <a:schemeClr val="bg2">
              <a:lumMod val="50000"/>
            </a:schemeClr>
          </a:solidFill>
          <a:ln w="12700">
            <a:solidFill>
              <a:srgbClr val="123A4E"/>
            </a:solidFill>
            <a:prstDash val="solid"/>
          </a:ln>
        </p:spPr>
        <p:txBody>
          <a:bodyPr/>
          <a:lstStyle/>
          <a:p>
            <a:endParaRPr lang="en-US"/>
          </a:p>
        </p:txBody>
      </p:sp>
      <p:sp>
        <p:nvSpPr>
          <p:cNvPr id="30" name="Shape 28"/>
          <p:cNvSpPr/>
          <p:nvPr/>
        </p:nvSpPr>
        <p:spPr>
          <a:xfrm>
            <a:off x="8275320" y="2542032"/>
            <a:ext cx="566928" cy="566928"/>
          </a:xfrm>
          <a:prstGeom prst="ellipse">
            <a:avLst/>
          </a:prstGeom>
          <a:solidFill>
            <a:srgbClr val="1A8A99"/>
          </a:solidFill>
          <a:ln w="12700">
            <a:solidFill>
              <a:srgbClr val="1A8A99"/>
            </a:solidFill>
            <a:prstDash val="solid"/>
          </a:ln>
        </p:spPr>
        <p:txBody>
          <a:bodyPr/>
          <a:lstStyle/>
          <a:p>
            <a:endParaRPr lang="en-US"/>
          </a:p>
        </p:txBody>
      </p:sp>
      <p:sp>
        <p:nvSpPr>
          <p:cNvPr id="31" name="Text 29"/>
          <p:cNvSpPr txBox="1"/>
          <p:nvPr/>
        </p:nvSpPr>
        <p:spPr>
          <a:xfrm>
            <a:off x="8275320" y="2542032"/>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32" name="Text 30"/>
          <p:cNvSpPr txBox="1"/>
          <p:nvPr/>
        </p:nvSpPr>
        <p:spPr>
          <a:xfrm>
            <a:off x="9006840" y="2487168"/>
            <a:ext cx="2286000" cy="6858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Future research ideas</a:t>
            </a:r>
            <a:endParaRPr lang="en-US" sz="1800" dirty="0"/>
          </a:p>
        </p:txBody>
      </p:sp>
      <p:sp>
        <p:nvSpPr>
          <p:cNvPr id="33" name="Text 31"/>
          <p:cNvSpPr txBox="1"/>
          <p:nvPr/>
        </p:nvSpPr>
        <p:spPr>
          <a:xfrm>
            <a:off x="8275320" y="3246120"/>
            <a:ext cx="2971800" cy="566928"/>
          </a:xfrm>
          <a:prstGeom prst="rect">
            <a:avLst/>
          </a:prstGeom>
          <a:noFill/>
          <a:ln/>
        </p:spPr>
        <p:txBody>
          <a:bodyPr wrap="square" lIns="0" tIns="0" rIns="0" bIns="0" rtlCol="0" anchor="t"/>
          <a:lstStyle/>
          <a:p>
            <a:pPr marL="0" indent="0">
              <a:buNone/>
            </a:pPr>
            <a:r>
              <a:rPr lang="en-US" sz="1250" dirty="0">
                <a:solidFill>
                  <a:srgbClr val="9FB4C2"/>
                </a:solidFill>
                <a:latin typeface="Calibri" pitchFamily="34" charset="0"/>
                <a:ea typeface="Calibri" pitchFamily="34" charset="-122"/>
                <a:cs typeface="Calibri" pitchFamily="34" charset="-120"/>
              </a:rPr>
              <a:t>Directions opened by the landscape and desired contributions.</a:t>
            </a:r>
            <a:endParaRPr lang="en-US" sz="1250" dirty="0"/>
          </a:p>
        </p:txBody>
      </p:sp>
      <p:sp>
        <p:nvSpPr>
          <p:cNvPr id="34" name="Shape 32"/>
          <p:cNvSpPr/>
          <p:nvPr/>
        </p:nvSpPr>
        <p:spPr>
          <a:xfrm>
            <a:off x="8046720" y="4206240"/>
            <a:ext cx="3429000" cy="1645920"/>
          </a:xfrm>
          <a:prstGeom prst="roundRect">
            <a:avLst>
              <a:gd name="adj" fmla="val 4444"/>
            </a:avLst>
          </a:prstGeom>
          <a:solidFill>
            <a:schemeClr val="bg2">
              <a:lumMod val="50000"/>
            </a:schemeClr>
          </a:solidFill>
          <a:ln w="12700">
            <a:solidFill>
              <a:srgbClr val="123A4E"/>
            </a:solidFill>
            <a:prstDash val="solid"/>
          </a:ln>
        </p:spPr>
        <p:txBody>
          <a:bodyPr/>
          <a:lstStyle/>
          <a:p>
            <a:endParaRPr lang="en-US"/>
          </a:p>
        </p:txBody>
      </p:sp>
      <p:sp>
        <p:nvSpPr>
          <p:cNvPr id="35" name="Shape 33"/>
          <p:cNvSpPr/>
          <p:nvPr/>
        </p:nvSpPr>
        <p:spPr>
          <a:xfrm>
            <a:off x="8275320" y="4462272"/>
            <a:ext cx="566928" cy="566928"/>
          </a:xfrm>
          <a:prstGeom prst="ellipse">
            <a:avLst/>
          </a:prstGeom>
          <a:solidFill>
            <a:srgbClr val="1A8A99"/>
          </a:solidFill>
          <a:ln w="12700">
            <a:solidFill>
              <a:srgbClr val="1A8A99"/>
            </a:solidFill>
            <a:prstDash val="solid"/>
          </a:ln>
        </p:spPr>
        <p:txBody>
          <a:bodyPr/>
          <a:lstStyle/>
          <a:p>
            <a:endParaRPr lang="en-US"/>
          </a:p>
        </p:txBody>
      </p:sp>
      <p:sp>
        <p:nvSpPr>
          <p:cNvPr id="36" name="Text 34"/>
          <p:cNvSpPr txBox="1"/>
          <p:nvPr/>
        </p:nvSpPr>
        <p:spPr>
          <a:xfrm>
            <a:off x="8275320" y="4462272"/>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6</a:t>
            </a:r>
            <a:endParaRPr lang="en-US" sz="2200" dirty="0"/>
          </a:p>
        </p:txBody>
      </p:sp>
      <p:sp>
        <p:nvSpPr>
          <p:cNvPr id="37" name="Text 35"/>
          <p:cNvSpPr txBox="1"/>
          <p:nvPr/>
        </p:nvSpPr>
        <p:spPr>
          <a:xfrm>
            <a:off x="9006840" y="4407408"/>
            <a:ext cx="2286000" cy="6858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Publication strategy</a:t>
            </a:r>
            <a:endParaRPr lang="en-US" sz="1800" dirty="0"/>
          </a:p>
        </p:txBody>
      </p:sp>
      <p:sp>
        <p:nvSpPr>
          <p:cNvPr id="38" name="Text 36"/>
          <p:cNvSpPr txBox="1"/>
          <p:nvPr/>
        </p:nvSpPr>
        <p:spPr>
          <a:xfrm>
            <a:off x="8275320" y="5166360"/>
            <a:ext cx="2971800" cy="566928"/>
          </a:xfrm>
          <a:prstGeom prst="rect">
            <a:avLst/>
          </a:prstGeom>
          <a:noFill/>
          <a:ln/>
        </p:spPr>
        <p:txBody>
          <a:bodyPr wrap="square" lIns="0" tIns="0" rIns="0" bIns="0" rtlCol="0" anchor="t"/>
          <a:lstStyle/>
          <a:p>
            <a:pPr marL="0" indent="0">
              <a:buNone/>
            </a:pPr>
            <a:r>
              <a:rPr lang="en-US" sz="1250" dirty="0">
                <a:solidFill>
                  <a:srgbClr val="9FB4C2"/>
                </a:solidFill>
                <a:latin typeface="Calibri" pitchFamily="34" charset="0"/>
                <a:ea typeface="Calibri" pitchFamily="34" charset="-122"/>
                <a:cs typeface="Calibri" pitchFamily="34" charset="-120"/>
              </a:rPr>
              <a:t>Target venues, contributions and timeline</a:t>
            </a:r>
            <a:endParaRPr lang="en-US" sz="1250" dirty="0"/>
          </a:p>
        </p:txBody>
      </p:sp>
      <p:sp>
        <p:nvSpPr>
          <p:cNvPr id="39" name="Text 37"/>
          <p:cNvSpPr txBox="1"/>
          <p:nvPr/>
        </p:nvSpPr>
        <p:spPr>
          <a:xfrm>
            <a:off x="640080" y="6263640"/>
            <a:ext cx="6400800" cy="274320"/>
          </a:xfrm>
          <a:prstGeom prst="rect">
            <a:avLst/>
          </a:prstGeom>
          <a:noFill/>
          <a:ln/>
        </p:spPr>
        <p:txBody>
          <a:bodyPr wrap="square" lIns="0" tIns="0" rIns="0" bIns="0" rtlCol="0" anchor="ctr"/>
          <a:lstStyle/>
          <a:p>
            <a:pPr marL="0" indent="0">
              <a:buNone/>
            </a:pPr>
            <a:r>
              <a:rPr lang="en-US" sz="1100" dirty="0">
                <a:solidFill>
                  <a:srgbClr val="6F8796"/>
                </a:solidFill>
                <a:latin typeface="Calibri" pitchFamily="34" charset="0"/>
                <a:ea typeface="Calibri" pitchFamily="34" charset="-122"/>
                <a:cs typeface="Calibri" pitchFamily="34" charset="-120"/>
              </a:rPr>
              <a:t>RS2M Department · Télécom SudParis · Palaiseau, France</a:t>
            </a:r>
            <a:endParaRPr lang="en-US" sz="1100" dirty="0"/>
          </a:p>
        </p:txBody>
      </p:sp>
      <p:sp>
        <p:nvSpPr>
          <p:cNvPr id="40" name="Text 38"/>
          <p:cNvSpPr txBox="1"/>
          <p:nvPr/>
        </p:nvSpPr>
        <p:spPr>
          <a:xfrm>
            <a:off x="11064240" y="6263640"/>
            <a:ext cx="457200" cy="274320"/>
          </a:xfrm>
          <a:prstGeom prst="rect">
            <a:avLst/>
          </a:prstGeom>
          <a:noFill/>
          <a:ln/>
        </p:spPr>
        <p:txBody>
          <a:bodyPr wrap="square" lIns="0" tIns="0" rIns="0" bIns="0" rtlCol="0" anchor="ctr"/>
          <a:lstStyle/>
          <a:p>
            <a:pPr marL="0" indent="0" algn="r">
              <a:buNone/>
            </a:pPr>
            <a:r>
              <a:rPr lang="en-US" sz="1100" dirty="0">
                <a:solidFill>
                  <a:srgbClr val="6F8796"/>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7315200" cy="320040"/>
          </a:xfrm>
          <a:prstGeom prst="rect">
            <a:avLst/>
          </a:prstGeom>
          <a:noFill/>
          <a:ln/>
        </p:spPr>
        <p:txBody>
          <a:bodyPr wrap="square" lIns="0" tIns="0" rIns="0" bIns="0" rtlCol="0" anchor="ctr"/>
          <a:lstStyle/>
          <a:p>
            <a:pPr marL="0" indent="0">
              <a:buNone/>
            </a:pPr>
            <a:r>
              <a:rPr lang="en-US" sz="1400" b="1" kern="0" spc="200" dirty="0">
                <a:solidFill>
                  <a:srgbClr val="2BB3A3"/>
                </a:solidFill>
                <a:latin typeface="Calibri" pitchFamily="34" charset="0"/>
                <a:ea typeface="Calibri" pitchFamily="34" charset="-122"/>
                <a:cs typeface="Calibri" pitchFamily="34" charset="-120"/>
              </a:rPr>
              <a:t>Research landscape</a:t>
            </a:r>
            <a:endParaRPr lang="en-US" sz="1400" dirty="0"/>
          </a:p>
        </p:txBody>
      </p:sp>
      <p:sp>
        <p:nvSpPr>
          <p:cNvPr id="3" name="Text 1"/>
          <p:cNvSpPr txBox="1"/>
          <p:nvPr/>
        </p:nvSpPr>
        <p:spPr>
          <a:xfrm>
            <a:off x="640080" y="822960"/>
            <a:ext cx="10515600" cy="640080"/>
          </a:xfrm>
          <a:prstGeom prst="rect">
            <a:avLst/>
          </a:prstGeom>
          <a:noFill/>
          <a:ln/>
        </p:spPr>
        <p:txBody>
          <a:bodyPr wrap="square" lIns="0" tIns="0" rIns="0" bIns="0" rtlCol="0" anchor="ctr"/>
          <a:lstStyle/>
          <a:p>
            <a:r>
              <a:rPr lang="en-US" sz="3000" b="1" dirty="0">
                <a:solidFill>
                  <a:srgbClr val="12394D"/>
                </a:solidFill>
                <a:latin typeface="Cambria" pitchFamily="34" charset="0"/>
                <a:ea typeface="Cambria" pitchFamily="34" charset="-122"/>
                <a:cs typeface="Cambria" pitchFamily="34" charset="-120"/>
              </a:rPr>
              <a:t>Three complementary surveys</a:t>
            </a:r>
            <a:endParaRPr lang="en-US" sz="3000" dirty="0"/>
          </a:p>
        </p:txBody>
      </p:sp>
      <p:sp>
        <p:nvSpPr>
          <p:cNvPr id="4" name="Shape 2"/>
          <p:cNvSpPr/>
          <p:nvPr/>
        </p:nvSpPr>
        <p:spPr>
          <a:xfrm>
            <a:off x="640080" y="1783080"/>
            <a:ext cx="3429000" cy="3520440"/>
          </a:xfrm>
          <a:prstGeom prst="roundRect">
            <a:avLst>
              <a:gd name="adj" fmla="val 2133"/>
            </a:avLst>
          </a:prstGeom>
          <a:solidFill>
            <a:srgbClr val="12394D"/>
          </a:solidFill>
          <a:ln w="12700">
            <a:solidFill>
              <a:srgbClr val="12394D"/>
            </a:solidFill>
            <a:prstDash val="solid"/>
          </a:ln>
        </p:spPr>
        <p:txBody>
          <a:bodyPr/>
          <a:lstStyle/>
          <a:p>
            <a:endParaRPr lang="en-US"/>
          </a:p>
        </p:txBody>
      </p:sp>
      <p:sp>
        <p:nvSpPr>
          <p:cNvPr id="5" name="Shape 3"/>
          <p:cNvSpPr/>
          <p:nvPr/>
        </p:nvSpPr>
        <p:spPr>
          <a:xfrm>
            <a:off x="868680" y="2039112"/>
            <a:ext cx="566928" cy="566928"/>
          </a:xfrm>
          <a:prstGeom prst="ellipse">
            <a:avLst/>
          </a:prstGeom>
          <a:solidFill>
            <a:srgbClr val="1A8A99"/>
          </a:solidFill>
          <a:ln w="12700">
            <a:solidFill>
              <a:srgbClr val="1A8A99"/>
            </a:solidFill>
            <a:prstDash val="solid"/>
          </a:ln>
        </p:spPr>
        <p:txBody>
          <a:bodyPr/>
          <a:lstStyle/>
          <a:p>
            <a:endParaRPr lang="en-US"/>
          </a:p>
        </p:txBody>
      </p:sp>
      <p:sp>
        <p:nvSpPr>
          <p:cNvPr id="6" name="Text 4"/>
          <p:cNvSpPr txBox="1"/>
          <p:nvPr/>
        </p:nvSpPr>
        <p:spPr>
          <a:xfrm>
            <a:off x="868680" y="2039112"/>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7" name="Text 5"/>
          <p:cNvSpPr txBox="1"/>
          <p:nvPr/>
        </p:nvSpPr>
        <p:spPr>
          <a:xfrm>
            <a:off x="1600200" y="2002536"/>
            <a:ext cx="2286000" cy="365760"/>
          </a:xfrm>
          <a:prstGeom prst="rect">
            <a:avLst/>
          </a:prstGeom>
          <a:noFill/>
          <a:ln/>
        </p:spPr>
        <p:txBody>
          <a:bodyPr wrap="square" lIns="0" tIns="0" rIns="0" bIns="0" rtlCol="0" anchor="ctr">
            <a:normAutofit fontScale="85000" lnSpcReduction="10000"/>
          </a:bodyPr>
          <a:lstStyle/>
          <a:p>
            <a:pPr marL="0" indent="0">
              <a:buNone/>
            </a:pPr>
            <a:r>
              <a:rPr lang="en-US" sz="1700" b="1" dirty="0">
                <a:solidFill>
                  <a:srgbClr val="FFFFFF"/>
                </a:solidFill>
                <a:latin typeface="Cambria" pitchFamily="34" charset="0"/>
                <a:ea typeface="Cambria" pitchFamily="34" charset="-122"/>
                <a:cs typeface="Cambria" pitchFamily="34" charset="-120"/>
              </a:rPr>
              <a:t>5G URLLC &amp; 6G challenges</a:t>
            </a:r>
            <a:endParaRPr lang="en-US" sz="1700" dirty="0"/>
          </a:p>
        </p:txBody>
      </p:sp>
      <p:sp>
        <p:nvSpPr>
          <p:cNvPr id="8" name="Text 6"/>
          <p:cNvSpPr txBox="1"/>
          <p:nvPr/>
        </p:nvSpPr>
        <p:spPr>
          <a:xfrm>
            <a:off x="1600200" y="2368296"/>
            <a:ext cx="2286000" cy="274320"/>
          </a:xfrm>
          <a:prstGeom prst="rect">
            <a:avLst/>
          </a:prstGeom>
          <a:noFill/>
          <a:ln/>
        </p:spPr>
        <p:txBody>
          <a:bodyPr wrap="square" lIns="0" tIns="0" rIns="0" bIns="0" rtlCol="0" anchor="ctr"/>
          <a:lstStyle/>
          <a:p>
            <a:pPr marL="0" indent="0">
              <a:buNone/>
            </a:pPr>
            <a:r>
              <a:rPr lang="en-US" sz="1100" dirty="0">
                <a:solidFill>
                  <a:srgbClr val="9FB1BE"/>
                </a:solidFill>
                <a:latin typeface="Calibri" pitchFamily="34" charset="0"/>
                <a:ea typeface="Calibri" pitchFamily="34" charset="-122"/>
                <a:cs typeface="Calibri" pitchFamily="34" charset="-120"/>
              </a:rPr>
              <a:t>Haque et al. · IEEE COMST · 2025</a:t>
            </a:r>
            <a:endParaRPr lang="en-US" sz="1100" dirty="0"/>
          </a:p>
        </p:txBody>
      </p:sp>
      <p:sp>
        <p:nvSpPr>
          <p:cNvPr id="9" name="Text 7"/>
          <p:cNvSpPr txBox="1"/>
          <p:nvPr/>
        </p:nvSpPr>
        <p:spPr>
          <a:xfrm>
            <a:off x="868680" y="2834640"/>
            <a:ext cx="2971800" cy="274320"/>
          </a:xfrm>
          <a:prstGeom prst="rect">
            <a:avLst/>
          </a:prstGeom>
          <a:noFill/>
          <a:ln/>
        </p:spPr>
        <p:txBody>
          <a:bodyPr wrap="square" lIns="0" tIns="0" rIns="0" bIns="0" rtlCol="0" anchor="ctr"/>
          <a:lstStyle/>
          <a:p>
            <a:pPr marL="0" indent="0">
              <a:buNone/>
            </a:pPr>
            <a:r>
              <a:rPr lang="en-US" sz="1150" b="1" kern="0" spc="100" dirty="0">
                <a:solidFill>
                  <a:srgbClr val="2BB3A3"/>
                </a:solidFill>
                <a:latin typeface="Calibri" pitchFamily="34" charset="0"/>
                <a:ea typeface="Calibri" pitchFamily="34" charset="-122"/>
                <a:cs typeface="Calibri" pitchFamily="34" charset="-120"/>
              </a:rPr>
              <a:t>WHAT MUST BE GUARANTEED</a:t>
            </a:r>
            <a:endParaRPr lang="en-US" sz="1150" dirty="0"/>
          </a:p>
        </p:txBody>
      </p:sp>
      <p:sp>
        <p:nvSpPr>
          <p:cNvPr id="10" name="Text 8"/>
          <p:cNvSpPr txBox="1"/>
          <p:nvPr/>
        </p:nvSpPr>
        <p:spPr>
          <a:xfrm>
            <a:off x="868680" y="3154680"/>
            <a:ext cx="2971800" cy="1508760"/>
          </a:xfrm>
          <a:prstGeom prst="rect">
            <a:avLst/>
          </a:prstGeom>
          <a:noFill/>
          <a:ln/>
        </p:spPr>
        <p:txBody>
          <a:bodyPr wrap="square" lIns="0" tIns="0" rIns="0" bIns="0" rtlCol="0" anchor="t"/>
          <a:lstStyle/>
          <a:p>
            <a:pPr marL="0" indent="0">
              <a:buNone/>
            </a:pPr>
            <a:r>
              <a:rPr lang="en-US" sz="1400" dirty="0">
                <a:solidFill>
                  <a:srgbClr val="C3D3DD"/>
                </a:solidFill>
                <a:latin typeface="Calibri" pitchFamily="34" charset="0"/>
                <a:ea typeface="Calibri" pitchFamily="34" charset="-122"/>
                <a:cs typeface="Calibri" pitchFamily="34" charset="-120"/>
              </a:rPr>
              <a:t>The most comprehensive coverage of URLLC: spans PHY, MAC and cross-layer design, and integrates machine learning and 6G perspectives.</a:t>
            </a:r>
            <a:endParaRPr lang="en-US" sz="1400" dirty="0"/>
          </a:p>
        </p:txBody>
      </p:sp>
      <p:sp>
        <p:nvSpPr>
          <p:cNvPr id="11" name="Text 9"/>
          <p:cNvSpPr txBox="1"/>
          <p:nvPr/>
        </p:nvSpPr>
        <p:spPr>
          <a:xfrm>
            <a:off x="868680" y="4526280"/>
            <a:ext cx="2971800" cy="274320"/>
          </a:xfrm>
          <a:prstGeom prst="rect">
            <a:avLst/>
          </a:prstGeom>
          <a:noFill/>
          <a:ln/>
        </p:spPr>
        <p:txBody>
          <a:bodyPr wrap="square" lIns="0" tIns="0" rIns="0" bIns="0" rtlCol="0" anchor="ctr"/>
          <a:lstStyle/>
          <a:p>
            <a:pPr marL="0" indent="0">
              <a:buNone/>
            </a:pPr>
            <a:r>
              <a:rPr lang="en-US" sz="1100" i="1" dirty="0">
                <a:solidFill>
                  <a:srgbClr val="8FD3C9"/>
                </a:solidFill>
                <a:latin typeface="Calibri" pitchFamily="34" charset="0"/>
                <a:ea typeface="Calibri" pitchFamily="34" charset="-122"/>
                <a:cs typeface="Calibri" pitchFamily="34" charset="-120"/>
              </a:rPr>
              <a:t>PHY · MAC · Cross-layer · ML · 6G</a:t>
            </a:r>
            <a:endParaRPr lang="en-US" sz="1100" dirty="0"/>
          </a:p>
        </p:txBody>
      </p:sp>
      <p:sp>
        <p:nvSpPr>
          <p:cNvPr id="12" name="Text 10"/>
          <p:cNvSpPr txBox="1"/>
          <p:nvPr/>
        </p:nvSpPr>
        <p:spPr>
          <a:xfrm>
            <a:off x="2834640" y="4892040"/>
            <a:ext cx="1005840" cy="274320"/>
          </a:xfrm>
          <a:prstGeom prst="rect">
            <a:avLst/>
          </a:prstGeom>
          <a:noFill/>
          <a:ln/>
        </p:spPr>
        <p:txBody>
          <a:bodyPr wrap="square" lIns="0" tIns="0" rIns="0" bIns="0" rtlCol="0" anchor="ctr"/>
          <a:lstStyle/>
          <a:p>
            <a:pPr marL="0" indent="0" algn="r">
              <a:buNone/>
            </a:pPr>
            <a:r>
              <a:rPr lang="en-US" sz="1150" b="1" dirty="0">
                <a:solidFill>
                  <a:srgbClr val="FFFFFF"/>
                </a:solidFill>
                <a:latin typeface="Calibri" pitchFamily="34" charset="0"/>
                <a:ea typeface="Calibri" pitchFamily="34" charset="-122"/>
                <a:cs typeface="Calibri" pitchFamily="34" charset="-120"/>
              </a:rPr>
              <a:t>Slide 4  →</a:t>
            </a:r>
            <a:endParaRPr lang="en-US" sz="1150" dirty="0"/>
          </a:p>
        </p:txBody>
      </p:sp>
      <p:sp>
        <p:nvSpPr>
          <p:cNvPr id="13" name="Shape 11"/>
          <p:cNvSpPr/>
          <p:nvPr/>
        </p:nvSpPr>
        <p:spPr>
          <a:xfrm>
            <a:off x="4343400" y="1783080"/>
            <a:ext cx="3429000" cy="3520440"/>
          </a:xfrm>
          <a:prstGeom prst="roundRect">
            <a:avLst>
              <a:gd name="adj" fmla="val 2133"/>
            </a:avLst>
          </a:prstGeom>
          <a:solidFill>
            <a:srgbClr val="12394D"/>
          </a:solidFill>
          <a:ln w="12700">
            <a:solidFill>
              <a:srgbClr val="12394D"/>
            </a:solidFill>
            <a:prstDash val="solid"/>
          </a:ln>
        </p:spPr>
        <p:txBody>
          <a:bodyPr/>
          <a:lstStyle/>
          <a:p>
            <a:endParaRPr lang="en-US"/>
          </a:p>
        </p:txBody>
      </p:sp>
      <p:sp>
        <p:nvSpPr>
          <p:cNvPr id="14" name="Shape 12"/>
          <p:cNvSpPr/>
          <p:nvPr/>
        </p:nvSpPr>
        <p:spPr>
          <a:xfrm>
            <a:off x="4572000" y="2039112"/>
            <a:ext cx="566928" cy="566928"/>
          </a:xfrm>
          <a:prstGeom prst="ellipse">
            <a:avLst/>
          </a:prstGeom>
          <a:solidFill>
            <a:srgbClr val="1A8A99"/>
          </a:solidFill>
          <a:ln w="12700">
            <a:solidFill>
              <a:srgbClr val="1A8A99"/>
            </a:solidFill>
            <a:prstDash val="solid"/>
          </a:ln>
        </p:spPr>
        <p:txBody>
          <a:bodyPr/>
          <a:lstStyle/>
          <a:p>
            <a:endParaRPr lang="en-US"/>
          </a:p>
        </p:txBody>
      </p:sp>
      <p:sp>
        <p:nvSpPr>
          <p:cNvPr id="15" name="Text 13"/>
          <p:cNvSpPr txBox="1"/>
          <p:nvPr/>
        </p:nvSpPr>
        <p:spPr>
          <a:xfrm>
            <a:off x="4572000" y="2039112"/>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6" name="Text 14"/>
          <p:cNvSpPr txBox="1"/>
          <p:nvPr/>
        </p:nvSpPr>
        <p:spPr>
          <a:xfrm>
            <a:off x="5303520" y="2002536"/>
            <a:ext cx="2286000" cy="365760"/>
          </a:xfrm>
          <a:prstGeom prst="rect">
            <a:avLst/>
          </a:prstGeom>
          <a:noFill/>
          <a:ln/>
        </p:spPr>
        <p:txBody>
          <a:bodyPr wrap="square" lIns="0" tIns="0" rIns="0" bIns="0" rtlCol="0" anchor="ctr">
            <a:normAutofit/>
          </a:bodyPr>
          <a:lstStyle/>
          <a:p>
            <a:pPr marL="0" indent="0">
              <a:buNone/>
            </a:pPr>
            <a:r>
              <a:rPr lang="en-US" sz="1700" b="1" dirty="0">
                <a:solidFill>
                  <a:srgbClr val="FFFFFF"/>
                </a:solidFill>
                <a:latin typeface="Cambria" pitchFamily="34" charset="0"/>
                <a:ea typeface="Cambria" pitchFamily="34" charset="-122"/>
                <a:cs typeface="Cambria" pitchFamily="34" charset="-120"/>
              </a:rPr>
              <a:t>DRL for 6G AI-RAN</a:t>
            </a:r>
            <a:endParaRPr lang="en-US" sz="1700" dirty="0"/>
          </a:p>
        </p:txBody>
      </p:sp>
      <p:sp>
        <p:nvSpPr>
          <p:cNvPr id="17" name="Text 15"/>
          <p:cNvSpPr txBox="1"/>
          <p:nvPr/>
        </p:nvSpPr>
        <p:spPr>
          <a:xfrm>
            <a:off x="5303520" y="2368296"/>
            <a:ext cx="2286000" cy="274320"/>
          </a:xfrm>
          <a:prstGeom prst="rect">
            <a:avLst/>
          </a:prstGeom>
          <a:noFill/>
          <a:ln/>
        </p:spPr>
        <p:txBody>
          <a:bodyPr wrap="square" lIns="0" tIns="0" rIns="0" bIns="0" rtlCol="0" anchor="ctr"/>
          <a:lstStyle/>
          <a:p>
            <a:pPr marL="0" indent="0">
              <a:buNone/>
            </a:pPr>
            <a:r>
              <a:rPr lang="en-US" sz="1100" dirty="0">
                <a:solidFill>
                  <a:srgbClr val="9FB1BE"/>
                </a:solidFill>
                <a:latin typeface="Calibri" pitchFamily="34" charset="0"/>
                <a:ea typeface="Calibri" pitchFamily="34" charset="-122"/>
                <a:cs typeface="Calibri" pitchFamily="34" charset="-120"/>
              </a:rPr>
              <a:t>Lu et al. · arXiv · 2026</a:t>
            </a:r>
            <a:endParaRPr lang="en-US" sz="1100" dirty="0"/>
          </a:p>
        </p:txBody>
      </p:sp>
      <p:sp>
        <p:nvSpPr>
          <p:cNvPr id="18" name="Text 16"/>
          <p:cNvSpPr txBox="1"/>
          <p:nvPr/>
        </p:nvSpPr>
        <p:spPr>
          <a:xfrm>
            <a:off x="4572000" y="2834640"/>
            <a:ext cx="2971800" cy="274320"/>
          </a:xfrm>
          <a:prstGeom prst="rect">
            <a:avLst/>
          </a:prstGeom>
          <a:noFill/>
          <a:ln/>
        </p:spPr>
        <p:txBody>
          <a:bodyPr wrap="square" lIns="0" tIns="0" rIns="0" bIns="0" rtlCol="0" anchor="ctr"/>
          <a:lstStyle/>
          <a:p>
            <a:pPr marL="0" indent="0">
              <a:buNone/>
            </a:pPr>
            <a:r>
              <a:rPr lang="en-US" sz="1150" b="1" kern="0" spc="100" dirty="0">
                <a:solidFill>
                  <a:srgbClr val="2BB3A3"/>
                </a:solidFill>
                <a:latin typeface="Calibri" pitchFamily="34" charset="0"/>
                <a:ea typeface="Calibri" pitchFamily="34" charset="-122"/>
                <a:cs typeface="Calibri" pitchFamily="34" charset="-120"/>
              </a:rPr>
              <a:t>HOW AN AI AGENT CONTROLS THE RAN</a:t>
            </a:r>
            <a:endParaRPr lang="en-US" sz="1150" dirty="0"/>
          </a:p>
        </p:txBody>
      </p:sp>
      <p:sp>
        <p:nvSpPr>
          <p:cNvPr id="19" name="Text 17"/>
          <p:cNvSpPr txBox="1"/>
          <p:nvPr/>
        </p:nvSpPr>
        <p:spPr>
          <a:xfrm>
            <a:off x="4572000" y="3154680"/>
            <a:ext cx="2971800" cy="1508760"/>
          </a:xfrm>
          <a:prstGeom prst="rect">
            <a:avLst/>
          </a:prstGeom>
          <a:noFill/>
          <a:ln/>
        </p:spPr>
        <p:txBody>
          <a:bodyPr wrap="square" lIns="0" tIns="0" rIns="0" bIns="0" rtlCol="0" anchor="t"/>
          <a:lstStyle/>
          <a:p>
            <a:pPr marL="0" indent="0">
              <a:buNone/>
            </a:pPr>
            <a:r>
              <a:rPr lang="en-US" sz="1400" dirty="0">
                <a:solidFill>
                  <a:srgbClr val="C3D3DD"/>
                </a:solidFill>
                <a:latin typeface="Calibri" pitchFamily="34" charset="0"/>
                <a:ea typeface="Calibri" pitchFamily="34" charset="-122"/>
                <a:cs typeface="Calibri" pitchFamily="34" charset="-120"/>
              </a:rPr>
              <a:t>End-to-end DRL for O-RAN: RL fundamentals and MDP modelling, multi-agent and federated DRL, foundation models, trustworthy DRL and the training-to-deployment lifecycle.</a:t>
            </a:r>
            <a:endParaRPr lang="en-US" sz="1400" dirty="0"/>
          </a:p>
        </p:txBody>
      </p:sp>
      <p:sp>
        <p:nvSpPr>
          <p:cNvPr id="20" name="Text 18"/>
          <p:cNvSpPr txBox="1"/>
          <p:nvPr/>
        </p:nvSpPr>
        <p:spPr>
          <a:xfrm>
            <a:off x="4572000" y="4526280"/>
            <a:ext cx="2971800" cy="274320"/>
          </a:xfrm>
          <a:prstGeom prst="rect">
            <a:avLst/>
          </a:prstGeom>
          <a:noFill/>
          <a:ln/>
        </p:spPr>
        <p:txBody>
          <a:bodyPr wrap="square" lIns="0" tIns="0" rIns="0" bIns="0" rtlCol="0" anchor="ctr"/>
          <a:lstStyle/>
          <a:p>
            <a:pPr marL="0" indent="0">
              <a:buNone/>
            </a:pPr>
            <a:r>
              <a:rPr lang="en-US" sz="1100" i="1" dirty="0">
                <a:solidFill>
                  <a:srgbClr val="8FD3C9"/>
                </a:solidFill>
                <a:latin typeface="Calibri" pitchFamily="34" charset="0"/>
                <a:ea typeface="Calibri" pitchFamily="34" charset="-122"/>
                <a:cs typeface="Calibri" pitchFamily="34" charset="-120"/>
              </a:rPr>
              <a:t>MDP · MARL / FL · Safe RL · Deployment</a:t>
            </a:r>
            <a:endParaRPr lang="en-US" sz="1100" dirty="0"/>
          </a:p>
        </p:txBody>
      </p:sp>
      <p:sp>
        <p:nvSpPr>
          <p:cNvPr id="21" name="Text 19"/>
          <p:cNvSpPr txBox="1"/>
          <p:nvPr/>
        </p:nvSpPr>
        <p:spPr>
          <a:xfrm>
            <a:off x="6537960" y="4892040"/>
            <a:ext cx="1005840" cy="274320"/>
          </a:xfrm>
          <a:prstGeom prst="rect">
            <a:avLst/>
          </a:prstGeom>
          <a:noFill/>
          <a:ln/>
        </p:spPr>
        <p:txBody>
          <a:bodyPr wrap="square" lIns="0" tIns="0" rIns="0" bIns="0" rtlCol="0" anchor="ctr"/>
          <a:lstStyle/>
          <a:p>
            <a:pPr marL="0" indent="0" algn="r">
              <a:buNone/>
            </a:pPr>
            <a:r>
              <a:rPr lang="en-US" sz="1150" b="1" dirty="0">
                <a:solidFill>
                  <a:srgbClr val="FFFFFF"/>
                </a:solidFill>
                <a:latin typeface="Calibri" pitchFamily="34" charset="0"/>
                <a:ea typeface="Calibri" pitchFamily="34" charset="-122"/>
                <a:cs typeface="Calibri" pitchFamily="34" charset="-120"/>
              </a:rPr>
              <a:t>Slide 5  →</a:t>
            </a:r>
            <a:endParaRPr lang="en-US" sz="1150" dirty="0"/>
          </a:p>
        </p:txBody>
      </p:sp>
      <p:sp>
        <p:nvSpPr>
          <p:cNvPr id="22" name="Shape 20"/>
          <p:cNvSpPr/>
          <p:nvPr/>
        </p:nvSpPr>
        <p:spPr>
          <a:xfrm>
            <a:off x="8046720" y="1783080"/>
            <a:ext cx="3429000" cy="3520440"/>
          </a:xfrm>
          <a:prstGeom prst="roundRect">
            <a:avLst>
              <a:gd name="adj" fmla="val 2133"/>
            </a:avLst>
          </a:prstGeom>
          <a:solidFill>
            <a:srgbClr val="12394D"/>
          </a:solidFill>
          <a:ln w="12700">
            <a:solidFill>
              <a:srgbClr val="12394D"/>
            </a:solidFill>
            <a:prstDash val="solid"/>
          </a:ln>
        </p:spPr>
        <p:txBody>
          <a:bodyPr/>
          <a:lstStyle/>
          <a:p>
            <a:endParaRPr lang="en-US"/>
          </a:p>
        </p:txBody>
      </p:sp>
      <p:sp>
        <p:nvSpPr>
          <p:cNvPr id="23" name="Shape 21"/>
          <p:cNvSpPr/>
          <p:nvPr/>
        </p:nvSpPr>
        <p:spPr>
          <a:xfrm>
            <a:off x="8275320" y="2039112"/>
            <a:ext cx="566928" cy="566928"/>
          </a:xfrm>
          <a:prstGeom prst="ellipse">
            <a:avLst/>
          </a:prstGeom>
          <a:solidFill>
            <a:srgbClr val="1A8A99"/>
          </a:solidFill>
          <a:ln w="12700">
            <a:solidFill>
              <a:srgbClr val="1A8A99"/>
            </a:solidFill>
            <a:prstDash val="solid"/>
          </a:ln>
        </p:spPr>
        <p:txBody>
          <a:bodyPr/>
          <a:lstStyle/>
          <a:p>
            <a:endParaRPr lang="en-US"/>
          </a:p>
        </p:txBody>
      </p:sp>
      <p:sp>
        <p:nvSpPr>
          <p:cNvPr id="24" name="Text 22"/>
          <p:cNvSpPr txBox="1"/>
          <p:nvPr/>
        </p:nvSpPr>
        <p:spPr>
          <a:xfrm>
            <a:off x="8275320" y="2039112"/>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25" name="Text 23"/>
          <p:cNvSpPr txBox="1"/>
          <p:nvPr/>
        </p:nvSpPr>
        <p:spPr>
          <a:xfrm>
            <a:off x="9006840" y="2002536"/>
            <a:ext cx="2286000" cy="365760"/>
          </a:xfrm>
          <a:prstGeom prst="rect">
            <a:avLst/>
          </a:prstGeom>
          <a:noFill/>
          <a:ln/>
        </p:spPr>
        <p:txBody>
          <a:bodyPr wrap="square" lIns="0" tIns="0" rIns="0" bIns="0" rtlCol="0" anchor="ctr">
            <a:normAutofit fontScale="85000" lnSpcReduction="10000"/>
          </a:bodyPr>
          <a:lstStyle/>
          <a:p>
            <a:pPr marL="0" indent="0">
              <a:buNone/>
            </a:pPr>
            <a:r>
              <a:rPr lang="en-US" sz="1700" b="1" dirty="0">
                <a:solidFill>
                  <a:srgbClr val="FFFFFF"/>
                </a:solidFill>
                <a:latin typeface="Cambria" pitchFamily="34" charset="0"/>
                <a:ea typeface="Cambria" pitchFamily="34" charset="-122"/>
                <a:cs typeface="Cambria" pitchFamily="34" charset="-120"/>
              </a:rPr>
              <a:t>eMBB–URLLC coexistence</a:t>
            </a:r>
            <a:endParaRPr lang="en-US" sz="1700" dirty="0"/>
          </a:p>
        </p:txBody>
      </p:sp>
      <p:sp>
        <p:nvSpPr>
          <p:cNvPr id="26" name="Text 24"/>
          <p:cNvSpPr txBox="1"/>
          <p:nvPr/>
        </p:nvSpPr>
        <p:spPr>
          <a:xfrm>
            <a:off x="9006840" y="2368296"/>
            <a:ext cx="2286000" cy="274320"/>
          </a:xfrm>
          <a:prstGeom prst="rect">
            <a:avLst/>
          </a:prstGeom>
          <a:noFill/>
          <a:ln/>
        </p:spPr>
        <p:txBody>
          <a:bodyPr wrap="square" lIns="0" tIns="0" rIns="0" bIns="0" rtlCol="0" anchor="ctr"/>
          <a:lstStyle/>
          <a:p>
            <a:pPr marL="0" indent="0">
              <a:buNone/>
            </a:pPr>
            <a:r>
              <a:rPr lang="en-US" sz="1100" dirty="0">
                <a:solidFill>
                  <a:srgbClr val="9FB1BE"/>
                </a:solidFill>
                <a:latin typeface="Calibri" pitchFamily="34" charset="0"/>
                <a:ea typeface="Calibri" pitchFamily="34" charset="-122"/>
                <a:cs typeface="Calibri" pitchFamily="34" charset="-120"/>
              </a:rPr>
              <a:t>Adhikari et al. · IEEE Access · 2024</a:t>
            </a:r>
            <a:endParaRPr lang="en-US" sz="1100" dirty="0"/>
          </a:p>
        </p:txBody>
      </p:sp>
      <p:sp>
        <p:nvSpPr>
          <p:cNvPr id="27" name="Text 25"/>
          <p:cNvSpPr txBox="1"/>
          <p:nvPr/>
        </p:nvSpPr>
        <p:spPr>
          <a:xfrm>
            <a:off x="8275320" y="2834640"/>
            <a:ext cx="2971800" cy="274320"/>
          </a:xfrm>
          <a:prstGeom prst="rect">
            <a:avLst/>
          </a:prstGeom>
          <a:noFill/>
          <a:ln/>
        </p:spPr>
        <p:txBody>
          <a:bodyPr wrap="square" lIns="0" tIns="0" rIns="0" bIns="0" rtlCol="0" anchor="ctr"/>
          <a:lstStyle/>
          <a:p>
            <a:pPr marL="0" indent="0">
              <a:buNone/>
            </a:pPr>
            <a:r>
              <a:rPr lang="en-US" sz="1150" b="1" kern="0" spc="100" dirty="0">
                <a:solidFill>
                  <a:srgbClr val="2BB3A3"/>
                </a:solidFill>
                <a:latin typeface="Calibri" pitchFamily="34" charset="0"/>
                <a:ea typeface="Calibri" pitchFamily="34" charset="-122"/>
                <a:cs typeface="Calibri" pitchFamily="34" charset="-120"/>
              </a:rPr>
              <a:t>HOW THE SERVICES SHARE RESOURCES</a:t>
            </a:r>
            <a:endParaRPr lang="en-US" sz="1150" dirty="0"/>
          </a:p>
        </p:txBody>
      </p:sp>
      <p:sp>
        <p:nvSpPr>
          <p:cNvPr id="28" name="Text 26"/>
          <p:cNvSpPr txBox="1"/>
          <p:nvPr/>
        </p:nvSpPr>
        <p:spPr>
          <a:xfrm>
            <a:off x="8275320" y="3154680"/>
            <a:ext cx="2971800" cy="1508760"/>
          </a:xfrm>
          <a:prstGeom prst="rect">
            <a:avLst/>
          </a:prstGeom>
          <a:noFill/>
          <a:ln/>
        </p:spPr>
        <p:txBody>
          <a:bodyPr wrap="square" lIns="0" tIns="0" rIns="0" bIns="0" rtlCol="0" anchor="t"/>
          <a:lstStyle/>
          <a:p>
            <a:pPr marL="0" indent="0">
              <a:buNone/>
            </a:pPr>
            <a:r>
              <a:rPr lang="en-US" sz="1400" dirty="0">
                <a:solidFill>
                  <a:srgbClr val="C3D3DD"/>
                </a:solidFill>
                <a:latin typeface="Calibri" pitchFamily="34" charset="0"/>
                <a:ea typeface="Calibri" pitchFamily="34" charset="-122"/>
                <a:cs typeface="Calibri" pitchFamily="34" charset="-120"/>
              </a:rPr>
              <a:t>Shows that earlier surveys treat eMBB and URLLC separately or partially, the first survey dedicated to their coexistence and joint resource allocation in 6G.</a:t>
            </a:r>
            <a:endParaRPr lang="en-US" sz="1400" dirty="0"/>
          </a:p>
        </p:txBody>
      </p:sp>
      <p:sp>
        <p:nvSpPr>
          <p:cNvPr id="29" name="Text 27"/>
          <p:cNvSpPr txBox="1"/>
          <p:nvPr/>
        </p:nvSpPr>
        <p:spPr>
          <a:xfrm>
            <a:off x="8275320" y="4526280"/>
            <a:ext cx="2971800" cy="274320"/>
          </a:xfrm>
          <a:prstGeom prst="rect">
            <a:avLst/>
          </a:prstGeom>
          <a:noFill/>
          <a:ln/>
        </p:spPr>
        <p:txBody>
          <a:bodyPr wrap="square" lIns="0" tIns="0" rIns="0" bIns="0" rtlCol="0" anchor="ctr"/>
          <a:lstStyle/>
          <a:p>
            <a:pPr marL="0" indent="0">
              <a:buNone/>
            </a:pPr>
            <a:r>
              <a:rPr lang="en-US" sz="1100" i="1" dirty="0">
                <a:solidFill>
                  <a:srgbClr val="8FD3C9"/>
                </a:solidFill>
                <a:latin typeface="Calibri" pitchFamily="34" charset="0"/>
                <a:ea typeface="Calibri" pitchFamily="34" charset="-122"/>
                <a:cs typeface="Calibri" pitchFamily="34" charset="-120"/>
              </a:rPr>
              <a:t>Puncturing · Slicing · TTI · ML / FL · RIS-UAV</a:t>
            </a:r>
            <a:endParaRPr lang="en-US" sz="1100" dirty="0"/>
          </a:p>
        </p:txBody>
      </p:sp>
      <p:sp>
        <p:nvSpPr>
          <p:cNvPr id="30" name="Text 28"/>
          <p:cNvSpPr txBox="1"/>
          <p:nvPr/>
        </p:nvSpPr>
        <p:spPr>
          <a:xfrm>
            <a:off x="10241280" y="4892040"/>
            <a:ext cx="1005840" cy="274320"/>
          </a:xfrm>
          <a:prstGeom prst="rect">
            <a:avLst/>
          </a:prstGeom>
          <a:noFill/>
          <a:ln/>
        </p:spPr>
        <p:txBody>
          <a:bodyPr wrap="square" lIns="0" tIns="0" rIns="0" bIns="0" rtlCol="0" anchor="ctr"/>
          <a:lstStyle/>
          <a:p>
            <a:pPr marL="0" indent="0" algn="r">
              <a:buNone/>
            </a:pPr>
            <a:r>
              <a:rPr lang="en-US" sz="1150" b="1" dirty="0">
                <a:solidFill>
                  <a:srgbClr val="FFFFFF"/>
                </a:solidFill>
                <a:latin typeface="Calibri" pitchFamily="34" charset="0"/>
                <a:ea typeface="Calibri" pitchFamily="34" charset="-122"/>
                <a:cs typeface="Calibri" pitchFamily="34" charset="-120"/>
              </a:rPr>
              <a:t>Slide 6  →</a:t>
            </a:r>
            <a:endParaRPr lang="en-US" sz="1150" dirty="0"/>
          </a:p>
        </p:txBody>
      </p:sp>
      <p:sp>
        <p:nvSpPr>
          <p:cNvPr id="31" name="Shape 29"/>
          <p:cNvSpPr/>
          <p:nvPr/>
        </p:nvSpPr>
        <p:spPr>
          <a:xfrm>
            <a:off x="640080" y="5532120"/>
            <a:ext cx="10835640" cy="457200"/>
          </a:xfrm>
          <a:prstGeom prst="roundRect">
            <a:avLst>
              <a:gd name="adj" fmla="val 12000"/>
            </a:avLst>
          </a:prstGeom>
          <a:solidFill>
            <a:srgbClr val="E6F4F2"/>
          </a:solidFill>
          <a:ln w="12700">
            <a:solidFill>
              <a:srgbClr val="E6F4F2"/>
            </a:solidFill>
            <a:prstDash val="solid"/>
          </a:ln>
        </p:spPr>
        <p:txBody>
          <a:bodyPr/>
          <a:lstStyle/>
          <a:p>
            <a:endParaRPr lang="en-US"/>
          </a:p>
        </p:txBody>
      </p:sp>
      <p:sp>
        <p:nvSpPr>
          <p:cNvPr id="32" name="Text 30"/>
          <p:cNvSpPr txBox="1"/>
          <p:nvPr/>
        </p:nvSpPr>
        <p:spPr>
          <a:xfrm>
            <a:off x="640080" y="5532120"/>
            <a:ext cx="10652760" cy="457200"/>
          </a:xfrm>
          <a:prstGeom prst="rect">
            <a:avLst/>
          </a:prstGeom>
          <a:noFill/>
          <a:ln/>
        </p:spPr>
        <p:txBody>
          <a:bodyPr wrap="square" lIns="0" tIns="0" rIns="0" bIns="0" rtlCol="0" anchor="ctr"/>
          <a:lstStyle/>
          <a:p>
            <a:pPr marL="0" indent="0">
              <a:buNone/>
            </a:pPr>
            <a:r>
              <a:rPr lang="en-US" sz="1350" b="1" dirty="0">
                <a:solidFill>
                  <a:srgbClr val="12394D"/>
                </a:solidFill>
                <a:latin typeface="Calibri" pitchFamily="34" charset="0"/>
                <a:ea typeface="Calibri" pitchFamily="34" charset="-122"/>
                <a:cs typeface="Calibri" pitchFamily="34" charset="-120"/>
              </a:rPr>
              <a:t>   Together:  </a:t>
            </a:r>
            <a:r>
              <a:rPr lang="en-US" sz="1350" dirty="0">
                <a:solidFill>
                  <a:srgbClr val="12394D"/>
                </a:solidFill>
                <a:latin typeface="Calibri" pitchFamily="34" charset="0"/>
                <a:ea typeface="Calibri" pitchFamily="34" charset="-122"/>
                <a:cs typeface="Calibri" pitchFamily="34" charset="-120"/>
              </a:rPr>
              <a:t>what must be guaranteed end-to-end  ·  how a learning agent can control the RAN safely  ·  how eMBB and URLLC share the same resources</a:t>
            </a:r>
            <a:endParaRPr lang="en-US" sz="1350" dirty="0"/>
          </a:p>
        </p:txBody>
      </p:sp>
      <p:sp>
        <p:nvSpPr>
          <p:cNvPr id="33" name="Text 31"/>
          <p:cNvSpPr txBox="1"/>
          <p:nvPr/>
        </p:nvSpPr>
        <p:spPr>
          <a:xfrm>
            <a:off x="640080" y="6355080"/>
            <a:ext cx="6400800" cy="274320"/>
          </a:xfrm>
          <a:prstGeom prst="rect">
            <a:avLst/>
          </a:prstGeom>
          <a:noFill/>
          <a:ln/>
        </p:spPr>
        <p:txBody>
          <a:bodyPr wrap="square" lIns="0" tIns="0" rIns="0" bIns="0" rtlCol="0" anchor="ctr"/>
          <a:lstStyle/>
          <a:p>
            <a:pPr marL="0" indent="0">
              <a:buNone/>
            </a:pPr>
            <a:r>
              <a:rPr lang="en-US" sz="1100" dirty="0">
                <a:solidFill>
                  <a:srgbClr val="5F7A8A"/>
                </a:solidFill>
                <a:latin typeface="Calibri" pitchFamily="34" charset="0"/>
                <a:ea typeface="Calibri" pitchFamily="34" charset="-122"/>
                <a:cs typeface="Calibri" pitchFamily="34" charset="-120"/>
              </a:rPr>
              <a:t>RS2M Department · Télécom SudParis · Palaiseau, France</a:t>
            </a:r>
            <a:endParaRPr lang="en-US" sz="1100" dirty="0"/>
          </a:p>
        </p:txBody>
      </p:sp>
      <p:sp>
        <p:nvSpPr>
          <p:cNvPr id="34" name="Text 32"/>
          <p:cNvSpPr txBox="1"/>
          <p:nvPr/>
        </p:nvSpPr>
        <p:spPr>
          <a:xfrm>
            <a:off x="11018520" y="6355080"/>
            <a:ext cx="457200" cy="274320"/>
          </a:xfrm>
          <a:prstGeom prst="rect">
            <a:avLst/>
          </a:prstGeom>
          <a:noFill/>
          <a:ln/>
        </p:spPr>
        <p:txBody>
          <a:bodyPr wrap="square" lIns="0" tIns="0" rIns="0" bIns="0" rtlCol="0" anchor="ctr"/>
          <a:lstStyle/>
          <a:p>
            <a:pPr marL="0" indent="0" algn="r">
              <a:buNone/>
            </a:pPr>
            <a:r>
              <a:rPr lang="en-US" sz="1100" dirty="0">
                <a:solidFill>
                  <a:srgbClr val="5F7A8A"/>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11BF2DBC-4F8A-A523-E458-A9AA94711F2A}"/>
              </a:ext>
            </a:extLst>
          </p:cNvPr>
          <p:cNvPicPr>
            <a:picLocks noChangeAspect="1"/>
          </p:cNvPicPr>
          <p:nvPr/>
        </p:nvPicPr>
        <p:blipFill>
          <a:blip r:embed="rId2"/>
          <a:stretch>
            <a:fillRect/>
          </a:stretch>
        </p:blipFill>
        <p:spPr>
          <a:xfrm>
            <a:off x="127754" y="185285"/>
            <a:ext cx="11936491" cy="6487430"/>
          </a:xfrm>
          <a:prstGeom prst="rect">
            <a:avLst/>
          </a:prstGeom>
        </p:spPr>
      </p:pic>
      <p:sp>
        <p:nvSpPr>
          <p:cNvPr id="5" name="Text 32">
            <a:extLst>
              <a:ext uri="{FF2B5EF4-FFF2-40B4-BE49-F238E27FC236}">
                <a16:creationId xmlns:a16="http://schemas.microsoft.com/office/drawing/2014/main" id="{A9881419-86F8-43BC-0AD4-D18DBD5A9C67}"/>
              </a:ext>
            </a:extLst>
          </p:cNvPr>
          <p:cNvSpPr txBox="1"/>
          <p:nvPr/>
        </p:nvSpPr>
        <p:spPr>
          <a:xfrm>
            <a:off x="11018520" y="6355080"/>
            <a:ext cx="457200" cy="274320"/>
          </a:xfrm>
          <a:prstGeom prst="rect">
            <a:avLst/>
          </a:prstGeom>
          <a:noFill/>
          <a:ln/>
        </p:spPr>
        <p:txBody>
          <a:bodyPr wrap="square" lIns="0" tIns="0" rIns="0" bIns="0" rtlCol="0" anchor="ctr"/>
          <a:lstStyle/>
          <a:p>
            <a:pPr marL="0" indent="0" algn="r">
              <a:buNone/>
            </a:pPr>
            <a:r>
              <a:rPr lang="fr-FR" sz="1100" dirty="0">
                <a:solidFill>
                  <a:srgbClr val="5F7A8A"/>
                </a:solidFill>
                <a:latin typeface="Calibri" pitchFamily="34" charset="0"/>
                <a:ea typeface="Calibri" pitchFamily="34" charset="-122"/>
                <a:cs typeface="Calibri" pitchFamily="34" charset="-120"/>
              </a:rPr>
              <a:t>4</a:t>
            </a:r>
            <a:endParaRPr lang="en-US" sz="1100" dirty="0"/>
          </a:p>
        </p:txBody>
      </p:sp>
    </p:spTree>
    <p:extLst>
      <p:ext uri="{BB962C8B-B14F-4D97-AF65-F5344CB8AC3E}">
        <p14:creationId xmlns:p14="http://schemas.microsoft.com/office/powerpoint/2010/main" val="31340143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41579F83-A7D9-F2A9-A299-025EAFAD1B7D}"/>
              </a:ext>
            </a:extLst>
          </p:cNvPr>
          <p:cNvPicPr>
            <a:picLocks noChangeAspect="1"/>
          </p:cNvPicPr>
          <p:nvPr/>
        </p:nvPicPr>
        <p:blipFill>
          <a:blip r:embed="rId2"/>
          <a:stretch>
            <a:fillRect/>
          </a:stretch>
        </p:blipFill>
        <p:spPr>
          <a:xfrm>
            <a:off x="933450" y="189500"/>
            <a:ext cx="10053861" cy="6308798"/>
          </a:xfrm>
          <a:prstGeom prst="rect">
            <a:avLst/>
          </a:prstGeom>
        </p:spPr>
      </p:pic>
      <p:sp>
        <p:nvSpPr>
          <p:cNvPr id="7" name="Text 32">
            <a:extLst>
              <a:ext uri="{FF2B5EF4-FFF2-40B4-BE49-F238E27FC236}">
                <a16:creationId xmlns:a16="http://schemas.microsoft.com/office/drawing/2014/main" id="{C36B91F0-E462-3122-5276-F3CCE5C255E6}"/>
              </a:ext>
            </a:extLst>
          </p:cNvPr>
          <p:cNvSpPr txBox="1"/>
          <p:nvPr/>
        </p:nvSpPr>
        <p:spPr>
          <a:xfrm>
            <a:off x="11018520" y="6355080"/>
            <a:ext cx="457200" cy="274320"/>
          </a:xfrm>
          <a:prstGeom prst="rect">
            <a:avLst/>
          </a:prstGeom>
          <a:noFill/>
          <a:ln/>
        </p:spPr>
        <p:txBody>
          <a:bodyPr wrap="square" lIns="0" tIns="0" rIns="0" bIns="0" rtlCol="0" anchor="ctr"/>
          <a:lstStyle/>
          <a:p>
            <a:pPr marL="0" indent="0" algn="r">
              <a:buNone/>
            </a:pPr>
            <a:r>
              <a:rPr lang="fr-FR" sz="1100" dirty="0">
                <a:solidFill>
                  <a:srgbClr val="5F7A8A"/>
                </a:solidFill>
                <a:latin typeface="Calibri" pitchFamily="34" charset="0"/>
                <a:ea typeface="Calibri" pitchFamily="34" charset="-122"/>
                <a:cs typeface="Calibri" pitchFamily="34" charset="-120"/>
              </a:rPr>
              <a:t>5</a:t>
            </a:r>
            <a:endParaRPr lang="en-US" sz="1100" dirty="0"/>
          </a:p>
        </p:txBody>
      </p:sp>
    </p:spTree>
    <p:extLst>
      <p:ext uri="{BB962C8B-B14F-4D97-AF65-F5344CB8AC3E}">
        <p14:creationId xmlns:p14="http://schemas.microsoft.com/office/powerpoint/2010/main" val="16330676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0298959C-76E6-2233-5A27-A7769A7AB306}"/>
              </a:ext>
            </a:extLst>
          </p:cNvPr>
          <p:cNvPicPr>
            <a:picLocks noChangeAspect="1"/>
          </p:cNvPicPr>
          <p:nvPr/>
        </p:nvPicPr>
        <p:blipFill>
          <a:blip r:embed="rId2"/>
          <a:stretch>
            <a:fillRect/>
          </a:stretch>
        </p:blipFill>
        <p:spPr>
          <a:xfrm>
            <a:off x="502893" y="648207"/>
            <a:ext cx="11186213" cy="5704967"/>
          </a:xfrm>
          <a:prstGeom prst="rect">
            <a:avLst/>
          </a:prstGeom>
        </p:spPr>
      </p:pic>
      <p:sp>
        <p:nvSpPr>
          <p:cNvPr id="5" name="Text 32">
            <a:extLst>
              <a:ext uri="{FF2B5EF4-FFF2-40B4-BE49-F238E27FC236}">
                <a16:creationId xmlns:a16="http://schemas.microsoft.com/office/drawing/2014/main" id="{91B278F5-33A4-C38D-B312-40F95CEF89DA}"/>
              </a:ext>
            </a:extLst>
          </p:cNvPr>
          <p:cNvSpPr txBox="1"/>
          <p:nvPr/>
        </p:nvSpPr>
        <p:spPr>
          <a:xfrm>
            <a:off x="11018520" y="6355080"/>
            <a:ext cx="457200" cy="274320"/>
          </a:xfrm>
          <a:prstGeom prst="rect">
            <a:avLst/>
          </a:prstGeom>
          <a:noFill/>
          <a:ln/>
        </p:spPr>
        <p:txBody>
          <a:bodyPr wrap="square" lIns="0" tIns="0" rIns="0" bIns="0" rtlCol="0" anchor="ctr"/>
          <a:lstStyle/>
          <a:p>
            <a:pPr marL="0" indent="0" algn="r">
              <a:buNone/>
            </a:pPr>
            <a:r>
              <a:rPr lang="fr-FR" sz="1100" dirty="0">
                <a:solidFill>
                  <a:srgbClr val="5F7A8A"/>
                </a:solidFill>
                <a:latin typeface="Calibri" pitchFamily="34" charset="0"/>
                <a:ea typeface="Calibri" pitchFamily="34" charset="-122"/>
                <a:cs typeface="Calibri" pitchFamily="34" charset="-120"/>
              </a:rPr>
              <a:t>6</a:t>
            </a:r>
            <a:endParaRPr lang="en-US" sz="1100" dirty="0"/>
          </a:p>
        </p:txBody>
      </p:sp>
    </p:spTree>
    <p:extLst>
      <p:ext uri="{BB962C8B-B14F-4D97-AF65-F5344CB8AC3E}">
        <p14:creationId xmlns:p14="http://schemas.microsoft.com/office/powerpoint/2010/main" val="24422445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320040"/>
          </a:xfrm>
          <a:prstGeom prst="rect">
            <a:avLst/>
          </a:prstGeom>
          <a:noFill/>
          <a:ln/>
        </p:spPr>
        <p:txBody>
          <a:bodyPr wrap="square" lIns="0" tIns="0" rIns="0" bIns="0" rtlCol="0" anchor="t"/>
          <a:lstStyle/>
          <a:p>
            <a:pPr marL="0" indent="0">
              <a:buNone/>
            </a:pPr>
            <a:r>
              <a:rPr lang="en-US" sz="1400" b="1" kern="0" spc="200" dirty="0">
                <a:solidFill>
                  <a:srgbClr val="2BB3A3"/>
                </a:solidFill>
                <a:latin typeface="Calibri" pitchFamily="34" charset="0"/>
                <a:ea typeface="Calibri" pitchFamily="34" charset="-122"/>
                <a:cs typeface="Calibri" pitchFamily="34" charset="-120"/>
              </a:rPr>
              <a:t>Survey 1 · Haque et al. · 5G URLLC &amp; 6G era</a:t>
            </a:r>
            <a:endParaRPr lang="en-US" sz="1400" dirty="0"/>
          </a:p>
        </p:txBody>
      </p:sp>
      <p:sp>
        <p:nvSpPr>
          <p:cNvPr id="3" name="Text 1"/>
          <p:cNvSpPr txBox="1"/>
          <p:nvPr/>
        </p:nvSpPr>
        <p:spPr>
          <a:xfrm>
            <a:off x="640080" y="786384"/>
            <a:ext cx="10881360" cy="640080"/>
          </a:xfrm>
          <a:prstGeom prst="rect">
            <a:avLst/>
          </a:prstGeom>
          <a:noFill/>
          <a:ln/>
        </p:spPr>
        <p:txBody>
          <a:bodyPr wrap="square" lIns="0" tIns="0" rIns="0" bIns="0" rtlCol="0" anchor="t">
            <a:normAutofit/>
          </a:bodyPr>
          <a:lstStyle/>
          <a:p>
            <a:pPr marL="0" indent="0">
              <a:buNone/>
            </a:pPr>
            <a:r>
              <a:rPr lang="en-US" sz="2700" b="1" dirty="0">
                <a:solidFill>
                  <a:srgbClr val="12394D"/>
                </a:solidFill>
                <a:latin typeface="Cambria" pitchFamily="34" charset="0"/>
                <a:ea typeface="Cambria" pitchFamily="34" charset="-122"/>
                <a:cs typeface="Cambria" pitchFamily="34" charset="-120"/>
              </a:rPr>
              <a:t>Why URLLC is a different kind of service</a:t>
            </a:r>
            <a:endParaRPr lang="en-US" sz="2700" dirty="0"/>
          </a:p>
        </p:txBody>
      </p:sp>
      <p:sp>
        <p:nvSpPr>
          <p:cNvPr id="4" name="Shape 2"/>
          <p:cNvSpPr/>
          <p:nvPr/>
        </p:nvSpPr>
        <p:spPr>
          <a:xfrm>
            <a:off x="640080" y="5596128"/>
            <a:ext cx="10881360" cy="502920"/>
          </a:xfrm>
          <a:prstGeom prst="roundRect">
            <a:avLst>
              <a:gd name="adj" fmla="val 10909"/>
            </a:avLst>
          </a:prstGeom>
          <a:solidFill>
            <a:srgbClr val="E6F4F2"/>
          </a:solidFill>
          <a:ln w="12700">
            <a:solidFill>
              <a:srgbClr val="E6F4F2"/>
            </a:solidFill>
            <a:prstDash val="solid"/>
          </a:ln>
        </p:spPr>
        <p:txBody>
          <a:bodyPr/>
          <a:lstStyle/>
          <a:p>
            <a:endParaRPr lang="en-US"/>
          </a:p>
        </p:txBody>
      </p:sp>
      <p:sp>
        <p:nvSpPr>
          <p:cNvPr id="5" name="Text 3"/>
          <p:cNvSpPr txBox="1"/>
          <p:nvPr/>
        </p:nvSpPr>
        <p:spPr>
          <a:xfrm>
            <a:off x="868680" y="5596128"/>
            <a:ext cx="10469880" cy="502920"/>
          </a:xfrm>
          <a:prstGeom prst="rect">
            <a:avLst/>
          </a:prstGeom>
          <a:noFill/>
          <a:ln/>
        </p:spPr>
        <p:txBody>
          <a:bodyPr wrap="square" lIns="0" tIns="0" rIns="0" bIns="0" rtlCol="0" anchor="ctr"/>
          <a:lstStyle/>
          <a:p>
            <a:pPr marL="0" indent="0">
              <a:buNone/>
            </a:pPr>
            <a:r>
              <a:rPr lang="en-US" sz="1400" b="1" dirty="0">
                <a:solidFill>
                  <a:srgbClr val="1A8A99"/>
                </a:solidFill>
                <a:latin typeface="Calibri" pitchFamily="34" charset="0"/>
                <a:ea typeface="Calibri" pitchFamily="34" charset="-122"/>
                <a:cs typeface="Calibri" pitchFamily="34" charset="-120"/>
              </a:rPr>
              <a:t>Takeaway  </a:t>
            </a:r>
            <a:r>
              <a:rPr lang="en-US" sz="1400" dirty="0">
                <a:solidFill>
                  <a:srgbClr val="12394D"/>
                </a:solidFill>
                <a:latin typeface="Calibri" pitchFamily="34" charset="0"/>
                <a:ea typeface="Calibri" pitchFamily="34" charset="-122"/>
                <a:cs typeface="Calibri" pitchFamily="34" charset="-120"/>
              </a:rPr>
              <a:t>Latency and reliability pull against each other: URLLC needs a new design, not a tuned 4G.</a:t>
            </a:r>
            <a:endParaRPr lang="en-US" sz="1400" dirty="0"/>
          </a:p>
        </p:txBody>
      </p:sp>
      <p:sp>
        <p:nvSpPr>
          <p:cNvPr id="6" name="Text 4"/>
          <p:cNvSpPr txBox="1"/>
          <p:nvPr/>
        </p:nvSpPr>
        <p:spPr>
          <a:xfrm>
            <a:off x="640080" y="6355080"/>
            <a:ext cx="6400800" cy="274320"/>
          </a:xfrm>
          <a:prstGeom prst="rect">
            <a:avLst/>
          </a:prstGeom>
          <a:noFill/>
          <a:ln/>
        </p:spPr>
        <p:txBody>
          <a:bodyPr wrap="square" lIns="0" tIns="0" rIns="0" bIns="0" rtlCol="0" anchor="t"/>
          <a:lstStyle/>
          <a:p>
            <a:pPr marL="0" indent="0">
              <a:buNone/>
            </a:pPr>
            <a:r>
              <a:rPr lang="en-US" sz="1100" dirty="0">
                <a:solidFill>
                  <a:srgbClr val="5F7A8A"/>
                </a:solidFill>
                <a:latin typeface="Calibri" pitchFamily="34" charset="0"/>
                <a:ea typeface="Calibri" pitchFamily="34" charset="-122"/>
                <a:cs typeface="Calibri" pitchFamily="34" charset="-120"/>
              </a:rPr>
              <a:t>RS2M Department · Télécom SudParis · Palaiseau, France</a:t>
            </a:r>
            <a:endParaRPr lang="en-US" sz="1100" dirty="0"/>
          </a:p>
        </p:txBody>
      </p:sp>
      <p:sp>
        <p:nvSpPr>
          <p:cNvPr id="7" name="Text 5"/>
          <p:cNvSpPr txBox="1"/>
          <p:nvPr/>
        </p:nvSpPr>
        <p:spPr>
          <a:xfrm>
            <a:off x="11064240" y="6355080"/>
            <a:ext cx="457200" cy="274320"/>
          </a:xfrm>
          <a:prstGeom prst="rect">
            <a:avLst/>
          </a:prstGeom>
          <a:noFill/>
          <a:ln/>
        </p:spPr>
        <p:txBody>
          <a:bodyPr wrap="square" lIns="0" tIns="0" rIns="0" bIns="0" rtlCol="0" anchor="t"/>
          <a:lstStyle/>
          <a:p>
            <a:pPr marL="0" indent="0" algn="r">
              <a:buNone/>
            </a:pPr>
            <a:r>
              <a:rPr lang="en-US" sz="1100" dirty="0">
                <a:solidFill>
                  <a:srgbClr val="5F7A8A"/>
                </a:solidFill>
                <a:latin typeface="Calibri" pitchFamily="34" charset="0"/>
                <a:ea typeface="Calibri" pitchFamily="34" charset="-122"/>
                <a:cs typeface="Calibri" pitchFamily="34" charset="-120"/>
              </a:rPr>
              <a:t>7</a:t>
            </a:r>
            <a:endParaRPr lang="en-US" sz="1100" dirty="0"/>
          </a:p>
        </p:txBody>
      </p:sp>
      <p:sp>
        <p:nvSpPr>
          <p:cNvPr id="11" name="Text 8"/>
          <p:cNvSpPr txBox="1"/>
          <p:nvPr/>
        </p:nvSpPr>
        <p:spPr>
          <a:xfrm>
            <a:off x="6144768" y="2175766"/>
            <a:ext cx="5394960" cy="1600197"/>
          </a:xfrm>
          <a:prstGeom prst="rect">
            <a:avLst/>
          </a:prstGeom>
          <a:noFill/>
          <a:ln/>
        </p:spPr>
        <p:txBody>
          <a:bodyPr wrap="square" lIns="0" tIns="0" rIns="0" bIns="0" rtlCol="0" anchor="t"/>
          <a:lstStyle/>
          <a:p>
            <a:pPr marL="0" indent="0">
              <a:buNone/>
            </a:pPr>
            <a:r>
              <a:rPr lang="en-US" sz="1500" b="1" dirty="0">
                <a:solidFill>
                  <a:srgbClr val="12394D"/>
                </a:solidFill>
                <a:latin typeface="Calibri" pitchFamily="34" charset="0"/>
                <a:ea typeface="Calibri" pitchFamily="34" charset="-122"/>
                <a:cs typeface="Calibri" pitchFamily="34" charset="-120"/>
              </a:rPr>
              <a:t>From human to machine traffic</a:t>
            </a:r>
            <a:endParaRPr lang="en-US" sz="1500" dirty="0"/>
          </a:p>
          <a:p>
            <a:pPr marL="0" indent="0">
              <a:spcAft>
                <a:spcPts val="1000"/>
              </a:spcAft>
              <a:buNone/>
            </a:pPr>
            <a:r>
              <a:rPr lang="en-US" sz="1300" dirty="0">
                <a:solidFill>
                  <a:srgbClr val="5F7A8A"/>
                </a:solidFill>
                <a:latin typeface="Calibri" pitchFamily="34" charset="0"/>
                <a:ea typeface="Calibri" pitchFamily="34" charset="-122"/>
                <a:cs typeface="Calibri" pitchFamily="34" charset="-120"/>
              </a:rPr>
              <a:t>VoIP tolerates 50 ms and 2×10⁻² errors; automation control needs 1 ms and 99.9999 %</a:t>
            </a:r>
            <a:endParaRPr lang="en-US" sz="1500" dirty="0"/>
          </a:p>
          <a:p>
            <a:pPr marL="0" indent="0">
              <a:buNone/>
            </a:pPr>
            <a:r>
              <a:rPr lang="en-US" sz="1500" b="1" dirty="0">
                <a:solidFill>
                  <a:srgbClr val="12394D"/>
                </a:solidFill>
                <a:latin typeface="Calibri" pitchFamily="34" charset="0"/>
                <a:ea typeface="Calibri" pitchFamily="34" charset="-122"/>
                <a:cs typeface="Calibri" pitchFamily="34" charset="-120"/>
              </a:rPr>
              <a:t>Two definitions (NGMN)</a:t>
            </a:r>
            <a:endParaRPr lang="en-US" sz="1500" dirty="0"/>
          </a:p>
          <a:p>
            <a:pPr marL="0" indent="0">
              <a:spcAft>
                <a:spcPts val="1000"/>
              </a:spcAft>
              <a:buNone/>
            </a:pPr>
            <a:r>
              <a:rPr lang="en-US" sz="1300" dirty="0">
                <a:solidFill>
                  <a:srgbClr val="5F7A8A"/>
                </a:solidFill>
                <a:latin typeface="Calibri" pitchFamily="34" charset="0"/>
                <a:ea typeface="Calibri" pitchFamily="34" charset="-122"/>
                <a:cs typeface="Calibri" pitchFamily="34" charset="-120"/>
              </a:rPr>
              <a:t>Reliability: share of packets delivered within the deadline · Latency: measured between application service access points</a:t>
            </a:r>
            <a:endParaRPr lang="en-US" sz="1500" dirty="0"/>
          </a:p>
        </p:txBody>
      </p:sp>
      <p:sp>
        <p:nvSpPr>
          <p:cNvPr id="12" name="Text 9"/>
          <p:cNvSpPr txBox="1"/>
          <p:nvPr/>
        </p:nvSpPr>
        <p:spPr>
          <a:xfrm>
            <a:off x="640080" y="4370832"/>
            <a:ext cx="5486400" cy="274320"/>
          </a:xfrm>
          <a:prstGeom prst="rect">
            <a:avLst/>
          </a:prstGeom>
          <a:noFill/>
          <a:ln/>
        </p:spPr>
        <p:txBody>
          <a:bodyPr wrap="square" lIns="0" tIns="0" rIns="0" bIns="0" rtlCol="0" anchor="t"/>
          <a:lstStyle/>
          <a:p>
            <a:pPr marL="0" indent="0">
              <a:buNone/>
            </a:pPr>
            <a:r>
              <a:rPr lang="en-US" sz="1200" b="1" kern="0" spc="100" dirty="0">
                <a:solidFill>
                  <a:srgbClr val="1A8A99"/>
                </a:solidFill>
                <a:latin typeface="Calibri" pitchFamily="34" charset="0"/>
                <a:ea typeface="Calibri" pitchFamily="34" charset="-122"/>
                <a:cs typeface="Calibri" pitchFamily="34" charset="-120"/>
              </a:rPr>
              <a:t>FROM URC AND ULL TO URLLC</a:t>
            </a:r>
            <a:endParaRPr lang="en-US" sz="1200" dirty="0"/>
          </a:p>
        </p:txBody>
      </p:sp>
      <p:sp>
        <p:nvSpPr>
          <p:cNvPr id="13" name="Shape 10"/>
          <p:cNvSpPr/>
          <p:nvPr/>
        </p:nvSpPr>
        <p:spPr>
          <a:xfrm>
            <a:off x="731520" y="4773168"/>
            <a:ext cx="10698480" cy="0"/>
          </a:xfrm>
          <a:prstGeom prst="line">
            <a:avLst/>
          </a:prstGeom>
          <a:noFill/>
          <a:ln w="15875">
            <a:solidFill>
              <a:srgbClr val="B9CCD6"/>
            </a:solidFill>
            <a:prstDash val="solid"/>
          </a:ln>
        </p:spPr>
        <p:txBody>
          <a:bodyPr/>
          <a:lstStyle/>
          <a:p>
            <a:endParaRPr lang="en-US"/>
          </a:p>
        </p:txBody>
      </p:sp>
      <p:sp>
        <p:nvSpPr>
          <p:cNvPr id="14" name="Shape 11"/>
          <p:cNvSpPr/>
          <p:nvPr/>
        </p:nvSpPr>
        <p:spPr>
          <a:xfrm>
            <a:off x="658368" y="4681728"/>
            <a:ext cx="182880" cy="182880"/>
          </a:xfrm>
          <a:prstGeom prst="ellipse">
            <a:avLst/>
          </a:prstGeom>
          <a:solidFill>
            <a:srgbClr val="1A8A99"/>
          </a:solidFill>
          <a:ln w="12700">
            <a:solidFill>
              <a:srgbClr val="1A8A99"/>
            </a:solidFill>
            <a:prstDash val="solid"/>
          </a:ln>
        </p:spPr>
        <p:txBody>
          <a:bodyPr/>
          <a:lstStyle/>
          <a:p>
            <a:endParaRPr lang="en-US"/>
          </a:p>
        </p:txBody>
      </p:sp>
      <p:sp>
        <p:nvSpPr>
          <p:cNvPr id="15" name="Text 12"/>
          <p:cNvSpPr txBox="1"/>
          <p:nvPr/>
        </p:nvSpPr>
        <p:spPr>
          <a:xfrm>
            <a:off x="640080" y="4919472"/>
            <a:ext cx="1737360" cy="548640"/>
          </a:xfrm>
          <a:prstGeom prst="rect">
            <a:avLst/>
          </a:prstGeom>
          <a:noFill/>
          <a:ln/>
        </p:spPr>
        <p:txBody>
          <a:bodyPr wrap="square" lIns="0" tIns="0" rIns="0" bIns="0" rtlCol="0" anchor="t"/>
          <a:lstStyle/>
          <a:p>
            <a:pPr marL="0" indent="0">
              <a:buNone/>
            </a:pPr>
            <a:r>
              <a:rPr lang="en-US" sz="1300" b="1" dirty="0">
                <a:solidFill>
                  <a:srgbClr val="12394D"/>
                </a:solidFill>
                <a:latin typeface="Calibri" pitchFamily="34" charset="0"/>
                <a:ea typeface="Calibri" pitchFamily="34" charset="-122"/>
                <a:cs typeface="Calibri" pitchFamily="34" charset="-120"/>
              </a:rPr>
              <a:t>1996</a:t>
            </a:r>
            <a:endParaRPr lang="en-US" sz="1300" dirty="0"/>
          </a:p>
          <a:p>
            <a:pPr marL="0" indent="0">
              <a:buNone/>
            </a:pPr>
            <a:r>
              <a:rPr lang="en-US" sz="1150" dirty="0">
                <a:solidFill>
                  <a:srgbClr val="5F7A8A"/>
                </a:solidFill>
                <a:latin typeface="Calibri" pitchFamily="34" charset="0"/>
                <a:ea typeface="Calibri" pitchFamily="34" charset="-122"/>
                <a:cs typeface="Calibri" pitchFamily="34" charset="-120"/>
              </a:rPr>
              <a:t>Ultra-low latency in wired links</a:t>
            </a:r>
            <a:endParaRPr lang="en-US" sz="1300" dirty="0"/>
          </a:p>
        </p:txBody>
      </p:sp>
      <p:sp>
        <p:nvSpPr>
          <p:cNvPr id="16" name="Shape 13"/>
          <p:cNvSpPr/>
          <p:nvPr/>
        </p:nvSpPr>
        <p:spPr>
          <a:xfrm>
            <a:off x="2487168" y="4681728"/>
            <a:ext cx="182880" cy="182880"/>
          </a:xfrm>
          <a:prstGeom prst="ellipse">
            <a:avLst/>
          </a:prstGeom>
          <a:solidFill>
            <a:srgbClr val="1A8A99"/>
          </a:solidFill>
          <a:ln w="12700">
            <a:solidFill>
              <a:srgbClr val="1A8A99"/>
            </a:solidFill>
            <a:prstDash val="solid"/>
          </a:ln>
        </p:spPr>
        <p:txBody>
          <a:bodyPr/>
          <a:lstStyle/>
          <a:p>
            <a:endParaRPr lang="en-US"/>
          </a:p>
        </p:txBody>
      </p:sp>
      <p:sp>
        <p:nvSpPr>
          <p:cNvPr id="17" name="Text 14"/>
          <p:cNvSpPr txBox="1"/>
          <p:nvPr/>
        </p:nvSpPr>
        <p:spPr>
          <a:xfrm>
            <a:off x="2468880" y="4919472"/>
            <a:ext cx="1737360" cy="548640"/>
          </a:xfrm>
          <a:prstGeom prst="rect">
            <a:avLst/>
          </a:prstGeom>
          <a:noFill/>
          <a:ln/>
        </p:spPr>
        <p:txBody>
          <a:bodyPr wrap="square" lIns="0" tIns="0" rIns="0" bIns="0" rtlCol="0" anchor="t"/>
          <a:lstStyle/>
          <a:p>
            <a:pPr marL="0" indent="0">
              <a:buNone/>
            </a:pPr>
            <a:r>
              <a:rPr lang="en-US" sz="1300" b="1" dirty="0">
                <a:solidFill>
                  <a:srgbClr val="12394D"/>
                </a:solidFill>
                <a:latin typeface="Calibri" pitchFamily="34" charset="0"/>
                <a:ea typeface="Calibri" pitchFamily="34" charset="-122"/>
                <a:cs typeface="Calibri" pitchFamily="34" charset="-120"/>
              </a:rPr>
              <a:t>2003–05</a:t>
            </a:r>
            <a:endParaRPr lang="en-US" sz="1300" dirty="0"/>
          </a:p>
          <a:p>
            <a:pPr marL="0" indent="0">
              <a:buNone/>
            </a:pPr>
            <a:r>
              <a:rPr lang="en-US" sz="1150" dirty="0">
                <a:solidFill>
                  <a:srgbClr val="5F7A8A"/>
                </a:solidFill>
                <a:latin typeface="Calibri" pitchFamily="34" charset="0"/>
                <a:ea typeface="Calibri" pitchFamily="34" charset="-122"/>
                <a:cs typeface="Calibri" pitchFamily="34" charset="-120"/>
              </a:rPr>
              <a:t>Ultra-reliability in optical networks</a:t>
            </a:r>
            <a:endParaRPr lang="en-US" sz="1300" dirty="0"/>
          </a:p>
        </p:txBody>
      </p:sp>
      <p:sp>
        <p:nvSpPr>
          <p:cNvPr id="18" name="Shape 15"/>
          <p:cNvSpPr/>
          <p:nvPr/>
        </p:nvSpPr>
        <p:spPr>
          <a:xfrm>
            <a:off x="4315968" y="4681728"/>
            <a:ext cx="182880" cy="182880"/>
          </a:xfrm>
          <a:prstGeom prst="ellipse">
            <a:avLst/>
          </a:prstGeom>
          <a:solidFill>
            <a:srgbClr val="1A8A99"/>
          </a:solidFill>
          <a:ln w="12700">
            <a:solidFill>
              <a:srgbClr val="1A8A99"/>
            </a:solidFill>
            <a:prstDash val="solid"/>
          </a:ln>
        </p:spPr>
        <p:txBody>
          <a:bodyPr/>
          <a:lstStyle/>
          <a:p>
            <a:endParaRPr lang="en-US"/>
          </a:p>
        </p:txBody>
      </p:sp>
      <p:sp>
        <p:nvSpPr>
          <p:cNvPr id="19" name="Text 16"/>
          <p:cNvSpPr txBox="1"/>
          <p:nvPr/>
        </p:nvSpPr>
        <p:spPr>
          <a:xfrm>
            <a:off x="4297680" y="4919472"/>
            <a:ext cx="1737360" cy="548640"/>
          </a:xfrm>
          <a:prstGeom prst="rect">
            <a:avLst/>
          </a:prstGeom>
          <a:noFill/>
          <a:ln/>
        </p:spPr>
        <p:txBody>
          <a:bodyPr wrap="square" lIns="0" tIns="0" rIns="0" bIns="0" rtlCol="0" anchor="t"/>
          <a:lstStyle/>
          <a:p>
            <a:pPr marL="0" indent="0">
              <a:buNone/>
            </a:pPr>
            <a:r>
              <a:rPr lang="en-US" sz="1300" b="1" dirty="0">
                <a:solidFill>
                  <a:srgbClr val="12394D"/>
                </a:solidFill>
                <a:latin typeface="Calibri" pitchFamily="34" charset="0"/>
                <a:ea typeface="Calibri" pitchFamily="34" charset="-122"/>
                <a:cs typeface="Calibri" pitchFamily="34" charset="-120"/>
              </a:rPr>
              <a:t>2011</a:t>
            </a:r>
            <a:endParaRPr lang="en-US" sz="1300" dirty="0"/>
          </a:p>
          <a:p>
            <a:pPr marL="0" indent="0">
              <a:buNone/>
            </a:pPr>
            <a:r>
              <a:rPr lang="en-US" sz="1150" dirty="0">
                <a:solidFill>
                  <a:srgbClr val="5F7A8A"/>
                </a:solidFill>
                <a:latin typeface="Calibri" pitchFamily="34" charset="0"/>
                <a:ea typeface="Calibri" pitchFamily="34" charset="-122"/>
                <a:cs typeface="Calibri" pitchFamily="34" charset="-120"/>
              </a:rPr>
              <a:t>URC in wireless (diversity)</a:t>
            </a:r>
            <a:endParaRPr lang="en-US" sz="1300" dirty="0"/>
          </a:p>
        </p:txBody>
      </p:sp>
      <p:sp>
        <p:nvSpPr>
          <p:cNvPr id="20" name="Shape 17"/>
          <p:cNvSpPr/>
          <p:nvPr/>
        </p:nvSpPr>
        <p:spPr>
          <a:xfrm>
            <a:off x="6144768" y="4681728"/>
            <a:ext cx="182880" cy="182880"/>
          </a:xfrm>
          <a:prstGeom prst="ellipse">
            <a:avLst/>
          </a:prstGeom>
          <a:solidFill>
            <a:srgbClr val="1A8A99"/>
          </a:solidFill>
          <a:ln w="12700">
            <a:solidFill>
              <a:srgbClr val="1A8A99"/>
            </a:solidFill>
            <a:prstDash val="solid"/>
          </a:ln>
        </p:spPr>
        <p:txBody>
          <a:bodyPr/>
          <a:lstStyle/>
          <a:p>
            <a:endParaRPr lang="en-US"/>
          </a:p>
        </p:txBody>
      </p:sp>
      <p:sp>
        <p:nvSpPr>
          <p:cNvPr id="21" name="Text 18"/>
          <p:cNvSpPr txBox="1"/>
          <p:nvPr/>
        </p:nvSpPr>
        <p:spPr>
          <a:xfrm>
            <a:off x="6126480" y="4919472"/>
            <a:ext cx="1737360" cy="548640"/>
          </a:xfrm>
          <a:prstGeom prst="rect">
            <a:avLst/>
          </a:prstGeom>
          <a:noFill/>
          <a:ln/>
        </p:spPr>
        <p:txBody>
          <a:bodyPr wrap="square" lIns="0" tIns="0" rIns="0" bIns="0" rtlCol="0" anchor="t"/>
          <a:lstStyle/>
          <a:p>
            <a:pPr marL="0" indent="0">
              <a:buNone/>
            </a:pPr>
            <a:r>
              <a:rPr lang="en-US" sz="1300" b="1" dirty="0">
                <a:solidFill>
                  <a:srgbClr val="12394D"/>
                </a:solidFill>
                <a:latin typeface="Calibri" pitchFamily="34" charset="0"/>
                <a:ea typeface="Calibri" pitchFamily="34" charset="-122"/>
                <a:cs typeface="Calibri" pitchFamily="34" charset="-120"/>
              </a:rPr>
              <a:t>Rel-15</a:t>
            </a:r>
            <a:endParaRPr lang="en-US" sz="1300" dirty="0"/>
          </a:p>
          <a:p>
            <a:pPr marL="0" indent="0">
              <a:buNone/>
            </a:pPr>
            <a:r>
              <a:rPr lang="en-US" sz="1150" dirty="0">
                <a:solidFill>
                  <a:srgbClr val="5F7A8A"/>
                </a:solidFill>
                <a:latin typeface="Calibri" pitchFamily="34" charset="0"/>
                <a:ea typeface="Calibri" pitchFamily="34" charset="-122"/>
                <a:cs typeface="Calibri" pitchFamily="34" charset="-120"/>
              </a:rPr>
              <a:t>Scenarios: edge, slicing</a:t>
            </a:r>
            <a:endParaRPr lang="en-US" sz="1300" dirty="0"/>
          </a:p>
        </p:txBody>
      </p:sp>
      <p:sp>
        <p:nvSpPr>
          <p:cNvPr id="22" name="Shape 19"/>
          <p:cNvSpPr/>
          <p:nvPr/>
        </p:nvSpPr>
        <p:spPr>
          <a:xfrm>
            <a:off x="7973568" y="4681728"/>
            <a:ext cx="182880" cy="182880"/>
          </a:xfrm>
          <a:prstGeom prst="ellipse">
            <a:avLst/>
          </a:prstGeom>
          <a:solidFill>
            <a:srgbClr val="1A8A99"/>
          </a:solidFill>
          <a:ln w="12700">
            <a:solidFill>
              <a:srgbClr val="1A8A99"/>
            </a:solidFill>
            <a:prstDash val="solid"/>
          </a:ln>
        </p:spPr>
        <p:txBody>
          <a:bodyPr/>
          <a:lstStyle/>
          <a:p>
            <a:endParaRPr lang="en-US"/>
          </a:p>
        </p:txBody>
      </p:sp>
      <p:sp>
        <p:nvSpPr>
          <p:cNvPr id="23" name="Text 20"/>
          <p:cNvSpPr txBox="1"/>
          <p:nvPr/>
        </p:nvSpPr>
        <p:spPr>
          <a:xfrm>
            <a:off x="7955280" y="4919472"/>
            <a:ext cx="1737360" cy="548640"/>
          </a:xfrm>
          <a:prstGeom prst="rect">
            <a:avLst/>
          </a:prstGeom>
          <a:noFill/>
          <a:ln/>
        </p:spPr>
        <p:txBody>
          <a:bodyPr wrap="square" lIns="0" tIns="0" rIns="0" bIns="0" rtlCol="0" anchor="t"/>
          <a:lstStyle/>
          <a:p>
            <a:pPr marL="0" indent="0">
              <a:buNone/>
            </a:pPr>
            <a:r>
              <a:rPr lang="en-US" sz="1300" b="1" dirty="0">
                <a:solidFill>
                  <a:srgbClr val="12394D"/>
                </a:solidFill>
                <a:latin typeface="Calibri" pitchFamily="34" charset="0"/>
                <a:ea typeface="Calibri" pitchFamily="34" charset="-122"/>
                <a:cs typeface="Calibri" pitchFamily="34" charset="-120"/>
              </a:rPr>
              <a:t>Rel-16</a:t>
            </a:r>
            <a:endParaRPr lang="en-US" sz="1300" dirty="0"/>
          </a:p>
          <a:p>
            <a:pPr marL="0" indent="0">
              <a:buNone/>
            </a:pPr>
            <a:r>
              <a:rPr lang="en-US" sz="1150" dirty="0">
                <a:solidFill>
                  <a:srgbClr val="5F7A8A"/>
                </a:solidFill>
                <a:latin typeface="Calibri" pitchFamily="34" charset="0"/>
                <a:ea typeface="Calibri" pitchFamily="34" charset="-122"/>
                <a:cs typeface="Calibri" pitchFamily="34" charset="-120"/>
              </a:rPr>
              <a:t>Redundancy, sub-slot HARQ, compact DCI</a:t>
            </a:r>
            <a:endParaRPr lang="en-US" sz="1300" dirty="0"/>
          </a:p>
        </p:txBody>
      </p:sp>
      <p:sp>
        <p:nvSpPr>
          <p:cNvPr id="24" name="Shape 21"/>
          <p:cNvSpPr/>
          <p:nvPr/>
        </p:nvSpPr>
        <p:spPr>
          <a:xfrm>
            <a:off x="9802368" y="4681728"/>
            <a:ext cx="182880" cy="182880"/>
          </a:xfrm>
          <a:prstGeom prst="ellipse">
            <a:avLst/>
          </a:prstGeom>
          <a:solidFill>
            <a:srgbClr val="1A8A99"/>
          </a:solidFill>
          <a:ln w="12700">
            <a:solidFill>
              <a:srgbClr val="1A8A99"/>
            </a:solidFill>
            <a:prstDash val="solid"/>
          </a:ln>
        </p:spPr>
        <p:txBody>
          <a:bodyPr/>
          <a:lstStyle/>
          <a:p>
            <a:endParaRPr lang="en-US"/>
          </a:p>
        </p:txBody>
      </p:sp>
      <p:sp>
        <p:nvSpPr>
          <p:cNvPr id="25" name="Text 22"/>
          <p:cNvSpPr txBox="1"/>
          <p:nvPr/>
        </p:nvSpPr>
        <p:spPr>
          <a:xfrm>
            <a:off x="9784080" y="4919472"/>
            <a:ext cx="1737360" cy="548640"/>
          </a:xfrm>
          <a:prstGeom prst="rect">
            <a:avLst/>
          </a:prstGeom>
          <a:noFill/>
          <a:ln/>
        </p:spPr>
        <p:txBody>
          <a:bodyPr wrap="square" lIns="0" tIns="0" rIns="0" bIns="0" rtlCol="0" anchor="t"/>
          <a:lstStyle/>
          <a:p>
            <a:pPr marL="0" indent="0">
              <a:buNone/>
            </a:pPr>
            <a:r>
              <a:rPr lang="en-US" sz="1300" b="1" dirty="0">
                <a:solidFill>
                  <a:srgbClr val="12394D"/>
                </a:solidFill>
                <a:latin typeface="Calibri" pitchFamily="34" charset="0"/>
                <a:ea typeface="Calibri" pitchFamily="34" charset="-122"/>
                <a:cs typeface="Calibri" pitchFamily="34" charset="-120"/>
              </a:rPr>
              <a:t>Rel-17</a:t>
            </a:r>
            <a:endParaRPr lang="en-US" sz="1300" dirty="0"/>
          </a:p>
          <a:p>
            <a:pPr marL="0" indent="0">
              <a:buNone/>
            </a:pPr>
            <a:r>
              <a:rPr lang="en-US" sz="1150" dirty="0">
                <a:solidFill>
                  <a:srgbClr val="5F7A8A"/>
                </a:solidFill>
                <a:latin typeface="Calibri" pitchFamily="34" charset="0"/>
                <a:ea typeface="Calibri" pitchFamily="34" charset="-122"/>
                <a:cs typeface="Calibri" pitchFamily="34" charset="-120"/>
              </a:rPr>
              <a:t>Feedback, prioritisation, intra-UE mux</a:t>
            </a:r>
            <a:endParaRPr lang="en-US" sz="1300" dirty="0"/>
          </a:p>
        </p:txBody>
      </p:sp>
      <p:pic>
        <p:nvPicPr>
          <p:cNvPr id="26" name="Image 25">
            <a:extLst>
              <a:ext uri="{FF2B5EF4-FFF2-40B4-BE49-F238E27FC236}">
                <a16:creationId xmlns:a16="http://schemas.microsoft.com/office/drawing/2014/main" id="{970F5739-46E7-D2B7-67D3-E8AAEDFDDFFF}"/>
              </a:ext>
            </a:extLst>
          </p:cNvPr>
          <p:cNvPicPr>
            <a:picLocks noChangeAspect="1"/>
          </p:cNvPicPr>
          <p:nvPr/>
        </p:nvPicPr>
        <p:blipFill>
          <a:blip r:embed="rId3"/>
          <a:stretch>
            <a:fillRect/>
          </a:stretch>
        </p:blipFill>
        <p:spPr>
          <a:xfrm>
            <a:off x="1387958" y="1311576"/>
            <a:ext cx="2818282" cy="285636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058400" cy="320040"/>
          </a:xfrm>
          <a:prstGeom prst="rect">
            <a:avLst/>
          </a:prstGeom>
          <a:noFill/>
          <a:ln/>
        </p:spPr>
        <p:txBody>
          <a:bodyPr wrap="square" lIns="0" tIns="0" rIns="0" bIns="0" rtlCol="0" anchor="t"/>
          <a:lstStyle/>
          <a:p>
            <a:pPr marL="0" indent="0">
              <a:buNone/>
            </a:pPr>
            <a:r>
              <a:rPr lang="en-US" sz="1400" b="1" kern="0" spc="200" dirty="0">
                <a:solidFill>
                  <a:srgbClr val="2BB3A3"/>
                </a:solidFill>
                <a:latin typeface="Calibri" pitchFamily="34" charset="0"/>
                <a:ea typeface="Calibri" pitchFamily="34" charset="-122"/>
                <a:cs typeface="Calibri" pitchFamily="34" charset="-120"/>
              </a:rPr>
              <a:t>Survey 1 · Haque et al. · 5G URLLC &amp; 6G era</a:t>
            </a:r>
            <a:endParaRPr lang="en-US" sz="1400" dirty="0"/>
          </a:p>
        </p:txBody>
      </p:sp>
      <p:sp>
        <p:nvSpPr>
          <p:cNvPr id="3" name="Text 1"/>
          <p:cNvSpPr txBox="1"/>
          <p:nvPr/>
        </p:nvSpPr>
        <p:spPr>
          <a:xfrm>
            <a:off x="640080" y="804672"/>
            <a:ext cx="10881360" cy="594360"/>
          </a:xfrm>
          <a:prstGeom prst="rect">
            <a:avLst/>
          </a:prstGeom>
          <a:noFill/>
          <a:ln/>
        </p:spPr>
        <p:txBody>
          <a:bodyPr wrap="square" lIns="0" tIns="0" rIns="0" bIns="0" rtlCol="0" anchor="t"/>
          <a:lstStyle/>
          <a:p>
            <a:pPr marL="0" indent="0">
              <a:buNone/>
            </a:pPr>
            <a:r>
              <a:rPr lang="en-US" sz="2800" b="1" dirty="0">
                <a:solidFill>
                  <a:srgbClr val="12394D"/>
                </a:solidFill>
                <a:latin typeface="Cambria" pitchFamily="34" charset="0"/>
                <a:ea typeface="Cambria" pitchFamily="34" charset="-122"/>
                <a:cs typeface="Cambria" pitchFamily="34" charset="-120"/>
              </a:rPr>
              <a:t>URLLC as a family of requirements</a:t>
            </a:r>
            <a:endParaRPr lang="en-US" sz="2800" dirty="0"/>
          </a:p>
        </p:txBody>
      </p:sp>
      <p:sp>
        <p:nvSpPr>
          <p:cNvPr id="4" name="Shape 2"/>
          <p:cNvSpPr/>
          <p:nvPr/>
        </p:nvSpPr>
        <p:spPr>
          <a:xfrm>
            <a:off x="640080" y="5577840"/>
            <a:ext cx="10881360" cy="502920"/>
          </a:xfrm>
          <a:prstGeom prst="roundRect">
            <a:avLst>
              <a:gd name="adj" fmla="val 10909"/>
            </a:avLst>
          </a:prstGeom>
          <a:solidFill>
            <a:srgbClr val="E6F4F2"/>
          </a:solidFill>
          <a:ln w="12700">
            <a:solidFill>
              <a:srgbClr val="E6F4F2"/>
            </a:solidFill>
            <a:prstDash val="solid"/>
          </a:ln>
        </p:spPr>
        <p:txBody>
          <a:bodyPr/>
          <a:lstStyle/>
          <a:p>
            <a:endParaRPr lang="en-US"/>
          </a:p>
        </p:txBody>
      </p:sp>
      <p:sp>
        <p:nvSpPr>
          <p:cNvPr id="5" name="Text 3"/>
          <p:cNvSpPr txBox="1"/>
          <p:nvPr/>
        </p:nvSpPr>
        <p:spPr>
          <a:xfrm>
            <a:off x="868680" y="5577840"/>
            <a:ext cx="10469880" cy="502920"/>
          </a:xfrm>
          <a:prstGeom prst="rect">
            <a:avLst/>
          </a:prstGeom>
          <a:noFill/>
          <a:ln/>
        </p:spPr>
        <p:txBody>
          <a:bodyPr wrap="square" lIns="0" tIns="0" rIns="0" bIns="0" rtlCol="0" anchor="ctr"/>
          <a:lstStyle/>
          <a:p>
            <a:pPr marL="0" indent="0" algn="ctr">
              <a:buNone/>
            </a:pPr>
            <a:r>
              <a:rPr lang="en-US" sz="1350" b="1" dirty="0">
                <a:solidFill>
                  <a:srgbClr val="1A8A99"/>
                </a:solidFill>
                <a:latin typeface="Calibri" pitchFamily="34" charset="0"/>
                <a:ea typeface="Calibri" pitchFamily="34" charset="-122"/>
                <a:cs typeface="Calibri" pitchFamily="34" charset="-120"/>
              </a:rPr>
              <a:t>  </a:t>
            </a:r>
            <a:r>
              <a:rPr lang="en-US" sz="1350" b="1" dirty="0">
                <a:solidFill>
                  <a:srgbClr val="12394D"/>
                </a:solidFill>
                <a:latin typeface="Calibri" pitchFamily="34" charset="0"/>
                <a:ea typeface="Calibri" pitchFamily="34" charset="-122"/>
                <a:cs typeface="Calibri" pitchFamily="34" charset="-120"/>
              </a:rPr>
              <a:t>General 3GPP targets (1 ms, 1−10⁻⁵) are a baseline but each use case fixes its own latency–reliability point.</a:t>
            </a:r>
            <a:endParaRPr lang="en-US" sz="1350" b="1" dirty="0"/>
          </a:p>
        </p:txBody>
      </p:sp>
      <p:sp>
        <p:nvSpPr>
          <p:cNvPr id="6" name="Text 4"/>
          <p:cNvSpPr txBox="1"/>
          <p:nvPr/>
        </p:nvSpPr>
        <p:spPr>
          <a:xfrm>
            <a:off x="640080" y="6355080"/>
            <a:ext cx="6400800" cy="274320"/>
          </a:xfrm>
          <a:prstGeom prst="rect">
            <a:avLst/>
          </a:prstGeom>
          <a:noFill/>
          <a:ln/>
        </p:spPr>
        <p:txBody>
          <a:bodyPr wrap="square" lIns="0" tIns="0" rIns="0" bIns="0" rtlCol="0" anchor="t"/>
          <a:lstStyle/>
          <a:p>
            <a:pPr marL="0" indent="0">
              <a:buNone/>
            </a:pPr>
            <a:r>
              <a:rPr lang="en-US" sz="1100" dirty="0">
                <a:solidFill>
                  <a:srgbClr val="5F7A8A"/>
                </a:solidFill>
                <a:latin typeface="Calibri" pitchFamily="34" charset="0"/>
                <a:ea typeface="Calibri" pitchFamily="34" charset="-122"/>
                <a:cs typeface="Calibri" pitchFamily="34" charset="-120"/>
              </a:rPr>
              <a:t>RS2M Department · Télécom SudParis · Palaiseau, France</a:t>
            </a:r>
            <a:endParaRPr lang="en-US" sz="1100" dirty="0"/>
          </a:p>
        </p:txBody>
      </p:sp>
      <p:sp>
        <p:nvSpPr>
          <p:cNvPr id="7" name="Text 5"/>
          <p:cNvSpPr txBox="1"/>
          <p:nvPr/>
        </p:nvSpPr>
        <p:spPr>
          <a:xfrm>
            <a:off x="11064240" y="6355080"/>
            <a:ext cx="457200" cy="274320"/>
          </a:xfrm>
          <a:prstGeom prst="rect">
            <a:avLst/>
          </a:prstGeom>
          <a:noFill/>
          <a:ln/>
        </p:spPr>
        <p:txBody>
          <a:bodyPr wrap="square" lIns="0" tIns="0" rIns="0" bIns="0" rtlCol="0" anchor="t"/>
          <a:lstStyle/>
          <a:p>
            <a:pPr marL="0" indent="0" algn="r">
              <a:buNone/>
            </a:pPr>
            <a:r>
              <a:rPr lang="fr-FR" sz="1100" dirty="0">
                <a:solidFill>
                  <a:srgbClr val="5F7A8A"/>
                </a:solidFill>
                <a:latin typeface="Calibri" pitchFamily="34" charset="0"/>
                <a:ea typeface="Calibri" pitchFamily="34" charset="-122"/>
                <a:cs typeface="Calibri" pitchFamily="34" charset="-120"/>
              </a:rPr>
              <a:t>8</a:t>
            </a:r>
            <a:endParaRPr lang="en-US" sz="1100" dirty="0"/>
          </a:p>
        </p:txBody>
      </p:sp>
      <p:sp>
        <p:nvSpPr>
          <p:cNvPr id="10" name="Shape 7"/>
          <p:cNvSpPr/>
          <p:nvPr/>
        </p:nvSpPr>
        <p:spPr>
          <a:xfrm>
            <a:off x="7498080" y="1737360"/>
            <a:ext cx="4023360" cy="3611880"/>
          </a:xfrm>
          <a:prstGeom prst="roundRect">
            <a:avLst>
              <a:gd name="adj" fmla="val 1519"/>
            </a:avLst>
          </a:prstGeom>
          <a:solidFill>
            <a:srgbClr val="F0F5F7"/>
          </a:solidFill>
          <a:ln w="12700">
            <a:solidFill>
              <a:srgbClr val="F0F5F7"/>
            </a:solidFill>
            <a:prstDash val="solid"/>
          </a:ln>
        </p:spPr>
        <p:txBody>
          <a:bodyPr/>
          <a:lstStyle/>
          <a:p>
            <a:endParaRPr lang="en-US"/>
          </a:p>
        </p:txBody>
      </p:sp>
      <p:sp>
        <p:nvSpPr>
          <p:cNvPr id="11" name="Text 8"/>
          <p:cNvSpPr txBox="1"/>
          <p:nvPr/>
        </p:nvSpPr>
        <p:spPr>
          <a:xfrm>
            <a:off x="7772400" y="1920240"/>
            <a:ext cx="3566160" cy="274320"/>
          </a:xfrm>
          <a:prstGeom prst="rect">
            <a:avLst/>
          </a:prstGeom>
          <a:noFill/>
          <a:ln/>
        </p:spPr>
        <p:txBody>
          <a:bodyPr wrap="square" lIns="0" tIns="0" rIns="0" bIns="0" rtlCol="0" anchor="t"/>
          <a:lstStyle/>
          <a:p>
            <a:pPr marL="0" indent="0">
              <a:buNone/>
            </a:pPr>
            <a:r>
              <a:rPr lang="en-US" sz="1200" b="1" kern="0" spc="100" dirty="0">
                <a:solidFill>
                  <a:srgbClr val="1A8A99"/>
                </a:solidFill>
                <a:latin typeface="Calibri" pitchFamily="34" charset="0"/>
                <a:ea typeface="Calibri" pitchFamily="34" charset="-122"/>
                <a:cs typeface="Calibri" pitchFamily="34" charset="-120"/>
              </a:rPr>
              <a:t>WHY IT IS HARD</a:t>
            </a:r>
            <a:endParaRPr lang="en-US" sz="1200" dirty="0"/>
          </a:p>
        </p:txBody>
      </p:sp>
      <p:sp>
        <p:nvSpPr>
          <p:cNvPr id="12" name="Text 9"/>
          <p:cNvSpPr txBox="1"/>
          <p:nvPr/>
        </p:nvSpPr>
        <p:spPr>
          <a:xfrm>
            <a:off x="7772400" y="2286000"/>
            <a:ext cx="3520440" cy="3474720"/>
          </a:xfrm>
          <a:prstGeom prst="rect">
            <a:avLst/>
          </a:prstGeom>
          <a:noFill/>
          <a:ln/>
        </p:spPr>
        <p:txBody>
          <a:bodyPr wrap="square" lIns="0" tIns="0" rIns="0" bIns="0" rtlCol="0" anchor="t"/>
          <a:lstStyle/>
          <a:p>
            <a:pPr marL="0" indent="0">
              <a:buNone/>
            </a:pPr>
            <a:r>
              <a:rPr lang="en-US" sz="1600" b="1" dirty="0">
                <a:solidFill>
                  <a:srgbClr val="12394D"/>
                </a:solidFill>
                <a:latin typeface="Calibri" pitchFamily="34" charset="0"/>
                <a:ea typeface="Calibri" pitchFamily="34" charset="-122"/>
                <a:cs typeface="Calibri" pitchFamily="34" charset="-120"/>
              </a:rPr>
              <a:t>Short packets</a:t>
            </a:r>
            <a:endParaRPr lang="en-US" sz="1600" dirty="0"/>
          </a:p>
          <a:p>
            <a:pPr marL="0" indent="0">
              <a:spcAft>
                <a:spcPts val="1200"/>
              </a:spcAft>
              <a:buNone/>
            </a:pPr>
            <a:r>
              <a:rPr lang="en-US" sz="1400" dirty="0">
                <a:solidFill>
                  <a:srgbClr val="5F7A8A"/>
                </a:solidFill>
                <a:latin typeface="Calibri" pitchFamily="34" charset="0"/>
                <a:ea typeface="Calibri" pitchFamily="34" charset="-122"/>
                <a:cs typeface="Calibri" pitchFamily="34" charset="-120"/>
              </a:rPr>
              <a:t>20 bytes cut latency but remove coding gain.</a:t>
            </a:r>
            <a:endParaRPr lang="en-US" sz="1600" dirty="0"/>
          </a:p>
          <a:p>
            <a:pPr marL="0" indent="0">
              <a:buNone/>
            </a:pPr>
            <a:r>
              <a:rPr lang="en-US" sz="1600" b="1" dirty="0">
                <a:solidFill>
                  <a:srgbClr val="12394D"/>
                </a:solidFill>
                <a:latin typeface="Calibri" pitchFamily="34" charset="0"/>
                <a:ea typeface="Calibri" pitchFamily="34" charset="-122"/>
                <a:cs typeface="Calibri" pitchFamily="34" charset="-120"/>
              </a:rPr>
              <a:t>Redundancy</a:t>
            </a:r>
            <a:endParaRPr lang="en-US" sz="1600" dirty="0"/>
          </a:p>
          <a:p>
            <a:pPr marL="0" indent="0">
              <a:spcAft>
                <a:spcPts val="1200"/>
              </a:spcAft>
              <a:buNone/>
            </a:pPr>
            <a:r>
              <a:rPr lang="en-US" sz="1400" dirty="0">
                <a:solidFill>
                  <a:srgbClr val="5F7A8A"/>
                </a:solidFill>
                <a:latin typeface="Calibri" pitchFamily="34" charset="0"/>
                <a:ea typeface="Calibri" pitchFamily="34" charset="-122"/>
                <a:cs typeface="Calibri" pitchFamily="34" charset="-120"/>
              </a:rPr>
              <a:t>Retransmissions and parity buy reliability at the cost of latency.</a:t>
            </a:r>
            <a:endParaRPr lang="en-US" sz="1600" dirty="0"/>
          </a:p>
          <a:p>
            <a:pPr marL="0" indent="0">
              <a:buNone/>
            </a:pPr>
            <a:r>
              <a:rPr lang="en-US" sz="1600" b="1" dirty="0">
                <a:solidFill>
                  <a:srgbClr val="12394D"/>
                </a:solidFill>
                <a:latin typeface="Calibri" pitchFamily="34" charset="0"/>
                <a:ea typeface="Calibri" pitchFamily="34" charset="-122"/>
                <a:cs typeface="Calibri" pitchFamily="34" charset="-120"/>
              </a:rPr>
              <a:t>End-to-end</a:t>
            </a:r>
            <a:endParaRPr lang="en-US" sz="1600" dirty="0"/>
          </a:p>
          <a:p>
            <a:pPr marL="0" indent="0">
              <a:spcAft>
                <a:spcPts val="1200"/>
              </a:spcAft>
              <a:buNone/>
            </a:pPr>
            <a:r>
              <a:rPr lang="en-US" sz="1400" dirty="0">
                <a:solidFill>
                  <a:srgbClr val="5F7A8A"/>
                </a:solidFill>
                <a:latin typeface="Calibri" pitchFamily="34" charset="0"/>
                <a:ea typeface="Calibri" pitchFamily="34" charset="-122"/>
                <a:cs typeface="Calibri" pitchFamily="34" charset="-120"/>
              </a:rPr>
              <a:t>The link is manageable; E2E sums UL/DL, processing, queuing, backhaul and core delays.</a:t>
            </a:r>
            <a:endParaRPr lang="en-US" sz="1600" dirty="0"/>
          </a:p>
        </p:txBody>
      </p:sp>
      <p:pic>
        <p:nvPicPr>
          <p:cNvPr id="14" name="Image 13">
            <a:extLst>
              <a:ext uri="{FF2B5EF4-FFF2-40B4-BE49-F238E27FC236}">
                <a16:creationId xmlns:a16="http://schemas.microsoft.com/office/drawing/2014/main" id="{5C6AC1B9-9CA3-C851-C162-756A0C9453AF}"/>
              </a:ext>
            </a:extLst>
          </p:cNvPr>
          <p:cNvPicPr>
            <a:picLocks noChangeAspect="1"/>
          </p:cNvPicPr>
          <p:nvPr/>
        </p:nvPicPr>
        <p:blipFill>
          <a:blip r:embed="rId3"/>
          <a:stretch>
            <a:fillRect/>
          </a:stretch>
        </p:blipFill>
        <p:spPr>
          <a:xfrm>
            <a:off x="499469" y="1472185"/>
            <a:ext cx="5238365" cy="1836438"/>
          </a:xfrm>
          <a:prstGeom prst="rect">
            <a:avLst/>
          </a:prstGeom>
        </p:spPr>
      </p:pic>
      <p:pic>
        <p:nvPicPr>
          <p:cNvPr id="9" name="Image 8">
            <a:extLst>
              <a:ext uri="{FF2B5EF4-FFF2-40B4-BE49-F238E27FC236}">
                <a16:creationId xmlns:a16="http://schemas.microsoft.com/office/drawing/2014/main" id="{4107A55A-F8A0-AA79-3910-12BCE09EC1D7}"/>
              </a:ext>
            </a:extLst>
          </p:cNvPr>
          <p:cNvPicPr>
            <a:picLocks noChangeAspect="1"/>
          </p:cNvPicPr>
          <p:nvPr/>
        </p:nvPicPr>
        <p:blipFill>
          <a:blip r:embed="rId4"/>
          <a:stretch>
            <a:fillRect/>
          </a:stretch>
        </p:blipFill>
        <p:spPr>
          <a:xfrm>
            <a:off x="670560" y="3308623"/>
            <a:ext cx="4692290" cy="211505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320040"/>
          </a:xfrm>
          <a:prstGeom prst="rect">
            <a:avLst/>
          </a:prstGeom>
          <a:noFill/>
          <a:ln/>
        </p:spPr>
        <p:txBody>
          <a:bodyPr wrap="square" lIns="0" tIns="0" rIns="0" bIns="0" rtlCol="0" anchor="t"/>
          <a:lstStyle/>
          <a:p>
            <a:pPr marL="0" indent="0">
              <a:buNone/>
            </a:pPr>
            <a:r>
              <a:rPr lang="en-US" sz="1400" b="1" kern="0" spc="200" dirty="0">
                <a:solidFill>
                  <a:srgbClr val="2BB3A3"/>
                </a:solidFill>
                <a:latin typeface="Calibri" pitchFamily="34" charset="0"/>
                <a:ea typeface="Calibri" pitchFamily="34" charset="-122"/>
                <a:cs typeface="Calibri" pitchFamily="34" charset="-120"/>
              </a:rPr>
              <a:t>Survey 1 · Haque et al. · 5G URLLC &amp; 6G era</a:t>
            </a:r>
            <a:endParaRPr lang="en-US" sz="1400" dirty="0"/>
          </a:p>
        </p:txBody>
      </p:sp>
      <p:sp>
        <p:nvSpPr>
          <p:cNvPr id="3" name="Text 1"/>
          <p:cNvSpPr txBox="1"/>
          <p:nvPr/>
        </p:nvSpPr>
        <p:spPr>
          <a:xfrm>
            <a:off x="640080" y="786384"/>
            <a:ext cx="10881360" cy="640080"/>
          </a:xfrm>
          <a:prstGeom prst="rect">
            <a:avLst/>
          </a:prstGeom>
          <a:noFill/>
          <a:ln/>
        </p:spPr>
        <p:txBody>
          <a:bodyPr wrap="square" lIns="0" tIns="0" rIns="0" bIns="0" rtlCol="0" anchor="t">
            <a:normAutofit/>
          </a:bodyPr>
          <a:lstStyle/>
          <a:p>
            <a:pPr marL="0" indent="0">
              <a:buNone/>
            </a:pPr>
            <a:r>
              <a:rPr lang="en-US" sz="2700" b="1" dirty="0">
                <a:solidFill>
                  <a:srgbClr val="12394D"/>
                </a:solidFill>
                <a:latin typeface="Cambria" pitchFamily="34" charset="0"/>
                <a:ea typeface="Cambria" pitchFamily="34" charset="-122"/>
                <a:cs typeface="Cambria" pitchFamily="34" charset="-120"/>
              </a:rPr>
              <a:t>Three design challenges: overhead, coexistence, resource use</a:t>
            </a:r>
            <a:endParaRPr lang="en-US" sz="2700" dirty="0"/>
          </a:p>
        </p:txBody>
      </p:sp>
      <p:sp>
        <p:nvSpPr>
          <p:cNvPr id="4" name="Shape 2"/>
          <p:cNvSpPr/>
          <p:nvPr/>
        </p:nvSpPr>
        <p:spPr>
          <a:xfrm>
            <a:off x="640080" y="5596128"/>
            <a:ext cx="10881360" cy="502920"/>
          </a:xfrm>
          <a:prstGeom prst="roundRect">
            <a:avLst>
              <a:gd name="adj" fmla="val 10909"/>
            </a:avLst>
          </a:prstGeom>
          <a:solidFill>
            <a:srgbClr val="E6F4F2"/>
          </a:solidFill>
          <a:ln w="12700">
            <a:solidFill>
              <a:srgbClr val="E6F4F2"/>
            </a:solidFill>
            <a:prstDash val="solid"/>
          </a:ln>
        </p:spPr>
        <p:txBody>
          <a:bodyPr/>
          <a:lstStyle/>
          <a:p>
            <a:endParaRPr lang="en-US"/>
          </a:p>
        </p:txBody>
      </p:sp>
      <p:sp>
        <p:nvSpPr>
          <p:cNvPr id="5" name="Text 3"/>
          <p:cNvSpPr txBox="1"/>
          <p:nvPr/>
        </p:nvSpPr>
        <p:spPr>
          <a:xfrm>
            <a:off x="868680" y="5596128"/>
            <a:ext cx="10469880" cy="502920"/>
          </a:xfrm>
          <a:prstGeom prst="rect">
            <a:avLst/>
          </a:prstGeom>
          <a:noFill/>
          <a:ln/>
        </p:spPr>
        <p:txBody>
          <a:bodyPr wrap="square" lIns="0" tIns="0" rIns="0" bIns="0" rtlCol="0" anchor="ctr"/>
          <a:lstStyle/>
          <a:p>
            <a:pPr marL="0" indent="0">
              <a:buNone/>
            </a:pPr>
            <a:r>
              <a:rPr lang="en-US" sz="1400" b="1" dirty="0">
                <a:solidFill>
                  <a:srgbClr val="1A8A99"/>
                </a:solidFill>
                <a:latin typeface="Calibri" pitchFamily="34" charset="0"/>
                <a:ea typeface="Calibri" pitchFamily="34" charset="-122"/>
                <a:cs typeface="Calibri" pitchFamily="34" charset="-120"/>
              </a:rPr>
              <a:t>Takeaway  </a:t>
            </a:r>
            <a:r>
              <a:rPr lang="en-US" sz="1400" dirty="0">
                <a:solidFill>
                  <a:srgbClr val="12394D"/>
                </a:solidFill>
                <a:latin typeface="Calibri" pitchFamily="34" charset="0"/>
                <a:ea typeface="Calibri" pitchFamily="34" charset="-122"/>
                <a:cs typeface="Calibri" pitchFamily="34" charset="-120"/>
              </a:rPr>
              <a:t>Coexistence with eMBB is named as a core URLLC challenge: survey 3 is dedicated to it.</a:t>
            </a:r>
            <a:endParaRPr lang="en-US" sz="1400" dirty="0"/>
          </a:p>
        </p:txBody>
      </p:sp>
      <p:sp>
        <p:nvSpPr>
          <p:cNvPr id="6" name="Text 4"/>
          <p:cNvSpPr txBox="1"/>
          <p:nvPr/>
        </p:nvSpPr>
        <p:spPr>
          <a:xfrm>
            <a:off x="640080" y="6355080"/>
            <a:ext cx="6400800" cy="274320"/>
          </a:xfrm>
          <a:prstGeom prst="rect">
            <a:avLst/>
          </a:prstGeom>
          <a:noFill/>
          <a:ln/>
        </p:spPr>
        <p:txBody>
          <a:bodyPr wrap="square" lIns="0" tIns="0" rIns="0" bIns="0" rtlCol="0" anchor="t"/>
          <a:lstStyle/>
          <a:p>
            <a:pPr marL="0" indent="0">
              <a:buNone/>
            </a:pPr>
            <a:r>
              <a:rPr lang="en-US" sz="1100" dirty="0">
                <a:solidFill>
                  <a:srgbClr val="5F7A8A"/>
                </a:solidFill>
                <a:latin typeface="Calibri" pitchFamily="34" charset="0"/>
                <a:ea typeface="Calibri" pitchFamily="34" charset="-122"/>
                <a:cs typeface="Calibri" pitchFamily="34" charset="-120"/>
              </a:rPr>
              <a:t>RS2M Department · Télécom SudParis · Palaiseau, France</a:t>
            </a:r>
            <a:endParaRPr lang="en-US" sz="1100" dirty="0"/>
          </a:p>
        </p:txBody>
      </p:sp>
      <p:sp>
        <p:nvSpPr>
          <p:cNvPr id="7" name="Text 5"/>
          <p:cNvSpPr txBox="1"/>
          <p:nvPr/>
        </p:nvSpPr>
        <p:spPr>
          <a:xfrm>
            <a:off x="11064240" y="6355080"/>
            <a:ext cx="457200" cy="274320"/>
          </a:xfrm>
          <a:prstGeom prst="rect">
            <a:avLst/>
          </a:prstGeom>
          <a:noFill/>
          <a:ln/>
        </p:spPr>
        <p:txBody>
          <a:bodyPr wrap="square" lIns="0" tIns="0" rIns="0" bIns="0" rtlCol="0" anchor="t"/>
          <a:lstStyle/>
          <a:p>
            <a:pPr marL="0" indent="0" algn="r">
              <a:buNone/>
            </a:pPr>
            <a:r>
              <a:rPr lang="en-US" sz="1100" dirty="0">
                <a:solidFill>
                  <a:srgbClr val="5F7A8A"/>
                </a:solidFill>
                <a:latin typeface="Calibri" pitchFamily="34" charset="0"/>
                <a:ea typeface="Calibri" pitchFamily="34" charset="-122"/>
                <a:cs typeface="Calibri" pitchFamily="34" charset="-120"/>
              </a:rPr>
              <a:t>9</a:t>
            </a:r>
            <a:endParaRPr lang="en-US" sz="1100" dirty="0"/>
          </a:p>
        </p:txBody>
      </p:sp>
      <p:sp>
        <p:nvSpPr>
          <p:cNvPr id="11" name="Shape 8"/>
          <p:cNvSpPr/>
          <p:nvPr/>
        </p:nvSpPr>
        <p:spPr>
          <a:xfrm>
            <a:off x="6126480" y="1691640"/>
            <a:ext cx="384048" cy="384048"/>
          </a:xfrm>
          <a:prstGeom prst="ellipse">
            <a:avLst/>
          </a:prstGeom>
          <a:solidFill>
            <a:srgbClr val="1A8A99"/>
          </a:solidFill>
          <a:ln w="12700">
            <a:solidFill>
              <a:srgbClr val="1A8A99"/>
            </a:solidFill>
            <a:prstDash val="solid"/>
          </a:ln>
        </p:spPr>
        <p:txBody>
          <a:bodyPr/>
          <a:lstStyle/>
          <a:p>
            <a:endParaRPr lang="en-US"/>
          </a:p>
        </p:txBody>
      </p:sp>
      <p:sp>
        <p:nvSpPr>
          <p:cNvPr id="12" name="Text 9"/>
          <p:cNvSpPr txBox="1"/>
          <p:nvPr/>
        </p:nvSpPr>
        <p:spPr>
          <a:xfrm>
            <a:off x="6126480" y="169164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3" name="Text 10"/>
          <p:cNvSpPr txBox="1"/>
          <p:nvPr/>
        </p:nvSpPr>
        <p:spPr>
          <a:xfrm>
            <a:off x="6675120" y="1664208"/>
            <a:ext cx="4846320" cy="1234440"/>
          </a:xfrm>
          <a:prstGeom prst="rect">
            <a:avLst/>
          </a:prstGeom>
          <a:noFill/>
          <a:ln/>
        </p:spPr>
        <p:txBody>
          <a:bodyPr wrap="square" lIns="0" tIns="0" rIns="0" bIns="0" rtlCol="0" anchor="t"/>
          <a:lstStyle/>
          <a:p>
            <a:pPr marL="0" indent="0">
              <a:buNone/>
            </a:pPr>
            <a:r>
              <a:rPr lang="en-US" sz="1500" b="1" dirty="0">
                <a:solidFill>
                  <a:srgbClr val="12394D"/>
                </a:solidFill>
                <a:latin typeface="Calibri" pitchFamily="34" charset="0"/>
                <a:ea typeface="Calibri" pitchFamily="34" charset="-122"/>
                <a:cs typeface="Calibri" pitchFamily="34" charset="-120"/>
              </a:rPr>
              <a:t>Control-signalling overhead</a:t>
            </a:r>
            <a:endParaRPr lang="en-US" sz="1500" dirty="0"/>
          </a:p>
          <a:p>
            <a:pPr marL="0" indent="0">
              <a:spcAft>
                <a:spcPts val="1000"/>
              </a:spcAft>
              <a:buNone/>
            </a:pPr>
            <a:r>
              <a:rPr lang="en-US" sz="1300" dirty="0">
                <a:solidFill>
                  <a:srgbClr val="5F7A8A"/>
                </a:solidFill>
                <a:latin typeface="Calibri" pitchFamily="34" charset="0"/>
                <a:ea typeface="Calibri" pitchFamily="34" charset="-122"/>
                <a:cs typeface="Calibri" pitchFamily="34" charset="-120"/>
              </a:rPr>
              <a:t>A request–grant handshake delays every packet. Options: SPS (periodic traffic only), grant-free access, NOMA, SDMA or RSMA</a:t>
            </a:r>
            <a:endParaRPr lang="en-US" sz="1500" dirty="0"/>
          </a:p>
        </p:txBody>
      </p:sp>
      <p:sp>
        <p:nvSpPr>
          <p:cNvPr id="14" name="Shape 11"/>
          <p:cNvSpPr/>
          <p:nvPr/>
        </p:nvSpPr>
        <p:spPr>
          <a:xfrm>
            <a:off x="6126480" y="2926080"/>
            <a:ext cx="384048" cy="384048"/>
          </a:xfrm>
          <a:prstGeom prst="ellipse">
            <a:avLst/>
          </a:prstGeom>
          <a:solidFill>
            <a:srgbClr val="1A8A99"/>
          </a:solidFill>
          <a:ln w="12700">
            <a:solidFill>
              <a:srgbClr val="1A8A99"/>
            </a:solidFill>
            <a:prstDash val="solid"/>
          </a:ln>
        </p:spPr>
        <p:txBody>
          <a:bodyPr/>
          <a:lstStyle/>
          <a:p>
            <a:endParaRPr lang="en-US"/>
          </a:p>
        </p:txBody>
      </p:sp>
      <p:sp>
        <p:nvSpPr>
          <p:cNvPr id="15" name="Text 12"/>
          <p:cNvSpPr txBox="1"/>
          <p:nvPr/>
        </p:nvSpPr>
        <p:spPr>
          <a:xfrm>
            <a:off x="6126480" y="29260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6" name="Text 13"/>
          <p:cNvSpPr txBox="1"/>
          <p:nvPr/>
        </p:nvSpPr>
        <p:spPr>
          <a:xfrm>
            <a:off x="6675120" y="2898648"/>
            <a:ext cx="4846320" cy="1234440"/>
          </a:xfrm>
          <a:prstGeom prst="rect">
            <a:avLst/>
          </a:prstGeom>
          <a:noFill/>
          <a:ln/>
        </p:spPr>
        <p:txBody>
          <a:bodyPr wrap="square" lIns="0" tIns="0" rIns="0" bIns="0" rtlCol="0" anchor="t"/>
          <a:lstStyle/>
          <a:p>
            <a:pPr marL="0" indent="0">
              <a:buNone/>
            </a:pPr>
            <a:r>
              <a:rPr lang="en-US" sz="1500" b="1" dirty="0">
                <a:solidFill>
                  <a:srgbClr val="12394D"/>
                </a:solidFill>
                <a:latin typeface="Calibri" pitchFamily="34" charset="0"/>
                <a:ea typeface="Calibri" pitchFamily="34" charset="-122"/>
                <a:cs typeface="Calibri" pitchFamily="34" charset="-120"/>
              </a:rPr>
              <a:t>Coexistence with eMBB</a:t>
            </a:r>
            <a:endParaRPr lang="en-US" sz="1500" dirty="0"/>
          </a:p>
          <a:p>
            <a:pPr marL="0" indent="0">
              <a:spcAft>
                <a:spcPts val="1000"/>
              </a:spcAft>
              <a:buNone/>
            </a:pPr>
            <a:r>
              <a:rPr lang="en-US" sz="1300" dirty="0">
                <a:solidFill>
                  <a:srgbClr val="5F7A8A"/>
                </a:solidFill>
                <a:latin typeface="Calibri" pitchFamily="34" charset="0"/>
                <a:ea typeface="Calibri" pitchFamily="34" charset="-122"/>
                <a:cs typeface="Calibri" pitchFamily="34" charset="-120"/>
              </a:rPr>
              <a:t>URLLC pre-empts eMBB immediately and without notification: the "coexistence problem", mostly studied as eMBB–URLLC</a:t>
            </a:r>
            <a:endParaRPr lang="en-US" sz="1500" dirty="0"/>
          </a:p>
        </p:txBody>
      </p:sp>
      <p:sp>
        <p:nvSpPr>
          <p:cNvPr id="17" name="Shape 14"/>
          <p:cNvSpPr/>
          <p:nvPr/>
        </p:nvSpPr>
        <p:spPr>
          <a:xfrm>
            <a:off x="6126480" y="4160520"/>
            <a:ext cx="384048" cy="384048"/>
          </a:xfrm>
          <a:prstGeom prst="ellipse">
            <a:avLst/>
          </a:prstGeom>
          <a:solidFill>
            <a:srgbClr val="1A8A99"/>
          </a:solidFill>
          <a:ln w="12700">
            <a:solidFill>
              <a:srgbClr val="1A8A99"/>
            </a:solidFill>
            <a:prstDash val="solid"/>
          </a:ln>
        </p:spPr>
        <p:txBody>
          <a:bodyPr/>
          <a:lstStyle/>
          <a:p>
            <a:endParaRPr lang="en-US"/>
          </a:p>
        </p:txBody>
      </p:sp>
      <p:sp>
        <p:nvSpPr>
          <p:cNvPr id="18" name="Text 15"/>
          <p:cNvSpPr txBox="1"/>
          <p:nvPr/>
        </p:nvSpPr>
        <p:spPr>
          <a:xfrm>
            <a:off x="6126480" y="416052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9" name="Text 16"/>
          <p:cNvSpPr txBox="1"/>
          <p:nvPr/>
        </p:nvSpPr>
        <p:spPr>
          <a:xfrm>
            <a:off x="6675120" y="4133088"/>
            <a:ext cx="4846320" cy="1234440"/>
          </a:xfrm>
          <a:prstGeom prst="rect">
            <a:avLst/>
          </a:prstGeom>
          <a:noFill/>
          <a:ln/>
        </p:spPr>
        <p:txBody>
          <a:bodyPr wrap="square" lIns="0" tIns="0" rIns="0" bIns="0" rtlCol="0" anchor="t"/>
          <a:lstStyle/>
          <a:p>
            <a:pPr marL="0" indent="0">
              <a:buNone/>
            </a:pPr>
            <a:r>
              <a:rPr lang="en-US" sz="1500" b="1" dirty="0">
                <a:solidFill>
                  <a:srgbClr val="12394D"/>
                </a:solidFill>
                <a:latin typeface="Calibri" pitchFamily="34" charset="0"/>
                <a:ea typeface="Calibri" pitchFamily="34" charset="-122"/>
                <a:cs typeface="Calibri" pitchFamily="34" charset="-120"/>
              </a:rPr>
              <a:t>Resource optimisation</a:t>
            </a:r>
            <a:endParaRPr lang="en-US" sz="1500" dirty="0"/>
          </a:p>
          <a:p>
            <a:pPr marL="0" indent="0">
              <a:spcAft>
                <a:spcPts val="1000"/>
              </a:spcAft>
              <a:buNone/>
            </a:pPr>
            <a:r>
              <a:rPr lang="en-US" sz="1300" dirty="0">
                <a:solidFill>
                  <a:srgbClr val="5F7A8A"/>
                </a:solidFill>
                <a:latin typeface="Calibri" pitchFamily="34" charset="0"/>
                <a:ea typeface="Calibri" pitchFamily="34" charset="-122"/>
                <a:cs typeface="Calibri" pitchFamily="34" charset="-120"/>
              </a:rPr>
              <a:t>Fixed allocation wastes spectrum; retransmissions waste it on good channels; joint queue–delay–error models are missing</a:t>
            </a:r>
            <a:endParaRPr lang="en-US" sz="1500" dirty="0"/>
          </a:p>
        </p:txBody>
      </p:sp>
      <p:pic>
        <p:nvPicPr>
          <p:cNvPr id="20" name="Image 19">
            <a:extLst>
              <a:ext uri="{FF2B5EF4-FFF2-40B4-BE49-F238E27FC236}">
                <a16:creationId xmlns:a16="http://schemas.microsoft.com/office/drawing/2014/main" id="{441A566D-FF0D-F670-FD01-5BC670663542}"/>
              </a:ext>
            </a:extLst>
          </p:cNvPr>
          <p:cNvPicPr>
            <a:picLocks noChangeAspect="1"/>
          </p:cNvPicPr>
          <p:nvPr/>
        </p:nvPicPr>
        <p:blipFill>
          <a:blip r:embed="rId3"/>
          <a:stretch>
            <a:fillRect/>
          </a:stretch>
        </p:blipFill>
        <p:spPr>
          <a:xfrm>
            <a:off x="535808" y="1365185"/>
            <a:ext cx="4846320" cy="388988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320040"/>
          </a:xfrm>
          <a:prstGeom prst="rect">
            <a:avLst/>
          </a:prstGeom>
          <a:noFill/>
          <a:ln/>
        </p:spPr>
        <p:txBody>
          <a:bodyPr wrap="square" lIns="0" tIns="0" rIns="0" bIns="0" rtlCol="0" anchor="t"/>
          <a:lstStyle/>
          <a:p>
            <a:pPr marL="0" indent="0">
              <a:buNone/>
            </a:pPr>
            <a:r>
              <a:rPr lang="en-US" sz="1400" b="1" kern="0" spc="200" dirty="0">
                <a:solidFill>
                  <a:srgbClr val="2BB3A3"/>
                </a:solidFill>
                <a:latin typeface="Calibri" pitchFamily="34" charset="0"/>
                <a:ea typeface="Calibri" pitchFamily="34" charset="-122"/>
                <a:cs typeface="Calibri" pitchFamily="34" charset="-120"/>
              </a:rPr>
              <a:t>Survey 1 · Haque et al. · 5G URLLC &amp; 6G era</a:t>
            </a:r>
            <a:endParaRPr lang="en-US" sz="1400" dirty="0"/>
          </a:p>
        </p:txBody>
      </p:sp>
      <p:sp>
        <p:nvSpPr>
          <p:cNvPr id="3" name="Text 1"/>
          <p:cNvSpPr txBox="1"/>
          <p:nvPr/>
        </p:nvSpPr>
        <p:spPr>
          <a:xfrm>
            <a:off x="640080" y="786384"/>
            <a:ext cx="10881360" cy="640080"/>
          </a:xfrm>
          <a:prstGeom prst="rect">
            <a:avLst/>
          </a:prstGeom>
          <a:noFill/>
          <a:ln/>
        </p:spPr>
        <p:txBody>
          <a:bodyPr wrap="square" lIns="0" tIns="0" rIns="0" bIns="0" rtlCol="0" anchor="t">
            <a:normAutofit/>
          </a:bodyPr>
          <a:lstStyle/>
          <a:p>
            <a:pPr marL="0" indent="0">
              <a:buNone/>
            </a:pPr>
            <a:r>
              <a:rPr lang="en-US" sz="2700" b="1" dirty="0">
                <a:solidFill>
                  <a:srgbClr val="12394D"/>
                </a:solidFill>
                <a:latin typeface="Cambria" pitchFamily="34" charset="0"/>
                <a:ea typeface="Cambria" pitchFamily="34" charset="-122"/>
                <a:cs typeface="Cambria" pitchFamily="34" charset="-120"/>
              </a:rPr>
              <a:t>PHY layer: every tool shortens or protects, at a cost</a:t>
            </a:r>
            <a:endParaRPr lang="en-US" sz="2700" dirty="0"/>
          </a:p>
        </p:txBody>
      </p:sp>
      <p:sp>
        <p:nvSpPr>
          <p:cNvPr id="4" name="Shape 2"/>
          <p:cNvSpPr/>
          <p:nvPr/>
        </p:nvSpPr>
        <p:spPr>
          <a:xfrm>
            <a:off x="640080" y="5596128"/>
            <a:ext cx="10881360" cy="502920"/>
          </a:xfrm>
          <a:prstGeom prst="roundRect">
            <a:avLst>
              <a:gd name="adj" fmla="val 10909"/>
            </a:avLst>
          </a:prstGeom>
          <a:solidFill>
            <a:srgbClr val="E6F4F2"/>
          </a:solidFill>
          <a:ln w="12700">
            <a:solidFill>
              <a:srgbClr val="E6F4F2"/>
            </a:solidFill>
            <a:prstDash val="solid"/>
          </a:ln>
        </p:spPr>
        <p:txBody>
          <a:bodyPr/>
          <a:lstStyle/>
          <a:p>
            <a:endParaRPr lang="en-US"/>
          </a:p>
        </p:txBody>
      </p:sp>
      <p:sp>
        <p:nvSpPr>
          <p:cNvPr id="5" name="Text 3"/>
          <p:cNvSpPr txBox="1"/>
          <p:nvPr/>
        </p:nvSpPr>
        <p:spPr>
          <a:xfrm>
            <a:off x="868680" y="5596128"/>
            <a:ext cx="10469880" cy="502920"/>
          </a:xfrm>
          <a:prstGeom prst="rect">
            <a:avLst/>
          </a:prstGeom>
          <a:noFill/>
          <a:ln/>
        </p:spPr>
        <p:txBody>
          <a:bodyPr wrap="square" lIns="0" tIns="0" rIns="0" bIns="0" rtlCol="0" anchor="ctr"/>
          <a:lstStyle/>
          <a:p>
            <a:pPr marL="0" indent="0">
              <a:buNone/>
            </a:pPr>
            <a:r>
              <a:rPr lang="en-US" sz="1400" b="1" dirty="0">
                <a:solidFill>
                  <a:srgbClr val="1A8A99"/>
                </a:solidFill>
                <a:latin typeface="Calibri" pitchFamily="34" charset="0"/>
                <a:ea typeface="Calibri" pitchFamily="34" charset="-122"/>
                <a:cs typeface="Calibri" pitchFamily="34" charset="-120"/>
              </a:rPr>
              <a:t>Takeaway  </a:t>
            </a:r>
            <a:r>
              <a:rPr lang="en-US" sz="1400" dirty="0">
                <a:solidFill>
                  <a:srgbClr val="12394D"/>
                </a:solidFill>
                <a:latin typeface="Calibri" pitchFamily="34" charset="0"/>
                <a:ea typeface="Calibri" pitchFamily="34" charset="-122"/>
                <a:cs typeface="Calibri" pitchFamily="34" charset="-120"/>
              </a:rPr>
              <a:t>PHY tools buy latency or reliability with control overhead, complexity or extra resources.</a:t>
            </a:r>
            <a:endParaRPr lang="en-US" sz="1400" dirty="0"/>
          </a:p>
        </p:txBody>
      </p:sp>
      <p:sp>
        <p:nvSpPr>
          <p:cNvPr id="6" name="Text 4"/>
          <p:cNvSpPr txBox="1"/>
          <p:nvPr/>
        </p:nvSpPr>
        <p:spPr>
          <a:xfrm>
            <a:off x="640080" y="6355080"/>
            <a:ext cx="6400800" cy="274320"/>
          </a:xfrm>
          <a:prstGeom prst="rect">
            <a:avLst/>
          </a:prstGeom>
          <a:noFill/>
          <a:ln/>
        </p:spPr>
        <p:txBody>
          <a:bodyPr wrap="square" lIns="0" tIns="0" rIns="0" bIns="0" rtlCol="0" anchor="t"/>
          <a:lstStyle/>
          <a:p>
            <a:pPr marL="0" indent="0">
              <a:buNone/>
            </a:pPr>
            <a:r>
              <a:rPr lang="en-US" sz="1100" dirty="0">
                <a:solidFill>
                  <a:srgbClr val="5F7A8A"/>
                </a:solidFill>
                <a:latin typeface="Calibri" pitchFamily="34" charset="0"/>
                <a:ea typeface="Calibri" pitchFamily="34" charset="-122"/>
                <a:cs typeface="Calibri" pitchFamily="34" charset="-120"/>
              </a:rPr>
              <a:t>RS2M Department · Télécom SudParis · Palaiseau, France</a:t>
            </a:r>
            <a:endParaRPr lang="en-US" sz="1100" dirty="0"/>
          </a:p>
        </p:txBody>
      </p:sp>
      <p:sp>
        <p:nvSpPr>
          <p:cNvPr id="7" name="Text 5"/>
          <p:cNvSpPr txBox="1"/>
          <p:nvPr/>
        </p:nvSpPr>
        <p:spPr>
          <a:xfrm>
            <a:off x="11064240" y="6355080"/>
            <a:ext cx="457200" cy="274320"/>
          </a:xfrm>
          <a:prstGeom prst="rect">
            <a:avLst/>
          </a:prstGeom>
          <a:noFill/>
          <a:ln/>
        </p:spPr>
        <p:txBody>
          <a:bodyPr wrap="square" lIns="0" tIns="0" rIns="0" bIns="0" rtlCol="0" anchor="t"/>
          <a:lstStyle/>
          <a:p>
            <a:pPr marL="0" indent="0" algn="r">
              <a:buNone/>
            </a:pPr>
            <a:r>
              <a:rPr lang="en-US" sz="1100" dirty="0">
                <a:solidFill>
                  <a:srgbClr val="5F7A8A"/>
                </a:solidFill>
                <a:latin typeface="Calibri" pitchFamily="34" charset="0"/>
                <a:ea typeface="Calibri" pitchFamily="34" charset="-122"/>
                <a:cs typeface="Calibri" pitchFamily="34" charset="-120"/>
              </a:rPr>
              <a:t>10</a:t>
            </a:r>
            <a:endParaRPr lang="en-US" sz="1100" dirty="0"/>
          </a:p>
        </p:txBody>
      </p:sp>
      <p:sp>
        <p:nvSpPr>
          <p:cNvPr id="9" name="Shape 6"/>
          <p:cNvSpPr/>
          <p:nvPr/>
        </p:nvSpPr>
        <p:spPr>
          <a:xfrm>
            <a:off x="640080" y="1645920"/>
            <a:ext cx="5120640" cy="3749040"/>
          </a:xfrm>
          <a:prstGeom prst="roundRect">
            <a:avLst>
              <a:gd name="adj" fmla="val 1463"/>
            </a:avLst>
          </a:prstGeom>
          <a:solidFill>
            <a:srgbClr val="F7FAFB"/>
          </a:solidFill>
          <a:ln w="15875">
            <a:solidFill>
              <a:srgbClr val="9FB4C2"/>
            </a:solidFill>
            <a:prstDash val="dash"/>
          </a:ln>
        </p:spPr>
        <p:txBody>
          <a:bodyPr/>
          <a:lstStyle/>
          <a:p>
            <a:endParaRPr lang="en-US"/>
          </a:p>
        </p:txBody>
      </p:sp>
      <p:sp>
        <p:nvSpPr>
          <p:cNvPr id="11" name="Text 8"/>
          <p:cNvSpPr txBox="1"/>
          <p:nvPr/>
        </p:nvSpPr>
        <p:spPr>
          <a:xfrm>
            <a:off x="6126480" y="1645920"/>
            <a:ext cx="5394960" cy="3794760"/>
          </a:xfrm>
          <a:prstGeom prst="rect">
            <a:avLst/>
          </a:prstGeom>
          <a:noFill/>
          <a:ln/>
        </p:spPr>
        <p:txBody>
          <a:bodyPr wrap="square" lIns="0" tIns="0" rIns="0" bIns="0" rtlCol="0" anchor="t"/>
          <a:lstStyle/>
          <a:p>
            <a:pPr marL="0" indent="0">
              <a:buNone/>
            </a:pPr>
            <a:r>
              <a:rPr lang="en-US" sz="1450" b="1" dirty="0">
                <a:solidFill>
                  <a:srgbClr val="12394D"/>
                </a:solidFill>
                <a:latin typeface="Calibri" pitchFamily="34" charset="0"/>
                <a:ea typeface="Calibri" pitchFamily="34" charset="-122"/>
                <a:cs typeface="Calibri" pitchFamily="34" charset="-120"/>
              </a:rPr>
              <a:t>Mini-slots and wider numerology (15×2ᵘ kHz)</a:t>
            </a:r>
            <a:endParaRPr lang="en-US" sz="1450" dirty="0"/>
          </a:p>
          <a:p>
            <a:pPr marL="0" indent="0">
              <a:spcAft>
                <a:spcPts val="700"/>
              </a:spcAft>
              <a:buNone/>
            </a:pPr>
            <a:r>
              <a:rPr lang="en-US" sz="1250" dirty="0">
                <a:solidFill>
                  <a:srgbClr val="5F7A8A"/>
                </a:solidFill>
                <a:latin typeface="Calibri" pitchFamily="34" charset="0"/>
                <a:ea typeface="Calibri" pitchFamily="34" charset="-122"/>
                <a:cs typeface="Calibri" pitchFamily="34" charset="-120"/>
              </a:rPr>
              <a:t>Transmit mid-slot with shorter symbols · price: more control overhead</a:t>
            </a:r>
            <a:endParaRPr lang="en-US" sz="1450" dirty="0"/>
          </a:p>
          <a:p>
            <a:pPr marL="0" indent="0">
              <a:buNone/>
            </a:pPr>
            <a:r>
              <a:rPr lang="en-US" sz="1450" b="1" dirty="0">
                <a:solidFill>
                  <a:srgbClr val="12394D"/>
                </a:solidFill>
                <a:latin typeface="Calibri" pitchFamily="34" charset="0"/>
                <a:ea typeface="Calibri" pitchFamily="34" charset="-122"/>
                <a:cs typeface="Calibri" pitchFamily="34" charset="-120"/>
              </a:rPr>
              <a:t>Short-packet design (JPLLO, sparse vector coding)</a:t>
            </a:r>
            <a:endParaRPr lang="en-US" sz="1450" dirty="0"/>
          </a:p>
          <a:p>
            <a:pPr marL="0" indent="0">
              <a:spcAft>
                <a:spcPts val="700"/>
              </a:spcAft>
              <a:buNone/>
            </a:pPr>
            <a:r>
              <a:rPr lang="en-US" sz="1250" dirty="0">
                <a:solidFill>
                  <a:srgbClr val="5F7A8A"/>
                </a:solidFill>
                <a:latin typeface="Calibri" pitchFamily="34" charset="0"/>
                <a:ea typeface="Calibri" pitchFamily="34" charset="-122"/>
                <a:cs typeface="Calibri" pitchFamily="34" charset="-120"/>
              </a:rPr>
              <a:t>Less pilot overhead · price: harder detection without CSI</a:t>
            </a:r>
            <a:endParaRPr lang="en-US" sz="1450" dirty="0"/>
          </a:p>
          <a:p>
            <a:pPr marL="0" indent="0">
              <a:buNone/>
            </a:pPr>
            <a:r>
              <a:rPr lang="en-US" sz="1450" b="1" dirty="0">
                <a:solidFill>
                  <a:srgbClr val="12394D"/>
                </a:solidFill>
                <a:latin typeface="Calibri" pitchFamily="34" charset="0"/>
                <a:ea typeface="Calibri" pitchFamily="34" charset="-122"/>
                <a:cs typeface="Calibri" pitchFamily="34" charset="-120"/>
              </a:rPr>
              <a:t>Polar codes</a:t>
            </a:r>
            <a:endParaRPr lang="en-US" sz="1450" dirty="0"/>
          </a:p>
          <a:p>
            <a:pPr marL="0" indent="0">
              <a:spcAft>
                <a:spcPts val="700"/>
              </a:spcAft>
              <a:buNone/>
            </a:pPr>
            <a:r>
              <a:rPr lang="en-US" sz="1250" dirty="0">
                <a:solidFill>
                  <a:srgbClr val="5F7A8A"/>
                </a:solidFill>
                <a:latin typeface="Calibri" pitchFamily="34" charset="0"/>
                <a:ea typeface="Calibri" pitchFamily="34" charset="-122"/>
                <a:cs typeface="Calibri" pitchFamily="34" charset="-120"/>
              </a:rPr>
              <a:t>No error floor at short lengths; SC decoding ≈ 1.5 % of turbo complexity, SCL ≈ 100 % (Table IV)</a:t>
            </a:r>
            <a:endParaRPr lang="en-US" sz="1450" dirty="0"/>
          </a:p>
          <a:p>
            <a:pPr marL="0" indent="0">
              <a:buNone/>
            </a:pPr>
            <a:r>
              <a:rPr lang="en-US" sz="1450" b="1" dirty="0">
                <a:solidFill>
                  <a:srgbClr val="12394D"/>
                </a:solidFill>
                <a:latin typeface="Calibri" pitchFamily="34" charset="0"/>
                <a:ea typeface="Calibri" pitchFamily="34" charset="-122"/>
                <a:cs typeface="Calibri" pitchFamily="34" charset="-120"/>
              </a:rPr>
              <a:t>Massive MIMO and diversity</a:t>
            </a:r>
            <a:endParaRPr lang="en-US" sz="1450" dirty="0"/>
          </a:p>
          <a:p>
            <a:pPr marL="0" indent="0">
              <a:spcAft>
                <a:spcPts val="700"/>
              </a:spcAft>
              <a:buNone/>
            </a:pPr>
            <a:r>
              <a:rPr lang="en-US" sz="1250" dirty="0">
                <a:solidFill>
                  <a:srgbClr val="5F7A8A"/>
                </a:solidFill>
                <a:latin typeface="Calibri" pitchFamily="34" charset="0"/>
                <a:ea typeface="Calibri" pitchFamily="34" charset="-122"/>
                <a:cs typeface="Calibri" pitchFamily="34" charset="-120"/>
              </a:rPr>
              <a:t>Channel hardening makes the link near-deterministic · price: antennas and resources</a:t>
            </a:r>
            <a:endParaRPr lang="en-US" sz="1450" dirty="0"/>
          </a:p>
          <a:p>
            <a:pPr marL="0" indent="0">
              <a:buNone/>
            </a:pPr>
            <a:r>
              <a:rPr lang="en-US" sz="1450" b="1" dirty="0">
                <a:solidFill>
                  <a:srgbClr val="12394D"/>
                </a:solidFill>
                <a:latin typeface="Calibri" pitchFamily="34" charset="0"/>
                <a:ea typeface="Calibri" pitchFamily="34" charset="-122"/>
                <a:cs typeface="Calibri" pitchFamily="34" charset="-120"/>
              </a:rPr>
              <a:t>OTFS waveforms, mmWave</a:t>
            </a:r>
            <a:endParaRPr lang="en-US" sz="1450" dirty="0"/>
          </a:p>
          <a:p>
            <a:pPr marL="0" indent="0">
              <a:spcAft>
                <a:spcPts val="700"/>
              </a:spcAft>
              <a:buNone/>
            </a:pPr>
            <a:r>
              <a:rPr lang="en-US" sz="1250" dirty="0">
                <a:solidFill>
                  <a:srgbClr val="5F7A8A"/>
                </a:solidFill>
                <a:latin typeface="Calibri" pitchFamily="34" charset="0"/>
                <a:ea typeface="Calibri" pitchFamily="34" charset="-122"/>
                <a:cs typeface="Calibri" pitchFamily="34" charset="-120"/>
              </a:rPr>
              <a:t>Robust to Doppler, huge bandwidth · price: complexity, blockage</a:t>
            </a:r>
            <a:endParaRPr lang="en-US" sz="1450" dirty="0"/>
          </a:p>
        </p:txBody>
      </p:sp>
      <p:pic>
        <p:nvPicPr>
          <p:cNvPr id="12" name="Image 11">
            <a:extLst>
              <a:ext uri="{FF2B5EF4-FFF2-40B4-BE49-F238E27FC236}">
                <a16:creationId xmlns:a16="http://schemas.microsoft.com/office/drawing/2014/main" id="{86A3B778-D3D4-B90D-3CB0-837883E9EBA5}"/>
              </a:ext>
            </a:extLst>
          </p:cNvPr>
          <p:cNvPicPr>
            <a:picLocks noChangeAspect="1"/>
          </p:cNvPicPr>
          <p:nvPr/>
        </p:nvPicPr>
        <p:blipFill>
          <a:blip r:embed="rId3"/>
          <a:stretch>
            <a:fillRect/>
          </a:stretch>
        </p:blipFill>
        <p:spPr>
          <a:xfrm>
            <a:off x="829891" y="2347851"/>
            <a:ext cx="4741018" cy="255333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058400" cy="320040"/>
          </a:xfrm>
          <a:prstGeom prst="rect">
            <a:avLst/>
          </a:prstGeom>
          <a:noFill/>
          <a:ln/>
        </p:spPr>
        <p:txBody>
          <a:bodyPr wrap="square" lIns="0" tIns="0" rIns="0" bIns="0" rtlCol="0" anchor="t"/>
          <a:lstStyle/>
          <a:p>
            <a:pPr marL="0" indent="0">
              <a:buNone/>
            </a:pPr>
            <a:r>
              <a:rPr lang="en-US" sz="1400" b="1" kern="0" spc="200" dirty="0">
                <a:solidFill>
                  <a:srgbClr val="2BB3A3"/>
                </a:solidFill>
                <a:latin typeface="Calibri" pitchFamily="34" charset="0"/>
                <a:ea typeface="Calibri" pitchFamily="34" charset="-122"/>
                <a:cs typeface="Calibri" pitchFamily="34" charset="-120"/>
              </a:rPr>
              <a:t>Survey 1 · Haque et al. · 5G URLLC &amp; 6G era</a:t>
            </a:r>
            <a:endParaRPr lang="en-US" sz="1400" dirty="0"/>
          </a:p>
        </p:txBody>
      </p:sp>
      <p:sp>
        <p:nvSpPr>
          <p:cNvPr id="3" name="Text 1"/>
          <p:cNvSpPr txBox="1"/>
          <p:nvPr/>
        </p:nvSpPr>
        <p:spPr>
          <a:xfrm>
            <a:off x="640080" y="804672"/>
            <a:ext cx="10881360" cy="594360"/>
          </a:xfrm>
          <a:prstGeom prst="rect">
            <a:avLst/>
          </a:prstGeom>
          <a:noFill/>
          <a:ln/>
        </p:spPr>
        <p:txBody>
          <a:bodyPr wrap="square" lIns="0" tIns="0" rIns="0" bIns="0" rtlCol="0" anchor="t"/>
          <a:lstStyle/>
          <a:p>
            <a:r>
              <a:rPr lang="en-US" sz="2800" b="1" dirty="0">
                <a:solidFill>
                  <a:srgbClr val="12394D"/>
                </a:solidFill>
                <a:latin typeface="Cambria" pitchFamily="34" charset="0"/>
                <a:ea typeface="Cambria" pitchFamily="34" charset="-122"/>
                <a:cs typeface="Cambria" pitchFamily="34" charset="-120"/>
              </a:rPr>
              <a:t>MAC and cross-layer: where scheduling decides the trade-off</a:t>
            </a:r>
            <a:endParaRPr lang="en-US" sz="2800" dirty="0"/>
          </a:p>
        </p:txBody>
      </p:sp>
      <p:sp>
        <p:nvSpPr>
          <p:cNvPr id="4" name="Shape 2"/>
          <p:cNvSpPr/>
          <p:nvPr/>
        </p:nvSpPr>
        <p:spPr>
          <a:xfrm>
            <a:off x="640080" y="5577840"/>
            <a:ext cx="10881360" cy="502920"/>
          </a:xfrm>
          <a:prstGeom prst="roundRect">
            <a:avLst>
              <a:gd name="adj" fmla="val 10909"/>
            </a:avLst>
          </a:prstGeom>
          <a:solidFill>
            <a:srgbClr val="E6F4F2"/>
          </a:solidFill>
          <a:ln w="12700">
            <a:solidFill>
              <a:srgbClr val="E6F4F2"/>
            </a:solidFill>
            <a:prstDash val="solid"/>
          </a:ln>
        </p:spPr>
        <p:txBody>
          <a:bodyPr/>
          <a:lstStyle/>
          <a:p>
            <a:endParaRPr lang="en-US"/>
          </a:p>
        </p:txBody>
      </p:sp>
      <p:sp>
        <p:nvSpPr>
          <p:cNvPr id="5" name="Text 3"/>
          <p:cNvSpPr txBox="1"/>
          <p:nvPr/>
        </p:nvSpPr>
        <p:spPr>
          <a:xfrm>
            <a:off x="868680" y="5577840"/>
            <a:ext cx="10469880" cy="502920"/>
          </a:xfrm>
          <a:prstGeom prst="rect">
            <a:avLst/>
          </a:prstGeom>
          <a:noFill/>
          <a:ln/>
        </p:spPr>
        <p:txBody>
          <a:bodyPr wrap="square" lIns="0" tIns="0" rIns="0" bIns="0" rtlCol="0" anchor="ctr"/>
          <a:lstStyle/>
          <a:p>
            <a:pPr marL="0" indent="0">
              <a:buNone/>
            </a:pPr>
            <a:r>
              <a:rPr lang="en-US" sz="1350" b="1" dirty="0">
                <a:solidFill>
                  <a:srgbClr val="1A8A99"/>
                </a:solidFill>
                <a:latin typeface="Calibri" pitchFamily="34" charset="0"/>
                <a:ea typeface="Calibri" pitchFamily="34" charset="-122"/>
                <a:cs typeface="Calibri" pitchFamily="34" charset="-120"/>
              </a:rPr>
              <a:t>Takeaway  </a:t>
            </a:r>
            <a:r>
              <a:rPr lang="en-US" sz="1350" dirty="0">
                <a:solidFill>
                  <a:srgbClr val="12394D"/>
                </a:solidFill>
                <a:latin typeface="Calibri" pitchFamily="34" charset="0"/>
                <a:ea typeface="Calibri" pitchFamily="34" charset="-122"/>
                <a:cs typeface="Calibri" pitchFamily="34" charset="-120"/>
              </a:rPr>
              <a:t>Reliability is always paid for in latency, spectrum or eMBB throughput, so the trade-off must be optimised jointly.</a:t>
            </a:r>
            <a:endParaRPr lang="en-US" sz="1350" dirty="0"/>
          </a:p>
        </p:txBody>
      </p:sp>
      <p:sp>
        <p:nvSpPr>
          <p:cNvPr id="6" name="Text 4"/>
          <p:cNvSpPr txBox="1"/>
          <p:nvPr/>
        </p:nvSpPr>
        <p:spPr>
          <a:xfrm>
            <a:off x="640080" y="6355080"/>
            <a:ext cx="6400800" cy="274320"/>
          </a:xfrm>
          <a:prstGeom prst="rect">
            <a:avLst/>
          </a:prstGeom>
          <a:noFill/>
          <a:ln/>
        </p:spPr>
        <p:txBody>
          <a:bodyPr wrap="square" lIns="0" tIns="0" rIns="0" bIns="0" rtlCol="0" anchor="t"/>
          <a:lstStyle/>
          <a:p>
            <a:pPr marL="0" indent="0">
              <a:buNone/>
            </a:pPr>
            <a:r>
              <a:rPr lang="en-US" sz="1100" dirty="0">
                <a:solidFill>
                  <a:srgbClr val="5F7A8A"/>
                </a:solidFill>
                <a:latin typeface="Calibri" pitchFamily="34" charset="0"/>
                <a:ea typeface="Calibri" pitchFamily="34" charset="-122"/>
                <a:cs typeface="Calibri" pitchFamily="34" charset="-120"/>
              </a:rPr>
              <a:t>RS2M Department · Télécom SudParis · Palaiseau, France</a:t>
            </a:r>
            <a:endParaRPr lang="en-US" sz="1100" dirty="0"/>
          </a:p>
        </p:txBody>
      </p:sp>
      <p:sp>
        <p:nvSpPr>
          <p:cNvPr id="7" name="Text 5"/>
          <p:cNvSpPr txBox="1"/>
          <p:nvPr/>
        </p:nvSpPr>
        <p:spPr>
          <a:xfrm>
            <a:off x="11064240" y="6355080"/>
            <a:ext cx="457200" cy="274320"/>
          </a:xfrm>
          <a:prstGeom prst="rect">
            <a:avLst/>
          </a:prstGeom>
          <a:noFill/>
          <a:ln/>
        </p:spPr>
        <p:txBody>
          <a:bodyPr wrap="square" lIns="0" tIns="0" rIns="0" bIns="0" rtlCol="0" anchor="t"/>
          <a:lstStyle/>
          <a:p>
            <a:pPr marL="0" indent="0" algn="r">
              <a:buNone/>
            </a:pPr>
            <a:r>
              <a:rPr lang="fr-FR" sz="1100" dirty="0">
                <a:solidFill>
                  <a:srgbClr val="5F7A8A"/>
                </a:solidFill>
                <a:latin typeface="Calibri" pitchFamily="34" charset="0"/>
                <a:ea typeface="Calibri" pitchFamily="34" charset="-122"/>
                <a:cs typeface="Calibri" pitchFamily="34" charset="-120"/>
              </a:rPr>
              <a:t>1</a:t>
            </a:r>
            <a:r>
              <a:rPr lang="en-US" sz="1100" dirty="0">
                <a:solidFill>
                  <a:srgbClr val="5F7A8A"/>
                </a:solidFill>
                <a:latin typeface="Calibri" pitchFamily="34" charset="0"/>
                <a:ea typeface="Calibri" pitchFamily="34" charset="-122"/>
                <a:cs typeface="Calibri" pitchFamily="34" charset="-120"/>
              </a:rPr>
              <a:t>1</a:t>
            </a:r>
            <a:endParaRPr lang="en-US" sz="1100" dirty="0"/>
          </a:p>
        </p:txBody>
      </p:sp>
      <p:sp>
        <p:nvSpPr>
          <p:cNvPr id="8" name="Shape 6"/>
          <p:cNvSpPr/>
          <p:nvPr/>
        </p:nvSpPr>
        <p:spPr>
          <a:xfrm>
            <a:off x="657333" y="1737360"/>
            <a:ext cx="3474720" cy="3611880"/>
          </a:xfrm>
          <a:prstGeom prst="roundRect">
            <a:avLst>
              <a:gd name="adj" fmla="val 1579"/>
            </a:avLst>
          </a:prstGeom>
          <a:solidFill>
            <a:srgbClr val="F0F5F7"/>
          </a:solidFill>
          <a:ln w="12700">
            <a:solidFill>
              <a:srgbClr val="F0F5F7"/>
            </a:solidFill>
            <a:prstDash val="solid"/>
          </a:ln>
        </p:spPr>
        <p:txBody>
          <a:bodyPr/>
          <a:lstStyle/>
          <a:p>
            <a:endParaRPr lang="en-US"/>
          </a:p>
        </p:txBody>
      </p:sp>
      <p:sp>
        <p:nvSpPr>
          <p:cNvPr id="9" name="Text 7"/>
          <p:cNvSpPr txBox="1"/>
          <p:nvPr/>
        </p:nvSpPr>
        <p:spPr>
          <a:xfrm>
            <a:off x="914400" y="1920240"/>
            <a:ext cx="2926080" cy="274320"/>
          </a:xfrm>
          <a:prstGeom prst="rect">
            <a:avLst/>
          </a:prstGeom>
          <a:noFill/>
          <a:ln/>
        </p:spPr>
        <p:txBody>
          <a:bodyPr wrap="square" lIns="0" tIns="0" rIns="0" bIns="0" rtlCol="0" anchor="t"/>
          <a:lstStyle/>
          <a:p>
            <a:pPr marL="0" indent="0">
              <a:buNone/>
            </a:pPr>
            <a:r>
              <a:rPr lang="fr-FR" sz="1200" b="1" kern="0" spc="100" dirty="0">
                <a:solidFill>
                  <a:srgbClr val="1A8A99"/>
                </a:solidFill>
                <a:latin typeface="Calibri" pitchFamily="34" charset="0"/>
                <a:ea typeface="Calibri" pitchFamily="34" charset="-122"/>
                <a:cs typeface="Calibri" pitchFamily="34" charset="-120"/>
              </a:rPr>
              <a:t>S</a:t>
            </a:r>
            <a:r>
              <a:rPr lang="en-US" sz="1200" b="1" kern="0" spc="100" dirty="0">
                <a:solidFill>
                  <a:srgbClr val="1A8A99"/>
                </a:solidFill>
                <a:latin typeface="Calibri" pitchFamily="34" charset="0"/>
                <a:ea typeface="Calibri" pitchFamily="34" charset="-122"/>
                <a:cs typeface="Calibri" pitchFamily="34" charset="-120"/>
              </a:rPr>
              <a:t>CHEDULING</a:t>
            </a:r>
            <a:endParaRPr lang="en-US" sz="1200" dirty="0"/>
          </a:p>
        </p:txBody>
      </p:sp>
      <p:sp>
        <p:nvSpPr>
          <p:cNvPr id="11" name="Shape 9"/>
          <p:cNvSpPr/>
          <p:nvPr/>
        </p:nvSpPr>
        <p:spPr>
          <a:xfrm>
            <a:off x="4343400" y="1737360"/>
            <a:ext cx="3474720" cy="3611880"/>
          </a:xfrm>
          <a:prstGeom prst="roundRect">
            <a:avLst>
              <a:gd name="adj" fmla="val 1579"/>
            </a:avLst>
          </a:prstGeom>
          <a:solidFill>
            <a:srgbClr val="F0F5F7"/>
          </a:solidFill>
          <a:ln w="12700">
            <a:solidFill>
              <a:srgbClr val="F0F5F7"/>
            </a:solidFill>
            <a:prstDash val="solid"/>
          </a:ln>
        </p:spPr>
        <p:txBody>
          <a:bodyPr/>
          <a:lstStyle/>
          <a:p>
            <a:endParaRPr lang="en-US"/>
          </a:p>
        </p:txBody>
      </p:sp>
      <p:sp>
        <p:nvSpPr>
          <p:cNvPr id="12" name="Text 10"/>
          <p:cNvSpPr txBox="1"/>
          <p:nvPr/>
        </p:nvSpPr>
        <p:spPr>
          <a:xfrm>
            <a:off x="4617720" y="1920240"/>
            <a:ext cx="2926080" cy="274320"/>
          </a:xfrm>
          <a:prstGeom prst="rect">
            <a:avLst/>
          </a:prstGeom>
          <a:noFill/>
          <a:ln/>
        </p:spPr>
        <p:txBody>
          <a:bodyPr wrap="square" lIns="0" tIns="0" rIns="0" bIns="0" rtlCol="0" anchor="t"/>
          <a:lstStyle/>
          <a:p>
            <a:pPr marL="0" indent="0">
              <a:buNone/>
            </a:pPr>
            <a:r>
              <a:rPr lang="fr-FR" sz="1200" b="1" kern="0" spc="100" dirty="0">
                <a:solidFill>
                  <a:srgbClr val="1A8A99"/>
                </a:solidFill>
                <a:latin typeface="Calibri" pitchFamily="34" charset="0"/>
                <a:ea typeface="Calibri" pitchFamily="34" charset="-122"/>
                <a:cs typeface="Calibri" pitchFamily="34" charset="-120"/>
              </a:rPr>
              <a:t>A</a:t>
            </a:r>
            <a:r>
              <a:rPr lang="en-US" sz="1200" b="1" kern="0" spc="100" dirty="0">
                <a:solidFill>
                  <a:srgbClr val="1A8A99"/>
                </a:solidFill>
                <a:latin typeface="Calibri" pitchFamily="34" charset="0"/>
                <a:ea typeface="Calibri" pitchFamily="34" charset="-122"/>
                <a:cs typeface="Calibri" pitchFamily="34" charset="-120"/>
              </a:rPr>
              <a:t>CCESS AND CONNECTIVITY</a:t>
            </a:r>
            <a:endParaRPr lang="en-US" sz="1200" dirty="0"/>
          </a:p>
        </p:txBody>
      </p:sp>
      <p:sp>
        <p:nvSpPr>
          <p:cNvPr id="13" name="Text 11"/>
          <p:cNvSpPr txBox="1"/>
          <p:nvPr/>
        </p:nvSpPr>
        <p:spPr>
          <a:xfrm>
            <a:off x="4617720" y="2377440"/>
            <a:ext cx="2971800" cy="3474720"/>
          </a:xfrm>
          <a:prstGeom prst="rect">
            <a:avLst/>
          </a:prstGeom>
          <a:noFill/>
          <a:ln/>
        </p:spPr>
        <p:txBody>
          <a:bodyPr wrap="square" lIns="0" tIns="0" rIns="0" bIns="0" rtlCol="0" anchor="t"/>
          <a:lstStyle/>
          <a:p>
            <a:pPr marL="0" indent="0">
              <a:buNone/>
            </a:pPr>
            <a:r>
              <a:rPr lang="en-US" sz="1600" b="1" dirty="0">
                <a:solidFill>
                  <a:srgbClr val="12394D"/>
                </a:solidFill>
                <a:latin typeface="Calibri" pitchFamily="34" charset="0"/>
                <a:ea typeface="Calibri" pitchFamily="34" charset="-122"/>
                <a:cs typeface="Calibri" pitchFamily="34" charset="-120"/>
              </a:rPr>
              <a:t>Grant-free access, SPS</a:t>
            </a:r>
            <a:endParaRPr lang="en-US" sz="1600" dirty="0"/>
          </a:p>
          <a:p>
            <a:pPr marL="0" indent="0">
              <a:spcAft>
                <a:spcPts val="2200"/>
              </a:spcAft>
              <a:buNone/>
            </a:pPr>
            <a:r>
              <a:rPr lang="en-US" sz="1400" dirty="0">
                <a:solidFill>
                  <a:srgbClr val="5F7A8A"/>
                </a:solidFill>
                <a:latin typeface="Calibri" pitchFamily="34" charset="0"/>
                <a:ea typeface="Calibri" pitchFamily="34" charset="-122"/>
                <a:cs typeface="Calibri" pitchFamily="34" charset="-120"/>
              </a:rPr>
              <a:t>No handshake, but waste on sporadic traffic</a:t>
            </a:r>
            <a:endParaRPr lang="en-US" sz="1600" dirty="0"/>
          </a:p>
          <a:p>
            <a:pPr marL="0" indent="0">
              <a:buNone/>
            </a:pPr>
            <a:r>
              <a:rPr lang="en-US" sz="1600" b="1" dirty="0">
                <a:solidFill>
                  <a:srgbClr val="12394D"/>
                </a:solidFill>
                <a:latin typeface="Calibri" pitchFamily="34" charset="0"/>
                <a:ea typeface="Calibri" pitchFamily="34" charset="-122"/>
                <a:cs typeface="Calibri" pitchFamily="34" charset="-120"/>
              </a:rPr>
              <a:t>Preemptive scheduling</a:t>
            </a:r>
            <a:endParaRPr lang="en-US" sz="1600" dirty="0"/>
          </a:p>
          <a:p>
            <a:pPr marL="0" indent="0">
              <a:spcAft>
                <a:spcPts val="2200"/>
              </a:spcAft>
              <a:buNone/>
            </a:pPr>
            <a:r>
              <a:rPr lang="en-US" sz="1400" dirty="0">
                <a:solidFill>
                  <a:srgbClr val="5F7A8A"/>
                </a:solidFill>
                <a:latin typeface="Calibri" pitchFamily="34" charset="0"/>
                <a:ea typeface="Calibri" pitchFamily="34" charset="-122"/>
                <a:cs typeface="Calibri" pitchFamily="34" charset="-120"/>
              </a:rPr>
              <a:t>URLLC served at once, eMBB pays</a:t>
            </a:r>
            <a:endParaRPr lang="en-US" sz="1600" dirty="0"/>
          </a:p>
          <a:p>
            <a:pPr marL="0" indent="0">
              <a:buNone/>
            </a:pPr>
            <a:r>
              <a:rPr lang="en-US" sz="1600" b="1" dirty="0">
                <a:solidFill>
                  <a:srgbClr val="12394D"/>
                </a:solidFill>
                <a:latin typeface="Calibri" pitchFamily="34" charset="0"/>
                <a:ea typeface="Calibri" pitchFamily="34" charset="-122"/>
                <a:cs typeface="Calibri" pitchFamily="34" charset="-120"/>
              </a:rPr>
              <a:t>Multi-connectivity</a:t>
            </a:r>
            <a:endParaRPr lang="en-US" sz="1600" dirty="0"/>
          </a:p>
          <a:p>
            <a:pPr marL="0" indent="0">
              <a:spcAft>
                <a:spcPts val="2200"/>
              </a:spcAft>
              <a:buNone/>
            </a:pPr>
            <a:r>
              <a:rPr lang="en-US" sz="1400" dirty="0">
                <a:solidFill>
                  <a:srgbClr val="5F7A8A"/>
                </a:solidFill>
                <a:latin typeface="Calibri" pitchFamily="34" charset="0"/>
                <a:ea typeface="Calibri" pitchFamily="34" charset="-122"/>
                <a:cs typeface="Calibri" pitchFamily="34" charset="-120"/>
              </a:rPr>
              <a:t>&gt;10× better outage for ~2× resources</a:t>
            </a:r>
            <a:endParaRPr lang="en-US" sz="1600" dirty="0"/>
          </a:p>
        </p:txBody>
      </p:sp>
      <p:sp>
        <p:nvSpPr>
          <p:cNvPr id="14" name="Shape 12"/>
          <p:cNvSpPr/>
          <p:nvPr/>
        </p:nvSpPr>
        <p:spPr>
          <a:xfrm>
            <a:off x="8046720" y="1737360"/>
            <a:ext cx="3474720" cy="3611880"/>
          </a:xfrm>
          <a:prstGeom prst="roundRect">
            <a:avLst>
              <a:gd name="adj" fmla="val 1579"/>
            </a:avLst>
          </a:prstGeom>
          <a:solidFill>
            <a:srgbClr val="F0F5F7"/>
          </a:solidFill>
          <a:ln w="12700">
            <a:solidFill>
              <a:srgbClr val="F0F5F7"/>
            </a:solidFill>
            <a:prstDash val="solid"/>
          </a:ln>
        </p:spPr>
        <p:txBody>
          <a:bodyPr/>
          <a:lstStyle/>
          <a:p>
            <a:endParaRPr lang="en-US"/>
          </a:p>
        </p:txBody>
      </p:sp>
      <p:sp>
        <p:nvSpPr>
          <p:cNvPr id="15" name="Text 13"/>
          <p:cNvSpPr txBox="1"/>
          <p:nvPr/>
        </p:nvSpPr>
        <p:spPr>
          <a:xfrm>
            <a:off x="8321040" y="1920240"/>
            <a:ext cx="2926080" cy="274320"/>
          </a:xfrm>
          <a:prstGeom prst="rect">
            <a:avLst/>
          </a:prstGeom>
          <a:noFill/>
          <a:ln/>
        </p:spPr>
        <p:txBody>
          <a:bodyPr wrap="square" lIns="0" tIns="0" rIns="0" bIns="0" rtlCol="0" anchor="t"/>
          <a:lstStyle/>
          <a:p>
            <a:pPr marL="0" indent="0">
              <a:buNone/>
            </a:pPr>
            <a:r>
              <a:rPr lang="en-US" sz="1200" b="1" kern="0" spc="100" dirty="0">
                <a:solidFill>
                  <a:srgbClr val="1A8A99"/>
                </a:solidFill>
                <a:latin typeface="Calibri" pitchFamily="34" charset="0"/>
                <a:ea typeface="Calibri" pitchFamily="34" charset="-122"/>
                <a:cs typeface="Calibri" pitchFamily="34" charset="-120"/>
              </a:rPr>
              <a:t>CROSS-LAYER</a:t>
            </a:r>
            <a:endParaRPr lang="en-US" sz="1200" dirty="0"/>
          </a:p>
        </p:txBody>
      </p:sp>
      <p:sp>
        <p:nvSpPr>
          <p:cNvPr id="16" name="Text 14"/>
          <p:cNvSpPr txBox="1"/>
          <p:nvPr/>
        </p:nvSpPr>
        <p:spPr>
          <a:xfrm>
            <a:off x="8321040" y="2377440"/>
            <a:ext cx="2971800" cy="3474720"/>
          </a:xfrm>
          <a:prstGeom prst="rect">
            <a:avLst/>
          </a:prstGeom>
          <a:noFill/>
          <a:ln/>
        </p:spPr>
        <p:txBody>
          <a:bodyPr wrap="square" lIns="0" tIns="0" rIns="0" bIns="0" rtlCol="0" anchor="t"/>
          <a:lstStyle/>
          <a:p>
            <a:pPr marL="0" indent="0">
              <a:buNone/>
            </a:pPr>
            <a:r>
              <a:rPr lang="en-US" sz="1600" b="1" dirty="0">
                <a:solidFill>
                  <a:srgbClr val="12394D"/>
                </a:solidFill>
                <a:latin typeface="Calibri" pitchFamily="34" charset="0"/>
                <a:ea typeface="Calibri" pitchFamily="34" charset="-122"/>
                <a:cs typeface="Calibri" pitchFamily="34" charset="-120"/>
              </a:rPr>
              <a:t>HARQ</a:t>
            </a:r>
            <a:endParaRPr lang="en-US" sz="1600" dirty="0"/>
          </a:p>
          <a:p>
            <a:pPr marL="0" indent="0">
              <a:spcAft>
                <a:spcPts val="2200"/>
              </a:spcAft>
              <a:buNone/>
            </a:pPr>
            <a:r>
              <a:rPr lang="en-US" sz="1400" dirty="0">
                <a:solidFill>
                  <a:srgbClr val="5F7A8A"/>
                </a:solidFill>
                <a:latin typeface="Calibri" pitchFamily="34" charset="0"/>
                <a:ea typeface="Calibri" pitchFamily="34" charset="-122"/>
                <a:cs typeface="Calibri" pitchFamily="34" charset="-120"/>
              </a:rPr>
              <a:t>Only 1 retransmission fits in 1 ms</a:t>
            </a:r>
            <a:endParaRPr lang="en-US" sz="1600" dirty="0"/>
          </a:p>
          <a:p>
            <a:pPr marL="0" indent="0">
              <a:buNone/>
            </a:pPr>
            <a:r>
              <a:rPr lang="en-US" sz="1600" b="1" dirty="0">
                <a:solidFill>
                  <a:srgbClr val="12394D"/>
                </a:solidFill>
                <a:latin typeface="Calibri" pitchFamily="34" charset="0"/>
                <a:ea typeface="Calibri" pitchFamily="34" charset="-122"/>
                <a:cs typeface="Calibri" pitchFamily="34" charset="-120"/>
              </a:rPr>
              <a:t>Proactive packet dropping</a:t>
            </a:r>
            <a:endParaRPr lang="en-US" sz="1600" dirty="0"/>
          </a:p>
          <a:p>
            <a:pPr>
              <a:spcAft>
                <a:spcPts val="1400"/>
              </a:spcAft>
            </a:pPr>
            <a:r>
              <a:rPr lang="en-US" sz="1400" dirty="0">
                <a:solidFill>
                  <a:srgbClr val="5F7A8A"/>
                </a:solidFill>
                <a:latin typeface="Calibri" pitchFamily="34" charset="0"/>
                <a:ea typeface="Calibri" pitchFamily="34" charset="-122"/>
                <a:cs typeface="Calibri" pitchFamily="34" charset="-120"/>
              </a:rPr>
              <a:t>Keeps power finite when the deadline is below the coherence time</a:t>
            </a:r>
            <a:endParaRPr lang="en-US" sz="1600" dirty="0"/>
          </a:p>
          <a:p>
            <a:pPr marL="0" indent="0">
              <a:buNone/>
            </a:pPr>
            <a:r>
              <a:rPr lang="en-US" sz="1600" b="1" dirty="0">
                <a:solidFill>
                  <a:srgbClr val="12394D"/>
                </a:solidFill>
                <a:latin typeface="Calibri" pitchFamily="34" charset="0"/>
                <a:ea typeface="Calibri" pitchFamily="34" charset="-122"/>
                <a:cs typeface="Calibri" pitchFamily="34" charset="-120"/>
              </a:rPr>
              <a:t>Queue + CSI-aware allocation</a:t>
            </a:r>
            <a:endParaRPr lang="en-US" sz="1600" dirty="0"/>
          </a:p>
          <a:p>
            <a:pPr marL="0" indent="0">
              <a:spcAft>
                <a:spcPts val="2200"/>
              </a:spcAft>
              <a:buNone/>
            </a:pPr>
            <a:r>
              <a:rPr lang="en-US" sz="1400" dirty="0">
                <a:solidFill>
                  <a:srgbClr val="5F7A8A"/>
                </a:solidFill>
                <a:latin typeface="Calibri" pitchFamily="34" charset="0"/>
                <a:ea typeface="Calibri" pitchFamily="34" charset="-122"/>
                <a:cs typeface="Calibri" pitchFamily="34" charset="-120"/>
              </a:rPr>
              <a:t>Joint models, high complexity</a:t>
            </a:r>
            <a:endParaRPr lang="en-US" sz="1600" dirty="0"/>
          </a:p>
        </p:txBody>
      </p:sp>
      <p:sp>
        <p:nvSpPr>
          <p:cNvPr id="18" name="Text 8">
            <a:extLst>
              <a:ext uri="{FF2B5EF4-FFF2-40B4-BE49-F238E27FC236}">
                <a16:creationId xmlns:a16="http://schemas.microsoft.com/office/drawing/2014/main" id="{E200FA3A-60DB-EDDE-2FE5-93F9FFBC3755}"/>
              </a:ext>
            </a:extLst>
          </p:cNvPr>
          <p:cNvSpPr txBox="1"/>
          <p:nvPr/>
        </p:nvSpPr>
        <p:spPr>
          <a:xfrm>
            <a:off x="914400" y="2468880"/>
            <a:ext cx="2971800" cy="3108960"/>
          </a:xfrm>
          <a:prstGeom prst="rect">
            <a:avLst/>
          </a:prstGeom>
          <a:noFill/>
          <a:ln/>
        </p:spPr>
        <p:txBody>
          <a:bodyPr wrap="square" lIns="0" tIns="0" rIns="0" bIns="0" rtlCol="0" anchor="t"/>
          <a:lstStyle/>
          <a:p>
            <a:pPr marL="0" indent="0">
              <a:buNone/>
            </a:pPr>
            <a:r>
              <a:rPr lang="en-US" sz="1600" b="1" dirty="0">
                <a:solidFill>
                  <a:srgbClr val="12394D"/>
                </a:solidFill>
                <a:latin typeface="Calibri" pitchFamily="34" charset="0"/>
                <a:ea typeface="Calibri" pitchFamily="34" charset="-122"/>
                <a:cs typeface="Calibri" pitchFamily="34" charset="-120"/>
              </a:rPr>
              <a:t>eMBB on slots, URLLC on mini-slots</a:t>
            </a:r>
          </a:p>
          <a:p>
            <a:pPr marL="0" indent="0">
              <a:spcAft>
                <a:spcPts val="1400"/>
              </a:spcAft>
              <a:buNone/>
            </a:pPr>
            <a:r>
              <a:rPr lang="en-US" sz="1400" dirty="0">
                <a:solidFill>
                  <a:srgbClr val="5F7A8A"/>
                </a:solidFill>
                <a:latin typeface="Calibri" pitchFamily="34" charset="0"/>
                <a:ea typeface="Calibri" pitchFamily="34" charset="-122"/>
                <a:cs typeface="Calibri" pitchFamily="34" charset="-120"/>
              </a:rPr>
              <a:t>1 ms slots vs 0.125 ms mini-slots</a:t>
            </a:r>
            <a:endParaRPr lang="en-US" sz="1400" dirty="0"/>
          </a:p>
          <a:p>
            <a:pPr marL="0" indent="0">
              <a:buNone/>
            </a:pPr>
            <a:endParaRPr lang="en-US" sz="1600" b="1" dirty="0">
              <a:solidFill>
                <a:srgbClr val="12394D"/>
              </a:solidFill>
              <a:latin typeface="Calibri" pitchFamily="34" charset="0"/>
              <a:ea typeface="Calibri" pitchFamily="34" charset="-122"/>
              <a:cs typeface="Calibri" pitchFamily="34" charset="-120"/>
            </a:endParaRPr>
          </a:p>
          <a:p>
            <a:pPr marL="0" indent="0">
              <a:buNone/>
            </a:pPr>
            <a:r>
              <a:rPr lang="en-US" sz="1600" b="1" dirty="0">
                <a:solidFill>
                  <a:srgbClr val="12394D"/>
                </a:solidFill>
                <a:latin typeface="Calibri" pitchFamily="34" charset="0"/>
                <a:ea typeface="Calibri" pitchFamily="34" charset="-122"/>
                <a:cs typeface="Calibri" pitchFamily="34" charset="-120"/>
              </a:rPr>
              <a:t>Puncturing loss models</a:t>
            </a:r>
          </a:p>
          <a:p>
            <a:pPr marL="0" indent="0">
              <a:spcAft>
                <a:spcPts val="1400"/>
              </a:spcAft>
              <a:buNone/>
            </a:pPr>
            <a:r>
              <a:rPr lang="en-US" sz="1400" dirty="0">
                <a:solidFill>
                  <a:srgbClr val="5F7A8A"/>
                </a:solidFill>
                <a:latin typeface="Calibri" pitchFamily="34" charset="0"/>
                <a:ea typeface="Calibri" pitchFamily="34" charset="-122"/>
                <a:cs typeface="Calibri" pitchFamily="34" charset="-120"/>
              </a:rPr>
              <a:t>Linear, convex or threshold</a:t>
            </a:r>
            <a:endParaRPr lang="en-US" sz="1400" dirty="0"/>
          </a:p>
          <a:p>
            <a:pPr marL="0" indent="0">
              <a:buNone/>
            </a:pPr>
            <a:r>
              <a:rPr lang="en-US" sz="1600" b="1" dirty="0">
                <a:solidFill>
                  <a:srgbClr val="12394D"/>
                </a:solidFill>
                <a:latin typeface="Calibri" pitchFamily="34" charset="0"/>
                <a:ea typeface="Calibri" pitchFamily="34" charset="-122"/>
                <a:cs typeface="Calibri" pitchFamily="34" charset="-120"/>
              </a:rPr>
              <a:t>LTE schedulers fall short</a:t>
            </a:r>
            <a:endParaRPr lang="en-US" sz="1600" dirty="0"/>
          </a:p>
          <a:p>
            <a:pPr marL="0" indent="0">
              <a:spcAft>
                <a:spcPts val="1400"/>
              </a:spcAft>
              <a:buNone/>
            </a:pPr>
            <a:r>
              <a:rPr lang="en-US" sz="1400" dirty="0">
                <a:solidFill>
                  <a:srgbClr val="5F7A8A"/>
                </a:solidFill>
                <a:latin typeface="Calibri" pitchFamily="34" charset="0"/>
                <a:ea typeface="Calibri" pitchFamily="34" charset="-122"/>
                <a:cs typeface="Calibri" pitchFamily="34" charset="-120"/>
              </a:rPr>
              <a:t>M-LWDF, EXP/PF, FLS react too coarsely to deadlines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320040"/>
          </a:xfrm>
          <a:prstGeom prst="rect">
            <a:avLst/>
          </a:prstGeom>
          <a:noFill/>
          <a:ln/>
        </p:spPr>
        <p:txBody>
          <a:bodyPr wrap="square" lIns="0" tIns="0" rIns="0" bIns="0" rtlCol="0" anchor="t"/>
          <a:lstStyle/>
          <a:p>
            <a:pPr marL="0" indent="0">
              <a:buNone/>
            </a:pPr>
            <a:r>
              <a:rPr lang="en-US" sz="1400" b="1" kern="0" spc="200" dirty="0">
                <a:solidFill>
                  <a:srgbClr val="2BB3A3"/>
                </a:solidFill>
                <a:latin typeface="Calibri" pitchFamily="34" charset="0"/>
                <a:ea typeface="Calibri" pitchFamily="34" charset="-122"/>
                <a:cs typeface="Calibri" pitchFamily="34" charset="-120"/>
              </a:rPr>
              <a:t>Survey 1 · Haque et al. · 5G URLLC &amp; 6G era</a:t>
            </a:r>
            <a:endParaRPr lang="en-US" sz="1400" dirty="0"/>
          </a:p>
        </p:txBody>
      </p:sp>
      <p:sp>
        <p:nvSpPr>
          <p:cNvPr id="3" name="Text 1"/>
          <p:cNvSpPr txBox="1"/>
          <p:nvPr/>
        </p:nvSpPr>
        <p:spPr>
          <a:xfrm>
            <a:off x="640080" y="786384"/>
            <a:ext cx="10881360" cy="640080"/>
          </a:xfrm>
          <a:prstGeom prst="rect">
            <a:avLst/>
          </a:prstGeom>
          <a:noFill/>
          <a:ln/>
        </p:spPr>
        <p:txBody>
          <a:bodyPr wrap="square" lIns="0" tIns="0" rIns="0" bIns="0" rtlCol="0" anchor="t">
            <a:normAutofit/>
          </a:bodyPr>
          <a:lstStyle/>
          <a:p>
            <a:pPr marL="0" indent="0">
              <a:buNone/>
            </a:pPr>
            <a:r>
              <a:rPr lang="en-US" sz="2700" b="1" dirty="0">
                <a:solidFill>
                  <a:srgbClr val="12394D"/>
                </a:solidFill>
                <a:latin typeface="Cambria" pitchFamily="34" charset="0"/>
                <a:ea typeface="Cambria" pitchFamily="34" charset="-122"/>
                <a:cs typeface="Cambria" pitchFamily="34" charset="-120"/>
              </a:rPr>
              <a:t>ML for URLLC: predictive, constrained, but online</a:t>
            </a:r>
            <a:endParaRPr lang="en-US" sz="2700" dirty="0"/>
          </a:p>
        </p:txBody>
      </p:sp>
      <p:sp>
        <p:nvSpPr>
          <p:cNvPr id="4" name="Shape 2"/>
          <p:cNvSpPr/>
          <p:nvPr/>
        </p:nvSpPr>
        <p:spPr>
          <a:xfrm>
            <a:off x="640080" y="5596128"/>
            <a:ext cx="10881360" cy="502920"/>
          </a:xfrm>
          <a:prstGeom prst="roundRect">
            <a:avLst>
              <a:gd name="adj" fmla="val 10909"/>
            </a:avLst>
          </a:prstGeom>
          <a:solidFill>
            <a:srgbClr val="E6F4F2"/>
          </a:solidFill>
          <a:ln w="12700">
            <a:solidFill>
              <a:srgbClr val="E6F4F2"/>
            </a:solidFill>
            <a:prstDash val="solid"/>
          </a:ln>
        </p:spPr>
        <p:txBody>
          <a:bodyPr/>
          <a:lstStyle/>
          <a:p>
            <a:endParaRPr lang="en-US"/>
          </a:p>
        </p:txBody>
      </p:sp>
      <p:sp>
        <p:nvSpPr>
          <p:cNvPr id="5" name="Text 3"/>
          <p:cNvSpPr txBox="1"/>
          <p:nvPr/>
        </p:nvSpPr>
        <p:spPr>
          <a:xfrm>
            <a:off x="868680" y="5596128"/>
            <a:ext cx="10469880" cy="502920"/>
          </a:xfrm>
          <a:prstGeom prst="rect">
            <a:avLst/>
          </a:prstGeom>
          <a:noFill/>
          <a:ln/>
        </p:spPr>
        <p:txBody>
          <a:bodyPr wrap="square" lIns="0" tIns="0" rIns="0" bIns="0" rtlCol="0" anchor="ctr"/>
          <a:lstStyle/>
          <a:p>
            <a:pPr marL="0" indent="0">
              <a:buNone/>
            </a:pPr>
            <a:r>
              <a:rPr lang="en-US" sz="1400" b="1" dirty="0">
                <a:solidFill>
                  <a:srgbClr val="1A8A99"/>
                </a:solidFill>
                <a:latin typeface="Calibri" pitchFamily="34" charset="0"/>
                <a:ea typeface="Calibri" pitchFamily="34" charset="-122"/>
                <a:cs typeface="Calibri" pitchFamily="34" charset="-120"/>
              </a:rPr>
              <a:t>Takeaway  </a:t>
            </a:r>
            <a:r>
              <a:rPr lang="en-US" sz="1400" dirty="0">
                <a:solidFill>
                  <a:srgbClr val="12394D"/>
                </a:solidFill>
                <a:latin typeface="Calibri" pitchFamily="34" charset="0"/>
                <a:ea typeface="Calibri" pitchFamily="34" charset="-122"/>
                <a:cs typeface="Calibri" pitchFamily="34" charset="-120"/>
              </a:rPr>
              <a:t>Every RL work in this survey learns online, in simulation: none learns from network logs.</a:t>
            </a:r>
            <a:endParaRPr lang="en-US" sz="1400" dirty="0"/>
          </a:p>
        </p:txBody>
      </p:sp>
      <p:sp>
        <p:nvSpPr>
          <p:cNvPr id="6" name="Text 4"/>
          <p:cNvSpPr txBox="1"/>
          <p:nvPr/>
        </p:nvSpPr>
        <p:spPr>
          <a:xfrm>
            <a:off x="640080" y="6355080"/>
            <a:ext cx="6400800" cy="274320"/>
          </a:xfrm>
          <a:prstGeom prst="rect">
            <a:avLst/>
          </a:prstGeom>
          <a:noFill/>
          <a:ln/>
        </p:spPr>
        <p:txBody>
          <a:bodyPr wrap="square" lIns="0" tIns="0" rIns="0" bIns="0" rtlCol="0" anchor="t"/>
          <a:lstStyle/>
          <a:p>
            <a:pPr marL="0" indent="0">
              <a:buNone/>
            </a:pPr>
            <a:r>
              <a:rPr lang="en-US" sz="1100" dirty="0">
                <a:solidFill>
                  <a:srgbClr val="5F7A8A"/>
                </a:solidFill>
                <a:latin typeface="Calibri" pitchFamily="34" charset="0"/>
                <a:ea typeface="Calibri" pitchFamily="34" charset="-122"/>
                <a:cs typeface="Calibri" pitchFamily="34" charset="-120"/>
              </a:rPr>
              <a:t>RS2M Department · Télécom SudParis · Palaiseau, France</a:t>
            </a:r>
            <a:endParaRPr lang="en-US" sz="1100" dirty="0"/>
          </a:p>
        </p:txBody>
      </p:sp>
      <p:sp>
        <p:nvSpPr>
          <p:cNvPr id="7" name="Text 5"/>
          <p:cNvSpPr txBox="1"/>
          <p:nvPr/>
        </p:nvSpPr>
        <p:spPr>
          <a:xfrm>
            <a:off x="11064240" y="6355080"/>
            <a:ext cx="457200" cy="274320"/>
          </a:xfrm>
          <a:prstGeom prst="rect">
            <a:avLst/>
          </a:prstGeom>
          <a:noFill/>
          <a:ln/>
        </p:spPr>
        <p:txBody>
          <a:bodyPr wrap="square" lIns="0" tIns="0" rIns="0" bIns="0" rtlCol="0" anchor="t"/>
          <a:lstStyle/>
          <a:p>
            <a:pPr marL="0" indent="0" algn="r">
              <a:buNone/>
            </a:pPr>
            <a:r>
              <a:rPr lang="en-US" sz="1100" dirty="0">
                <a:solidFill>
                  <a:srgbClr val="5F7A8A"/>
                </a:solidFill>
                <a:latin typeface="Calibri" pitchFamily="34" charset="0"/>
                <a:ea typeface="Calibri" pitchFamily="34" charset="-122"/>
                <a:cs typeface="Calibri" pitchFamily="34" charset="-120"/>
              </a:rPr>
              <a:t>12</a:t>
            </a:r>
            <a:endParaRPr lang="en-US" sz="1100" dirty="0"/>
          </a:p>
        </p:txBody>
      </p:sp>
      <p:sp>
        <p:nvSpPr>
          <p:cNvPr id="9" name="Shape 6"/>
          <p:cNvSpPr/>
          <p:nvPr/>
        </p:nvSpPr>
        <p:spPr>
          <a:xfrm>
            <a:off x="640080" y="1691640"/>
            <a:ext cx="384048" cy="384048"/>
          </a:xfrm>
          <a:prstGeom prst="ellipse">
            <a:avLst/>
          </a:prstGeom>
          <a:solidFill>
            <a:srgbClr val="1A8A99"/>
          </a:solidFill>
          <a:ln w="12700">
            <a:solidFill>
              <a:srgbClr val="1A8A99"/>
            </a:solidFill>
            <a:prstDash val="solid"/>
          </a:ln>
        </p:spPr>
        <p:txBody>
          <a:bodyPr/>
          <a:lstStyle/>
          <a:p>
            <a:endParaRPr lang="en-US"/>
          </a:p>
        </p:txBody>
      </p:sp>
      <p:sp>
        <p:nvSpPr>
          <p:cNvPr id="10" name="Text 7"/>
          <p:cNvSpPr txBox="1"/>
          <p:nvPr/>
        </p:nvSpPr>
        <p:spPr>
          <a:xfrm>
            <a:off x="640080" y="169164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1" name="Text 8"/>
          <p:cNvSpPr txBox="1"/>
          <p:nvPr/>
        </p:nvSpPr>
        <p:spPr>
          <a:xfrm>
            <a:off x="1188720" y="1664208"/>
            <a:ext cx="5852160" cy="941832"/>
          </a:xfrm>
          <a:prstGeom prst="rect">
            <a:avLst/>
          </a:prstGeom>
          <a:noFill/>
          <a:ln/>
        </p:spPr>
        <p:txBody>
          <a:bodyPr wrap="square" lIns="0" tIns="0" rIns="0" bIns="0" rtlCol="0" anchor="t"/>
          <a:lstStyle/>
          <a:p>
            <a:pPr marL="0" indent="0">
              <a:buNone/>
            </a:pPr>
            <a:r>
              <a:rPr lang="en-US" sz="1450" b="1" dirty="0">
                <a:solidFill>
                  <a:srgbClr val="12394D"/>
                </a:solidFill>
                <a:latin typeface="Calibri" pitchFamily="34" charset="0"/>
                <a:ea typeface="Calibri" pitchFamily="34" charset="-122"/>
                <a:cs typeface="Calibri" pitchFamily="34" charset="-120"/>
              </a:rPr>
              <a:t>Supervised: predict before it happens</a:t>
            </a:r>
            <a:endParaRPr lang="en-US" sz="1450" dirty="0"/>
          </a:p>
          <a:p>
            <a:pPr marL="0" indent="0">
              <a:spcAft>
                <a:spcPts val="1000"/>
              </a:spcAft>
              <a:buNone/>
            </a:pPr>
            <a:r>
              <a:rPr lang="en-US" sz="1250" dirty="0">
                <a:solidFill>
                  <a:srgbClr val="5F7A8A"/>
                </a:solidFill>
                <a:latin typeface="Calibri" pitchFamily="34" charset="0"/>
                <a:ea typeface="Calibri" pitchFamily="34" charset="-122"/>
                <a:cs typeface="Calibri" pitchFamily="34" charset="-120"/>
              </a:rPr>
              <a:t>Early HARQ (predict decoding failure), random-forest TTI selection, XGBoost forecasts of URLLC arrivals for proactive scheduling</a:t>
            </a:r>
            <a:endParaRPr lang="en-US" sz="1450" dirty="0"/>
          </a:p>
        </p:txBody>
      </p:sp>
      <p:sp>
        <p:nvSpPr>
          <p:cNvPr id="12" name="Shape 9"/>
          <p:cNvSpPr/>
          <p:nvPr/>
        </p:nvSpPr>
        <p:spPr>
          <a:xfrm>
            <a:off x="640080" y="2633472"/>
            <a:ext cx="384048" cy="384048"/>
          </a:xfrm>
          <a:prstGeom prst="ellipse">
            <a:avLst/>
          </a:prstGeom>
          <a:solidFill>
            <a:srgbClr val="1A8A99"/>
          </a:solidFill>
          <a:ln w="12700">
            <a:solidFill>
              <a:srgbClr val="1A8A99"/>
            </a:solidFill>
            <a:prstDash val="solid"/>
          </a:ln>
        </p:spPr>
        <p:txBody>
          <a:bodyPr/>
          <a:lstStyle/>
          <a:p>
            <a:endParaRPr lang="en-US"/>
          </a:p>
        </p:txBody>
      </p:sp>
      <p:sp>
        <p:nvSpPr>
          <p:cNvPr id="13" name="Text 10"/>
          <p:cNvSpPr txBox="1"/>
          <p:nvPr/>
        </p:nvSpPr>
        <p:spPr>
          <a:xfrm>
            <a:off x="640080" y="263347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4" name="Text 11"/>
          <p:cNvSpPr txBox="1"/>
          <p:nvPr/>
        </p:nvSpPr>
        <p:spPr>
          <a:xfrm>
            <a:off x="1188720" y="2606040"/>
            <a:ext cx="5852160" cy="941832"/>
          </a:xfrm>
          <a:prstGeom prst="rect">
            <a:avLst/>
          </a:prstGeom>
          <a:noFill/>
          <a:ln/>
        </p:spPr>
        <p:txBody>
          <a:bodyPr wrap="square" lIns="0" tIns="0" rIns="0" bIns="0" rtlCol="0" anchor="t"/>
          <a:lstStyle/>
          <a:p>
            <a:pPr marL="0" indent="0">
              <a:buNone/>
            </a:pPr>
            <a:r>
              <a:rPr lang="en-US" sz="1450" b="1" dirty="0">
                <a:solidFill>
                  <a:srgbClr val="12394D"/>
                </a:solidFill>
                <a:latin typeface="Calibri" pitchFamily="34" charset="0"/>
                <a:ea typeface="Calibri" pitchFamily="34" charset="-122"/>
                <a:cs typeface="Calibri" pitchFamily="34" charset="-120"/>
              </a:rPr>
              <a:t>Unsupervised: learn constrained allocations</a:t>
            </a:r>
            <a:endParaRPr lang="en-US" sz="1450" dirty="0"/>
          </a:p>
          <a:p>
            <a:pPr marL="0" indent="0">
              <a:spcAft>
                <a:spcPts val="1000"/>
              </a:spcAft>
              <a:buNone/>
            </a:pPr>
            <a:r>
              <a:rPr lang="en-US" sz="1250" dirty="0">
                <a:solidFill>
                  <a:srgbClr val="5F7A8A"/>
                </a:solidFill>
                <a:latin typeface="Calibri" pitchFamily="34" charset="0"/>
                <a:ea typeface="Calibri" pitchFamily="34" charset="-122"/>
                <a:cs typeface="Calibri" pitchFamily="34" charset="-120"/>
              </a:rPr>
              <a:t>DNN trained primal-dual to learn Lagrange multipliers for power and bandwidth; k-means access control</a:t>
            </a:r>
            <a:endParaRPr lang="en-US" sz="1450" dirty="0"/>
          </a:p>
        </p:txBody>
      </p:sp>
      <p:sp>
        <p:nvSpPr>
          <p:cNvPr id="15" name="Shape 12"/>
          <p:cNvSpPr/>
          <p:nvPr/>
        </p:nvSpPr>
        <p:spPr>
          <a:xfrm>
            <a:off x="640080" y="3575304"/>
            <a:ext cx="384048" cy="384048"/>
          </a:xfrm>
          <a:prstGeom prst="ellipse">
            <a:avLst/>
          </a:prstGeom>
          <a:solidFill>
            <a:srgbClr val="1A8A99"/>
          </a:solidFill>
          <a:ln w="12700">
            <a:solidFill>
              <a:srgbClr val="1A8A99"/>
            </a:solidFill>
            <a:prstDash val="solid"/>
          </a:ln>
        </p:spPr>
        <p:txBody>
          <a:bodyPr/>
          <a:lstStyle/>
          <a:p>
            <a:endParaRPr lang="en-US"/>
          </a:p>
        </p:txBody>
      </p:sp>
      <p:sp>
        <p:nvSpPr>
          <p:cNvPr id="16" name="Text 13"/>
          <p:cNvSpPr txBox="1"/>
          <p:nvPr/>
        </p:nvSpPr>
        <p:spPr>
          <a:xfrm>
            <a:off x="640080" y="357530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7" name="Text 14"/>
          <p:cNvSpPr txBox="1"/>
          <p:nvPr/>
        </p:nvSpPr>
        <p:spPr>
          <a:xfrm>
            <a:off x="1188720" y="3547872"/>
            <a:ext cx="5852160" cy="941832"/>
          </a:xfrm>
          <a:prstGeom prst="rect">
            <a:avLst/>
          </a:prstGeom>
          <a:noFill/>
          <a:ln/>
        </p:spPr>
        <p:txBody>
          <a:bodyPr wrap="square" lIns="0" tIns="0" rIns="0" bIns="0" rtlCol="0" anchor="t"/>
          <a:lstStyle/>
          <a:p>
            <a:pPr marL="0" indent="0">
              <a:buNone/>
            </a:pPr>
            <a:r>
              <a:rPr lang="en-US" sz="1450" b="1" dirty="0">
                <a:solidFill>
                  <a:srgbClr val="12394D"/>
                </a:solidFill>
                <a:latin typeface="Calibri" pitchFamily="34" charset="0"/>
                <a:ea typeface="Calibri" pitchFamily="34" charset="-122"/>
                <a:cs typeface="Calibri" pitchFamily="34" charset="-120"/>
              </a:rPr>
              <a:t>Reinforcement: adapt to dynamics</a:t>
            </a:r>
            <a:endParaRPr lang="en-US" sz="1450" dirty="0"/>
          </a:p>
          <a:p>
            <a:pPr marL="0" indent="0">
              <a:spcAft>
                <a:spcPts val="1000"/>
              </a:spcAft>
              <a:buNone/>
            </a:pPr>
            <a:r>
              <a:rPr lang="en-US" sz="1250" dirty="0">
                <a:solidFill>
                  <a:srgbClr val="5F7A8A"/>
                </a:solidFill>
                <a:latin typeface="Calibri" pitchFamily="34" charset="0"/>
                <a:ea typeface="Calibri" pitchFamily="34" charset="-122"/>
                <a:cs typeface="Calibri" pitchFamily="34" charset="-120"/>
              </a:rPr>
              <a:t>DDPG for eMBB/URLLC bandwidth and overlap; model-free DRL to limit puncturing; POMDP for NOMA uplink; O-RAN actor-critic</a:t>
            </a:r>
            <a:endParaRPr lang="en-US" sz="1450" dirty="0"/>
          </a:p>
        </p:txBody>
      </p:sp>
      <p:sp>
        <p:nvSpPr>
          <p:cNvPr id="18" name="Shape 15"/>
          <p:cNvSpPr/>
          <p:nvPr/>
        </p:nvSpPr>
        <p:spPr>
          <a:xfrm>
            <a:off x="640080" y="4517136"/>
            <a:ext cx="384048" cy="384048"/>
          </a:xfrm>
          <a:prstGeom prst="ellipse">
            <a:avLst/>
          </a:prstGeom>
          <a:solidFill>
            <a:srgbClr val="1A8A99"/>
          </a:solidFill>
          <a:ln w="12700">
            <a:solidFill>
              <a:srgbClr val="1A8A99"/>
            </a:solidFill>
            <a:prstDash val="solid"/>
          </a:ln>
        </p:spPr>
        <p:txBody>
          <a:bodyPr/>
          <a:lstStyle/>
          <a:p>
            <a:endParaRPr lang="en-US"/>
          </a:p>
        </p:txBody>
      </p:sp>
      <p:sp>
        <p:nvSpPr>
          <p:cNvPr id="19" name="Text 16"/>
          <p:cNvSpPr txBox="1"/>
          <p:nvPr/>
        </p:nvSpPr>
        <p:spPr>
          <a:xfrm>
            <a:off x="640080" y="451713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0" name="Text 17"/>
          <p:cNvSpPr txBox="1"/>
          <p:nvPr/>
        </p:nvSpPr>
        <p:spPr>
          <a:xfrm>
            <a:off x="1188720" y="4489704"/>
            <a:ext cx="5852160" cy="941832"/>
          </a:xfrm>
          <a:prstGeom prst="rect">
            <a:avLst/>
          </a:prstGeom>
          <a:noFill/>
          <a:ln/>
        </p:spPr>
        <p:txBody>
          <a:bodyPr wrap="square" lIns="0" tIns="0" rIns="0" bIns="0" rtlCol="0" anchor="t"/>
          <a:lstStyle/>
          <a:p>
            <a:pPr marL="0" indent="0">
              <a:buNone/>
            </a:pPr>
            <a:r>
              <a:rPr lang="en-US" sz="1450" b="1" dirty="0">
                <a:solidFill>
                  <a:srgbClr val="12394D"/>
                </a:solidFill>
                <a:latin typeface="Calibri" pitchFamily="34" charset="0"/>
                <a:ea typeface="Calibri" pitchFamily="34" charset="-122"/>
                <a:cs typeface="Calibri" pitchFamily="34" charset="-120"/>
              </a:rPr>
              <a:t>Federated RL: learn across sites</a:t>
            </a:r>
            <a:endParaRPr lang="en-US" sz="1450" dirty="0"/>
          </a:p>
          <a:p>
            <a:pPr marL="0" indent="0">
              <a:spcAft>
                <a:spcPts val="1000"/>
              </a:spcAft>
              <a:buNone/>
            </a:pPr>
            <a:r>
              <a:rPr lang="en-US" sz="1250" dirty="0">
                <a:solidFill>
                  <a:srgbClr val="5F7A8A"/>
                </a:solidFill>
                <a:latin typeface="Calibri" pitchFamily="34" charset="0"/>
                <a:ea typeface="Calibri" pitchFamily="34" charset="-122"/>
                <a:cs typeface="Calibri" pitchFamily="34" charset="-120"/>
              </a:rPr>
              <a:t>ASTEROID: offloading under long-term URLLC constraints; coordination of two O-RAN xApps</a:t>
            </a:r>
            <a:endParaRPr lang="en-US" sz="1450" dirty="0"/>
          </a:p>
        </p:txBody>
      </p:sp>
      <p:sp>
        <p:nvSpPr>
          <p:cNvPr id="23" name="Text 20"/>
          <p:cNvSpPr txBox="1"/>
          <p:nvPr/>
        </p:nvSpPr>
        <p:spPr>
          <a:xfrm>
            <a:off x="7680960" y="2240280"/>
            <a:ext cx="3566160" cy="822960"/>
          </a:xfrm>
          <a:prstGeom prst="rect">
            <a:avLst/>
          </a:prstGeom>
          <a:noFill/>
          <a:ln/>
        </p:spPr>
        <p:txBody>
          <a:bodyPr wrap="square" lIns="0" tIns="0" rIns="0" bIns="0" rtlCol="0" anchor="t"/>
          <a:lstStyle/>
          <a:p>
            <a:pPr marL="0" indent="0">
              <a:buNone/>
            </a:pPr>
            <a:r>
              <a:rPr lang="en-US" sz="1700" b="1" dirty="0">
                <a:solidFill>
                  <a:srgbClr val="FFFFFF"/>
                </a:solidFill>
                <a:latin typeface="Cambria" pitchFamily="34" charset="0"/>
                <a:ea typeface="Cambria" pitchFamily="34" charset="-122"/>
                <a:cs typeface="Cambria" pitchFamily="34" charset="-120"/>
              </a:rPr>
              <a:t>No offline learning, no explicit safety during training</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058400" cy="320040"/>
          </a:xfrm>
          <a:prstGeom prst="rect">
            <a:avLst/>
          </a:prstGeom>
          <a:noFill/>
          <a:ln/>
        </p:spPr>
        <p:txBody>
          <a:bodyPr wrap="square" lIns="0" tIns="0" rIns="0" bIns="0" rtlCol="0" anchor="t"/>
          <a:lstStyle/>
          <a:p>
            <a:pPr marL="0" indent="0">
              <a:buNone/>
            </a:pPr>
            <a:r>
              <a:rPr lang="en-US" sz="1400" b="1" kern="0" spc="200" dirty="0">
                <a:solidFill>
                  <a:srgbClr val="2BB3A3"/>
                </a:solidFill>
                <a:latin typeface="Calibri" pitchFamily="34" charset="0"/>
                <a:ea typeface="Calibri" pitchFamily="34" charset="-122"/>
                <a:cs typeface="Calibri" pitchFamily="34" charset="-120"/>
              </a:rPr>
              <a:t>Survey 1 · Haque et al. · 5G URLLC &amp; 6G era</a:t>
            </a:r>
            <a:endParaRPr lang="en-US" sz="1400" dirty="0"/>
          </a:p>
        </p:txBody>
      </p:sp>
      <p:sp>
        <p:nvSpPr>
          <p:cNvPr id="3" name="Text 1"/>
          <p:cNvSpPr txBox="1"/>
          <p:nvPr/>
        </p:nvSpPr>
        <p:spPr>
          <a:xfrm>
            <a:off x="640080" y="804672"/>
            <a:ext cx="10881360" cy="594360"/>
          </a:xfrm>
          <a:prstGeom prst="rect">
            <a:avLst/>
          </a:prstGeom>
          <a:noFill/>
          <a:ln/>
        </p:spPr>
        <p:txBody>
          <a:bodyPr wrap="square" lIns="0" tIns="0" rIns="0" bIns="0" rtlCol="0" anchor="t"/>
          <a:lstStyle/>
          <a:p>
            <a:pPr marL="0" indent="0">
              <a:buNone/>
            </a:pPr>
            <a:r>
              <a:rPr lang="en-US" sz="2800" b="1" dirty="0">
                <a:solidFill>
                  <a:srgbClr val="12394D"/>
                </a:solidFill>
                <a:latin typeface="Cambria" pitchFamily="34" charset="0"/>
                <a:ea typeface="Cambria" pitchFamily="34" charset="-122"/>
                <a:cs typeface="Cambria" pitchFamily="34" charset="-120"/>
              </a:rPr>
              <a:t>ML is the main lever for 6G URLLC</a:t>
            </a:r>
            <a:endParaRPr lang="en-US" sz="2800" dirty="0"/>
          </a:p>
        </p:txBody>
      </p:sp>
      <p:sp>
        <p:nvSpPr>
          <p:cNvPr id="6" name="Text 4"/>
          <p:cNvSpPr txBox="1"/>
          <p:nvPr/>
        </p:nvSpPr>
        <p:spPr>
          <a:xfrm>
            <a:off x="640080" y="6355080"/>
            <a:ext cx="6400800" cy="274320"/>
          </a:xfrm>
          <a:prstGeom prst="rect">
            <a:avLst/>
          </a:prstGeom>
          <a:noFill/>
          <a:ln/>
        </p:spPr>
        <p:txBody>
          <a:bodyPr wrap="square" lIns="0" tIns="0" rIns="0" bIns="0" rtlCol="0" anchor="t"/>
          <a:lstStyle/>
          <a:p>
            <a:pPr marL="0" indent="0">
              <a:buNone/>
            </a:pPr>
            <a:r>
              <a:rPr lang="en-US" sz="1100" dirty="0">
                <a:solidFill>
                  <a:srgbClr val="5F7A8A"/>
                </a:solidFill>
                <a:latin typeface="Calibri" pitchFamily="34" charset="0"/>
                <a:ea typeface="Calibri" pitchFamily="34" charset="-122"/>
                <a:cs typeface="Calibri" pitchFamily="34" charset="-120"/>
              </a:rPr>
              <a:t>RS2M Department · Télécom SudParis · Palaiseau, France</a:t>
            </a:r>
            <a:endParaRPr lang="en-US" sz="1100" dirty="0"/>
          </a:p>
        </p:txBody>
      </p:sp>
      <p:sp>
        <p:nvSpPr>
          <p:cNvPr id="7" name="Text 5"/>
          <p:cNvSpPr txBox="1"/>
          <p:nvPr/>
        </p:nvSpPr>
        <p:spPr>
          <a:xfrm>
            <a:off x="11064240" y="6355080"/>
            <a:ext cx="457200" cy="274320"/>
          </a:xfrm>
          <a:prstGeom prst="rect">
            <a:avLst/>
          </a:prstGeom>
          <a:noFill/>
          <a:ln/>
        </p:spPr>
        <p:txBody>
          <a:bodyPr wrap="square" lIns="0" tIns="0" rIns="0" bIns="0" rtlCol="0" anchor="t"/>
          <a:lstStyle/>
          <a:p>
            <a:pPr marL="0" indent="0" algn="r">
              <a:buNone/>
            </a:pPr>
            <a:r>
              <a:rPr lang="fr-FR" sz="1100" dirty="0">
                <a:solidFill>
                  <a:srgbClr val="5F7A8A"/>
                </a:solidFill>
                <a:latin typeface="Calibri" pitchFamily="34" charset="0"/>
                <a:ea typeface="Calibri" pitchFamily="34" charset="-122"/>
                <a:cs typeface="Calibri" pitchFamily="34" charset="-120"/>
              </a:rPr>
              <a:t>1</a:t>
            </a:r>
            <a:r>
              <a:rPr lang="en-US" sz="1100" dirty="0">
                <a:solidFill>
                  <a:srgbClr val="5F7A8A"/>
                </a:solidFill>
                <a:latin typeface="Calibri" pitchFamily="34" charset="0"/>
                <a:ea typeface="Calibri" pitchFamily="34" charset="-122"/>
                <a:cs typeface="Calibri" pitchFamily="34" charset="-120"/>
              </a:rPr>
              <a:t>3</a:t>
            </a:r>
            <a:endParaRPr lang="en-US" sz="1100" dirty="0"/>
          </a:p>
        </p:txBody>
      </p:sp>
      <p:sp>
        <p:nvSpPr>
          <p:cNvPr id="9" name="Shape 7"/>
          <p:cNvSpPr/>
          <p:nvPr/>
        </p:nvSpPr>
        <p:spPr>
          <a:xfrm>
            <a:off x="502920" y="2043684"/>
            <a:ext cx="658368" cy="594360"/>
          </a:xfrm>
          <a:prstGeom prst="ellipse">
            <a:avLst/>
          </a:prstGeom>
          <a:solidFill>
            <a:srgbClr val="1A8A99"/>
          </a:solidFill>
          <a:ln w="12700">
            <a:solidFill>
              <a:srgbClr val="1A8A99"/>
            </a:solidFill>
            <a:prstDash val="solid"/>
          </a:ln>
        </p:spPr>
        <p:txBody>
          <a:bodyPr/>
          <a:lstStyle/>
          <a:p>
            <a:r>
              <a:rPr lang="fr-FR" dirty="0">
                <a:solidFill>
                  <a:schemeClr val="bg1"/>
                </a:solidFill>
              </a:rPr>
              <a:t>6G</a:t>
            </a:r>
            <a:endParaRPr lang="en-US" dirty="0">
              <a:solidFill>
                <a:schemeClr val="bg1"/>
              </a:solidFill>
            </a:endParaRPr>
          </a:p>
        </p:txBody>
      </p:sp>
      <p:sp>
        <p:nvSpPr>
          <p:cNvPr id="18" name="Shape 16"/>
          <p:cNvSpPr/>
          <p:nvPr/>
        </p:nvSpPr>
        <p:spPr>
          <a:xfrm>
            <a:off x="6949440" y="1737360"/>
            <a:ext cx="4572000" cy="4315968"/>
          </a:xfrm>
          <a:prstGeom prst="roundRect">
            <a:avLst>
              <a:gd name="adj" fmla="val 1519"/>
            </a:avLst>
          </a:prstGeom>
          <a:solidFill>
            <a:srgbClr val="F0F5F7"/>
          </a:solidFill>
          <a:ln w="12700">
            <a:solidFill>
              <a:srgbClr val="F0F5F7"/>
            </a:solidFill>
            <a:prstDash val="solid"/>
          </a:ln>
        </p:spPr>
        <p:txBody>
          <a:bodyPr/>
          <a:lstStyle/>
          <a:p>
            <a:endParaRPr lang="en-US"/>
          </a:p>
        </p:txBody>
      </p:sp>
      <p:sp>
        <p:nvSpPr>
          <p:cNvPr id="19" name="Text 17"/>
          <p:cNvSpPr txBox="1"/>
          <p:nvPr/>
        </p:nvSpPr>
        <p:spPr>
          <a:xfrm>
            <a:off x="7223760" y="1920240"/>
            <a:ext cx="4023360" cy="274320"/>
          </a:xfrm>
          <a:prstGeom prst="rect">
            <a:avLst/>
          </a:prstGeom>
          <a:noFill/>
          <a:ln/>
        </p:spPr>
        <p:txBody>
          <a:bodyPr wrap="square" lIns="0" tIns="0" rIns="0" bIns="0" rtlCol="0" anchor="t"/>
          <a:lstStyle/>
          <a:p>
            <a:pPr marL="0" indent="0">
              <a:buNone/>
            </a:pPr>
            <a:r>
              <a:rPr lang="en-US" sz="1200" b="1" kern="0" spc="100" dirty="0">
                <a:solidFill>
                  <a:srgbClr val="1A8A99"/>
                </a:solidFill>
                <a:latin typeface="Calibri" pitchFamily="34" charset="0"/>
                <a:ea typeface="Calibri" pitchFamily="34" charset="-122"/>
                <a:cs typeface="Calibri" pitchFamily="34" charset="-120"/>
              </a:rPr>
              <a:t>6G RAISES THE BAR</a:t>
            </a:r>
            <a:endParaRPr lang="en-US" sz="1200" dirty="0"/>
          </a:p>
        </p:txBody>
      </p:sp>
      <p:sp>
        <p:nvSpPr>
          <p:cNvPr id="20" name="Text 18"/>
          <p:cNvSpPr txBox="1"/>
          <p:nvPr/>
        </p:nvSpPr>
        <p:spPr>
          <a:xfrm>
            <a:off x="7223760" y="2286000"/>
            <a:ext cx="2011680" cy="548640"/>
          </a:xfrm>
          <a:prstGeom prst="rect">
            <a:avLst/>
          </a:prstGeom>
          <a:noFill/>
          <a:ln/>
        </p:spPr>
        <p:txBody>
          <a:bodyPr wrap="square" lIns="0" tIns="0" rIns="0" bIns="0" rtlCol="0" anchor="t"/>
          <a:lstStyle/>
          <a:p>
            <a:pPr marL="0" indent="0">
              <a:buNone/>
            </a:pPr>
            <a:r>
              <a:rPr lang="en-US" sz="3000" b="1" dirty="0">
                <a:solidFill>
                  <a:srgbClr val="12394D"/>
                </a:solidFill>
                <a:latin typeface="Cambria" pitchFamily="34" charset="0"/>
                <a:ea typeface="Cambria" pitchFamily="34" charset="-122"/>
                <a:cs typeface="Cambria" pitchFamily="34" charset="-120"/>
              </a:rPr>
              <a:t>0.1 ms</a:t>
            </a:r>
            <a:endParaRPr lang="en-US" sz="3000" dirty="0"/>
          </a:p>
        </p:txBody>
      </p:sp>
      <p:sp>
        <p:nvSpPr>
          <p:cNvPr id="21" name="Text 19"/>
          <p:cNvSpPr txBox="1"/>
          <p:nvPr/>
        </p:nvSpPr>
        <p:spPr>
          <a:xfrm>
            <a:off x="7223760" y="2834640"/>
            <a:ext cx="2011680" cy="274320"/>
          </a:xfrm>
          <a:prstGeom prst="rect">
            <a:avLst/>
          </a:prstGeom>
          <a:noFill/>
          <a:ln/>
        </p:spPr>
        <p:txBody>
          <a:bodyPr wrap="square" lIns="0" tIns="0" rIns="0" bIns="0" rtlCol="0" anchor="t"/>
          <a:lstStyle/>
          <a:p>
            <a:pPr marL="0" indent="0">
              <a:buNone/>
            </a:pPr>
            <a:r>
              <a:rPr lang="en-US" sz="1150" dirty="0">
                <a:solidFill>
                  <a:srgbClr val="5F7A8A"/>
                </a:solidFill>
                <a:latin typeface="Calibri" pitchFamily="34" charset="0"/>
                <a:ea typeface="Calibri" pitchFamily="34" charset="-122"/>
                <a:cs typeface="Calibri" pitchFamily="34" charset="-120"/>
              </a:rPr>
              <a:t>user-plane latency</a:t>
            </a:r>
            <a:endParaRPr lang="en-US" sz="1150" dirty="0"/>
          </a:p>
        </p:txBody>
      </p:sp>
      <p:sp>
        <p:nvSpPr>
          <p:cNvPr id="22" name="Text 20"/>
          <p:cNvSpPr txBox="1"/>
          <p:nvPr/>
        </p:nvSpPr>
        <p:spPr>
          <a:xfrm>
            <a:off x="9235440" y="2286000"/>
            <a:ext cx="2194560" cy="548640"/>
          </a:xfrm>
          <a:prstGeom prst="rect">
            <a:avLst/>
          </a:prstGeom>
          <a:noFill/>
          <a:ln/>
        </p:spPr>
        <p:txBody>
          <a:bodyPr wrap="square" lIns="0" tIns="0" rIns="0" bIns="0" rtlCol="0" anchor="t"/>
          <a:lstStyle/>
          <a:p>
            <a:pPr marL="0" indent="0">
              <a:buNone/>
            </a:pPr>
            <a:r>
              <a:rPr lang="en-US" sz="3000" b="1" dirty="0">
                <a:solidFill>
                  <a:srgbClr val="12394D"/>
                </a:solidFill>
                <a:latin typeface="Cambria" pitchFamily="34" charset="0"/>
                <a:ea typeface="Cambria" pitchFamily="34" charset="-122"/>
                <a:cs typeface="Cambria" pitchFamily="34" charset="-120"/>
              </a:rPr>
              <a:t>99.99999 %</a:t>
            </a:r>
            <a:endParaRPr lang="en-US" sz="3000" dirty="0"/>
          </a:p>
        </p:txBody>
      </p:sp>
      <p:sp>
        <p:nvSpPr>
          <p:cNvPr id="23" name="Text 21"/>
          <p:cNvSpPr txBox="1"/>
          <p:nvPr/>
        </p:nvSpPr>
        <p:spPr>
          <a:xfrm>
            <a:off x="9235440" y="2834640"/>
            <a:ext cx="2103120" cy="274320"/>
          </a:xfrm>
          <a:prstGeom prst="rect">
            <a:avLst/>
          </a:prstGeom>
          <a:noFill/>
          <a:ln/>
        </p:spPr>
        <p:txBody>
          <a:bodyPr wrap="square" lIns="0" tIns="0" rIns="0" bIns="0" rtlCol="0" anchor="t"/>
          <a:lstStyle/>
          <a:p>
            <a:pPr marL="0" indent="0">
              <a:buNone/>
            </a:pPr>
            <a:r>
              <a:rPr lang="en-US" sz="1150" dirty="0">
                <a:solidFill>
                  <a:srgbClr val="5F7A8A"/>
                </a:solidFill>
                <a:latin typeface="Calibri" pitchFamily="34" charset="0"/>
                <a:ea typeface="Calibri" pitchFamily="34" charset="-122"/>
                <a:cs typeface="Calibri" pitchFamily="34" charset="-120"/>
              </a:rPr>
              <a:t>reliability</a:t>
            </a:r>
            <a:endParaRPr lang="en-US" sz="1150" dirty="0"/>
          </a:p>
        </p:txBody>
      </p:sp>
      <p:sp>
        <p:nvSpPr>
          <p:cNvPr id="24" name="Text 22"/>
          <p:cNvSpPr txBox="1"/>
          <p:nvPr/>
        </p:nvSpPr>
        <p:spPr>
          <a:xfrm>
            <a:off x="7223760" y="4634800"/>
            <a:ext cx="4069080" cy="1920240"/>
          </a:xfrm>
          <a:prstGeom prst="rect">
            <a:avLst/>
          </a:prstGeom>
          <a:noFill/>
          <a:ln/>
        </p:spPr>
        <p:txBody>
          <a:bodyPr wrap="square" lIns="0" tIns="0" rIns="0" bIns="0" rtlCol="0" anchor="t"/>
          <a:lstStyle/>
          <a:p>
            <a:pPr marL="0" indent="0">
              <a:spcAft>
                <a:spcPts val="400"/>
              </a:spcAft>
              <a:buNone/>
            </a:pPr>
            <a:r>
              <a:rPr lang="en-US" sz="1300" b="1" dirty="0">
                <a:solidFill>
                  <a:srgbClr val="12394D"/>
                </a:solidFill>
                <a:latin typeface="Calibri" pitchFamily="34" charset="0"/>
                <a:ea typeface="Calibri" pitchFamily="34" charset="-122"/>
                <a:cs typeface="Calibri" pitchFamily="34" charset="-120"/>
              </a:rPr>
              <a:t>Directions named by the survey</a:t>
            </a:r>
            <a:endParaRPr lang="en-US" sz="1300" dirty="0"/>
          </a:p>
          <a:p>
            <a:pPr marL="342900" indent="-342900">
              <a:spcAft>
                <a:spcPts val="400"/>
              </a:spcAft>
              <a:buSzPct val="100000"/>
              <a:buChar char="•"/>
            </a:pPr>
            <a:r>
              <a:rPr lang="en-US" sz="1300" dirty="0">
                <a:solidFill>
                  <a:srgbClr val="2A3F4C"/>
                </a:solidFill>
                <a:latin typeface="Calibri" pitchFamily="34" charset="0"/>
                <a:ea typeface="Calibri" pitchFamily="34" charset="-122"/>
                <a:cs typeface="Calibri" pitchFamily="34" charset="-120"/>
              </a:rPr>
              <a:t>From reactive to proactive design</a:t>
            </a:r>
            <a:endParaRPr lang="en-US" sz="1300" dirty="0"/>
          </a:p>
          <a:p>
            <a:pPr marL="342900" indent="-342900">
              <a:spcAft>
                <a:spcPts val="400"/>
              </a:spcAft>
              <a:buSzPct val="100000"/>
              <a:buChar char="•"/>
            </a:pPr>
            <a:r>
              <a:rPr lang="en-US" sz="1300" dirty="0">
                <a:solidFill>
                  <a:srgbClr val="2A3F4C"/>
                </a:solidFill>
                <a:latin typeface="Calibri" pitchFamily="34" charset="0"/>
                <a:ea typeface="Calibri" pitchFamily="34" charset="-122"/>
                <a:cs typeface="Calibri" pitchFamily="34" charset="-120"/>
              </a:rPr>
              <a:t>Data-driven approximation of receiver blocks</a:t>
            </a:r>
            <a:endParaRPr lang="en-US" sz="1300" dirty="0"/>
          </a:p>
          <a:p>
            <a:pPr marL="342900" indent="-342900">
              <a:spcAft>
                <a:spcPts val="400"/>
              </a:spcAft>
              <a:buSzPct val="100000"/>
              <a:buChar char="•"/>
            </a:pPr>
            <a:r>
              <a:rPr lang="en-US" sz="1300" dirty="0">
                <a:solidFill>
                  <a:srgbClr val="2A3F4C"/>
                </a:solidFill>
                <a:latin typeface="Calibri" pitchFamily="34" charset="0"/>
                <a:ea typeface="Calibri" pitchFamily="34" charset="-122"/>
                <a:cs typeface="Calibri" pitchFamily="34" charset="-120"/>
              </a:rPr>
              <a:t>Fast adaptation to topology change (MAML)</a:t>
            </a:r>
            <a:endParaRPr lang="en-US" sz="1300" dirty="0"/>
          </a:p>
          <a:p>
            <a:pPr marL="342900" indent="-342900">
              <a:spcAft>
                <a:spcPts val="400"/>
              </a:spcAft>
              <a:buSzPct val="100000"/>
              <a:buChar char="•"/>
            </a:pPr>
            <a:r>
              <a:rPr lang="en-US" sz="1300" dirty="0">
                <a:solidFill>
                  <a:srgbClr val="2A3F4C"/>
                </a:solidFill>
                <a:latin typeface="Calibri" pitchFamily="34" charset="0"/>
                <a:ea typeface="Calibri" pitchFamily="34" charset="-122"/>
                <a:cs typeface="Calibri" pitchFamily="34" charset="-120"/>
              </a:rPr>
              <a:t>Communication–control co-design</a:t>
            </a:r>
            <a:endParaRPr lang="en-US" sz="1300" dirty="0"/>
          </a:p>
        </p:txBody>
      </p:sp>
      <p:sp>
        <p:nvSpPr>
          <p:cNvPr id="5" name="Text 11">
            <a:extLst>
              <a:ext uri="{FF2B5EF4-FFF2-40B4-BE49-F238E27FC236}">
                <a16:creationId xmlns:a16="http://schemas.microsoft.com/office/drawing/2014/main" id="{83D52F0A-BD93-8820-3D34-D07085B73E96}"/>
              </a:ext>
            </a:extLst>
          </p:cNvPr>
          <p:cNvSpPr txBox="1"/>
          <p:nvPr/>
        </p:nvSpPr>
        <p:spPr>
          <a:xfrm>
            <a:off x="8321040" y="3429000"/>
            <a:ext cx="1828800" cy="502920"/>
          </a:xfrm>
          <a:prstGeom prst="rect">
            <a:avLst/>
          </a:prstGeom>
          <a:noFill/>
          <a:ln/>
        </p:spPr>
        <p:txBody>
          <a:bodyPr wrap="square" lIns="0" tIns="0" rIns="0" bIns="0" rtlCol="0" anchor="t"/>
          <a:lstStyle/>
          <a:p>
            <a:pPr marL="0" indent="0">
              <a:buNone/>
            </a:pPr>
            <a:r>
              <a:rPr lang="en-US" sz="2400" b="1" dirty="0">
                <a:solidFill>
                  <a:srgbClr val="12394D"/>
                </a:solidFill>
                <a:latin typeface="Cambria" pitchFamily="34" charset="0"/>
                <a:ea typeface="Cambria" pitchFamily="34" charset="-122"/>
                <a:cs typeface="Cambria" pitchFamily="34" charset="-120"/>
              </a:rPr>
              <a:t>1 Tbps</a:t>
            </a:r>
            <a:endParaRPr lang="en-US" sz="2400" dirty="0"/>
          </a:p>
        </p:txBody>
      </p:sp>
      <p:sp>
        <p:nvSpPr>
          <p:cNvPr id="26" name="Text 12">
            <a:extLst>
              <a:ext uri="{FF2B5EF4-FFF2-40B4-BE49-F238E27FC236}">
                <a16:creationId xmlns:a16="http://schemas.microsoft.com/office/drawing/2014/main" id="{3F3D0425-E22D-7390-CD02-CB19DE545BDD}"/>
              </a:ext>
            </a:extLst>
          </p:cNvPr>
          <p:cNvSpPr txBox="1"/>
          <p:nvPr/>
        </p:nvSpPr>
        <p:spPr>
          <a:xfrm>
            <a:off x="8343900" y="3892238"/>
            <a:ext cx="1828800" cy="274320"/>
          </a:xfrm>
          <a:prstGeom prst="rect">
            <a:avLst/>
          </a:prstGeom>
          <a:noFill/>
          <a:ln/>
        </p:spPr>
        <p:txBody>
          <a:bodyPr wrap="square" lIns="0" tIns="0" rIns="0" bIns="0" rtlCol="0" anchor="t"/>
          <a:lstStyle/>
          <a:p>
            <a:pPr marL="0" indent="0">
              <a:buNone/>
            </a:pPr>
            <a:r>
              <a:rPr lang="en-US" sz="1200" dirty="0">
                <a:solidFill>
                  <a:srgbClr val="5F7A8A"/>
                </a:solidFill>
                <a:latin typeface="Calibri" pitchFamily="34" charset="0"/>
                <a:ea typeface="Calibri" pitchFamily="34" charset="-122"/>
                <a:cs typeface="Calibri" pitchFamily="34" charset="-120"/>
              </a:rPr>
              <a:t>peak rate</a:t>
            </a:r>
            <a:endParaRPr lang="en-US" sz="1200" dirty="0"/>
          </a:p>
        </p:txBody>
      </p:sp>
      <p:sp>
        <p:nvSpPr>
          <p:cNvPr id="28" name="ZoneTexte 27">
            <a:extLst>
              <a:ext uri="{FF2B5EF4-FFF2-40B4-BE49-F238E27FC236}">
                <a16:creationId xmlns:a16="http://schemas.microsoft.com/office/drawing/2014/main" id="{2B7147A1-0481-326A-6AAC-48D26DC005BB}"/>
              </a:ext>
            </a:extLst>
          </p:cNvPr>
          <p:cNvSpPr txBox="1"/>
          <p:nvPr/>
        </p:nvSpPr>
        <p:spPr>
          <a:xfrm>
            <a:off x="1298448" y="2079254"/>
            <a:ext cx="4058556" cy="523220"/>
          </a:xfrm>
          <a:prstGeom prst="rect">
            <a:avLst/>
          </a:prstGeom>
          <a:noFill/>
        </p:spPr>
        <p:txBody>
          <a:bodyPr wrap="square">
            <a:spAutoFit/>
          </a:bodyPr>
          <a:lstStyle/>
          <a:p>
            <a:pPr algn="ctr">
              <a:spcAft>
                <a:spcPts val="900"/>
              </a:spcAft>
              <a:buSzPct val="100000"/>
            </a:pPr>
            <a:r>
              <a:rPr lang="en-US" sz="1400" b="1" dirty="0">
                <a:solidFill>
                  <a:srgbClr val="FF0000"/>
                </a:solidFill>
                <a:latin typeface="Calibri" pitchFamily="34" charset="0"/>
                <a:ea typeface="Calibri" pitchFamily="34" charset="-122"/>
                <a:cs typeface="Calibri" pitchFamily="34" charset="-120"/>
              </a:rPr>
              <a:t>Move from reactive to proactive: add predicted URLLC arrivals and queue trends to the state</a:t>
            </a:r>
            <a:endParaRPr lang="en-US" sz="1400" b="1" dirty="0">
              <a:solidFill>
                <a:srgbClr val="FF0000"/>
              </a:solidFill>
            </a:endParaRPr>
          </a:p>
        </p:txBody>
      </p:sp>
      <p:pic>
        <p:nvPicPr>
          <p:cNvPr id="30" name="Image 29">
            <a:extLst>
              <a:ext uri="{FF2B5EF4-FFF2-40B4-BE49-F238E27FC236}">
                <a16:creationId xmlns:a16="http://schemas.microsoft.com/office/drawing/2014/main" id="{DE62E1E2-0356-FB26-3E51-E798E9E3C6E2}"/>
              </a:ext>
            </a:extLst>
          </p:cNvPr>
          <p:cNvPicPr>
            <a:picLocks noChangeAspect="1"/>
          </p:cNvPicPr>
          <p:nvPr/>
        </p:nvPicPr>
        <p:blipFill>
          <a:blip r:embed="rId3"/>
          <a:stretch>
            <a:fillRect/>
          </a:stretch>
        </p:blipFill>
        <p:spPr>
          <a:xfrm>
            <a:off x="1198090" y="2658171"/>
            <a:ext cx="4259272" cy="348383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320040"/>
          </a:xfrm>
          <a:prstGeom prst="rect">
            <a:avLst/>
          </a:prstGeom>
          <a:noFill/>
          <a:ln/>
        </p:spPr>
        <p:txBody>
          <a:bodyPr wrap="square" lIns="0" tIns="0" rIns="0" bIns="0" rtlCol="0" anchor="t"/>
          <a:lstStyle/>
          <a:p>
            <a:pPr marL="0" indent="0">
              <a:buNone/>
            </a:pPr>
            <a:r>
              <a:rPr lang="en-US" sz="1400" b="1" kern="0" spc="200" dirty="0">
                <a:solidFill>
                  <a:srgbClr val="2BB3A3"/>
                </a:solidFill>
                <a:latin typeface="Calibri" pitchFamily="34" charset="0"/>
                <a:ea typeface="Calibri" pitchFamily="34" charset="-122"/>
                <a:cs typeface="Calibri" pitchFamily="34" charset="-120"/>
              </a:rPr>
              <a:t>Survey 2 · Lu et al. · DRL for 6G AI-RAN</a:t>
            </a:r>
            <a:endParaRPr lang="en-US" sz="1400" dirty="0"/>
          </a:p>
        </p:txBody>
      </p:sp>
      <p:sp>
        <p:nvSpPr>
          <p:cNvPr id="3" name="Text 1"/>
          <p:cNvSpPr txBox="1"/>
          <p:nvPr/>
        </p:nvSpPr>
        <p:spPr>
          <a:xfrm>
            <a:off x="640080" y="786384"/>
            <a:ext cx="10881360" cy="640080"/>
          </a:xfrm>
          <a:prstGeom prst="rect">
            <a:avLst/>
          </a:prstGeom>
          <a:noFill/>
          <a:ln/>
        </p:spPr>
        <p:txBody>
          <a:bodyPr wrap="square" lIns="0" tIns="0" rIns="0" bIns="0" rtlCol="0" anchor="t">
            <a:normAutofit/>
          </a:bodyPr>
          <a:lstStyle/>
          <a:p>
            <a:pPr marL="0" indent="0">
              <a:buNone/>
            </a:pPr>
            <a:r>
              <a:rPr lang="en-US" sz="2700" b="1" dirty="0">
                <a:solidFill>
                  <a:srgbClr val="12394D"/>
                </a:solidFill>
                <a:latin typeface="Cambria" pitchFamily="34" charset="0"/>
                <a:ea typeface="Cambria" pitchFamily="34" charset="-122"/>
                <a:cs typeface="Cambria" pitchFamily="34" charset="-120"/>
              </a:rPr>
              <a:t>Why DRL for 6G AI-RAN</a:t>
            </a:r>
            <a:endParaRPr lang="en-US" sz="2700" dirty="0"/>
          </a:p>
        </p:txBody>
      </p:sp>
      <p:sp>
        <p:nvSpPr>
          <p:cNvPr id="4" name="Shape 2"/>
          <p:cNvSpPr/>
          <p:nvPr/>
        </p:nvSpPr>
        <p:spPr>
          <a:xfrm>
            <a:off x="640080" y="5596128"/>
            <a:ext cx="10881360" cy="502920"/>
          </a:xfrm>
          <a:prstGeom prst="roundRect">
            <a:avLst>
              <a:gd name="adj" fmla="val 10909"/>
            </a:avLst>
          </a:prstGeom>
          <a:solidFill>
            <a:srgbClr val="E6F4F2"/>
          </a:solidFill>
          <a:ln w="12700">
            <a:solidFill>
              <a:srgbClr val="E6F4F2"/>
            </a:solidFill>
            <a:prstDash val="solid"/>
          </a:ln>
        </p:spPr>
        <p:txBody>
          <a:bodyPr/>
          <a:lstStyle/>
          <a:p>
            <a:endParaRPr lang="en-US"/>
          </a:p>
        </p:txBody>
      </p:sp>
      <p:sp>
        <p:nvSpPr>
          <p:cNvPr id="5" name="Text 3"/>
          <p:cNvSpPr txBox="1"/>
          <p:nvPr/>
        </p:nvSpPr>
        <p:spPr>
          <a:xfrm>
            <a:off x="868680" y="5596128"/>
            <a:ext cx="10469880" cy="502920"/>
          </a:xfrm>
          <a:prstGeom prst="rect">
            <a:avLst/>
          </a:prstGeom>
          <a:noFill/>
          <a:ln/>
        </p:spPr>
        <p:txBody>
          <a:bodyPr wrap="square" lIns="0" tIns="0" rIns="0" bIns="0" rtlCol="0" anchor="ctr"/>
          <a:lstStyle/>
          <a:p>
            <a:pPr marL="0" indent="0">
              <a:buNone/>
            </a:pPr>
            <a:r>
              <a:rPr lang="en-US" sz="1400" b="1" dirty="0">
                <a:solidFill>
                  <a:srgbClr val="1A8A99"/>
                </a:solidFill>
                <a:latin typeface="Calibri" pitchFamily="34" charset="0"/>
                <a:ea typeface="Calibri" pitchFamily="34" charset="-122"/>
                <a:cs typeface="Calibri" pitchFamily="34" charset="-120"/>
              </a:rPr>
              <a:t>Takeaway  </a:t>
            </a:r>
            <a:r>
              <a:rPr lang="en-US" sz="1400" dirty="0">
                <a:solidFill>
                  <a:srgbClr val="12394D"/>
                </a:solidFill>
                <a:latin typeface="Calibri" pitchFamily="34" charset="0"/>
                <a:ea typeface="Calibri" pitchFamily="34" charset="-122"/>
                <a:cs typeface="Calibri" pitchFamily="34" charset="-120"/>
              </a:rPr>
              <a:t>Earlier surveys treat RL as one AI tool among many: this is the first survey dedicated to DRL for O-RAN.</a:t>
            </a:r>
            <a:endParaRPr lang="en-US" sz="1400" dirty="0"/>
          </a:p>
        </p:txBody>
      </p:sp>
      <p:sp>
        <p:nvSpPr>
          <p:cNvPr id="6" name="Text 4"/>
          <p:cNvSpPr txBox="1"/>
          <p:nvPr/>
        </p:nvSpPr>
        <p:spPr>
          <a:xfrm>
            <a:off x="640080" y="6355080"/>
            <a:ext cx="6400800" cy="274320"/>
          </a:xfrm>
          <a:prstGeom prst="rect">
            <a:avLst/>
          </a:prstGeom>
          <a:noFill/>
          <a:ln/>
        </p:spPr>
        <p:txBody>
          <a:bodyPr wrap="square" lIns="0" tIns="0" rIns="0" bIns="0" rtlCol="0" anchor="t"/>
          <a:lstStyle/>
          <a:p>
            <a:pPr marL="0" indent="0">
              <a:buNone/>
            </a:pPr>
            <a:r>
              <a:rPr lang="en-US" sz="1100" dirty="0">
                <a:solidFill>
                  <a:srgbClr val="5F7A8A"/>
                </a:solidFill>
                <a:latin typeface="Calibri" pitchFamily="34" charset="0"/>
                <a:ea typeface="Calibri" pitchFamily="34" charset="-122"/>
                <a:cs typeface="Calibri" pitchFamily="34" charset="-120"/>
              </a:rPr>
              <a:t>RS2M Department · Télécom SudParis · Palaiseau, France</a:t>
            </a:r>
            <a:endParaRPr lang="en-US" sz="1100" dirty="0"/>
          </a:p>
        </p:txBody>
      </p:sp>
      <p:sp>
        <p:nvSpPr>
          <p:cNvPr id="7" name="Text 5"/>
          <p:cNvSpPr txBox="1"/>
          <p:nvPr/>
        </p:nvSpPr>
        <p:spPr>
          <a:xfrm>
            <a:off x="11064240" y="6355080"/>
            <a:ext cx="457200" cy="274320"/>
          </a:xfrm>
          <a:prstGeom prst="rect">
            <a:avLst/>
          </a:prstGeom>
          <a:noFill/>
          <a:ln/>
        </p:spPr>
        <p:txBody>
          <a:bodyPr wrap="square" lIns="0" tIns="0" rIns="0" bIns="0" rtlCol="0" anchor="t"/>
          <a:lstStyle/>
          <a:p>
            <a:pPr marL="0" indent="0" algn="r">
              <a:buNone/>
            </a:pPr>
            <a:r>
              <a:rPr lang="en-US" sz="1100" dirty="0">
                <a:solidFill>
                  <a:srgbClr val="5F7A8A"/>
                </a:solidFill>
                <a:latin typeface="Calibri" pitchFamily="34" charset="0"/>
                <a:ea typeface="Calibri" pitchFamily="34" charset="-122"/>
                <a:cs typeface="Calibri" pitchFamily="34" charset="-120"/>
              </a:rPr>
              <a:t>14</a:t>
            </a:r>
            <a:endParaRPr lang="en-US" sz="1100" dirty="0"/>
          </a:p>
        </p:txBody>
      </p:sp>
      <p:sp>
        <p:nvSpPr>
          <p:cNvPr id="9" name="Shape 6"/>
          <p:cNvSpPr/>
          <p:nvPr/>
        </p:nvSpPr>
        <p:spPr>
          <a:xfrm>
            <a:off x="640080" y="1691640"/>
            <a:ext cx="384048" cy="384048"/>
          </a:xfrm>
          <a:prstGeom prst="ellipse">
            <a:avLst/>
          </a:prstGeom>
          <a:solidFill>
            <a:srgbClr val="1A8A99"/>
          </a:solidFill>
          <a:ln w="12700">
            <a:solidFill>
              <a:srgbClr val="1A8A99"/>
            </a:solidFill>
            <a:prstDash val="solid"/>
          </a:ln>
        </p:spPr>
        <p:txBody>
          <a:bodyPr/>
          <a:lstStyle/>
          <a:p>
            <a:endParaRPr lang="en-US"/>
          </a:p>
        </p:txBody>
      </p:sp>
      <p:sp>
        <p:nvSpPr>
          <p:cNvPr id="10" name="Text 7"/>
          <p:cNvSpPr txBox="1"/>
          <p:nvPr/>
        </p:nvSpPr>
        <p:spPr>
          <a:xfrm>
            <a:off x="640080" y="169164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1" name="Text 8"/>
          <p:cNvSpPr txBox="1"/>
          <p:nvPr/>
        </p:nvSpPr>
        <p:spPr>
          <a:xfrm>
            <a:off x="1188720" y="1664208"/>
            <a:ext cx="5120640" cy="941832"/>
          </a:xfrm>
          <a:prstGeom prst="rect">
            <a:avLst/>
          </a:prstGeom>
          <a:noFill/>
          <a:ln/>
        </p:spPr>
        <p:txBody>
          <a:bodyPr wrap="square" lIns="0" tIns="0" rIns="0" bIns="0" rtlCol="0" anchor="t"/>
          <a:lstStyle/>
          <a:p>
            <a:pPr marL="0" indent="0">
              <a:buNone/>
            </a:pPr>
            <a:r>
              <a:rPr lang="en-US" sz="1450" b="1" dirty="0">
                <a:solidFill>
                  <a:srgbClr val="12394D"/>
                </a:solidFill>
                <a:latin typeface="Calibri" pitchFamily="34" charset="0"/>
                <a:ea typeface="Calibri" pitchFamily="34" charset="-122"/>
                <a:cs typeface="Calibri" pitchFamily="34" charset="-120"/>
              </a:rPr>
              <a:t>6G makes the RAN a control platform</a:t>
            </a:r>
            <a:endParaRPr lang="en-US" sz="1450" dirty="0"/>
          </a:p>
          <a:p>
            <a:pPr marL="0" indent="0">
              <a:spcAft>
                <a:spcPts val="1000"/>
              </a:spcAft>
              <a:buNone/>
            </a:pPr>
            <a:r>
              <a:rPr lang="en-US" sz="1250" dirty="0">
                <a:solidFill>
                  <a:srgbClr val="5F7A8A"/>
                </a:solidFill>
                <a:latin typeface="Calibri" pitchFamily="34" charset="0"/>
                <a:ea typeface="Calibri" pitchFamily="34" charset="-122"/>
                <a:cs typeface="Calibri" pitchFamily="34" charset="-120"/>
              </a:rPr>
              <a:t>Competing objectives: throughput, latency, reliability, energy, sensing, SLA; slicing, massive MIMO and ISAC couple the decisions</a:t>
            </a:r>
            <a:endParaRPr lang="en-US" sz="1450" dirty="0"/>
          </a:p>
        </p:txBody>
      </p:sp>
      <p:sp>
        <p:nvSpPr>
          <p:cNvPr id="12" name="Shape 9"/>
          <p:cNvSpPr/>
          <p:nvPr/>
        </p:nvSpPr>
        <p:spPr>
          <a:xfrm>
            <a:off x="640080" y="2633472"/>
            <a:ext cx="384048" cy="384048"/>
          </a:xfrm>
          <a:prstGeom prst="ellipse">
            <a:avLst/>
          </a:prstGeom>
          <a:solidFill>
            <a:srgbClr val="1A8A99"/>
          </a:solidFill>
          <a:ln w="12700">
            <a:solidFill>
              <a:srgbClr val="1A8A99"/>
            </a:solidFill>
            <a:prstDash val="solid"/>
          </a:ln>
        </p:spPr>
        <p:txBody>
          <a:bodyPr/>
          <a:lstStyle/>
          <a:p>
            <a:endParaRPr lang="en-US"/>
          </a:p>
        </p:txBody>
      </p:sp>
      <p:sp>
        <p:nvSpPr>
          <p:cNvPr id="13" name="Text 10"/>
          <p:cNvSpPr txBox="1"/>
          <p:nvPr/>
        </p:nvSpPr>
        <p:spPr>
          <a:xfrm>
            <a:off x="640080" y="263347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4" name="Text 11"/>
          <p:cNvSpPr txBox="1"/>
          <p:nvPr/>
        </p:nvSpPr>
        <p:spPr>
          <a:xfrm>
            <a:off x="1188720" y="2606040"/>
            <a:ext cx="5120640" cy="941832"/>
          </a:xfrm>
          <a:prstGeom prst="rect">
            <a:avLst/>
          </a:prstGeom>
          <a:noFill/>
          <a:ln/>
        </p:spPr>
        <p:txBody>
          <a:bodyPr wrap="square" lIns="0" tIns="0" rIns="0" bIns="0" rtlCol="0" anchor="t"/>
          <a:lstStyle/>
          <a:p>
            <a:pPr marL="0" indent="0">
              <a:buNone/>
            </a:pPr>
            <a:r>
              <a:rPr lang="en-US" sz="1450" b="1" dirty="0">
                <a:solidFill>
                  <a:srgbClr val="12394D"/>
                </a:solidFill>
                <a:latin typeface="Calibri" pitchFamily="34" charset="0"/>
                <a:ea typeface="Calibri" pitchFamily="34" charset="-122"/>
                <a:cs typeface="Calibri" pitchFamily="34" charset="-120"/>
              </a:rPr>
              <a:t>Rule-based control does not keep up</a:t>
            </a:r>
            <a:endParaRPr lang="en-US" sz="1450" dirty="0"/>
          </a:p>
          <a:p>
            <a:pPr marL="0" indent="0">
              <a:spcAft>
                <a:spcPts val="1000"/>
              </a:spcAft>
              <a:buNone/>
            </a:pPr>
            <a:r>
              <a:rPr lang="en-US" sz="1250" dirty="0">
                <a:solidFill>
                  <a:srgbClr val="5F7A8A"/>
                </a:solidFill>
                <a:latin typeface="Calibri" pitchFamily="34" charset="0"/>
                <a:ea typeface="Calibri" pitchFamily="34" charset="-122"/>
                <a:cs typeface="Calibri" pitchFamily="34" charset="-120"/>
              </a:rPr>
              <a:t>Hard to design and maintain when dynamics and objectives keep changing</a:t>
            </a:r>
            <a:endParaRPr lang="en-US" sz="1450" dirty="0"/>
          </a:p>
        </p:txBody>
      </p:sp>
      <p:sp>
        <p:nvSpPr>
          <p:cNvPr id="15" name="Shape 12"/>
          <p:cNvSpPr/>
          <p:nvPr/>
        </p:nvSpPr>
        <p:spPr>
          <a:xfrm>
            <a:off x="640080" y="3575304"/>
            <a:ext cx="384048" cy="384048"/>
          </a:xfrm>
          <a:prstGeom prst="ellipse">
            <a:avLst/>
          </a:prstGeom>
          <a:solidFill>
            <a:srgbClr val="1A8A99"/>
          </a:solidFill>
          <a:ln w="12700">
            <a:solidFill>
              <a:srgbClr val="1A8A99"/>
            </a:solidFill>
            <a:prstDash val="solid"/>
          </a:ln>
        </p:spPr>
        <p:txBody>
          <a:bodyPr/>
          <a:lstStyle/>
          <a:p>
            <a:endParaRPr lang="en-US"/>
          </a:p>
        </p:txBody>
      </p:sp>
      <p:sp>
        <p:nvSpPr>
          <p:cNvPr id="16" name="Text 13"/>
          <p:cNvSpPr txBox="1"/>
          <p:nvPr/>
        </p:nvSpPr>
        <p:spPr>
          <a:xfrm>
            <a:off x="640080" y="357530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7" name="Text 14"/>
          <p:cNvSpPr txBox="1"/>
          <p:nvPr/>
        </p:nvSpPr>
        <p:spPr>
          <a:xfrm>
            <a:off x="1188720" y="3547872"/>
            <a:ext cx="5120640" cy="941832"/>
          </a:xfrm>
          <a:prstGeom prst="rect">
            <a:avLst/>
          </a:prstGeom>
          <a:noFill/>
          <a:ln/>
        </p:spPr>
        <p:txBody>
          <a:bodyPr wrap="square" lIns="0" tIns="0" rIns="0" bIns="0" rtlCol="0" anchor="t"/>
          <a:lstStyle/>
          <a:p>
            <a:pPr marL="0" indent="0">
              <a:buNone/>
            </a:pPr>
            <a:r>
              <a:rPr lang="en-US" sz="1450" b="1" dirty="0">
                <a:solidFill>
                  <a:srgbClr val="12394D"/>
                </a:solidFill>
                <a:latin typeface="Calibri" pitchFamily="34" charset="0"/>
                <a:ea typeface="Calibri" pitchFamily="34" charset="-122"/>
                <a:cs typeface="Calibri" pitchFamily="34" charset="-120"/>
              </a:rPr>
              <a:t>O-RAN opens the control loop</a:t>
            </a:r>
            <a:endParaRPr lang="en-US" sz="1450" dirty="0"/>
          </a:p>
          <a:p>
            <a:pPr marL="0" indent="0">
              <a:spcAft>
                <a:spcPts val="1000"/>
              </a:spcAft>
              <a:buNone/>
            </a:pPr>
            <a:r>
              <a:rPr lang="en-US" sz="1250" dirty="0">
                <a:solidFill>
                  <a:srgbClr val="5F7A8A"/>
                </a:solidFill>
                <a:latin typeface="Calibri" pitchFamily="34" charset="0"/>
                <a:ea typeface="Calibri" pitchFamily="34" charset="-122"/>
                <a:cs typeface="Calibri" pitchFamily="34" charset="-120"/>
              </a:rPr>
              <a:t>Disaggregation, open interfaces, RICs running loops above 1 s and from 10 ms to 1 s</a:t>
            </a:r>
            <a:endParaRPr lang="en-US" sz="1450" dirty="0"/>
          </a:p>
        </p:txBody>
      </p:sp>
      <p:sp>
        <p:nvSpPr>
          <p:cNvPr id="18" name="Shape 15"/>
          <p:cNvSpPr/>
          <p:nvPr/>
        </p:nvSpPr>
        <p:spPr>
          <a:xfrm>
            <a:off x="640080" y="4517136"/>
            <a:ext cx="384048" cy="384048"/>
          </a:xfrm>
          <a:prstGeom prst="ellipse">
            <a:avLst/>
          </a:prstGeom>
          <a:solidFill>
            <a:srgbClr val="1A8A99"/>
          </a:solidFill>
          <a:ln w="12700">
            <a:solidFill>
              <a:srgbClr val="1A8A99"/>
            </a:solidFill>
            <a:prstDash val="solid"/>
          </a:ln>
        </p:spPr>
        <p:txBody>
          <a:bodyPr/>
          <a:lstStyle/>
          <a:p>
            <a:endParaRPr lang="en-US"/>
          </a:p>
        </p:txBody>
      </p:sp>
      <p:sp>
        <p:nvSpPr>
          <p:cNvPr id="19" name="Text 16"/>
          <p:cNvSpPr txBox="1"/>
          <p:nvPr/>
        </p:nvSpPr>
        <p:spPr>
          <a:xfrm>
            <a:off x="640080" y="451713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0" name="Text 17"/>
          <p:cNvSpPr txBox="1"/>
          <p:nvPr/>
        </p:nvSpPr>
        <p:spPr>
          <a:xfrm>
            <a:off x="1188720" y="4489704"/>
            <a:ext cx="5120640" cy="941832"/>
          </a:xfrm>
          <a:prstGeom prst="rect">
            <a:avLst/>
          </a:prstGeom>
          <a:noFill/>
          <a:ln/>
        </p:spPr>
        <p:txBody>
          <a:bodyPr wrap="square" lIns="0" tIns="0" rIns="0" bIns="0" rtlCol="0" anchor="t"/>
          <a:lstStyle/>
          <a:p>
            <a:pPr marL="0" indent="0">
              <a:buNone/>
            </a:pPr>
            <a:r>
              <a:rPr lang="en-US" sz="1450" b="1" dirty="0">
                <a:solidFill>
                  <a:srgbClr val="12394D"/>
                </a:solidFill>
                <a:latin typeface="Calibri" pitchFamily="34" charset="0"/>
                <a:ea typeface="Calibri" pitchFamily="34" charset="-122"/>
                <a:cs typeface="Calibri" pitchFamily="34" charset="-120"/>
              </a:rPr>
              <a:t>DRL fits the problem</a:t>
            </a:r>
            <a:endParaRPr lang="en-US" sz="1450" dirty="0"/>
          </a:p>
          <a:p>
            <a:pPr marL="0" indent="0">
              <a:spcAft>
                <a:spcPts val="1000"/>
              </a:spcAft>
              <a:buNone/>
            </a:pPr>
            <a:r>
              <a:rPr lang="en-US" sz="1250" dirty="0">
                <a:solidFill>
                  <a:srgbClr val="5F7A8A"/>
                </a:solidFill>
                <a:latin typeface="Calibri" pitchFamily="34" charset="0"/>
                <a:ea typeface="Calibri" pitchFamily="34" charset="-122"/>
                <a:cs typeface="Calibri" pitchFamily="34" charset="-120"/>
              </a:rPr>
              <a:t>Sequential, stochastic, partially observable, multi-objective, and no optimal-action labels</a:t>
            </a:r>
            <a:endParaRPr lang="en-US" sz="1450" dirty="0"/>
          </a:p>
        </p:txBody>
      </p:sp>
      <p:pic>
        <p:nvPicPr>
          <p:cNvPr id="23" name="Image 22">
            <a:extLst>
              <a:ext uri="{FF2B5EF4-FFF2-40B4-BE49-F238E27FC236}">
                <a16:creationId xmlns:a16="http://schemas.microsoft.com/office/drawing/2014/main" id="{3A1252FA-F068-EE0E-D54A-2898447D7B0B}"/>
              </a:ext>
            </a:extLst>
          </p:cNvPr>
          <p:cNvPicPr>
            <a:picLocks noChangeAspect="1"/>
          </p:cNvPicPr>
          <p:nvPr/>
        </p:nvPicPr>
        <p:blipFill>
          <a:blip r:embed="rId3"/>
          <a:stretch>
            <a:fillRect/>
          </a:stretch>
        </p:blipFill>
        <p:spPr>
          <a:xfrm>
            <a:off x="6809084" y="1946062"/>
            <a:ext cx="5382916" cy="247049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320040"/>
          </a:xfrm>
          <a:prstGeom prst="rect">
            <a:avLst/>
          </a:prstGeom>
          <a:noFill/>
          <a:ln/>
        </p:spPr>
        <p:txBody>
          <a:bodyPr wrap="square" lIns="0" tIns="0" rIns="0" bIns="0" rtlCol="0" anchor="t"/>
          <a:lstStyle/>
          <a:p>
            <a:pPr marL="0" indent="0">
              <a:buNone/>
            </a:pPr>
            <a:r>
              <a:rPr lang="en-US" sz="1400" b="1" kern="0" spc="200" dirty="0">
                <a:solidFill>
                  <a:srgbClr val="2BB3A3"/>
                </a:solidFill>
                <a:latin typeface="Calibri" pitchFamily="34" charset="0"/>
                <a:ea typeface="Calibri" pitchFamily="34" charset="-122"/>
                <a:cs typeface="Calibri" pitchFamily="34" charset="-120"/>
              </a:rPr>
              <a:t>Survey 2 · Lu et al. · DRL for 6G AI-RAN</a:t>
            </a:r>
            <a:endParaRPr lang="en-US" sz="1400" dirty="0"/>
          </a:p>
        </p:txBody>
      </p:sp>
      <p:sp>
        <p:nvSpPr>
          <p:cNvPr id="3" name="Text 1"/>
          <p:cNvSpPr txBox="1"/>
          <p:nvPr/>
        </p:nvSpPr>
        <p:spPr>
          <a:xfrm>
            <a:off x="640080" y="786384"/>
            <a:ext cx="10881360" cy="640080"/>
          </a:xfrm>
          <a:prstGeom prst="rect">
            <a:avLst/>
          </a:prstGeom>
          <a:noFill/>
          <a:ln/>
        </p:spPr>
        <p:txBody>
          <a:bodyPr wrap="square" lIns="0" tIns="0" rIns="0" bIns="0" rtlCol="0" anchor="t">
            <a:normAutofit/>
          </a:bodyPr>
          <a:lstStyle/>
          <a:p>
            <a:pPr marL="0" indent="0">
              <a:buNone/>
            </a:pPr>
            <a:r>
              <a:rPr lang="en-US" sz="2700" b="1" dirty="0">
                <a:solidFill>
                  <a:srgbClr val="12394D"/>
                </a:solidFill>
                <a:latin typeface="Cambria" pitchFamily="34" charset="0"/>
                <a:ea typeface="Cambria" pitchFamily="34" charset="-122"/>
                <a:cs typeface="Cambria" pitchFamily="34" charset="-120"/>
              </a:rPr>
              <a:t>Five contributions, from method to deployment</a:t>
            </a:r>
            <a:endParaRPr lang="en-US" sz="2700" dirty="0"/>
          </a:p>
        </p:txBody>
      </p:sp>
      <p:sp>
        <p:nvSpPr>
          <p:cNvPr id="4" name="Shape 2"/>
          <p:cNvSpPr/>
          <p:nvPr/>
        </p:nvSpPr>
        <p:spPr>
          <a:xfrm>
            <a:off x="640080" y="5596128"/>
            <a:ext cx="10881360" cy="502920"/>
          </a:xfrm>
          <a:prstGeom prst="roundRect">
            <a:avLst>
              <a:gd name="adj" fmla="val 10909"/>
            </a:avLst>
          </a:prstGeom>
          <a:solidFill>
            <a:srgbClr val="E6F4F2"/>
          </a:solidFill>
          <a:ln w="12700">
            <a:solidFill>
              <a:srgbClr val="E6F4F2"/>
            </a:solidFill>
            <a:prstDash val="solid"/>
          </a:ln>
        </p:spPr>
        <p:txBody>
          <a:bodyPr/>
          <a:lstStyle/>
          <a:p>
            <a:endParaRPr lang="en-US"/>
          </a:p>
        </p:txBody>
      </p:sp>
      <p:sp>
        <p:nvSpPr>
          <p:cNvPr id="5" name="Text 3"/>
          <p:cNvSpPr txBox="1"/>
          <p:nvPr/>
        </p:nvSpPr>
        <p:spPr>
          <a:xfrm>
            <a:off x="868680" y="5596128"/>
            <a:ext cx="10469880" cy="502920"/>
          </a:xfrm>
          <a:prstGeom prst="rect">
            <a:avLst/>
          </a:prstGeom>
          <a:noFill/>
          <a:ln/>
        </p:spPr>
        <p:txBody>
          <a:bodyPr wrap="square" lIns="0" tIns="0" rIns="0" bIns="0" rtlCol="0" anchor="ctr"/>
          <a:lstStyle/>
          <a:p>
            <a:pPr marL="0" indent="0">
              <a:buNone/>
            </a:pPr>
            <a:r>
              <a:rPr lang="en-US" sz="1400" b="1" dirty="0">
                <a:solidFill>
                  <a:srgbClr val="1A8A99"/>
                </a:solidFill>
                <a:latin typeface="Calibri" pitchFamily="34" charset="0"/>
                <a:ea typeface="Calibri" pitchFamily="34" charset="-122"/>
                <a:cs typeface="Calibri" pitchFamily="34" charset="-120"/>
              </a:rPr>
              <a:t>Takeaway  </a:t>
            </a:r>
            <a:r>
              <a:rPr lang="en-US" sz="1400" dirty="0">
                <a:solidFill>
                  <a:srgbClr val="12394D"/>
                </a:solidFill>
                <a:latin typeface="Calibri" pitchFamily="34" charset="0"/>
                <a:ea typeface="Calibri" pitchFamily="34" charset="-122"/>
                <a:cs typeface="Calibri" pitchFamily="34" charset="-120"/>
              </a:rPr>
              <a:t>It covers the full path from MDP design to certification, not just algorithms.</a:t>
            </a:r>
            <a:endParaRPr lang="en-US" sz="1400" dirty="0"/>
          </a:p>
        </p:txBody>
      </p:sp>
      <p:sp>
        <p:nvSpPr>
          <p:cNvPr id="6" name="Text 4"/>
          <p:cNvSpPr txBox="1"/>
          <p:nvPr/>
        </p:nvSpPr>
        <p:spPr>
          <a:xfrm>
            <a:off x="640080" y="6355080"/>
            <a:ext cx="6400800" cy="274320"/>
          </a:xfrm>
          <a:prstGeom prst="rect">
            <a:avLst/>
          </a:prstGeom>
          <a:noFill/>
          <a:ln/>
        </p:spPr>
        <p:txBody>
          <a:bodyPr wrap="square" lIns="0" tIns="0" rIns="0" bIns="0" rtlCol="0" anchor="t"/>
          <a:lstStyle/>
          <a:p>
            <a:pPr marL="0" indent="0">
              <a:buNone/>
            </a:pPr>
            <a:r>
              <a:rPr lang="en-US" sz="1100" dirty="0">
                <a:solidFill>
                  <a:srgbClr val="5F7A8A"/>
                </a:solidFill>
                <a:latin typeface="Calibri" pitchFamily="34" charset="0"/>
                <a:ea typeface="Calibri" pitchFamily="34" charset="-122"/>
                <a:cs typeface="Calibri" pitchFamily="34" charset="-120"/>
              </a:rPr>
              <a:t>RS2M Department · Télécom SudParis · Palaiseau, France</a:t>
            </a:r>
            <a:endParaRPr lang="en-US" sz="1100" dirty="0"/>
          </a:p>
        </p:txBody>
      </p:sp>
      <p:sp>
        <p:nvSpPr>
          <p:cNvPr id="7" name="Text 5"/>
          <p:cNvSpPr txBox="1"/>
          <p:nvPr/>
        </p:nvSpPr>
        <p:spPr>
          <a:xfrm>
            <a:off x="11064240" y="6355080"/>
            <a:ext cx="457200" cy="274320"/>
          </a:xfrm>
          <a:prstGeom prst="rect">
            <a:avLst/>
          </a:prstGeom>
          <a:noFill/>
          <a:ln/>
        </p:spPr>
        <p:txBody>
          <a:bodyPr wrap="square" lIns="0" tIns="0" rIns="0" bIns="0" rtlCol="0" anchor="t"/>
          <a:lstStyle/>
          <a:p>
            <a:pPr marL="0" indent="0" algn="r">
              <a:buNone/>
            </a:pPr>
            <a:r>
              <a:rPr lang="en-US" sz="1100" dirty="0">
                <a:solidFill>
                  <a:srgbClr val="5F7A8A"/>
                </a:solidFill>
                <a:latin typeface="Calibri" pitchFamily="34" charset="0"/>
                <a:ea typeface="Calibri" pitchFamily="34" charset="-122"/>
                <a:cs typeface="Calibri" pitchFamily="34" charset="-120"/>
              </a:rPr>
              <a:t>15</a:t>
            </a:r>
            <a:endParaRPr lang="en-US" sz="1100" dirty="0"/>
          </a:p>
        </p:txBody>
      </p:sp>
      <p:sp>
        <p:nvSpPr>
          <p:cNvPr id="9" name="Shape 6"/>
          <p:cNvSpPr/>
          <p:nvPr/>
        </p:nvSpPr>
        <p:spPr>
          <a:xfrm>
            <a:off x="640080" y="1645920"/>
            <a:ext cx="2011680" cy="2331720"/>
          </a:xfrm>
          <a:prstGeom prst="roundRect">
            <a:avLst>
              <a:gd name="adj" fmla="val 2727"/>
            </a:avLst>
          </a:prstGeom>
          <a:solidFill>
            <a:srgbClr val="F0F5F7"/>
          </a:solidFill>
          <a:ln w="12700">
            <a:solidFill>
              <a:srgbClr val="F0F5F7"/>
            </a:solidFill>
            <a:prstDash val="solid"/>
          </a:ln>
        </p:spPr>
        <p:txBody>
          <a:bodyPr/>
          <a:lstStyle/>
          <a:p>
            <a:endParaRPr lang="en-US"/>
          </a:p>
        </p:txBody>
      </p:sp>
      <p:sp>
        <p:nvSpPr>
          <p:cNvPr id="10" name="Shape 7"/>
          <p:cNvSpPr/>
          <p:nvPr/>
        </p:nvSpPr>
        <p:spPr>
          <a:xfrm>
            <a:off x="868680" y="1828800"/>
            <a:ext cx="384048" cy="384048"/>
          </a:xfrm>
          <a:prstGeom prst="ellipse">
            <a:avLst/>
          </a:prstGeom>
          <a:solidFill>
            <a:srgbClr val="1A8A99"/>
          </a:solidFill>
          <a:ln w="12700">
            <a:solidFill>
              <a:srgbClr val="1A8A99"/>
            </a:solidFill>
            <a:prstDash val="solid"/>
          </a:ln>
        </p:spPr>
        <p:txBody>
          <a:bodyPr/>
          <a:lstStyle/>
          <a:p>
            <a:endParaRPr lang="en-US"/>
          </a:p>
        </p:txBody>
      </p:sp>
      <p:sp>
        <p:nvSpPr>
          <p:cNvPr id="11" name="Text 8"/>
          <p:cNvSpPr txBox="1"/>
          <p:nvPr/>
        </p:nvSpPr>
        <p:spPr>
          <a:xfrm>
            <a:off x="868680" y="18288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2" name="Text 9"/>
          <p:cNvSpPr txBox="1"/>
          <p:nvPr/>
        </p:nvSpPr>
        <p:spPr>
          <a:xfrm>
            <a:off x="868680" y="2331720"/>
            <a:ext cx="1600200" cy="548640"/>
          </a:xfrm>
          <a:prstGeom prst="rect">
            <a:avLst/>
          </a:prstGeom>
          <a:noFill/>
          <a:ln/>
        </p:spPr>
        <p:txBody>
          <a:bodyPr wrap="square" lIns="0" tIns="0" rIns="0" bIns="0" rtlCol="0" anchor="t"/>
          <a:lstStyle/>
          <a:p>
            <a:pPr marL="0" indent="0">
              <a:buNone/>
            </a:pPr>
            <a:r>
              <a:rPr lang="en-US" sz="1500" b="1" dirty="0">
                <a:solidFill>
                  <a:srgbClr val="12394D"/>
                </a:solidFill>
                <a:latin typeface="Calibri" pitchFamily="34" charset="0"/>
                <a:ea typeface="Calibri" pitchFamily="34" charset="-122"/>
                <a:cs typeface="Calibri" pitchFamily="34" charset="-120"/>
              </a:rPr>
              <a:t>O-RAN-aware MDP</a:t>
            </a:r>
            <a:endParaRPr lang="en-US" sz="1500" dirty="0"/>
          </a:p>
        </p:txBody>
      </p:sp>
      <p:sp>
        <p:nvSpPr>
          <p:cNvPr id="13" name="Text 10"/>
          <p:cNvSpPr txBox="1"/>
          <p:nvPr/>
        </p:nvSpPr>
        <p:spPr>
          <a:xfrm>
            <a:off x="868680" y="2926080"/>
            <a:ext cx="1600200" cy="1005840"/>
          </a:xfrm>
          <a:prstGeom prst="rect">
            <a:avLst/>
          </a:prstGeom>
          <a:noFill/>
          <a:ln/>
        </p:spPr>
        <p:txBody>
          <a:bodyPr wrap="square" lIns="0" tIns="0" rIns="0" bIns="0" rtlCol="0" anchor="t"/>
          <a:lstStyle/>
          <a:p>
            <a:pPr marL="0" indent="0">
              <a:buNone/>
            </a:pPr>
            <a:r>
              <a:rPr lang="en-US" sz="1250" dirty="0">
                <a:solidFill>
                  <a:srgbClr val="5F7A8A"/>
                </a:solidFill>
                <a:latin typeface="Calibri" pitchFamily="34" charset="0"/>
                <a:ea typeface="Calibri" pitchFamily="34" charset="-122"/>
                <a:cs typeface="Calibri" pitchFamily="34" charset="-120"/>
              </a:rPr>
              <a:t>States, actions, rewards, constraints, timing, plus multi-agent and federated variants</a:t>
            </a:r>
            <a:endParaRPr lang="en-US" sz="1250" dirty="0"/>
          </a:p>
        </p:txBody>
      </p:sp>
      <p:sp>
        <p:nvSpPr>
          <p:cNvPr id="14" name="Shape 11"/>
          <p:cNvSpPr/>
          <p:nvPr/>
        </p:nvSpPr>
        <p:spPr>
          <a:xfrm>
            <a:off x="2857500" y="1645920"/>
            <a:ext cx="2011680" cy="2331720"/>
          </a:xfrm>
          <a:prstGeom prst="roundRect">
            <a:avLst>
              <a:gd name="adj" fmla="val 2727"/>
            </a:avLst>
          </a:prstGeom>
          <a:solidFill>
            <a:srgbClr val="F0F5F7"/>
          </a:solidFill>
          <a:ln w="12700">
            <a:solidFill>
              <a:srgbClr val="F0F5F7"/>
            </a:solidFill>
            <a:prstDash val="solid"/>
          </a:ln>
        </p:spPr>
        <p:txBody>
          <a:bodyPr/>
          <a:lstStyle/>
          <a:p>
            <a:endParaRPr lang="en-US"/>
          </a:p>
        </p:txBody>
      </p:sp>
      <p:sp>
        <p:nvSpPr>
          <p:cNvPr id="15" name="Shape 12"/>
          <p:cNvSpPr/>
          <p:nvPr/>
        </p:nvSpPr>
        <p:spPr>
          <a:xfrm>
            <a:off x="3086100" y="1828800"/>
            <a:ext cx="384048" cy="384048"/>
          </a:xfrm>
          <a:prstGeom prst="ellipse">
            <a:avLst/>
          </a:prstGeom>
          <a:solidFill>
            <a:srgbClr val="1A8A99"/>
          </a:solidFill>
          <a:ln w="12700">
            <a:solidFill>
              <a:srgbClr val="1A8A99"/>
            </a:solidFill>
            <a:prstDash val="solid"/>
          </a:ln>
        </p:spPr>
        <p:txBody>
          <a:bodyPr/>
          <a:lstStyle/>
          <a:p>
            <a:endParaRPr lang="en-US"/>
          </a:p>
        </p:txBody>
      </p:sp>
      <p:sp>
        <p:nvSpPr>
          <p:cNvPr id="16" name="Text 13"/>
          <p:cNvSpPr txBox="1"/>
          <p:nvPr/>
        </p:nvSpPr>
        <p:spPr>
          <a:xfrm>
            <a:off x="3086100" y="18288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7" name="Text 14"/>
          <p:cNvSpPr txBox="1"/>
          <p:nvPr/>
        </p:nvSpPr>
        <p:spPr>
          <a:xfrm>
            <a:off x="3086100" y="2331720"/>
            <a:ext cx="1600200" cy="548640"/>
          </a:xfrm>
          <a:prstGeom prst="rect">
            <a:avLst/>
          </a:prstGeom>
          <a:noFill/>
          <a:ln/>
        </p:spPr>
        <p:txBody>
          <a:bodyPr wrap="square" lIns="0" tIns="0" rIns="0" bIns="0" rtlCol="0" anchor="t"/>
          <a:lstStyle/>
          <a:p>
            <a:pPr marL="0" indent="0">
              <a:buNone/>
            </a:pPr>
            <a:r>
              <a:rPr lang="en-US" sz="1500" b="1" dirty="0">
                <a:solidFill>
                  <a:srgbClr val="12394D"/>
                </a:solidFill>
                <a:latin typeface="Calibri" pitchFamily="34" charset="0"/>
                <a:ea typeface="Calibri" pitchFamily="34" charset="-122"/>
                <a:cs typeface="Calibri" pitchFamily="34" charset="-120"/>
              </a:rPr>
              <a:t>Use-case taxonomy</a:t>
            </a:r>
            <a:endParaRPr lang="en-US" sz="1500" dirty="0"/>
          </a:p>
        </p:txBody>
      </p:sp>
      <p:sp>
        <p:nvSpPr>
          <p:cNvPr id="18" name="Text 15"/>
          <p:cNvSpPr txBox="1"/>
          <p:nvPr/>
        </p:nvSpPr>
        <p:spPr>
          <a:xfrm>
            <a:off x="3086100" y="2926080"/>
            <a:ext cx="1600200" cy="1005840"/>
          </a:xfrm>
          <a:prstGeom prst="rect">
            <a:avLst/>
          </a:prstGeom>
          <a:noFill/>
          <a:ln/>
        </p:spPr>
        <p:txBody>
          <a:bodyPr wrap="square" lIns="0" tIns="0" rIns="0" bIns="0" rtlCol="0" anchor="t"/>
          <a:lstStyle/>
          <a:p>
            <a:pPr marL="0" indent="0">
              <a:buNone/>
            </a:pPr>
            <a:r>
              <a:rPr lang="en-US" sz="1250" dirty="0">
                <a:solidFill>
                  <a:srgbClr val="5F7A8A"/>
                </a:solidFill>
                <a:latin typeface="Calibri" pitchFamily="34" charset="0"/>
                <a:ea typeface="Calibri" pitchFamily="34" charset="-122"/>
                <a:cs typeface="Calibri" pitchFamily="34" charset="-120"/>
              </a:rPr>
              <a:t>Nine domains classified by control loop and timescale</a:t>
            </a:r>
            <a:endParaRPr lang="en-US" sz="1250" dirty="0"/>
          </a:p>
        </p:txBody>
      </p:sp>
      <p:sp>
        <p:nvSpPr>
          <p:cNvPr id="19" name="Shape 16"/>
          <p:cNvSpPr/>
          <p:nvPr/>
        </p:nvSpPr>
        <p:spPr>
          <a:xfrm>
            <a:off x="5074920" y="1645920"/>
            <a:ext cx="2011680" cy="2331720"/>
          </a:xfrm>
          <a:prstGeom prst="roundRect">
            <a:avLst>
              <a:gd name="adj" fmla="val 2727"/>
            </a:avLst>
          </a:prstGeom>
          <a:solidFill>
            <a:srgbClr val="F0F5F7"/>
          </a:solidFill>
          <a:ln w="12700">
            <a:solidFill>
              <a:srgbClr val="F0F5F7"/>
            </a:solidFill>
            <a:prstDash val="solid"/>
          </a:ln>
        </p:spPr>
        <p:txBody>
          <a:bodyPr/>
          <a:lstStyle/>
          <a:p>
            <a:endParaRPr lang="en-US"/>
          </a:p>
        </p:txBody>
      </p:sp>
      <p:sp>
        <p:nvSpPr>
          <p:cNvPr id="20" name="Shape 17"/>
          <p:cNvSpPr/>
          <p:nvPr/>
        </p:nvSpPr>
        <p:spPr>
          <a:xfrm>
            <a:off x="5303520" y="1828800"/>
            <a:ext cx="384048" cy="384048"/>
          </a:xfrm>
          <a:prstGeom prst="ellipse">
            <a:avLst/>
          </a:prstGeom>
          <a:solidFill>
            <a:srgbClr val="1A8A99"/>
          </a:solidFill>
          <a:ln w="12700">
            <a:solidFill>
              <a:srgbClr val="1A8A99"/>
            </a:solidFill>
            <a:prstDash val="solid"/>
          </a:ln>
        </p:spPr>
        <p:txBody>
          <a:bodyPr/>
          <a:lstStyle/>
          <a:p>
            <a:endParaRPr lang="en-US"/>
          </a:p>
        </p:txBody>
      </p:sp>
      <p:sp>
        <p:nvSpPr>
          <p:cNvPr id="21" name="Text 18"/>
          <p:cNvSpPr txBox="1"/>
          <p:nvPr/>
        </p:nvSpPr>
        <p:spPr>
          <a:xfrm>
            <a:off x="5303520" y="18288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22" name="Text 19"/>
          <p:cNvSpPr txBox="1"/>
          <p:nvPr/>
        </p:nvSpPr>
        <p:spPr>
          <a:xfrm>
            <a:off x="5303520" y="2331720"/>
            <a:ext cx="1600200" cy="548640"/>
          </a:xfrm>
          <a:prstGeom prst="rect">
            <a:avLst/>
          </a:prstGeom>
          <a:noFill/>
          <a:ln/>
        </p:spPr>
        <p:txBody>
          <a:bodyPr wrap="square" lIns="0" tIns="0" rIns="0" bIns="0" rtlCol="0" anchor="t"/>
          <a:lstStyle/>
          <a:p>
            <a:pPr marL="0" indent="0">
              <a:buNone/>
            </a:pPr>
            <a:r>
              <a:rPr lang="en-US" sz="1500" b="1" dirty="0">
                <a:solidFill>
                  <a:srgbClr val="12394D"/>
                </a:solidFill>
                <a:latin typeface="Calibri" pitchFamily="34" charset="0"/>
                <a:ea typeface="Calibri" pitchFamily="34" charset="-122"/>
                <a:cs typeface="Calibri" pitchFamily="34" charset="-120"/>
              </a:rPr>
              <a:t>Advanced methods</a:t>
            </a:r>
            <a:endParaRPr lang="en-US" sz="1500" dirty="0"/>
          </a:p>
        </p:txBody>
      </p:sp>
      <p:sp>
        <p:nvSpPr>
          <p:cNvPr id="23" name="Text 20"/>
          <p:cNvSpPr txBox="1"/>
          <p:nvPr/>
        </p:nvSpPr>
        <p:spPr>
          <a:xfrm>
            <a:off x="5303520" y="2926080"/>
            <a:ext cx="1600200" cy="1005840"/>
          </a:xfrm>
          <a:prstGeom prst="rect">
            <a:avLst/>
          </a:prstGeom>
          <a:noFill/>
          <a:ln/>
        </p:spPr>
        <p:txBody>
          <a:bodyPr wrap="square" lIns="0" tIns="0" rIns="0" bIns="0" rtlCol="0" anchor="t"/>
          <a:lstStyle/>
          <a:p>
            <a:pPr marL="0" indent="0">
              <a:buNone/>
            </a:pPr>
            <a:r>
              <a:rPr lang="en-US" sz="1250" dirty="0">
                <a:solidFill>
                  <a:srgbClr val="5F7A8A"/>
                </a:solidFill>
                <a:latin typeface="Calibri" pitchFamily="34" charset="0"/>
                <a:ea typeface="Calibri" pitchFamily="34" charset="-122"/>
                <a:cs typeface="Calibri" pitchFamily="34" charset="-120"/>
              </a:rPr>
              <a:t>Set and graph encoders for variable entities; foundation models as policy, reward or world model</a:t>
            </a:r>
            <a:endParaRPr lang="en-US" sz="1250" dirty="0"/>
          </a:p>
        </p:txBody>
      </p:sp>
      <p:sp>
        <p:nvSpPr>
          <p:cNvPr id="24" name="Shape 21"/>
          <p:cNvSpPr/>
          <p:nvPr/>
        </p:nvSpPr>
        <p:spPr>
          <a:xfrm>
            <a:off x="7292340" y="1645920"/>
            <a:ext cx="2011680" cy="2331720"/>
          </a:xfrm>
          <a:prstGeom prst="roundRect">
            <a:avLst>
              <a:gd name="adj" fmla="val 2727"/>
            </a:avLst>
          </a:prstGeom>
          <a:solidFill>
            <a:srgbClr val="F0F5F7"/>
          </a:solidFill>
          <a:ln w="12700">
            <a:solidFill>
              <a:srgbClr val="F0F5F7"/>
            </a:solidFill>
            <a:prstDash val="solid"/>
          </a:ln>
        </p:spPr>
        <p:txBody>
          <a:bodyPr/>
          <a:lstStyle/>
          <a:p>
            <a:endParaRPr lang="en-US"/>
          </a:p>
        </p:txBody>
      </p:sp>
      <p:sp>
        <p:nvSpPr>
          <p:cNvPr id="25" name="Shape 22"/>
          <p:cNvSpPr/>
          <p:nvPr/>
        </p:nvSpPr>
        <p:spPr>
          <a:xfrm>
            <a:off x="7520940" y="1828800"/>
            <a:ext cx="384048" cy="384048"/>
          </a:xfrm>
          <a:prstGeom prst="ellipse">
            <a:avLst/>
          </a:prstGeom>
          <a:solidFill>
            <a:srgbClr val="1A8A99"/>
          </a:solidFill>
          <a:ln w="12700">
            <a:solidFill>
              <a:srgbClr val="1A8A99"/>
            </a:solidFill>
            <a:prstDash val="solid"/>
          </a:ln>
        </p:spPr>
        <p:txBody>
          <a:bodyPr/>
          <a:lstStyle/>
          <a:p>
            <a:endParaRPr lang="en-US"/>
          </a:p>
        </p:txBody>
      </p:sp>
      <p:sp>
        <p:nvSpPr>
          <p:cNvPr id="26" name="Text 23"/>
          <p:cNvSpPr txBox="1"/>
          <p:nvPr/>
        </p:nvSpPr>
        <p:spPr>
          <a:xfrm>
            <a:off x="7520940" y="18288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7" name="Text 24"/>
          <p:cNvSpPr txBox="1"/>
          <p:nvPr/>
        </p:nvSpPr>
        <p:spPr>
          <a:xfrm>
            <a:off x="7520940" y="2331720"/>
            <a:ext cx="1600200" cy="548640"/>
          </a:xfrm>
          <a:prstGeom prst="rect">
            <a:avLst/>
          </a:prstGeom>
          <a:noFill/>
          <a:ln/>
        </p:spPr>
        <p:txBody>
          <a:bodyPr wrap="square" lIns="0" tIns="0" rIns="0" bIns="0" rtlCol="0" anchor="t"/>
          <a:lstStyle/>
          <a:p>
            <a:pPr marL="0" indent="0">
              <a:buNone/>
            </a:pPr>
            <a:r>
              <a:rPr lang="en-US" sz="1500" b="1" dirty="0">
                <a:solidFill>
                  <a:srgbClr val="12394D"/>
                </a:solidFill>
                <a:latin typeface="Calibri" pitchFamily="34" charset="0"/>
                <a:ea typeface="Calibri" pitchFamily="34" charset="-122"/>
                <a:cs typeface="Calibri" pitchFamily="34" charset="-120"/>
              </a:rPr>
              <a:t>Trustworthy DRL</a:t>
            </a:r>
            <a:endParaRPr lang="en-US" sz="1500" dirty="0"/>
          </a:p>
        </p:txBody>
      </p:sp>
      <p:sp>
        <p:nvSpPr>
          <p:cNvPr id="28" name="Text 25"/>
          <p:cNvSpPr txBox="1"/>
          <p:nvPr/>
        </p:nvSpPr>
        <p:spPr>
          <a:xfrm>
            <a:off x="7520940" y="2926080"/>
            <a:ext cx="1600200" cy="1005840"/>
          </a:xfrm>
          <a:prstGeom prst="rect">
            <a:avLst/>
          </a:prstGeom>
          <a:noFill/>
          <a:ln/>
        </p:spPr>
        <p:txBody>
          <a:bodyPr wrap="square" lIns="0" tIns="0" rIns="0" bIns="0" rtlCol="0" anchor="t"/>
          <a:lstStyle/>
          <a:p>
            <a:pPr marL="0" indent="0">
              <a:buNone/>
            </a:pPr>
            <a:r>
              <a:rPr lang="en-US" sz="1250" dirty="0">
                <a:solidFill>
                  <a:srgbClr val="5F7A8A"/>
                </a:solidFill>
                <a:latin typeface="Calibri" pitchFamily="34" charset="0"/>
                <a:ea typeface="Calibri" pitchFamily="34" charset="-122"/>
                <a:cs typeface="Calibri" pitchFamily="34" charset="-120"/>
              </a:rPr>
              <a:t>Safety, fairness, explainability, robustness, verification, mapped to O-RAN, 3GPP, ETSI</a:t>
            </a:r>
            <a:endParaRPr lang="en-US" sz="1250" dirty="0"/>
          </a:p>
        </p:txBody>
      </p:sp>
      <p:sp>
        <p:nvSpPr>
          <p:cNvPr id="29" name="Shape 26"/>
          <p:cNvSpPr/>
          <p:nvPr/>
        </p:nvSpPr>
        <p:spPr>
          <a:xfrm>
            <a:off x="9509760" y="1645920"/>
            <a:ext cx="2011680" cy="2331720"/>
          </a:xfrm>
          <a:prstGeom prst="roundRect">
            <a:avLst>
              <a:gd name="adj" fmla="val 2727"/>
            </a:avLst>
          </a:prstGeom>
          <a:solidFill>
            <a:srgbClr val="F0F5F7"/>
          </a:solidFill>
          <a:ln w="12700">
            <a:solidFill>
              <a:srgbClr val="F0F5F7"/>
            </a:solidFill>
            <a:prstDash val="solid"/>
          </a:ln>
        </p:spPr>
        <p:txBody>
          <a:bodyPr/>
          <a:lstStyle/>
          <a:p>
            <a:endParaRPr lang="en-US"/>
          </a:p>
        </p:txBody>
      </p:sp>
      <p:sp>
        <p:nvSpPr>
          <p:cNvPr id="30" name="Shape 27"/>
          <p:cNvSpPr/>
          <p:nvPr/>
        </p:nvSpPr>
        <p:spPr>
          <a:xfrm>
            <a:off x="9738360" y="1828800"/>
            <a:ext cx="384048" cy="384048"/>
          </a:xfrm>
          <a:prstGeom prst="ellipse">
            <a:avLst/>
          </a:prstGeom>
          <a:solidFill>
            <a:srgbClr val="1A8A99"/>
          </a:solidFill>
          <a:ln w="12700">
            <a:solidFill>
              <a:srgbClr val="1A8A99"/>
            </a:solidFill>
            <a:prstDash val="solid"/>
          </a:ln>
        </p:spPr>
        <p:txBody>
          <a:bodyPr/>
          <a:lstStyle/>
          <a:p>
            <a:endParaRPr lang="en-US"/>
          </a:p>
        </p:txBody>
      </p:sp>
      <p:sp>
        <p:nvSpPr>
          <p:cNvPr id="31" name="Text 28"/>
          <p:cNvSpPr txBox="1"/>
          <p:nvPr/>
        </p:nvSpPr>
        <p:spPr>
          <a:xfrm>
            <a:off x="9738360" y="18288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32" name="Text 29"/>
          <p:cNvSpPr txBox="1"/>
          <p:nvPr/>
        </p:nvSpPr>
        <p:spPr>
          <a:xfrm>
            <a:off x="9738360" y="2331720"/>
            <a:ext cx="1600200" cy="548640"/>
          </a:xfrm>
          <a:prstGeom prst="rect">
            <a:avLst/>
          </a:prstGeom>
          <a:noFill/>
          <a:ln/>
        </p:spPr>
        <p:txBody>
          <a:bodyPr wrap="square" lIns="0" tIns="0" rIns="0" bIns="0" rtlCol="0" anchor="t"/>
          <a:lstStyle/>
          <a:p>
            <a:pPr marL="0" indent="0">
              <a:buNone/>
            </a:pPr>
            <a:r>
              <a:rPr lang="en-US" sz="1500" b="1" dirty="0">
                <a:solidFill>
                  <a:srgbClr val="12394D"/>
                </a:solidFill>
                <a:latin typeface="Calibri" pitchFamily="34" charset="0"/>
                <a:ea typeface="Calibri" pitchFamily="34" charset="-122"/>
                <a:cs typeface="Calibri" pitchFamily="34" charset="-120"/>
              </a:rPr>
              <a:t>Deployment pipeline</a:t>
            </a:r>
            <a:endParaRPr lang="en-US" sz="1500" dirty="0"/>
          </a:p>
        </p:txBody>
      </p:sp>
      <p:sp>
        <p:nvSpPr>
          <p:cNvPr id="33" name="Text 30"/>
          <p:cNvSpPr txBox="1"/>
          <p:nvPr/>
        </p:nvSpPr>
        <p:spPr>
          <a:xfrm>
            <a:off x="9738360" y="2926080"/>
            <a:ext cx="1600200" cy="1005840"/>
          </a:xfrm>
          <a:prstGeom prst="rect">
            <a:avLst/>
          </a:prstGeom>
          <a:noFill/>
          <a:ln/>
        </p:spPr>
        <p:txBody>
          <a:bodyPr wrap="square" lIns="0" tIns="0" rIns="0" bIns="0" rtlCol="0" anchor="t"/>
          <a:lstStyle/>
          <a:p>
            <a:pPr marL="0" indent="0">
              <a:buNone/>
            </a:pPr>
            <a:r>
              <a:rPr lang="en-US" sz="1250" dirty="0">
                <a:solidFill>
                  <a:srgbClr val="5F7A8A"/>
                </a:solidFill>
                <a:latin typeface="Calibri" pitchFamily="34" charset="0"/>
                <a:ea typeface="Calibri" pitchFamily="34" charset="-122"/>
                <a:cs typeface="Calibri" pitchFamily="34" charset="-120"/>
              </a:rPr>
              <a:t>Sim-to-real, sample efficiency, continual learning, RLOps, benchmarks</a:t>
            </a:r>
            <a:endParaRPr lang="en-US" sz="1250" dirty="0"/>
          </a:p>
        </p:txBody>
      </p:sp>
      <p:sp>
        <p:nvSpPr>
          <p:cNvPr id="34" name="Shape 31"/>
          <p:cNvSpPr/>
          <p:nvPr/>
        </p:nvSpPr>
        <p:spPr>
          <a:xfrm>
            <a:off x="640080" y="4160520"/>
            <a:ext cx="10881360" cy="1280160"/>
          </a:xfrm>
          <a:prstGeom prst="roundRect">
            <a:avLst>
              <a:gd name="adj" fmla="val 4286"/>
            </a:avLst>
          </a:prstGeom>
          <a:solidFill>
            <a:srgbClr val="F7FAFB"/>
          </a:solidFill>
          <a:ln w="15875">
            <a:solidFill>
              <a:srgbClr val="9FB4C2"/>
            </a:solidFill>
            <a:prstDash val="dash"/>
          </a:ln>
        </p:spPr>
        <p:txBody>
          <a:bodyPr/>
          <a:lstStyle/>
          <a:p>
            <a:endParaRPr lang="en-US"/>
          </a:p>
        </p:txBody>
      </p:sp>
      <p:pic>
        <p:nvPicPr>
          <p:cNvPr id="36" name="Image 35">
            <a:extLst>
              <a:ext uri="{FF2B5EF4-FFF2-40B4-BE49-F238E27FC236}">
                <a16:creationId xmlns:a16="http://schemas.microsoft.com/office/drawing/2014/main" id="{FCEF5662-AD15-4B67-BFAB-A0B00D6794FE}"/>
              </a:ext>
            </a:extLst>
          </p:cNvPr>
          <p:cNvPicPr>
            <a:picLocks noChangeAspect="1"/>
          </p:cNvPicPr>
          <p:nvPr/>
        </p:nvPicPr>
        <p:blipFill>
          <a:blip r:embed="rId3"/>
          <a:stretch>
            <a:fillRect/>
          </a:stretch>
        </p:blipFill>
        <p:spPr>
          <a:xfrm>
            <a:off x="926282" y="4421395"/>
            <a:ext cx="10412278" cy="79068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320040"/>
          </a:xfrm>
          <a:prstGeom prst="rect">
            <a:avLst/>
          </a:prstGeom>
          <a:noFill/>
          <a:ln/>
        </p:spPr>
        <p:txBody>
          <a:bodyPr wrap="square" lIns="0" tIns="0" rIns="0" bIns="0" rtlCol="0" anchor="t"/>
          <a:lstStyle/>
          <a:p>
            <a:pPr marL="0" indent="0">
              <a:buNone/>
            </a:pPr>
            <a:r>
              <a:rPr lang="en-US" sz="1400" b="1" kern="0" spc="200" dirty="0">
                <a:solidFill>
                  <a:srgbClr val="2BB3A3"/>
                </a:solidFill>
                <a:latin typeface="Calibri" pitchFamily="34" charset="0"/>
                <a:ea typeface="Calibri" pitchFamily="34" charset="-122"/>
                <a:cs typeface="Calibri" pitchFamily="34" charset="-120"/>
              </a:rPr>
              <a:t>Survey 2 · Lu et al. · DRL for 6G AI-RAN</a:t>
            </a:r>
            <a:endParaRPr lang="en-US" sz="1400" dirty="0"/>
          </a:p>
        </p:txBody>
      </p:sp>
      <p:sp>
        <p:nvSpPr>
          <p:cNvPr id="3" name="Text 1"/>
          <p:cNvSpPr txBox="1"/>
          <p:nvPr/>
        </p:nvSpPr>
        <p:spPr>
          <a:xfrm>
            <a:off x="640080" y="786384"/>
            <a:ext cx="10881360" cy="640080"/>
          </a:xfrm>
          <a:prstGeom prst="rect">
            <a:avLst/>
          </a:prstGeom>
          <a:noFill/>
          <a:ln/>
        </p:spPr>
        <p:txBody>
          <a:bodyPr wrap="square" lIns="0" tIns="0" rIns="0" bIns="0" rtlCol="0" anchor="t">
            <a:normAutofit/>
          </a:bodyPr>
          <a:lstStyle/>
          <a:p>
            <a:pPr marL="0" indent="0">
              <a:buNone/>
            </a:pPr>
            <a:r>
              <a:rPr lang="en-US" sz="2700" b="1" dirty="0">
                <a:solidFill>
                  <a:srgbClr val="12394D"/>
                </a:solidFill>
                <a:latin typeface="Cambria" pitchFamily="34" charset="0"/>
                <a:ea typeface="Cambria" pitchFamily="34" charset="-122"/>
                <a:cs typeface="Cambria" pitchFamily="34" charset="-120"/>
              </a:rPr>
              <a:t>DRL foundations: MDP, POMDP and model-free learning</a:t>
            </a:r>
            <a:endParaRPr lang="en-US" sz="2700" dirty="0"/>
          </a:p>
        </p:txBody>
      </p:sp>
      <p:sp>
        <p:nvSpPr>
          <p:cNvPr id="4" name="Shape 2"/>
          <p:cNvSpPr/>
          <p:nvPr/>
        </p:nvSpPr>
        <p:spPr>
          <a:xfrm>
            <a:off x="640080" y="5596128"/>
            <a:ext cx="10881360" cy="502920"/>
          </a:xfrm>
          <a:prstGeom prst="roundRect">
            <a:avLst>
              <a:gd name="adj" fmla="val 10909"/>
            </a:avLst>
          </a:prstGeom>
          <a:solidFill>
            <a:srgbClr val="E6F4F2"/>
          </a:solidFill>
          <a:ln w="12700">
            <a:solidFill>
              <a:srgbClr val="E6F4F2"/>
            </a:solidFill>
            <a:prstDash val="solid"/>
          </a:ln>
        </p:spPr>
        <p:txBody>
          <a:bodyPr/>
          <a:lstStyle/>
          <a:p>
            <a:endParaRPr lang="en-US"/>
          </a:p>
        </p:txBody>
      </p:sp>
      <p:sp>
        <p:nvSpPr>
          <p:cNvPr id="5" name="Text 3"/>
          <p:cNvSpPr txBox="1"/>
          <p:nvPr/>
        </p:nvSpPr>
        <p:spPr>
          <a:xfrm>
            <a:off x="868680" y="5596128"/>
            <a:ext cx="10469880" cy="502920"/>
          </a:xfrm>
          <a:prstGeom prst="rect">
            <a:avLst/>
          </a:prstGeom>
          <a:noFill/>
          <a:ln/>
        </p:spPr>
        <p:txBody>
          <a:bodyPr wrap="square" lIns="0" tIns="0" rIns="0" bIns="0" rtlCol="0" anchor="ctr"/>
          <a:lstStyle/>
          <a:p>
            <a:pPr marL="0" indent="0">
              <a:buNone/>
            </a:pPr>
            <a:r>
              <a:rPr lang="en-US" sz="1400" b="1" dirty="0">
                <a:solidFill>
                  <a:srgbClr val="1A8A99"/>
                </a:solidFill>
                <a:latin typeface="Calibri" pitchFamily="34" charset="0"/>
                <a:ea typeface="Calibri" pitchFamily="34" charset="-122"/>
                <a:cs typeface="Calibri" pitchFamily="34" charset="-120"/>
              </a:rPr>
              <a:t>Takeaway  </a:t>
            </a:r>
            <a:r>
              <a:rPr lang="en-US" sz="1400" dirty="0">
                <a:solidFill>
                  <a:srgbClr val="12394D"/>
                </a:solidFill>
                <a:latin typeface="Calibri" pitchFamily="34" charset="0"/>
                <a:ea typeface="Calibri" pitchFamily="34" charset="-122"/>
                <a:cs typeface="Calibri" pitchFamily="34" charset="-120"/>
              </a:rPr>
              <a:t>Off-policy and offline methods matter because RAN interaction data is expensive and risky to collect.</a:t>
            </a:r>
            <a:endParaRPr lang="en-US" sz="1400" dirty="0"/>
          </a:p>
        </p:txBody>
      </p:sp>
      <p:sp>
        <p:nvSpPr>
          <p:cNvPr id="6" name="Text 4"/>
          <p:cNvSpPr txBox="1"/>
          <p:nvPr/>
        </p:nvSpPr>
        <p:spPr>
          <a:xfrm>
            <a:off x="640080" y="6355080"/>
            <a:ext cx="6400800" cy="274320"/>
          </a:xfrm>
          <a:prstGeom prst="rect">
            <a:avLst/>
          </a:prstGeom>
          <a:noFill/>
          <a:ln/>
        </p:spPr>
        <p:txBody>
          <a:bodyPr wrap="square" lIns="0" tIns="0" rIns="0" bIns="0" rtlCol="0" anchor="t"/>
          <a:lstStyle/>
          <a:p>
            <a:pPr marL="0" indent="0">
              <a:buNone/>
            </a:pPr>
            <a:r>
              <a:rPr lang="en-US" sz="1100" dirty="0">
                <a:solidFill>
                  <a:srgbClr val="5F7A8A"/>
                </a:solidFill>
                <a:latin typeface="Calibri" pitchFamily="34" charset="0"/>
                <a:ea typeface="Calibri" pitchFamily="34" charset="-122"/>
                <a:cs typeface="Calibri" pitchFamily="34" charset="-120"/>
              </a:rPr>
              <a:t>RS2M Department · Télécom SudParis · Palaiseau, France</a:t>
            </a:r>
            <a:endParaRPr lang="en-US" sz="1100" dirty="0"/>
          </a:p>
        </p:txBody>
      </p:sp>
      <p:sp>
        <p:nvSpPr>
          <p:cNvPr id="7" name="Text 5"/>
          <p:cNvSpPr txBox="1"/>
          <p:nvPr/>
        </p:nvSpPr>
        <p:spPr>
          <a:xfrm>
            <a:off x="11064240" y="6355080"/>
            <a:ext cx="457200" cy="274320"/>
          </a:xfrm>
          <a:prstGeom prst="rect">
            <a:avLst/>
          </a:prstGeom>
          <a:noFill/>
          <a:ln/>
        </p:spPr>
        <p:txBody>
          <a:bodyPr wrap="square" lIns="0" tIns="0" rIns="0" bIns="0" rtlCol="0" anchor="t"/>
          <a:lstStyle/>
          <a:p>
            <a:pPr marL="0" indent="0" algn="r">
              <a:buNone/>
            </a:pPr>
            <a:r>
              <a:rPr lang="en-US" sz="1100" dirty="0">
                <a:solidFill>
                  <a:srgbClr val="5F7A8A"/>
                </a:solidFill>
                <a:latin typeface="Calibri" pitchFamily="34" charset="0"/>
                <a:ea typeface="Calibri" pitchFamily="34" charset="-122"/>
                <a:cs typeface="Calibri" pitchFamily="34" charset="-120"/>
              </a:rPr>
              <a:t>16</a:t>
            </a:r>
            <a:endParaRPr lang="en-US" sz="1100" dirty="0"/>
          </a:p>
        </p:txBody>
      </p:sp>
      <p:sp>
        <p:nvSpPr>
          <p:cNvPr id="9" name="Shape 6"/>
          <p:cNvSpPr/>
          <p:nvPr/>
        </p:nvSpPr>
        <p:spPr>
          <a:xfrm>
            <a:off x="640080" y="1645920"/>
            <a:ext cx="3474720" cy="3749040"/>
          </a:xfrm>
          <a:prstGeom prst="roundRect">
            <a:avLst>
              <a:gd name="adj" fmla="val 1579"/>
            </a:avLst>
          </a:prstGeom>
          <a:solidFill>
            <a:srgbClr val="F0F5F7"/>
          </a:solidFill>
          <a:ln w="12700">
            <a:solidFill>
              <a:srgbClr val="F0F5F7"/>
            </a:solidFill>
            <a:prstDash val="solid"/>
          </a:ln>
        </p:spPr>
        <p:txBody>
          <a:bodyPr/>
          <a:lstStyle/>
          <a:p>
            <a:endParaRPr lang="en-US"/>
          </a:p>
        </p:txBody>
      </p:sp>
      <p:sp>
        <p:nvSpPr>
          <p:cNvPr id="10" name="Text 7"/>
          <p:cNvSpPr txBox="1"/>
          <p:nvPr/>
        </p:nvSpPr>
        <p:spPr>
          <a:xfrm>
            <a:off x="914400" y="1828800"/>
            <a:ext cx="2926080" cy="274320"/>
          </a:xfrm>
          <a:prstGeom prst="rect">
            <a:avLst/>
          </a:prstGeom>
          <a:noFill/>
          <a:ln/>
        </p:spPr>
        <p:txBody>
          <a:bodyPr wrap="square" lIns="0" tIns="0" rIns="0" bIns="0" rtlCol="0" anchor="t"/>
          <a:lstStyle/>
          <a:p>
            <a:pPr marL="0" indent="0">
              <a:buNone/>
            </a:pPr>
            <a:r>
              <a:rPr lang="en-US" sz="1200" b="1" kern="0" spc="100" dirty="0">
                <a:solidFill>
                  <a:srgbClr val="1A8A99"/>
                </a:solidFill>
                <a:latin typeface="Calibri" pitchFamily="34" charset="0"/>
                <a:ea typeface="Calibri" pitchFamily="34" charset="-122"/>
                <a:cs typeface="Calibri" pitchFamily="34" charset="-120"/>
              </a:rPr>
              <a:t>DECISION MODELS</a:t>
            </a:r>
            <a:endParaRPr lang="en-US" sz="1200" dirty="0"/>
          </a:p>
        </p:txBody>
      </p:sp>
      <p:sp>
        <p:nvSpPr>
          <p:cNvPr id="11" name="Text 8"/>
          <p:cNvSpPr txBox="1"/>
          <p:nvPr/>
        </p:nvSpPr>
        <p:spPr>
          <a:xfrm>
            <a:off x="914400" y="2212848"/>
            <a:ext cx="2971800" cy="3154680"/>
          </a:xfrm>
          <a:prstGeom prst="rect">
            <a:avLst/>
          </a:prstGeom>
          <a:noFill/>
          <a:ln/>
        </p:spPr>
        <p:txBody>
          <a:bodyPr wrap="square" lIns="0" tIns="0" rIns="0" bIns="0" rtlCol="0" anchor="t"/>
          <a:lstStyle/>
          <a:p>
            <a:pPr marL="0" indent="0">
              <a:buNone/>
            </a:pPr>
            <a:r>
              <a:rPr lang="en-US" sz="1450" b="1" dirty="0">
                <a:solidFill>
                  <a:srgbClr val="12394D"/>
                </a:solidFill>
                <a:latin typeface="Calibri" pitchFamily="34" charset="0"/>
                <a:ea typeface="Calibri" pitchFamily="34" charset="-122"/>
                <a:cs typeface="Calibri" pitchFamily="34" charset="-120"/>
              </a:rPr>
              <a:t>MDP (S, A, P, r)</a:t>
            </a:r>
            <a:endParaRPr lang="en-US" sz="1450" dirty="0"/>
          </a:p>
          <a:p>
            <a:pPr marL="0" indent="0">
              <a:spcAft>
                <a:spcPts val="1200"/>
              </a:spcAft>
              <a:buNone/>
            </a:pPr>
            <a:r>
              <a:rPr lang="en-US" sz="1250" dirty="0">
                <a:solidFill>
                  <a:srgbClr val="5F7A8A"/>
                </a:solidFill>
                <a:latin typeface="Calibri" pitchFamily="34" charset="0"/>
                <a:ea typeface="Calibri" pitchFamily="34" charset="-122"/>
                <a:cs typeface="Calibri" pitchFamily="34" charset="-120"/>
              </a:rPr>
              <a:t>Maximise J(π) = E[Σ γᵗ r(sₜ, aₜ)]; Bellman optimality for V* and Q*</a:t>
            </a:r>
            <a:endParaRPr lang="en-US" sz="1450" dirty="0"/>
          </a:p>
          <a:p>
            <a:pPr marL="0" indent="0">
              <a:buNone/>
            </a:pPr>
            <a:r>
              <a:rPr lang="en-US" sz="1450" b="1" dirty="0">
                <a:solidFill>
                  <a:srgbClr val="12394D"/>
                </a:solidFill>
                <a:latin typeface="Calibri" pitchFamily="34" charset="0"/>
                <a:ea typeface="Calibri" pitchFamily="34" charset="-122"/>
                <a:cs typeface="Calibri" pitchFamily="34" charset="-120"/>
              </a:rPr>
              <a:t>POMDP</a:t>
            </a:r>
            <a:endParaRPr lang="en-US" sz="1450" dirty="0"/>
          </a:p>
          <a:p>
            <a:pPr marL="0" indent="0">
              <a:spcAft>
                <a:spcPts val="1200"/>
              </a:spcAft>
              <a:buNone/>
            </a:pPr>
            <a:r>
              <a:rPr lang="en-US" sz="1250" dirty="0">
                <a:solidFill>
                  <a:srgbClr val="5F7A8A"/>
                </a:solidFill>
                <a:latin typeface="Calibri" pitchFamily="34" charset="0"/>
                <a:ea typeface="Calibri" pitchFamily="34" charset="-122"/>
                <a:cs typeface="Calibri" pitchFamily="34" charset="-120"/>
              </a:rPr>
              <a:t>Agent sees o ~ O(·|s); belief approximated by an RNN or transformer</a:t>
            </a:r>
            <a:endParaRPr lang="en-US" sz="1450" dirty="0"/>
          </a:p>
          <a:p>
            <a:pPr marL="0" indent="0">
              <a:buNone/>
            </a:pPr>
            <a:r>
              <a:rPr lang="en-US" sz="1450" b="1" dirty="0">
                <a:solidFill>
                  <a:srgbClr val="12394D"/>
                </a:solidFill>
                <a:latin typeface="Calibri" pitchFamily="34" charset="0"/>
                <a:ea typeface="Calibri" pitchFamily="34" charset="-122"/>
                <a:cs typeface="Calibri" pitchFamily="34" charset="-120"/>
              </a:rPr>
              <a:t>In O-RAN</a:t>
            </a:r>
            <a:endParaRPr lang="en-US" sz="1450" dirty="0"/>
          </a:p>
          <a:p>
            <a:pPr marL="0" indent="0">
              <a:spcAft>
                <a:spcPts val="1200"/>
              </a:spcAft>
              <a:buNone/>
            </a:pPr>
            <a:r>
              <a:rPr lang="en-US" sz="1250" dirty="0">
                <a:solidFill>
                  <a:srgbClr val="5F7A8A"/>
                </a:solidFill>
                <a:latin typeface="Calibri" pitchFamily="34" charset="0"/>
                <a:ea typeface="Calibri" pitchFamily="34" charset="-122"/>
                <a:cs typeface="Calibri" pitchFamily="34" charset="-120"/>
              </a:rPr>
              <a:t>E2/O1 telemetry is sampled, aggregated, delayed: a Near-RT agent faces a POMDP</a:t>
            </a:r>
            <a:endParaRPr lang="en-US" sz="1450" dirty="0"/>
          </a:p>
        </p:txBody>
      </p:sp>
      <p:sp>
        <p:nvSpPr>
          <p:cNvPr id="12" name="Shape 9"/>
          <p:cNvSpPr/>
          <p:nvPr/>
        </p:nvSpPr>
        <p:spPr>
          <a:xfrm>
            <a:off x="4343400" y="1645920"/>
            <a:ext cx="3474720" cy="3749040"/>
          </a:xfrm>
          <a:prstGeom prst="roundRect">
            <a:avLst>
              <a:gd name="adj" fmla="val 1579"/>
            </a:avLst>
          </a:prstGeom>
          <a:solidFill>
            <a:srgbClr val="F0F5F7"/>
          </a:solidFill>
          <a:ln w="12700">
            <a:solidFill>
              <a:srgbClr val="F0F5F7"/>
            </a:solidFill>
            <a:prstDash val="solid"/>
          </a:ln>
        </p:spPr>
        <p:txBody>
          <a:bodyPr/>
          <a:lstStyle/>
          <a:p>
            <a:endParaRPr lang="en-US"/>
          </a:p>
        </p:txBody>
      </p:sp>
      <p:sp>
        <p:nvSpPr>
          <p:cNvPr id="13" name="Text 10"/>
          <p:cNvSpPr txBox="1"/>
          <p:nvPr/>
        </p:nvSpPr>
        <p:spPr>
          <a:xfrm>
            <a:off x="4617720" y="1828800"/>
            <a:ext cx="2926080" cy="274320"/>
          </a:xfrm>
          <a:prstGeom prst="rect">
            <a:avLst/>
          </a:prstGeom>
          <a:noFill/>
          <a:ln/>
        </p:spPr>
        <p:txBody>
          <a:bodyPr wrap="square" lIns="0" tIns="0" rIns="0" bIns="0" rtlCol="0" anchor="t"/>
          <a:lstStyle/>
          <a:p>
            <a:pPr marL="0" indent="0">
              <a:buNone/>
            </a:pPr>
            <a:r>
              <a:rPr lang="en-US" sz="1200" b="1" kern="0" spc="100" dirty="0">
                <a:solidFill>
                  <a:srgbClr val="1A8A99"/>
                </a:solidFill>
                <a:latin typeface="Calibri" pitchFamily="34" charset="0"/>
                <a:ea typeface="Calibri" pitchFamily="34" charset="-122"/>
                <a:cs typeface="Calibri" pitchFamily="34" charset="-120"/>
              </a:rPr>
              <a:t>VALUE-BASED</a:t>
            </a:r>
            <a:endParaRPr lang="en-US" sz="1200" dirty="0"/>
          </a:p>
        </p:txBody>
      </p:sp>
      <p:sp>
        <p:nvSpPr>
          <p:cNvPr id="14" name="Text 11"/>
          <p:cNvSpPr txBox="1"/>
          <p:nvPr/>
        </p:nvSpPr>
        <p:spPr>
          <a:xfrm>
            <a:off x="4617720" y="2212848"/>
            <a:ext cx="2971800" cy="3154680"/>
          </a:xfrm>
          <a:prstGeom prst="rect">
            <a:avLst/>
          </a:prstGeom>
          <a:noFill/>
          <a:ln/>
        </p:spPr>
        <p:txBody>
          <a:bodyPr wrap="square" lIns="0" tIns="0" rIns="0" bIns="0" rtlCol="0" anchor="t"/>
          <a:lstStyle/>
          <a:p>
            <a:pPr marL="0" indent="0">
              <a:buNone/>
            </a:pPr>
            <a:r>
              <a:rPr lang="en-US" sz="1450" b="1" dirty="0">
                <a:solidFill>
                  <a:srgbClr val="12394D"/>
                </a:solidFill>
                <a:latin typeface="Calibri" pitchFamily="34" charset="0"/>
                <a:ea typeface="Calibri" pitchFamily="34" charset="-122"/>
                <a:cs typeface="Calibri" pitchFamily="34" charset="-120"/>
              </a:rPr>
              <a:t>DQN</a:t>
            </a:r>
            <a:endParaRPr lang="en-US" sz="1450" dirty="0"/>
          </a:p>
          <a:p>
            <a:pPr marL="0" indent="0">
              <a:spcAft>
                <a:spcPts val="1200"/>
              </a:spcAft>
              <a:buNone/>
            </a:pPr>
            <a:r>
              <a:rPr lang="en-US" sz="1250" dirty="0">
                <a:solidFill>
                  <a:srgbClr val="5F7A8A"/>
                </a:solidFill>
                <a:latin typeface="Calibri" pitchFamily="34" charset="0"/>
                <a:ea typeface="Calibri" pitchFamily="34" charset="-122"/>
                <a:cs typeface="Calibri" pitchFamily="34" charset="-120"/>
              </a:rPr>
              <a:t>Replay buffer + target network stabilise deep Q-learning</a:t>
            </a:r>
            <a:endParaRPr lang="en-US" sz="1450" dirty="0"/>
          </a:p>
          <a:p>
            <a:pPr marL="0" indent="0">
              <a:buNone/>
            </a:pPr>
            <a:r>
              <a:rPr lang="en-US" sz="1450" b="1" dirty="0">
                <a:solidFill>
                  <a:srgbClr val="12394D"/>
                </a:solidFill>
                <a:latin typeface="Calibri" pitchFamily="34" charset="0"/>
                <a:ea typeface="Calibri" pitchFamily="34" charset="-122"/>
                <a:cs typeface="Calibri" pitchFamily="34" charset="-120"/>
              </a:rPr>
              <a:t>Variants</a:t>
            </a:r>
            <a:endParaRPr lang="en-US" sz="1450" dirty="0"/>
          </a:p>
          <a:p>
            <a:pPr marL="0" indent="0">
              <a:spcAft>
                <a:spcPts val="1200"/>
              </a:spcAft>
              <a:buNone/>
            </a:pPr>
            <a:r>
              <a:rPr lang="en-US" sz="1250" dirty="0">
                <a:solidFill>
                  <a:srgbClr val="5F7A8A"/>
                </a:solidFill>
                <a:latin typeface="Calibri" pitchFamily="34" charset="0"/>
                <a:ea typeface="Calibri" pitchFamily="34" charset="-122"/>
                <a:cs typeface="Calibri" pitchFamily="34" charset="-120"/>
              </a:rPr>
              <a:t>Double DQN (overestimation), Dueling (V + advantage), PER (TD-error sampling)</a:t>
            </a:r>
            <a:endParaRPr lang="en-US" sz="1450" dirty="0"/>
          </a:p>
          <a:p>
            <a:pPr marL="0" indent="0">
              <a:buNone/>
            </a:pPr>
            <a:r>
              <a:rPr lang="en-US" sz="1450" b="1" dirty="0">
                <a:solidFill>
                  <a:srgbClr val="12394D"/>
                </a:solidFill>
                <a:latin typeface="Calibri" pitchFamily="34" charset="0"/>
                <a:ea typeface="Calibri" pitchFamily="34" charset="-122"/>
                <a:cs typeface="Calibri" pitchFamily="34" charset="-120"/>
              </a:rPr>
              <a:t>Fit</a:t>
            </a:r>
            <a:endParaRPr lang="en-US" sz="1450" dirty="0"/>
          </a:p>
          <a:p>
            <a:pPr marL="0" indent="0">
              <a:spcAft>
                <a:spcPts val="1200"/>
              </a:spcAft>
              <a:buNone/>
            </a:pPr>
            <a:r>
              <a:rPr lang="en-US" sz="1250" dirty="0">
                <a:solidFill>
                  <a:srgbClr val="5F7A8A"/>
                </a:solidFill>
                <a:latin typeface="Calibri" pitchFamily="34" charset="0"/>
                <a:ea typeface="Calibri" pitchFamily="34" charset="-122"/>
                <a:cs typeface="Calibri" pitchFamily="34" charset="-120"/>
              </a:rPr>
              <a:t>Discrete, enumerable choices; breaks on continuous or combinatorial actions</a:t>
            </a:r>
            <a:endParaRPr lang="en-US" sz="1450" dirty="0"/>
          </a:p>
        </p:txBody>
      </p:sp>
      <p:sp>
        <p:nvSpPr>
          <p:cNvPr id="15" name="Shape 12"/>
          <p:cNvSpPr/>
          <p:nvPr/>
        </p:nvSpPr>
        <p:spPr>
          <a:xfrm>
            <a:off x="8046720" y="1645920"/>
            <a:ext cx="3474720" cy="3749040"/>
          </a:xfrm>
          <a:prstGeom prst="roundRect">
            <a:avLst>
              <a:gd name="adj" fmla="val 1579"/>
            </a:avLst>
          </a:prstGeom>
          <a:solidFill>
            <a:srgbClr val="F0F5F7"/>
          </a:solidFill>
          <a:ln w="12700">
            <a:solidFill>
              <a:srgbClr val="F0F5F7"/>
            </a:solidFill>
            <a:prstDash val="solid"/>
          </a:ln>
        </p:spPr>
        <p:txBody>
          <a:bodyPr/>
          <a:lstStyle/>
          <a:p>
            <a:endParaRPr lang="en-US"/>
          </a:p>
        </p:txBody>
      </p:sp>
      <p:sp>
        <p:nvSpPr>
          <p:cNvPr id="16" name="Text 13"/>
          <p:cNvSpPr txBox="1"/>
          <p:nvPr/>
        </p:nvSpPr>
        <p:spPr>
          <a:xfrm>
            <a:off x="8321040" y="1828800"/>
            <a:ext cx="2926080" cy="274320"/>
          </a:xfrm>
          <a:prstGeom prst="rect">
            <a:avLst/>
          </a:prstGeom>
          <a:noFill/>
          <a:ln/>
        </p:spPr>
        <p:txBody>
          <a:bodyPr wrap="square" lIns="0" tIns="0" rIns="0" bIns="0" rtlCol="0" anchor="t"/>
          <a:lstStyle/>
          <a:p>
            <a:pPr marL="0" indent="0">
              <a:buNone/>
            </a:pPr>
            <a:r>
              <a:rPr lang="en-US" sz="1200" b="1" kern="0" spc="100" dirty="0">
                <a:solidFill>
                  <a:srgbClr val="1A8A99"/>
                </a:solidFill>
                <a:latin typeface="Calibri" pitchFamily="34" charset="0"/>
                <a:ea typeface="Calibri" pitchFamily="34" charset="-122"/>
                <a:cs typeface="Calibri" pitchFamily="34" charset="-120"/>
              </a:rPr>
              <a:t>POLICY-GRADIENT</a:t>
            </a:r>
            <a:endParaRPr lang="en-US" sz="1200" dirty="0"/>
          </a:p>
        </p:txBody>
      </p:sp>
      <p:sp>
        <p:nvSpPr>
          <p:cNvPr id="17" name="Text 14"/>
          <p:cNvSpPr txBox="1"/>
          <p:nvPr/>
        </p:nvSpPr>
        <p:spPr>
          <a:xfrm>
            <a:off x="8321040" y="2212848"/>
            <a:ext cx="2971800" cy="3154680"/>
          </a:xfrm>
          <a:prstGeom prst="rect">
            <a:avLst/>
          </a:prstGeom>
          <a:noFill/>
          <a:ln/>
        </p:spPr>
        <p:txBody>
          <a:bodyPr wrap="square" lIns="0" tIns="0" rIns="0" bIns="0" rtlCol="0" anchor="t"/>
          <a:lstStyle/>
          <a:p>
            <a:pPr marL="0" indent="0">
              <a:buNone/>
            </a:pPr>
            <a:r>
              <a:rPr lang="en-US" sz="1450" b="1" dirty="0">
                <a:solidFill>
                  <a:srgbClr val="12394D"/>
                </a:solidFill>
                <a:latin typeface="Calibri" pitchFamily="34" charset="0"/>
                <a:ea typeface="Calibri" pitchFamily="34" charset="-122"/>
                <a:cs typeface="Calibri" pitchFamily="34" charset="-120"/>
              </a:rPr>
              <a:t>On-policy</a:t>
            </a:r>
            <a:endParaRPr lang="en-US" sz="1450" dirty="0"/>
          </a:p>
          <a:p>
            <a:pPr marL="0" indent="0">
              <a:spcAft>
                <a:spcPts val="1200"/>
              </a:spcAft>
              <a:buNone/>
            </a:pPr>
            <a:r>
              <a:rPr lang="en-US" sz="1250" dirty="0">
                <a:solidFill>
                  <a:srgbClr val="5F7A8A"/>
                </a:solidFill>
                <a:latin typeface="Calibri" pitchFamily="34" charset="0"/>
                <a:ea typeface="Calibri" pitchFamily="34" charset="-122"/>
                <a:cs typeface="Calibri" pitchFamily="34" charset="-120"/>
              </a:rPr>
              <a:t>REINFORCE, A2C/A3C, TRPO (KL bound), PPO (clipped; most used in O-RAN), GRPO (no critic)</a:t>
            </a:r>
            <a:endParaRPr lang="en-US" sz="1450" dirty="0"/>
          </a:p>
          <a:p>
            <a:pPr marL="0" indent="0">
              <a:buNone/>
            </a:pPr>
            <a:r>
              <a:rPr lang="en-US" sz="1450" b="1" dirty="0">
                <a:solidFill>
                  <a:srgbClr val="12394D"/>
                </a:solidFill>
                <a:latin typeface="Calibri" pitchFamily="34" charset="0"/>
                <a:ea typeface="Calibri" pitchFamily="34" charset="-122"/>
                <a:cs typeface="Calibri" pitchFamily="34" charset="-120"/>
              </a:rPr>
              <a:t>Off-policy</a:t>
            </a:r>
            <a:endParaRPr lang="en-US" sz="1450" dirty="0"/>
          </a:p>
          <a:p>
            <a:pPr marL="0" indent="0">
              <a:spcAft>
                <a:spcPts val="1200"/>
              </a:spcAft>
              <a:buNone/>
            </a:pPr>
            <a:r>
              <a:rPr lang="en-US" sz="1250" dirty="0">
                <a:solidFill>
                  <a:srgbClr val="5F7A8A"/>
                </a:solidFill>
                <a:latin typeface="Calibri" pitchFamily="34" charset="0"/>
                <a:ea typeface="Calibri" pitchFamily="34" charset="-122"/>
                <a:cs typeface="Calibri" pitchFamily="34" charset="-120"/>
              </a:rPr>
              <a:t>DDPG, TD3 (twin critics, delayed updates), SAC (entropy; standard continuous baseline)</a:t>
            </a:r>
            <a:endParaRPr lang="en-US" sz="1450" dirty="0"/>
          </a:p>
          <a:p>
            <a:pPr marL="0" indent="0">
              <a:buNone/>
            </a:pPr>
            <a:r>
              <a:rPr lang="en-US" sz="1450" b="1" dirty="0">
                <a:solidFill>
                  <a:srgbClr val="12394D"/>
                </a:solidFill>
                <a:latin typeface="Calibri" pitchFamily="34" charset="0"/>
                <a:ea typeface="Calibri" pitchFamily="34" charset="-122"/>
                <a:cs typeface="Calibri" pitchFamily="34" charset="-120"/>
              </a:rPr>
              <a:t>Fit</a:t>
            </a:r>
            <a:endParaRPr lang="en-US" sz="1450" dirty="0"/>
          </a:p>
          <a:p>
            <a:pPr marL="0" indent="0">
              <a:spcAft>
                <a:spcPts val="1200"/>
              </a:spcAft>
              <a:buNone/>
            </a:pPr>
            <a:r>
              <a:rPr lang="en-US" sz="1250" dirty="0">
                <a:solidFill>
                  <a:srgbClr val="5F7A8A"/>
                </a:solidFill>
                <a:latin typeface="Calibri" pitchFamily="34" charset="0"/>
                <a:ea typeface="Calibri" pitchFamily="34" charset="-122"/>
                <a:cs typeface="Calibri" pitchFamily="34" charset="-120"/>
              </a:rPr>
              <a:t>Off-policy reuses past data: key when exploration is costly</a:t>
            </a:r>
            <a:endParaRPr lang="en-US" sz="14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320040"/>
          </a:xfrm>
          <a:prstGeom prst="rect">
            <a:avLst/>
          </a:prstGeom>
          <a:noFill/>
          <a:ln/>
        </p:spPr>
        <p:txBody>
          <a:bodyPr wrap="square" lIns="0" tIns="0" rIns="0" bIns="0" rtlCol="0" anchor="t"/>
          <a:lstStyle/>
          <a:p>
            <a:pPr marL="0" indent="0">
              <a:buNone/>
            </a:pPr>
            <a:r>
              <a:rPr lang="en-US" sz="1400" b="1" kern="0" spc="200" dirty="0">
                <a:solidFill>
                  <a:srgbClr val="2BB3A3"/>
                </a:solidFill>
                <a:latin typeface="Calibri" pitchFamily="34" charset="0"/>
                <a:ea typeface="Calibri" pitchFamily="34" charset="-122"/>
                <a:cs typeface="Calibri" pitchFamily="34" charset="-120"/>
              </a:rPr>
              <a:t>Survey 2 · Lu et al. · DRL for 6G AI-RAN</a:t>
            </a:r>
            <a:endParaRPr lang="en-US" sz="1400" dirty="0"/>
          </a:p>
        </p:txBody>
      </p:sp>
      <p:sp>
        <p:nvSpPr>
          <p:cNvPr id="3" name="Text 1"/>
          <p:cNvSpPr txBox="1"/>
          <p:nvPr/>
        </p:nvSpPr>
        <p:spPr>
          <a:xfrm>
            <a:off x="640080" y="786384"/>
            <a:ext cx="10881360" cy="640080"/>
          </a:xfrm>
          <a:prstGeom prst="rect">
            <a:avLst/>
          </a:prstGeom>
          <a:noFill/>
          <a:ln/>
        </p:spPr>
        <p:txBody>
          <a:bodyPr wrap="square" lIns="0" tIns="0" rIns="0" bIns="0" rtlCol="0" anchor="t">
            <a:normAutofit/>
          </a:bodyPr>
          <a:lstStyle/>
          <a:p>
            <a:pPr marL="0" indent="0">
              <a:buNone/>
            </a:pPr>
            <a:r>
              <a:rPr lang="en-US" sz="2700" b="1" dirty="0">
                <a:solidFill>
                  <a:srgbClr val="12394D"/>
                </a:solidFill>
                <a:latin typeface="Cambria" pitchFamily="34" charset="0"/>
                <a:ea typeface="Cambria" pitchFamily="34" charset="-122"/>
                <a:cs typeface="Cambria" pitchFamily="34" charset="-120"/>
              </a:rPr>
              <a:t>Offline RL and constrained RL, in detail</a:t>
            </a:r>
            <a:endParaRPr lang="en-US" sz="2700" dirty="0"/>
          </a:p>
        </p:txBody>
      </p:sp>
      <p:sp>
        <p:nvSpPr>
          <p:cNvPr id="4" name="Shape 2"/>
          <p:cNvSpPr/>
          <p:nvPr/>
        </p:nvSpPr>
        <p:spPr>
          <a:xfrm>
            <a:off x="640080" y="5596128"/>
            <a:ext cx="10881360" cy="502920"/>
          </a:xfrm>
          <a:prstGeom prst="roundRect">
            <a:avLst>
              <a:gd name="adj" fmla="val 10909"/>
            </a:avLst>
          </a:prstGeom>
          <a:solidFill>
            <a:srgbClr val="E6F4F2"/>
          </a:solidFill>
          <a:ln w="12700">
            <a:solidFill>
              <a:srgbClr val="E6F4F2"/>
            </a:solidFill>
            <a:prstDash val="solid"/>
          </a:ln>
        </p:spPr>
        <p:txBody>
          <a:bodyPr/>
          <a:lstStyle/>
          <a:p>
            <a:endParaRPr lang="en-US"/>
          </a:p>
        </p:txBody>
      </p:sp>
      <p:sp>
        <p:nvSpPr>
          <p:cNvPr id="5" name="Text 3"/>
          <p:cNvSpPr txBox="1"/>
          <p:nvPr/>
        </p:nvSpPr>
        <p:spPr>
          <a:xfrm>
            <a:off x="868680" y="5596128"/>
            <a:ext cx="10469880" cy="502920"/>
          </a:xfrm>
          <a:prstGeom prst="rect">
            <a:avLst/>
          </a:prstGeom>
          <a:noFill/>
          <a:ln/>
        </p:spPr>
        <p:txBody>
          <a:bodyPr wrap="square" lIns="0" tIns="0" rIns="0" bIns="0" rtlCol="0" anchor="ctr"/>
          <a:lstStyle/>
          <a:p>
            <a:pPr marL="0" indent="0">
              <a:buNone/>
            </a:pPr>
            <a:r>
              <a:rPr lang="en-US" sz="1400" b="1" dirty="0">
                <a:solidFill>
                  <a:srgbClr val="1A8A99"/>
                </a:solidFill>
                <a:latin typeface="Calibri" pitchFamily="34" charset="0"/>
                <a:ea typeface="Calibri" pitchFamily="34" charset="-122"/>
                <a:cs typeface="Calibri" pitchFamily="34" charset="-120"/>
              </a:rPr>
              <a:t>Takeaway  </a:t>
            </a:r>
            <a:r>
              <a:rPr lang="en-US" sz="1400" dirty="0">
                <a:solidFill>
                  <a:srgbClr val="12394D"/>
                </a:solidFill>
                <a:latin typeface="Calibri" pitchFamily="34" charset="0"/>
                <a:ea typeface="Calibri" pitchFamily="34" charset="-122"/>
                <a:cs typeface="Calibri" pitchFamily="34" charset="-120"/>
              </a:rPr>
              <a:t>Training offline removes the main weakness of Lagrangian methods: unsafe intermediate policies never touch live users.</a:t>
            </a:r>
            <a:endParaRPr lang="en-US" sz="1400" dirty="0"/>
          </a:p>
        </p:txBody>
      </p:sp>
      <p:sp>
        <p:nvSpPr>
          <p:cNvPr id="6" name="Text 4"/>
          <p:cNvSpPr txBox="1"/>
          <p:nvPr/>
        </p:nvSpPr>
        <p:spPr>
          <a:xfrm>
            <a:off x="640080" y="6355080"/>
            <a:ext cx="6400800" cy="274320"/>
          </a:xfrm>
          <a:prstGeom prst="rect">
            <a:avLst/>
          </a:prstGeom>
          <a:noFill/>
          <a:ln/>
        </p:spPr>
        <p:txBody>
          <a:bodyPr wrap="square" lIns="0" tIns="0" rIns="0" bIns="0" rtlCol="0" anchor="t"/>
          <a:lstStyle/>
          <a:p>
            <a:pPr marL="0" indent="0">
              <a:buNone/>
            </a:pPr>
            <a:r>
              <a:rPr lang="en-US" sz="1100" dirty="0">
                <a:solidFill>
                  <a:srgbClr val="5F7A8A"/>
                </a:solidFill>
                <a:latin typeface="Calibri" pitchFamily="34" charset="0"/>
                <a:ea typeface="Calibri" pitchFamily="34" charset="-122"/>
                <a:cs typeface="Calibri" pitchFamily="34" charset="-120"/>
              </a:rPr>
              <a:t>RS2M Department · Télécom SudParis · Palaiseau, France</a:t>
            </a:r>
            <a:endParaRPr lang="en-US" sz="1100" dirty="0"/>
          </a:p>
        </p:txBody>
      </p:sp>
      <p:sp>
        <p:nvSpPr>
          <p:cNvPr id="7" name="Text 5"/>
          <p:cNvSpPr txBox="1"/>
          <p:nvPr/>
        </p:nvSpPr>
        <p:spPr>
          <a:xfrm>
            <a:off x="11064240" y="6355080"/>
            <a:ext cx="457200" cy="274320"/>
          </a:xfrm>
          <a:prstGeom prst="rect">
            <a:avLst/>
          </a:prstGeom>
          <a:noFill/>
          <a:ln/>
        </p:spPr>
        <p:txBody>
          <a:bodyPr wrap="square" lIns="0" tIns="0" rIns="0" bIns="0" rtlCol="0" anchor="t"/>
          <a:lstStyle/>
          <a:p>
            <a:pPr marL="0" indent="0" algn="r">
              <a:buNone/>
            </a:pPr>
            <a:r>
              <a:rPr lang="en-US" sz="1100" dirty="0">
                <a:solidFill>
                  <a:srgbClr val="5F7A8A"/>
                </a:solidFill>
                <a:latin typeface="Calibri" pitchFamily="34" charset="0"/>
                <a:ea typeface="Calibri" pitchFamily="34" charset="-122"/>
                <a:cs typeface="Calibri" pitchFamily="34" charset="-120"/>
              </a:rPr>
              <a:t>17</a:t>
            </a:r>
            <a:endParaRPr lang="en-US" sz="1100" dirty="0"/>
          </a:p>
        </p:txBody>
      </p:sp>
      <p:sp>
        <p:nvSpPr>
          <p:cNvPr id="9" name="Shape 6"/>
          <p:cNvSpPr/>
          <p:nvPr/>
        </p:nvSpPr>
        <p:spPr>
          <a:xfrm>
            <a:off x="640080" y="1645920"/>
            <a:ext cx="5303520" cy="3749040"/>
          </a:xfrm>
          <a:prstGeom prst="roundRect">
            <a:avLst>
              <a:gd name="adj" fmla="val 1463"/>
            </a:avLst>
          </a:prstGeom>
          <a:solidFill>
            <a:srgbClr val="F0F5F7"/>
          </a:solidFill>
          <a:ln w="12700">
            <a:solidFill>
              <a:srgbClr val="F0F5F7"/>
            </a:solidFill>
            <a:prstDash val="solid"/>
          </a:ln>
        </p:spPr>
        <p:txBody>
          <a:bodyPr/>
          <a:lstStyle/>
          <a:p>
            <a:endParaRPr lang="en-US"/>
          </a:p>
        </p:txBody>
      </p:sp>
      <p:sp>
        <p:nvSpPr>
          <p:cNvPr id="10" name="Shape 7"/>
          <p:cNvSpPr/>
          <p:nvPr/>
        </p:nvSpPr>
        <p:spPr>
          <a:xfrm>
            <a:off x="6217920" y="1645920"/>
            <a:ext cx="5303520" cy="3749040"/>
          </a:xfrm>
          <a:prstGeom prst="roundRect">
            <a:avLst>
              <a:gd name="adj" fmla="val 1463"/>
            </a:avLst>
          </a:prstGeom>
          <a:solidFill>
            <a:srgbClr val="F0F5F7"/>
          </a:solidFill>
          <a:ln w="12700">
            <a:solidFill>
              <a:srgbClr val="F0F5F7"/>
            </a:solidFill>
            <a:prstDash val="solid"/>
          </a:ln>
        </p:spPr>
        <p:txBody>
          <a:bodyPr/>
          <a:lstStyle/>
          <a:p>
            <a:endParaRPr lang="en-US"/>
          </a:p>
        </p:txBody>
      </p:sp>
      <p:sp>
        <p:nvSpPr>
          <p:cNvPr id="11" name="Text 8"/>
          <p:cNvSpPr txBox="1"/>
          <p:nvPr/>
        </p:nvSpPr>
        <p:spPr>
          <a:xfrm>
            <a:off x="914400" y="1828800"/>
            <a:ext cx="4572000" cy="274320"/>
          </a:xfrm>
          <a:prstGeom prst="rect">
            <a:avLst/>
          </a:prstGeom>
          <a:noFill/>
          <a:ln/>
        </p:spPr>
        <p:txBody>
          <a:bodyPr wrap="square" lIns="0" tIns="0" rIns="0" bIns="0" rtlCol="0" anchor="t"/>
          <a:lstStyle/>
          <a:p>
            <a:pPr marL="0" indent="0">
              <a:buNone/>
            </a:pPr>
            <a:r>
              <a:rPr lang="en-US" sz="1200" b="1" kern="0" spc="100" dirty="0">
                <a:solidFill>
                  <a:srgbClr val="1A8A99"/>
                </a:solidFill>
                <a:latin typeface="Calibri" pitchFamily="34" charset="0"/>
                <a:ea typeface="Calibri" pitchFamily="34" charset="-122"/>
                <a:cs typeface="Calibri" pitchFamily="34" charset="-120"/>
              </a:rPr>
              <a:t>OFFLINE RL</a:t>
            </a:r>
            <a:endParaRPr lang="en-US" sz="1200" dirty="0"/>
          </a:p>
        </p:txBody>
      </p:sp>
      <p:sp>
        <p:nvSpPr>
          <p:cNvPr id="12" name="Text 9"/>
          <p:cNvSpPr txBox="1"/>
          <p:nvPr/>
        </p:nvSpPr>
        <p:spPr>
          <a:xfrm>
            <a:off x="914400" y="2212848"/>
            <a:ext cx="4754880" cy="3108960"/>
          </a:xfrm>
          <a:prstGeom prst="rect">
            <a:avLst/>
          </a:prstGeom>
          <a:noFill/>
          <a:ln/>
        </p:spPr>
        <p:txBody>
          <a:bodyPr wrap="square" lIns="0" tIns="0" rIns="0" bIns="0" rtlCol="0" anchor="t"/>
          <a:lstStyle/>
          <a:p>
            <a:pPr marL="0" indent="0">
              <a:buNone/>
            </a:pPr>
            <a:r>
              <a:rPr lang="en-US" sz="1450" b="1" dirty="0">
                <a:solidFill>
                  <a:srgbClr val="12394D"/>
                </a:solidFill>
                <a:latin typeface="Calibri" pitchFamily="34" charset="0"/>
                <a:ea typeface="Calibri" pitchFamily="34" charset="-122"/>
                <a:cs typeface="Calibri" pitchFamily="34" charset="-120"/>
              </a:rPr>
              <a:t>Setting</a:t>
            </a:r>
            <a:endParaRPr lang="en-US" sz="1450" dirty="0"/>
          </a:p>
          <a:p>
            <a:pPr marL="0" indent="0">
              <a:spcAft>
                <a:spcPts val="900"/>
              </a:spcAft>
              <a:buNone/>
            </a:pPr>
            <a:r>
              <a:rPr lang="en-US" sz="1250" dirty="0">
                <a:solidFill>
                  <a:srgbClr val="5F7A8A"/>
                </a:solidFill>
                <a:latin typeface="Calibri" pitchFamily="34" charset="0"/>
                <a:ea typeface="Calibri" pitchFamily="34" charset="-122"/>
                <a:cs typeface="Calibri" pitchFamily="34" charset="-120"/>
              </a:rPr>
              <a:t>Learn only from a fixed dataset D = {(s, a, r, s′)} collected by a behaviour policy πβ</a:t>
            </a:r>
            <a:endParaRPr lang="en-US" sz="1450" dirty="0"/>
          </a:p>
          <a:p>
            <a:pPr marL="0" indent="0">
              <a:buNone/>
            </a:pPr>
            <a:r>
              <a:rPr lang="en-US" sz="1450" b="1" dirty="0">
                <a:solidFill>
                  <a:srgbClr val="12394D"/>
                </a:solidFill>
                <a:latin typeface="Calibri" pitchFamily="34" charset="0"/>
                <a:ea typeface="Calibri" pitchFamily="34" charset="-122"/>
                <a:cs typeface="Calibri" pitchFamily="34" charset="-120"/>
              </a:rPr>
              <a:t>Central risk: distribution shift</a:t>
            </a:r>
            <a:endParaRPr lang="en-US" sz="1450" dirty="0"/>
          </a:p>
          <a:p>
            <a:pPr marL="0" indent="0">
              <a:spcAft>
                <a:spcPts val="900"/>
              </a:spcAft>
              <a:buNone/>
            </a:pPr>
            <a:r>
              <a:rPr lang="en-US" sz="1250" dirty="0">
                <a:solidFill>
                  <a:srgbClr val="5F7A8A"/>
                </a:solidFill>
                <a:latin typeface="Calibri" pitchFamily="34" charset="0"/>
                <a:ea typeface="Calibri" pitchFamily="34" charset="-122"/>
                <a:cs typeface="Calibri" pitchFamily="34" charset="-120"/>
              </a:rPr>
              <a:t>The critic overestimates actions absent from D; bootstrapping amplifies the error</a:t>
            </a:r>
            <a:endParaRPr lang="en-US" sz="1450" dirty="0"/>
          </a:p>
          <a:p>
            <a:pPr marL="0" indent="0">
              <a:buNone/>
            </a:pPr>
            <a:r>
              <a:rPr lang="en-US" sz="1450" b="1" dirty="0">
                <a:solidFill>
                  <a:srgbClr val="12394D"/>
                </a:solidFill>
                <a:latin typeface="Calibri" pitchFamily="34" charset="0"/>
                <a:ea typeface="Calibri" pitchFamily="34" charset="-122"/>
                <a:cs typeface="Calibri" pitchFamily="34" charset="-120"/>
              </a:rPr>
              <a:t>Answers</a:t>
            </a:r>
            <a:endParaRPr lang="en-US" sz="1450" dirty="0"/>
          </a:p>
          <a:p>
            <a:pPr marL="0" indent="0">
              <a:spcAft>
                <a:spcPts val="900"/>
              </a:spcAft>
              <a:buNone/>
            </a:pPr>
            <a:r>
              <a:rPr lang="en-US" sz="1250" dirty="0">
                <a:solidFill>
                  <a:srgbClr val="5F7A8A"/>
                </a:solidFill>
                <a:latin typeface="Calibri" pitchFamily="34" charset="0"/>
                <a:ea typeface="Calibri" pitchFamily="34" charset="-122"/>
                <a:cs typeface="Calibri" pitchFamily="34" charset="-120"/>
              </a:rPr>
              <a:t>BCQ restricts actions to πβ support · CQL lowers Q of unsupported actions · IQL never queries unseen actions</a:t>
            </a:r>
            <a:endParaRPr lang="en-US" sz="1450" dirty="0"/>
          </a:p>
          <a:p>
            <a:pPr marL="0" indent="0">
              <a:buNone/>
            </a:pPr>
            <a:r>
              <a:rPr lang="en-US" sz="1450" b="1" dirty="0">
                <a:solidFill>
                  <a:srgbClr val="12394D"/>
                </a:solidFill>
                <a:latin typeface="Calibri" pitchFamily="34" charset="0"/>
                <a:ea typeface="Calibri" pitchFamily="34" charset="-122"/>
                <a:cs typeface="Calibri" pitchFamily="34" charset="-120"/>
              </a:rPr>
              <a:t>O-RAN fit</a:t>
            </a:r>
            <a:endParaRPr lang="en-US" sz="1450" dirty="0"/>
          </a:p>
          <a:p>
            <a:pPr marL="0" indent="0">
              <a:spcAft>
                <a:spcPts val="900"/>
              </a:spcAft>
              <a:buNone/>
            </a:pPr>
            <a:r>
              <a:rPr lang="en-US" sz="1250" dirty="0">
                <a:solidFill>
                  <a:srgbClr val="5F7A8A"/>
                </a:solidFill>
                <a:latin typeface="Calibri" pitchFamily="34" charset="0"/>
                <a:ea typeface="Calibri" pitchFamily="34" charset="-122"/>
                <a:cs typeface="Calibri" pitchFamily="34" charset="-120"/>
              </a:rPr>
              <a:t>RICs log E2/O1 telemetry continuously; live exploration risks SLA violations</a:t>
            </a:r>
            <a:endParaRPr lang="en-US" sz="1450" dirty="0"/>
          </a:p>
        </p:txBody>
      </p:sp>
      <p:sp>
        <p:nvSpPr>
          <p:cNvPr id="13" name="Text 10"/>
          <p:cNvSpPr txBox="1"/>
          <p:nvPr/>
        </p:nvSpPr>
        <p:spPr>
          <a:xfrm>
            <a:off x="6492240" y="1828800"/>
            <a:ext cx="4572000" cy="274320"/>
          </a:xfrm>
          <a:prstGeom prst="rect">
            <a:avLst/>
          </a:prstGeom>
          <a:noFill/>
          <a:ln/>
        </p:spPr>
        <p:txBody>
          <a:bodyPr wrap="square" lIns="0" tIns="0" rIns="0" bIns="0" rtlCol="0" anchor="t"/>
          <a:lstStyle/>
          <a:p>
            <a:pPr marL="0" indent="0">
              <a:buNone/>
            </a:pPr>
            <a:r>
              <a:rPr lang="en-US" sz="1200" b="1" kern="0" spc="100" dirty="0">
                <a:solidFill>
                  <a:srgbClr val="1A8A99"/>
                </a:solidFill>
                <a:latin typeface="Calibri" pitchFamily="34" charset="0"/>
                <a:ea typeface="Calibri" pitchFamily="34" charset="-122"/>
                <a:cs typeface="Calibri" pitchFamily="34" charset="-120"/>
              </a:rPr>
              <a:t>CONSTRAINED MDP + LAGRANGIAN</a:t>
            </a:r>
            <a:endParaRPr lang="en-US" sz="1200" dirty="0"/>
          </a:p>
        </p:txBody>
      </p:sp>
      <p:sp>
        <p:nvSpPr>
          <p:cNvPr id="14" name="Text 11"/>
          <p:cNvSpPr txBox="1"/>
          <p:nvPr/>
        </p:nvSpPr>
        <p:spPr>
          <a:xfrm>
            <a:off x="6492240" y="2240280"/>
            <a:ext cx="4754880" cy="384048"/>
          </a:xfrm>
          <a:prstGeom prst="rect">
            <a:avLst/>
          </a:prstGeom>
          <a:noFill/>
          <a:ln/>
        </p:spPr>
        <p:txBody>
          <a:bodyPr wrap="square" lIns="0" tIns="0" rIns="0" bIns="0" rtlCol="0" anchor="t"/>
          <a:lstStyle/>
          <a:p>
            <a:pPr marL="0" indent="0">
              <a:buNone/>
            </a:pPr>
            <a:r>
              <a:rPr lang="en-US" sz="1500" dirty="0">
                <a:solidFill>
                  <a:srgbClr val="12394D"/>
                </a:solidFill>
                <a:latin typeface="Calibri" pitchFamily="34" charset="0"/>
                <a:ea typeface="Calibri" pitchFamily="34" charset="-122"/>
                <a:cs typeface="Calibri" pitchFamily="34" charset="-120"/>
              </a:rPr>
              <a:t>max</a:t>
            </a:r>
            <a:r>
              <a:rPr lang="en-US" sz="1500" baseline="-40000" dirty="0">
                <a:solidFill>
                  <a:srgbClr val="12394D"/>
                </a:solidFill>
                <a:latin typeface="Calibri" pitchFamily="34" charset="0"/>
                <a:ea typeface="Calibri" pitchFamily="34" charset="-122"/>
                <a:cs typeface="Calibri" pitchFamily="34" charset="-120"/>
              </a:rPr>
              <a:t>π</a:t>
            </a:r>
            <a:r>
              <a:rPr lang="en-US" sz="1500" dirty="0">
                <a:solidFill>
                  <a:srgbClr val="12394D"/>
                </a:solidFill>
                <a:latin typeface="Calibri" pitchFamily="34" charset="0"/>
                <a:ea typeface="Calibri" pitchFamily="34" charset="-122"/>
                <a:cs typeface="Calibri" pitchFamily="34" charset="-120"/>
              </a:rPr>
              <a:t> J(π)   s.t.   J</a:t>
            </a:r>
            <a:r>
              <a:rPr lang="en-US" sz="1500" baseline="-40000" dirty="0">
                <a:solidFill>
                  <a:srgbClr val="12394D"/>
                </a:solidFill>
                <a:latin typeface="Calibri" pitchFamily="34" charset="0"/>
                <a:ea typeface="Calibri" pitchFamily="34" charset="-122"/>
                <a:cs typeface="Calibri" pitchFamily="34" charset="-120"/>
              </a:rPr>
              <a:t>C</a:t>
            </a:r>
            <a:r>
              <a:rPr lang="en-US" sz="1500" dirty="0">
                <a:solidFill>
                  <a:srgbClr val="12394D"/>
                </a:solidFill>
                <a:latin typeface="Calibri" pitchFamily="34" charset="0"/>
                <a:ea typeface="Calibri" pitchFamily="34" charset="-122"/>
                <a:cs typeface="Calibri" pitchFamily="34" charset="-120"/>
              </a:rPr>
              <a:t>(π) = E[Σ γᵗ c(sₜ, aₜ)] ≤ d</a:t>
            </a:r>
            <a:endParaRPr lang="en-US" sz="1500" dirty="0"/>
          </a:p>
        </p:txBody>
      </p:sp>
      <p:sp>
        <p:nvSpPr>
          <p:cNvPr id="15" name="Text 12"/>
          <p:cNvSpPr txBox="1"/>
          <p:nvPr/>
        </p:nvSpPr>
        <p:spPr>
          <a:xfrm>
            <a:off x="6492240" y="2670048"/>
            <a:ext cx="4754880" cy="384048"/>
          </a:xfrm>
          <a:prstGeom prst="rect">
            <a:avLst/>
          </a:prstGeom>
          <a:noFill/>
          <a:ln/>
        </p:spPr>
        <p:txBody>
          <a:bodyPr wrap="square" lIns="0" tIns="0" rIns="0" bIns="0" rtlCol="0" anchor="t"/>
          <a:lstStyle/>
          <a:p>
            <a:pPr marL="0" indent="0">
              <a:buNone/>
            </a:pPr>
            <a:r>
              <a:rPr lang="en-US" sz="1500" dirty="0">
                <a:solidFill>
                  <a:srgbClr val="12394D"/>
                </a:solidFill>
                <a:latin typeface="Calibri" pitchFamily="34" charset="0"/>
                <a:ea typeface="Calibri" pitchFamily="34" charset="-122"/>
                <a:cs typeface="Calibri" pitchFamily="34" charset="-120"/>
              </a:rPr>
              <a:t>L(π, ν) = J(π) − ν ( J</a:t>
            </a:r>
            <a:r>
              <a:rPr lang="en-US" sz="1500" baseline="-40000" dirty="0">
                <a:solidFill>
                  <a:srgbClr val="12394D"/>
                </a:solidFill>
                <a:latin typeface="Calibri" pitchFamily="34" charset="0"/>
                <a:ea typeface="Calibri" pitchFamily="34" charset="-122"/>
                <a:cs typeface="Calibri" pitchFamily="34" charset="-120"/>
              </a:rPr>
              <a:t>C</a:t>
            </a:r>
            <a:r>
              <a:rPr lang="en-US" sz="1500" dirty="0">
                <a:solidFill>
                  <a:srgbClr val="12394D"/>
                </a:solidFill>
                <a:latin typeface="Calibri" pitchFamily="34" charset="0"/>
                <a:ea typeface="Calibri" pitchFamily="34" charset="-122"/>
                <a:cs typeface="Calibri" pitchFamily="34" charset="-120"/>
              </a:rPr>
              <a:t>(π) − d )</a:t>
            </a:r>
            <a:endParaRPr lang="en-US" sz="1500" dirty="0"/>
          </a:p>
        </p:txBody>
      </p:sp>
      <p:sp>
        <p:nvSpPr>
          <p:cNvPr id="16" name="Text 13"/>
          <p:cNvSpPr txBox="1"/>
          <p:nvPr/>
        </p:nvSpPr>
        <p:spPr>
          <a:xfrm>
            <a:off x="6492240" y="3099816"/>
            <a:ext cx="4754880" cy="384048"/>
          </a:xfrm>
          <a:prstGeom prst="rect">
            <a:avLst/>
          </a:prstGeom>
          <a:noFill/>
          <a:ln/>
        </p:spPr>
        <p:txBody>
          <a:bodyPr wrap="square" lIns="0" tIns="0" rIns="0" bIns="0" rtlCol="0" anchor="t"/>
          <a:lstStyle/>
          <a:p>
            <a:pPr marL="0" indent="0">
              <a:buNone/>
            </a:pPr>
            <a:r>
              <a:rPr lang="en-US" sz="1500" dirty="0">
                <a:solidFill>
                  <a:srgbClr val="12394D"/>
                </a:solidFill>
                <a:latin typeface="Calibri" pitchFamily="34" charset="0"/>
                <a:ea typeface="Calibri" pitchFamily="34" charset="-122"/>
                <a:cs typeface="Calibri" pitchFamily="34" charset="-120"/>
              </a:rPr>
              <a:t>θ ← θ + α∇</a:t>
            </a:r>
            <a:r>
              <a:rPr lang="en-US" sz="1500" baseline="-40000" dirty="0">
                <a:solidFill>
                  <a:srgbClr val="12394D"/>
                </a:solidFill>
                <a:latin typeface="Calibri" pitchFamily="34" charset="0"/>
                <a:ea typeface="Calibri" pitchFamily="34" charset="-122"/>
                <a:cs typeface="Calibri" pitchFamily="34" charset="-120"/>
              </a:rPr>
              <a:t>θ</a:t>
            </a:r>
            <a:r>
              <a:rPr lang="en-US" sz="1500" dirty="0">
                <a:solidFill>
                  <a:srgbClr val="12394D"/>
                </a:solidFill>
                <a:latin typeface="Calibri" pitchFamily="34" charset="0"/>
                <a:ea typeface="Calibri" pitchFamily="34" charset="-122"/>
                <a:cs typeface="Calibri" pitchFamily="34" charset="-120"/>
              </a:rPr>
              <a:t>L ,    ν ← [ ν + α</a:t>
            </a:r>
            <a:r>
              <a:rPr lang="en-US" sz="1500" baseline="-40000" dirty="0">
                <a:solidFill>
                  <a:srgbClr val="12394D"/>
                </a:solidFill>
                <a:latin typeface="Calibri" pitchFamily="34" charset="0"/>
                <a:ea typeface="Calibri" pitchFamily="34" charset="-122"/>
                <a:cs typeface="Calibri" pitchFamily="34" charset="-120"/>
              </a:rPr>
              <a:t>ν</a:t>
            </a:r>
            <a:r>
              <a:rPr lang="en-US" sz="1500" dirty="0">
                <a:solidFill>
                  <a:srgbClr val="12394D"/>
                </a:solidFill>
                <a:latin typeface="Calibri" pitchFamily="34" charset="0"/>
                <a:ea typeface="Calibri" pitchFamily="34" charset="-122"/>
                <a:cs typeface="Calibri" pitchFamily="34" charset="-120"/>
              </a:rPr>
              <a:t>( J</a:t>
            </a:r>
            <a:r>
              <a:rPr lang="en-US" sz="1500" baseline="-40000" dirty="0">
                <a:solidFill>
                  <a:srgbClr val="12394D"/>
                </a:solidFill>
                <a:latin typeface="Calibri" pitchFamily="34" charset="0"/>
                <a:ea typeface="Calibri" pitchFamily="34" charset="-122"/>
                <a:cs typeface="Calibri" pitchFamily="34" charset="-120"/>
              </a:rPr>
              <a:t>C</a:t>
            </a:r>
            <a:r>
              <a:rPr lang="en-US" sz="1500" dirty="0">
                <a:solidFill>
                  <a:srgbClr val="12394D"/>
                </a:solidFill>
                <a:latin typeface="Calibri" pitchFamily="34" charset="0"/>
                <a:ea typeface="Calibri" pitchFamily="34" charset="-122"/>
                <a:cs typeface="Calibri" pitchFamily="34" charset="-120"/>
              </a:rPr>
              <a:t> − d ) ]⁺</a:t>
            </a:r>
            <a:endParaRPr lang="en-US" sz="1500" dirty="0"/>
          </a:p>
        </p:txBody>
      </p:sp>
      <p:sp>
        <p:nvSpPr>
          <p:cNvPr id="17" name="Text 14"/>
          <p:cNvSpPr txBox="1"/>
          <p:nvPr/>
        </p:nvSpPr>
        <p:spPr>
          <a:xfrm>
            <a:off x="6492240" y="3611880"/>
            <a:ext cx="4754880" cy="1737360"/>
          </a:xfrm>
          <a:prstGeom prst="rect">
            <a:avLst/>
          </a:prstGeom>
          <a:noFill/>
          <a:ln/>
        </p:spPr>
        <p:txBody>
          <a:bodyPr wrap="square" lIns="0" tIns="0" rIns="0" bIns="0" rtlCol="0" anchor="t"/>
          <a:lstStyle/>
          <a:p>
            <a:pPr marL="0" indent="0">
              <a:buNone/>
            </a:pPr>
            <a:r>
              <a:rPr lang="en-US" sz="1450" b="1" dirty="0">
                <a:solidFill>
                  <a:srgbClr val="12394D"/>
                </a:solidFill>
                <a:latin typeface="Calibri" pitchFamily="34" charset="0"/>
                <a:ea typeface="Calibri" pitchFamily="34" charset="-122"/>
                <a:cs typeface="Calibri" pitchFamily="34" charset="-120"/>
              </a:rPr>
              <a:t>Why a CMDP</a:t>
            </a:r>
            <a:endParaRPr lang="en-US" sz="1450" dirty="0"/>
          </a:p>
          <a:p>
            <a:pPr marL="0" indent="0">
              <a:spcAft>
                <a:spcPts val="900"/>
              </a:spcAft>
              <a:buNone/>
            </a:pPr>
            <a:r>
              <a:rPr lang="en-US" sz="1250" dirty="0">
                <a:solidFill>
                  <a:srgbClr val="5F7A8A"/>
                </a:solidFill>
                <a:latin typeface="Calibri" pitchFamily="34" charset="0"/>
                <a:ea typeface="Calibri" pitchFamily="34" charset="-122"/>
                <a:cs typeface="Calibri" pitchFamily="34" charset="-120"/>
              </a:rPr>
              <a:t>SLA limits stay explicit instead of hand-tuned penalty weights</a:t>
            </a:r>
            <a:endParaRPr lang="en-US" sz="1450" dirty="0"/>
          </a:p>
          <a:p>
            <a:pPr marL="0" indent="0">
              <a:buNone/>
            </a:pPr>
            <a:r>
              <a:rPr lang="en-US" sz="1450" b="1" dirty="0">
                <a:solidFill>
                  <a:srgbClr val="12394D"/>
                </a:solidFill>
                <a:latin typeface="Calibri" pitchFamily="34" charset="0"/>
                <a:ea typeface="Calibri" pitchFamily="34" charset="-122"/>
                <a:cs typeface="Calibri" pitchFamily="34" charset="-120"/>
              </a:rPr>
              <a:t>Limit</a:t>
            </a:r>
            <a:endParaRPr lang="en-US" sz="1450" dirty="0"/>
          </a:p>
          <a:p>
            <a:pPr marL="0" indent="0">
              <a:spcAft>
                <a:spcPts val="900"/>
              </a:spcAft>
              <a:buNone/>
            </a:pPr>
            <a:r>
              <a:rPr lang="en-US" sz="1250" dirty="0">
                <a:solidFill>
                  <a:srgbClr val="5F7A8A"/>
                </a:solidFill>
                <a:latin typeface="Calibri" pitchFamily="34" charset="0"/>
                <a:ea typeface="Calibri" pitchFamily="34" charset="-122"/>
                <a:cs typeface="Calibri" pitchFamily="34" charset="-120"/>
              </a:rPr>
              <a:t>Constraint met only in expectation and at convergence: intermediate policies may violate it</a:t>
            </a:r>
            <a:endParaRPr lang="en-US" sz="14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320040"/>
          </a:xfrm>
          <a:prstGeom prst="rect">
            <a:avLst/>
          </a:prstGeom>
          <a:noFill/>
          <a:ln/>
        </p:spPr>
        <p:txBody>
          <a:bodyPr wrap="square" lIns="0" tIns="0" rIns="0" bIns="0" rtlCol="0" anchor="t"/>
          <a:lstStyle/>
          <a:p>
            <a:pPr marL="0" indent="0">
              <a:buNone/>
            </a:pPr>
            <a:r>
              <a:rPr lang="en-US" sz="1400" b="1" kern="0" spc="200" dirty="0">
                <a:solidFill>
                  <a:srgbClr val="2BB3A3"/>
                </a:solidFill>
                <a:latin typeface="Calibri" pitchFamily="34" charset="0"/>
                <a:ea typeface="Calibri" pitchFamily="34" charset="-122"/>
                <a:cs typeface="Calibri" pitchFamily="34" charset="-120"/>
              </a:rPr>
              <a:t>Survey 2 · Lu et al. · DRL for 6G AI-RAN</a:t>
            </a:r>
            <a:endParaRPr lang="en-US" sz="1400" dirty="0"/>
          </a:p>
        </p:txBody>
      </p:sp>
      <p:sp>
        <p:nvSpPr>
          <p:cNvPr id="3" name="Text 1"/>
          <p:cNvSpPr txBox="1"/>
          <p:nvPr/>
        </p:nvSpPr>
        <p:spPr>
          <a:xfrm>
            <a:off x="640080" y="786384"/>
            <a:ext cx="10881360" cy="640080"/>
          </a:xfrm>
          <a:prstGeom prst="rect">
            <a:avLst/>
          </a:prstGeom>
          <a:noFill/>
          <a:ln/>
        </p:spPr>
        <p:txBody>
          <a:bodyPr wrap="square" lIns="0" tIns="0" rIns="0" bIns="0" rtlCol="0" anchor="t">
            <a:normAutofit/>
          </a:bodyPr>
          <a:lstStyle/>
          <a:p>
            <a:pPr marL="0" indent="0">
              <a:buNone/>
            </a:pPr>
            <a:r>
              <a:rPr lang="en-US" sz="2700" b="1" dirty="0">
                <a:solidFill>
                  <a:srgbClr val="12394D"/>
                </a:solidFill>
                <a:latin typeface="Cambria" pitchFamily="34" charset="0"/>
                <a:ea typeface="Cambria" pitchFamily="34" charset="-122"/>
                <a:cs typeface="Cambria" pitchFamily="34" charset="-120"/>
              </a:rPr>
              <a:t>Beyond one agent and one simulator</a:t>
            </a:r>
            <a:endParaRPr lang="en-US" sz="2700" dirty="0"/>
          </a:p>
        </p:txBody>
      </p:sp>
      <p:sp>
        <p:nvSpPr>
          <p:cNvPr id="4" name="Shape 2"/>
          <p:cNvSpPr/>
          <p:nvPr/>
        </p:nvSpPr>
        <p:spPr>
          <a:xfrm>
            <a:off x="640080" y="5596128"/>
            <a:ext cx="10881360" cy="502920"/>
          </a:xfrm>
          <a:prstGeom prst="roundRect">
            <a:avLst>
              <a:gd name="adj" fmla="val 10909"/>
            </a:avLst>
          </a:prstGeom>
          <a:solidFill>
            <a:srgbClr val="E6F4F2"/>
          </a:solidFill>
          <a:ln w="12700">
            <a:solidFill>
              <a:srgbClr val="E6F4F2"/>
            </a:solidFill>
            <a:prstDash val="solid"/>
          </a:ln>
        </p:spPr>
        <p:txBody>
          <a:bodyPr/>
          <a:lstStyle/>
          <a:p>
            <a:endParaRPr lang="en-US"/>
          </a:p>
        </p:txBody>
      </p:sp>
      <p:sp>
        <p:nvSpPr>
          <p:cNvPr id="5" name="Text 3"/>
          <p:cNvSpPr txBox="1"/>
          <p:nvPr/>
        </p:nvSpPr>
        <p:spPr>
          <a:xfrm>
            <a:off x="868680" y="5596128"/>
            <a:ext cx="10469880" cy="502920"/>
          </a:xfrm>
          <a:prstGeom prst="rect">
            <a:avLst/>
          </a:prstGeom>
          <a:noFill/>
          <a:ln/>
        </p:spPr>
        <p:txBody>
          <a:bodyPr wrap="square" lIns="0" tIns="0" rIns="0" bIns="0" rtlCol="0" anchor="ctr"/>
          <a:lstStyle/>
          <a:p>
            <a:pPr marL="0" indent="0">
              <a:buNone/>
            </a:pPr>
            <a:r>
              <a:rPr lang="en-US" sz="1400" b="1" dirty="0">
                <a:solidFill>
                  <a:srgbClr val="1A8A99"/>
                </a:solidFill>
                <a:latin typeface="Calibri" pitchFamily="34" charset="0"/>
                <a:ea typeface="Calibri" pitchFamily="34" charset="-122"/>
                <a:cs typeface="Calibri" pitchFamily="34" charset="-120"/>
              </a:rPr>
              <a:t>Takeaway  </a:t>
            </a:r>
            <a:r>
              <a:rPr lang="en-US" sz="1400" dirty="0">
                <a:solidFill>
                  <a:srgbClr val="12394D"/>
                </a:solidFill>
                <a:latin typeface="Calibri" pitchFamily="34" charset="0"/>
                <a:ea typeface="Calibri" pitchFamily="34" charset="-122"/>
                <a:cs typeface="Calibri" pitchFamily="34" charset="-120"/>
              </a:rPr>
              <a:t>Real RANs are multi-agent, multi-site and never identical to the simulator.</a:t>
            </a:r>
            <a:endParaRPr lang="en-US" sz="1400" dirty="0"/>
          </a:p>
        </p:txBody>
      </p:sp>
      <p:sp>
        <p:nvSpPr>
          <p:cNvPr id="6" name="Text 4"/>
          <p:cNvSpPr txBox="1"/>
          <p:nvPr/>
        </p:nvSpPr>
        <p:spPr>
          <a:xfrm>
            <a:off x="640080" y="6355080"/>
            <a:ext cx="6400800" cy="274320"/>
          </a:xfrm>
          <a:prstGeom prst="rect">
            <a:avLst/>
          </a:prstGeom>
          <a:noFill/>
          <a:ln/>
        </p:spPr>
        <p:txBody>
          <a:bodyPr wrap="square" lIns="0" tIns="0" rIns="0" bIns="0" rtlCol="0" anchor="t"/>
          <a:lstStyle/>
          <a:p>
            <a:pPr marL="0" indent="0">
              <a:buNone/>
            </a:pPr>
            <a:r>
              <a:rPr lang="en-US" sz="1100" dirty="0">
                <a:solidFill>
                  <a:srgbClr val="5F7A8A"/>
                </a:solidFill>
                <a:latin typeface="Calibri" pitchFamily="34" charset="0"/>
                <a:ea typeface="Calibri" pitchFamily="34" charset="-122"/>
                <a:cs typeface="Calibri" pitchFamily="34" charset="-120"/>
              </a:rPr>
              <a:t>RS2M Department · Télécom SudParis · Palaiseau, France</a:t>
            </a:r>
            <a:endParaRPr lang="en-US" sz="1100" dirty="0"/>
          </a:p>
        </p:txBody>
      </p:sp>
      <p:sp>
        <p:nvSpPr>
          <p:cNvPr id="7" name="Text 5"/>
          <p:cNvSpPr txBox="1"/>
          <p:nvPr/>
        </p:nvSpPr>
        <p:spPr>
          <a:xfrm>
            <a:off x="11064240" y="6355080"/>
            <a:ext cx="457200" cy="274320"/>
          </a:xfrm>
          <a:prstGeom prst="rect">
            <a:avLst/>
          </a:prstGeom>
          <a:noFill/>
          <a:ln/>
        </p:spPr>
        <p:txBody>
          <a:bodyPr wrap="square" lIns="0" tIns="0" rIns="0" bIns="0" rtlCol="0" anchor="t"/>
          <a:lstStyle/>
          <a:p>
            <a:pPr marL="0" indent="0" algn="r">
              <a:buNone/>
            </a:pPr>
            <a:r>
              <a:rPr lang="en-US" sz="1100" dirty="0">
                <a:solidFill>
                  <a:srgbClr val="5F7A8A"/>
                </a:solidFill>
                <a:latin typeface="Calibri" pitchFamily="34" charset="0"/>
                <a:ea typeface="Calibri" pitchFamily="34" charset="-122"/>
                <a:cs typeface="Calibri" pitchFamily="34" charset="-120"/>
              </a:rPr>
              <a:t>18</a:t>
            </a:r>
            <a:endParaRPr lang="en-US" sz="1100" dirty="0"/>
          </a:p>
        </p:txBody>
      </p:sp>
      <p:sp>
        <p:nvSpPr>
          <p:cNvPr id="9" name="Shape 6"/>
          <p:cNvSpPr/>
          <p:nvPr/>
        </p:nvSpPr>
        <p:spPr>
          <a:xfrm>
            <a:off x="640080" y="1645920"/>
            <a:ext cx="5349240" cy="1783080"/>
          </a:xfrm>
          <a:prstGeom prst="roundRect">
            <a:avLst>
              <a:gd name="adj" fmla="val 3077"/>
            </a:avLst>
          </a:prstGeom>
          <a:solidFill>
            <a:srgbClr val="F0F5F7"/>
          </a:solidFill>
          <a:ln w="12700">
            <a:solidFill>
              <a:srgbClr val="F0F5F7"/>
            </a:solidFill>
            <a:prstDash val="solid"/>
          </a:ln>
        </p:spPr>
        <p:txBody>
          <a:bodyPr/>
          <a:lstStyle/>
          <a:p>
            <a:endParaRPr lang="en-US"/>
          </a:p>
        </p:txBody>
      </p:sp>
      <p:sp>
        <p:nvSpPr>
          <p:cNvPr id="10" name="Text 7"/>
          <p:cNvSpPr txBox="1"/>
          <p:nvPr/>
        </p:nvSpPr>
        <p:spPr>
          <a:xfrm>
            <a:off x="868680" y="1810512"/>
            <a:ext cx="4892040" cy="411480"/>
          </a:xfrm>
          <a:prstGeom prst="rect">
            <a:avLst/>
          </a:prstGeom>
          <a:noFill/>
          <a:ln/>
        </p:spPr>
        <p:txBody>
          <a:bodyPr wrap="square" lIns="0" tIns="0" rIns="0" bIns="0" rtlCol="0" anchor="t"/>
          <a:lstStyle/>
          <a:p>
            <a:pPr marL="0" indent="0">
              <a:buNone/>
            </a:pPr>
            <a:r>
              <a:rPr lang="en-US" sz="1600" b="1" dirty="0">
                <a:solidFill>
                  <a:srgbClr val="12394D"/>
                </a:solidFill>
                <a:latin typeface="Cambria" pitchFamily="34" charset="0"/>
                <a:ea typeface="Cambria" pitchFamily="34" charset="-122"/>
                <a:cs typeface="Cambria" pitchFamily="34" charset="-120"/>
              </a:rPr>
              <a:t>Multi-agent RL</a:t>
            </a:r>
            <a:endParaRPr lang="en-US" sz="1600" dirty="0"/>
          </a:p>
        </p:txBody>
      </p:sp>
      <p:sp>
        <p:nvSpPr>
          <p:cNvPr id="11" name="Text 8"/>
          <p:cNvSpPr txBox="1"/>
          <p:nvPr/>
        </p:nvSpPr>
        <p:spPr>
          <a:xfrm>
            <a:off x="868680" y="2267712"/>
            <a:ext cx="4892040" cy="1051560"/>
          </a:xfrm>
          <a:prstGeom prst="rect">
            <a:avLst/>
          </a:prstGeom>
          <a:noFill/>
          <a:ln/>
        </p:spPr>
        <p:txBody>
          <a:bodyPr wrap="square" lIns="0" tIns="0" rIns="0" bIns="0" rtlCol="0" anchor="t"/>
          <a:lstStyle/>
          <a:p>
            <a:pPr marL="0" indent="0">
              <a:buNone/>
            </a:pPr>
            <a:r>
              <a:rPr lang="en-US" sz="1350" dirty="0">
                <a:solidFill>
                  <a:srgbClr val="2A3F4C"/>
                </a:solidFill>
                <a:latin typeface="Calibri" pitchFamily="34" charset="0"/>
                <a:ea typeface="Calibri" pitchFamily="34" charset="-122"/>
                <a:cs typeface="Calibri" pitchFamily="34" charset="-120"/>
              </a:rPr>
              <a:t>Stochastic games and Dec-POMDPs. CTDE: MADDPG, QMIX (individual-global-max), MAPPO as a strong default. Each agent sees a non-stationary world.</a:t>
            </a:r>
            <a:endParaRPr lang="en-US" sz="1350" dirty="0"/>
          </a:p>
        </p:txBody>
      </p:sp>
      <p:sp>
        <p:nvSpPr>
          <p:cNvPr id="12" name="Shape 9"/>
          <p:cNvSpPr/>
          <p:nvPr/>
        </p:nvSpPr>
        <p:spPr>
          <a:xfrm>
            <a:off x="6172200" y="1645920"/>
            <a:ext cx="5349240" cy="1783080"/>
          </a:xfrm>
          <a:prstGeom prst="roundRect">
            <a:avLst>
              <a:gd name="adj" fmla="val 3077"/>
            </a:avLst>
          </a:prstGeom>
          <a:solidFill>
            <a:srgbClr val="F0F5F7"/>
          </a:solidFill>
          <a:ln w="12700">
            <a:solidFill>
              <a:srgbClr val="F0F5F7"/>
            </a:solidFill>
            <a:prstDash val="solid"/>
          </a:ln>
        </p:spPr>
        <p:txBody>
          <a:bodyPr/>
          <a:lstStyle/>
          <a:p>
            <a:endParaRPr lang="en-US"/>
          </a:p>
        </p:txBody>
      </p:sp>
      <p:sp>
        <p:nvSpPr>
          <p:cNvPr id="13" name="Text 10"/>
          <p:cNvSpPr txBox="1"/>
          <p:nvPr/>
        </p:nvSpPr>
        <p:spPr>
          <a:xfrm>
            <a:off x="6400800" y="1810512"/>
            <a:ext cx="4892040" cy="411480"/>
          </a:xfrm>
          <a:prstGeom prst="rect">
            <a:avLst/>
          </a:prstGeom>
          <a:noFill/>
          <a:ln/>
        </p:spPr>
        <p:txBody>
          <a:bodyPr wrap="square" lIns="0" tIns="0" rIns="0" bIns="0" rtlCol="0" anchor="t"/>
          <a:lstStyle/>
          <a:p>
            <a:pPr marL="0" indent="0">
              <a:buNone/>
            </a:pPr>
            <a:r>
              <a:rPr lang="en-US" sz="1600" b="1" dirty="0">
                <a:solidFill>
                  <a:srgbClr val="12394D"/>
                </a:solidFill>
                <a:latin typeface="Cambria" pitchFamily="34" charset="0"/>
                <a:ea typeface="Cambria" pitchFamily="34" charset="-122"/>
                <a:cs typeface="Cambria" pitchFamily="34" charset="-120"/>
              </a:rPr>
              <a:t>Federated RL</a:t>
            </a:r>
            <a:endParaRPr lang="en-US" sz="1600" dirty="0"/>
          </a:p>
        </p:txBody>
      </p:sp>
      <p:sp>
        <p:nvSpPr>
          <p:cNvPr id="14" name="Text 11"/>
          <p:cNvSpPr txBox="1"/>
          <p:nvPr/>
        </p:nvSpPr>
        <p:spPr>
          <a:xfrm>
            <a:off x="6400800" y="2267712"/>
            <a:ext cx="4892040" cy="1051560"/>
          </a:xfrm>
          <a:prstGeom prst="rect">
            <a:avLst/>
          </a:prstGeom>
          <a:noFill/>
          <a:ln/>
        </p:spPr>
        <p:txBody>
          <a:bodyPr wrap="square" lIns="0" tIns="0" rIns="0" bIns="0" rtlCol="0" anchor="t"/>
          <a:lstStyle/>
          <a:p>
            <a:pPr marL="0" indent="0">
              <a:buNone/>
            </a:pPr>
            <a:r>
              <a:rPr lang="en-US" sz="1350" dirty="0">
                <a:solidFill>
                  <a:srgbClr val="2A3F4C"/>
                </a:solidFill>
                <a:latin typeface="Calibri" pitchFamily="34" charset="0"/>
                <a:ea typeface="Calibri" pitchFamily="34" charset="-122"/>
                <a:cs typeface="Calibri" pitchFamily="34" charset="-120"/>
              </a:rPr>
              <a:t>Horizontal: same task, different sites (one xApp, many gNBs). Vertical: same network, different views (RAN + core/OSS). Issues: non-IID data, privacy leakage, policy-driven shift.</a:t>
            </a:r>
            <a:endParaRPr lang="en-US" sz="1350" dirty="0"/>
          </a:p>
        </p:txBody>
      </p:sp>
      <p:sp>
        <p:nvSpPr>
          <p:cNvPr id="15" name="Shape 12"/>
          <p:cNvSpPr/>
          <p:nvPr/>
        </p:nvSpPr>
        <p:spPr>
          <a:xfrm>
            <a:off x="640080" y="3566160"/>
            <a:ext cx="5349240" cy="1783080"/>
          </a:xfrm>
          <a:prstGeom prst="roundRect">
            <a:avLst>
              <a:gd name="adj" fmla="val 3077"/>
            </a:avLst>
          </a:prstGeom>
          <a:solidFill>
            <a:srgbClr val="F0F5F7"/>
          </a:solidFill>
          <a:ln w="12700">
            <a:solidFill>
              <a:srgbClr val="F0F5F7"/>
            </a:solidFill>
            <a:prstDash val="solid"/>
          </a:ln>
        </p:spPr>
        <p:txBody>
          <a:bodyPr/>
          <a:lstStyle/>
          <a:p>
            <a:endParaRPr lang="en-US"/>
          </a:p>
        </p:txBody>
      </p:sp>
      <p:sp>
        <p:nvSpPr>
          <p:cNvPr id="16" name="Text 13"/>
          <p:cNvSpPr txBox="1"/>
          <p:nvPr/>
        </p:nvSpPr>
        <p:spPr>
          <a:xfrm>
            <a:off x="868680" y="3730752"/>
            <a:ext cx="4892040" cy="411480"/>
          </a:xfrm>
          <a:prstGeom prst="rect">
            <a:avLst/>
          </a:prstGeom>
          <a:noFill/>
          <a:ln/>
        </p:spPr>
        <p:txBody>
          <a:bodyPr wrap="square" lIns="0" tIns="0" rIns="0" bIns="0" rtlCol="0" anchor="t"/>
          <a:lstStyle/>
          <a:p>
            <a:pPr marL="0" indent="0">
              <a:buNone/>
            </a:pPr>
            <a:r>
              <a:rPr lang="en-US" sz="1600" b="1" dirty="0">
                <a:solidFill>
                  <a:srgbClr val="12394D"/>
                </a:solidFill>
                <a:latin typeface="Cambria" pitchFamily="34" charset="0"/>
                <a:ea typeface="Cambria" pitchFamily="34" charset="-122"/>
                <a:cs typeface="Cambria" pitchFamily="34" charset="-120"/>
              </a:rPr>
              <a:t>Meta-RL and transfer</a:t>
            </a:r>
            <a:endParaRPr lang="en-US" sz="1600" dirty="0"/>
          </a:p>
        </p:txBody>
      </p:sp>
      <p:sp>
        <p:nvSpPr>
          <p:cNvPr id="17" name="Text 14"/>
          <p:cNvSpPr txBox="1"/>
          <p:nvPr/>
        </p:nvSpPr>
        <p:spPr>
          <a:xfrm>
            <a:off x="868680" y="4187952"/>
            <a:ext cx="4892040" cy="1051560"/>
          </a:xfrm>
          <a:prstGeom prst="rect">
            <a:avLst/>
          </a:prstGeom>
          <a:noFill/>
          <a:ln/>
        </p:spPr>
        <p:txBody>
          <a:bodyPr wrap="square" lIns="0" tIns="0" rIns="0" bIns="0" rtlCol="0" anchor="t"/>
          <a:lstStyle/>
          <a:p>
            <a:pPr marL="0" indent="0">
              <a:buNone/>
            </a:pPr>
            <a:r>
              <a:rPr lang="en-US" sz="1350" dirty="0">
                <a:solidFill>
                  <a:srgbClr val="2A3F4C"/>
                </a:solidFill>
                <a:latin typeface="Calibri" pitchFamily="34" charset="0"/>
                <a:ea typeface="Calibri" pitchFamily="34" charset="-122"/>
                <a:cs typeface="Calibri" pitchFamily="34" charset="-120"/>
              </a:rPr>
              <a:t>MAML (a few gradient steps), RL² (adaptation inside an RNN), PEARL (latent task z); policy distillation and successor features. Fewer interactions per new cell or slice.</a:t>
            </a:r>
            <a:endParaRPr lang="en-US" sz="1350" dirty="0"/>
          </a:p>
        </p:txBody>
      </p:sp>
      <p:sp>
        <p:nvSpPr>
          <p:cNvPr id="18" name="Shape 15"/>
          <p:cNvSpPr/>
          <p:nvPr/>
        </p:nvSpPr>
        <p:spPr>
          <a:xfrm>
            <a:off x="6172200" y="3566160"/>
            <a:ext cx="5349240" cy="1783080"/>
          </a:xfrm>
          <a:prstGeom prst="roundRect">
            <a:avLst>
              <a:gd name="adj" fmla="val 3077"/>
            </a:avLst>
          </a:prstGeom>
          <a:solidFill>
            <a:srgbClr val="F0F5F7"/>
          </a:solidFill>
          <a:ln w="12700">
            <a:solidFill>
              <a:srgbClr val="F0F5F7"/>
            </a:solidFill>
            <a:prstDash val="solid"/>
          </a:ln>
        </p:spPr>
        <p:txBody>
          <a:bodyPr/>
          <a:lstStyle/>
          <a:p>
            <a:endParaRPr lang="en-US"/>
          </a:p>
        </p:txBody>
      </p:sp>
      <p:sp>
        <p:nvSpPr>
          <p:cNvPr id="19" name="Text 16"/>
          <p:cNvSpPr txBox="1"/>
          <p:nvPr/>
        </p:nvSpPr>
        <p:spPr>
          <a:xfrm>
            <a:off x="6400800" y="3730752"/>
            <a:ext cx="4892040" cy="411480"/>
          </a:xfrm>
          <a:prstGeom prst="rect">
            <a:avLst/>
          </a:prstGeom>
          <a:noFill/>
          <a:ln/>
        </p:spPr>
        <p:txBody>
          <a:bodyPr wrap="square" lIns="0" tIns="0" rIns="0" bIns="0" rtlCol="0" anchor="t"/>
          <a:lstStyle/>
          <a:p>
            <a:pPr marL="0" indent="0">
              <a:buNone/>
            </a:pPr>
            <a:r>
              <a:rPr lang="en-US" sz="1600" b="1" dirty="0">
                <a:solidFill>
                  <a:srgbClr val="12394D"/>
                </a:solidFill>
                <a:latin typeface="Cambria" pitchFamily="34" charset="0"/>
                <a:ea typeface="Cambria" pitchFamily="34" charset="-122"/>
                <a:cs typeface="Cambria" pitchFamily="34" charset="-120"/>
              </a:rPr>
              <a:t>Sim-to-real gap</a:t>
            </a:r>
            <a:endParaRPr lang="en-US" sz="1600" dirty="0"/>
          </a:p>
        </p:txBody>
      </p:sp>
      <p:sp>
        <p:nvSpPr>
          <p:cNvPr id="20" name="Text 17"/>
          <p:cNvSpPr txBox="1"/>
          <p:nvPr/>
        </p:nvSpPr>
        <p:spPr>
          <a:xfrm>
            <a:off x="6400800" y="4187952"/>
            <a:ext cx="4892040" cy="1051560"/>
          </a:xfrm>
          <a:prstGeom prst="rect">
            <a:avLst/>
          </a:prstGeom>
          <a:noFill/>
          <a:ln/>
        </p:spPr>
        <p:txBody>
          <a:bodyPr wrap="square" lIns="0" tIns="0" rIns="0" bIns="0" rtlCol="0" anchor="t"/>
          <a:lstStyle/>
          <a:p>
            <a:pPr marL="0" indent="0">
              <a:buNone/>
            </a:pPr>
            <a:r>
              <a:rPr lang="en-US" sz="1350" dirty="0">
                <a:solidFill>
                  <a:srgbClr val="2A3F4C"/>
                </a:solidFill>
                <a:latin typeface="Calibri" pitchFamily="34" charset="0"/>
                <a:ea typeface="Calibri" pitchFamily="34" charset="-122"/>
                <a:cs typeface="Calibri" pitchFamily="34" charset="-120"/>
              </a:rPr>
              <a:t>ΔS2R = J</a:t>
            </a:r>
            <a:r>
              <a:rPr lang="en-US" sz="1350" baseline="-40000" dirty="0">
                <a:solidFill>
                  <a:srgbClr val="2A3F4C"/>
                </a:solidFill>
                <a:latin typeface="Calibri" pitchFamily="34" charset="0"/>
                <a:ea typeface="Calibri" pitchFamily="34" charset="-122"/>
                <a:cs typeface="Calibri" pitchFamily="34" charset="-120"/>
              </a:rPr>
              <a:t>real</a:t>
            </a:r>
            <a:r>
              <a:rPr lang="en-US" sz="1350" dirty="0">
                <a:solidFill>
                  <a:srgbClr val="2A3F4C"/>
                </a:solidFill>
                <a:latin typeface="Calibri" pitchFamily="34" charset="0"/>
                <a:ea typeface="Calibri" pitchFamily="34" charset="-122"/>
                <a:cs typeface="Calibri" pitchFamily="34" charset="-120"/>
              </a:rPr>
              <a:t>(π*</a:t>
            </a:r>
            <a:r>
              <a:rPr lang="en-US" sz="1350" baseline="-40000" dirty="0">
                <a:solidFill>
                  <a:srgbClr val="2A3F4C"/>
                </a:solidFill>
                <a:latin typeface="Calibri" pitchFamily="34" charset="0"/>
                <a:ea typeface="Calibri" pitchFamily="34" charset="-122"/>
                <a:cs typeface="Calibri" pitchFamily="34" charset="-120"/>
              </a:rPr>
              <a:t>real</a:t>
            </a:r>
            <a:r>
              <a:rPr lang="en-US" sz="1350" dirty="0">
                <a:solidFill>
                  <a:srgbClr val="2A3F4C"/>
                </a:solidFill>
                <a:latin typeface="Calibri" pitchFamily="34" charset="0"/>
                <a:ea typeface="Calibri" pitchFamily="34" charset="-122"/>
                <a:cs typeface="Calibri" pitchFamily="34" charset="-120"/>
              </a:rPr>
              <a:t>) − J</a:t>
            </a:r>
            <a:r>
              <a:rPr lang="en-US" sz="1350" baseline="-40000" dirty="0">
                <a:solidFill>
                  <a:srgbClr val="2A3F4C"/>
                </a:solidFill>
                <a:latin typeface="Calibri" pitchFamily="34" charset="0"/>
                <a:ea typeface="Calibri" pitchFamily="34" charset="-122"/>
                <a:cs typeface="Calibri" pitchFamily="34" charset="-120"/>
              </a:rPr>
              <a:t>real</a:t>
            </a:r>
            <a:r>
              <a:rPr lang="en-US" sz="1350" dirty="0">
                <a:solidFill>
                  <a:srgbClr val="2A3F4C"/>
                </a:solidFill>
                <a:latin typeface="Calibri" pitchFamily="34" charset="0"/>
                <a:ea typeface="Calibri" pitchFamily="34" charset="-122"/>
                <a:cs typeface="Calibri" pitchFamily="34" charset="-120"/>
              </a:rPr>
              <a:t>(π*</a:t>
            </a:r>
            <a:r>
              <a:rPr lang="en-US" sz="1350" baseline="-40000" dirty="0">
                <a:solidFill>
                  <a:srgbClr val="2A3F4C"/>
                </a:solidFill>
                <a:latin typeface="Calibri" pitchFamily="34" charset="0"/>
                <a:ea typeface="Calibri" pitchFamily="34" charset="-122"/>
                <a:cs typeface="Calibri" pitchFamily="34" charset="-120"/>
              </a:rPr>
              <a:t>sim</a:t>
            </a:r>
            <a:r>
              <a:rPr lang="en-US" sz="1350" dirty="0">
                <a:solidFill>
                  <a:srgbClr val="2A3F4C"/>
                </a:solidFill>
                <a:latin typeface="Calibri" pitchFamily="34" charset="0"/>
                <a:ea typeface="Calibri" pitchFamily="34" charset="-122"/>
                <a:cs typeface="Calibri" pitchFamily="34" charset="-120"/>
              </a:rPr>
              <a:t>) ≥ 0. Remedies: domain randomisation, system identification (calibrate the simulator), domain adaptation (shared features).</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320040"/>
          </a:xfrm>
          <a:prstGeom prst="rect">
            <a:avLst/>
          </a:prstGeom>
          <a:noFill/>
          <a:ln/>
        </p:spPr>
        <p:txBody>
          <a:bodyPr wrap="square" lIns="0" tIns="0" rIns="0" bIns="0" rtlCol="0" anchor="t"/>
          <a:lstStyle/>
          <a:p>
            <a:pPr marL="0" indent="0">
              <a:buNone/>
            </a:pPr>
            <a:r>
              <a:rPr lang="en-US" sz="1400" b="1" kern="0" spc="200" dirty="0">
                <a:solidFill>
                  <a:srgbClr val="2BB3A3"/>
                </a:solidFill>
                <a:latin typeface="Calibri" pitchFamily="34" charset="0"/>
                <a:ea typeface="Calibri" pitchFamily="34" charset="-122"/>
                <a:cs typeface="Calibri" pitchFamily="34" charset="-120"/>
              </a:rPr>
              <a:t>Survey 2 · Lu et al. · DRL for 6G AI-RAN</a:t>
            </a:r>
            <a:endParaRPr lang="en-US" sz="1400" dirty="0"/>
          </a:p>
        </p:txBody>
      </p:sp>
      <p:sp>
        <p:nvSpPr>
          <p:cNvPr id="3" name="Text 1"/>
          <p:cNvSpPr txBox="1"/>
          <p:nvPr/>
        </p:nvSpPr>
        <p:spPr>
          <a:xfrm>
            <a:off x="640080" y="786384"/>
            <a:ext cx="10881360" cy="640080"/>
          </a:xfrm>
          <a:prstGeom prst="rect">
            <a:avLst/>
          </a:prstGeom>
          <a:noFill/>
          <a:ln/>
        </p:spPr>
        <p:txBody>
          <a:bodyPr wrap="square" lIns="0" tIns="0" rIns="0" bIns="0" rtlCol="0" anchor="t">
            <a:normAutofit/>
          </a:bodyPr>
          <a:lstStyle/>
          <a:p>
            <a:pPr marL="0" indent="0">
              <a:buNone/>
            </a:pPr>
            <a:r>
              <a:rPr lang="en-US" sz="2700" b="1" dirty="0">
                <a:solidFill>
                  <a:srgbClr val="12394D"/>
                </a:solidFill>
                <a:latin typeface="Cambria" pitchFamily="34" charset="0"/>
                <a:ea typeface="Cambria" pitchFamily="34" charset="-122"/>
                <a:cs typeface="Cambria" pitchFamily="34" charset="-120"/>
              </a:rPr>
              <a:t>O-RAN as the DRL environment</a:t>
            </a:r>
            <a:endParaRPr lang="en-US" sz="2700" dirty="0"/>
          </a:p>
        </p:txBody>
      </p:sp>
      <p:sp>
        <p:nvSpPr>
          <p:cNvPr id="4" name="Shape 2"/>
          <p:cNvSpPr/>
          <p:nvPr/>
        </p:nvSpPr>
        <p:spPr>
          <a:xfrm>
            <a:off x="640080" y="5596128"/>
            <a:ext cx="10881360" cy="502920"/>
          </a:xfrm>
          <a:prstGeom prst="roundRect">
            <a:avLst>
              <a:gd name="adj" fmla="val 10909"/>
            </a:avLst>
          </a:prstGeom>
          <a:solidFill>
            <a:srgbClr val="E6F4F2"/>
          </a:solidFill>
          <a:ln w="12700">
            <a:solidFill>
              <a:srgbClr val="E6F4F2"/>
            </a:solidFill>
            <a:prstDash val="solid"/>
          </a:ln>
        </p:spPr>
        <p:txBody>
          <a:bodyPr/>
          <a:lstStyle/>
          <a:p>
            <a:endParaRPr lang="en-US"/>
          </a:p>
        </p:txBody>
      </p:sp>
      <p:sp>
        <p:nvSpPr>
          <p:cNvPr id="5" name="Text 3"/>
          <p:cNvSpPr txBox="1"/>
          <p:nvPr/>
        </p:nvSpPr>
        <p:spPr>
          <a:xfrm>
            <a:off x="868680" y="5596128"/>
            <a:ext cx="10469880" cy="502920"/>
          </a:xfrm>
          <a:prstGeom prst="rect">
            <a:avLst/>
          </a:prstGeom>
          <a:noFill/>
          <a:ln/>
        </p:spPr>
        <p:txBody>
          <a:bodyPr wrap="square" lIns="0" tIns="0" rIns="0" bIns="0" rtlCol="0" anchor="ctr"/>
          <a:lstStyle/>
          <a:p>
            <a:pPr marL="0" indent="0">
              <a:buNone/>
            </a:pPr>
            <a:r>
              <a:rPr lang="en-US" sz="1400" b="1" dirty="0">
                <a:solidFill>
                  <a:srgbClr val="1A8A99"/>
                </a:solidFill>
                <a:latin typeface="Calibri" pitchFamily="34" charset="0"/>
                <a:ea typeface="Calibri" pitchFamily="34" charset="-122"/>
                <a:cs typeface="Calibri" pitchFamily="34" charset="-120"/>
              </a:rPr>
              <a:t>Takeaway  </a:t>
            </a:r>
            <a:r>
              <a:rPr lang="en-US" sz="1400" dirty="0">
                <a:solidFill>
                  <a:srgbClr val="12394D"/>
                </a:solidFill>
                <a:latin typeface="Calibri" pitchFamily="34" charset="0"/>
                <a:ea typeface="Calibri" pitchFamily="34" charset="-122"/>
                <a:cs typeface="Calibri" pitchFamily="34" charset="-120"/>
              </a:rPr>
              <a:t>Where the agent runs decides what it can observe and act on: Safe-CQL is a Near-RT xApp.</a:t>
            </a:r>
            <a:endParaRPr lang="en-US" sz="1400" dirty="0"/>
          </a:p>
        </p:txBody>
      </p:sp>
      <p:sp>
        <p:nvSpPr>
          <p:cNvPr id="6" name="Text 4"/>
          <p:cNvSpPr txBox="1"/>
          <p:nvPr/>
        </p:nvSpPr>
        <p:spPr>
          <a:xfrm>
            <a:off x="640080" y="6355080"/>
            <a:ext cx="6400800" cy="274320"/>
          </a:xfrm>
          <a:prstGeom prst="rect">
            <a:avLst/>
          </a:prstGeom>
          <a:noFill/>
          <a:ln/>
        </p:spPr>
        <p:txBody>
          <a:bodyPr wrap="square" lIns="0" tIns="0" rIns="0" bIns="0" rtlCol="0" anchor="t"/>
          <a:lstStyle/>
          <a:p>
            <a:pPr marL="0" indent="0">
              <a:buNone/>
            </a:pPr>
            <a:r>
              <a:rPr lang="en-US" sz="1100" dirty="0">
                <a:solidFill>
                  <a:srgbClr val="5F7A8A"/>
                </a:solidFill>
                <a:latin typeface="Calibri" pitchFamily="34" charset="0"/>
                <a:ea typeface="Calibri" pitchFamily="34" charset="-122"/>
                <a:cs typeface="Calibri" pitchFamily="34" charset="-120"/>
              </a:rPr>
              <a:t>RS2M Department · Télécom SudParis · Palaiseau, France</a:t>
            </a:r>
            <a:endParaRPr lang="en-US" sz="1100" dirty="0"/>
          </a:p>
        </p:txBody>
      </p:sp>
      <p:sp>
        <p:nvSpPr>
          <p:cNvPr id="7" name="Text 5"/>
          <p:cNvSpPr txBox="1"/>
          <p:nvPr/>
        </p:nvSpPr>
        <p:spPr>
          <a:xfrm>
            <a:off x="11064240" y="6355080"/>
            <a:ext cx="457200" cy="274320"/>
          </a:xfrm>
          <a:prstGeom prst="rect">
            <a:avLst/>
          </a:prstGeom>
          <a:noFill/>
          <a:ln/>
        </p:spPr>
        <p:txBody>
          <a:bodyPr wrap="square" lIns="0" tIns="0" rIns="0" bIns="0" rtlCol="0" anchor="t"/>
          <a:lstStyle/>
          <a:p>
            <a:pPr marL="0" indent="0" algn="r">
              <a:buNone/>
            </a:pPr>
            <a:r>
              <a:rPr lang="fr-FR" sz="1100" dirty="0">
                <a:solidFill>
                  <a:srgbClr val="5F7A8A"/>
                </a:solidFill>
                <a:latin typeface="Calibri" pitchFamily="34" charset="0"/>
                <a:ea typeface="Calibri" pitchFamily="34" charset="-122"/>
                <a:cs typeface="Calibri" pitchFamily="34" charset="-120"/>
              </a:rPr>
              <a:t>1</a:t>
            </a:r>
            <a:r>
              <a:rPr lang="en-US" sz="1100" dirty="0">
                <a:solidFill>
                  <a:srgbClr val="5F7A8A"/>
                </a:solidFill>
                <a:latin typeface="Calibri" pitchFamily="34" charset="0"/>
                <a:ea typeface="Calibri" pitchFamily="34" charset="-122"/>
                <a:cs typeface="Calibri" pitchFamily="34" charset="-120"/>
              </a:rPr>
              <a:t>9</a:t>
            </a:r>
            <a:endParaRPr lang="en-US" sz="1100" dirty="0"/>
          </a:p>
        </p:txBody>
      </p:sp>
      <p:sp>
        <p:nvSpPr>
          <p:cNvPr id="11" name="Shape 8"/>
          <p:cNvSpPr/>
          <p:nvPr/>
        </p:nvSpPr>
        <p:spPr>
          <a:xfrm>
            <a:off x="5806440" y="1645920"/>
            <a:ext cx="5715000" cy="804672"/>
          </a:xfrm>
          <a:prstGeom prst="roundRect">
            <a:avLst>
              <a:gd name="adj" fmla="val 6818"/>
            </a:avLst>
          </a:prstGeom>
          <a:solidFill>
            <a:srgbClr val="F0F5F7"/>
          </a:solidFill>
          <a:ln w="12700">
            <a:solidFill>
              <a:srgbClr val="F0F5F7"/>
            </a:solidFill>
            <a:prstDash val="solid"/>
          </a:ln>
        </p:spPr>
        <p:txBody>
          <a:bodyPr/>
          <a:lstStyle/>
          <a:p>
            <a:endParaRPr lang="en-US"/>
          </a:p>
        </p:txBody>
      </p:sp>
      <p:sp>
        <p:nvSpPr>
          <p:cNvPr id="12" name="Text 9"/>
          <p:cNvSpPr txBox="1"/>
          <p:nvPr/>
        </p:nvSpPr>
        <p:spPr>
          <a:xfrm>
            <a:off x="5989320" y="1645920"/>
            <a:ext cx="1371600" cy="804672"/>
          </a:xfrm>
          <a:prstGeom prst="rect">
            <a:avLst/>
          </a:prstGeom>
          <a:noFill/>
          <a:ln/>
        </p:spPr>
        <p:txBody>
          <a:bodyPr wrap="square" lIns="0" tIns="0" rIns="0" bIns="0" rtlCol="0" anchor="ctr"/>
          <a:lstStyle/>
          <a:p>
            <a:pPr marL="0" indent="0">
              <a:buNone/>
            </a:pPr>
            <a:r>
              <a:rPr lang="en-US" sz="1700" b="1" dirty="0">
                <a:solidFill>
                  <a:srgbClr val="1A8A99"/>
                </a:solidFill>
                <a:latin typeface="Cambria" pitchFamily="34" charset="0"/>
                <a:ea typeface="Cambria" pitchFamily="34" charset="-122"/>
                <a:cs typeface="Cambria" pitchFamily="34" charset="-120"/>
              </a:rPr>
              <a:t>&gt; 1 s</a:t>
            </a:r>
            <a:endParaRPr lang="en-US" sz="1700" dirty="0"/>
          </a:p>
        </p:txBody>
      </p:sp>
      <p:sp>
        <p:nvSpPr>
          <p:cNvPr id="13" name="Text 10"/>
          <p:cNvSpPr txBox="1"/>
          <p:nvPr/>
        </p:nvSpPr>
        <p:spPr>
          <a:xfrm>
            <a:off x="7406640" y="1719072"/>
            <a:ext cx="4023360" cy="685800"/>
          </a:xfrm>
          <a:prstGeom prst="rect">
            <a:avLst/>
          </a:prstGeom>
          <a:noFill/>
          <a:ln/>
        </p:spPr>
        <p:txBody>
          <a:bodyPr wrap="square" lIns="0" tIns="0" rIns="0" bIns="0" rtlCol="0" anchor="ctr"/>
          <a:lstStyle/>
          <a:p>
            <a:pPr marL="0" indent="0">
              <a:buNone/>
            </a:pPr>
            <a:r>
              <a:rPr lang="en-US" sz="1400" b="1" dirty="0">
                <a:solidFill>
                  <a:srgbClr val="12394D"/>
                </a:solidFill>
                <a:latin typeface="Calibri" pitchFamily="34" charset="0"/>
                <a:ea typeface="Calibri" pitchFamily="34" charset="-122"/>
                <a:cs typeface="Calibri" pitchFamily="34" charset="-120"/>
              </a:rPr>
              <a:t>Non-RT RIC · rApp</a:t>
            </a:r>
            <a:endParaRPr lang="en-US" sz="1400" dirty="0"/>
          </a:p>
          <a:p>
            <a:pPr marL="0" indent="0">
              <a:buNone/>
            </a:pPr>
            <a:r>
              <a:rPr lang="en-US" sz="1250" dirty="0">
                <a:solidFill>
                  <a:srgbClr val="5F7A8A"/>
                </a:solidFill>
                <a:latin typeface="Calibri" pitchFamily="34" charset="0"/>
                <a:ea typeface="Calibri" pitchFamily="34" charset="-122"/>
                <a:cs typeface="Calibri" pitchFamily="34" charset="-120"/>
              </a:rPr>
              <a:t>A1 policies, O1 telemetry, R1 services · slice SLA planning</a:t>
            </a:r>
            <a:endParaRPr lang="en-US" sz="1400" dirty="0"/>
          </a:p>
        </p:txBody>
      </p:sp>
      <p:sp>
        <p:nvSpPr>
          <p:cNvPr id="14" name="Shape 11"/>
          <p:cNvSpPr/>
          <p:nvPr/>
        </p:nvSpPr>
        <p:spPr>
          <a:xfrm>
            <a:off x="5806440" y="2560320"/>
            <a:ext cx="5715000" cy="804672"/>
          </a:xfrm>
          <a:prstGeom prst="roundRect">
            <a:avLst>
              <a:gd name="adj" fmla="val 6818"/>
            </a:avLst>
          </a:prstGeom>
          <a:solidFill>
            <a:srgbClr val="12394D"/>
          </a:solidFill>
          <a:ln w="12700">
            <a:solidFill>
              <a:srgbClr val="12394D"/>
            </a:solidFill>
            <a:prstDash val="solid"/>
          </a:ln>
        </p:spPr>
        <p:txBody>
          <a:bodyPr/>
          <a:lstStyle/>
          <a:p>
            <a:endParaRPr lang="en-US"/>
          </a:p>
        </p:txBody>
      </p:sp>
      <p:sp>
        <p:nvSpPr>
          <p:cNvPr id="15" name="Text 12"/>
          <p:cNvSpPr txBox="1"/>
          <p:nvPr/>
        </p:nvSpPr>
        <p:spPr>
          <a:xfrm>
            <a:off x="5989320" y="2560320"/>
            <a:ext cx="1371600" cy="804672"/>
          </a:xfrm>
          <a:prstGeom prst="rect">
            <a:avLst/>
          </a:prstGeom>
          <a:noFill/>
          <a:ln/>
        </p:spPr>
        <p:txBody>
          <a:bodyPr wrap="square" lIns="0" tIns="0" rIns="0" bIns="0" rtlCol="0" anchor="ctr"/>
          <a:lstStyle/>
          <a:p>
            <a:pPr marL="0" indent="0">
              <a:buNone/>
            </a:pPr>
            <a:r>
              <a:rPr lang="en-US" sz="1700" b="1" dirty="0">
                <a:solidFill>
                  <a:srgbClr val="8FD3C9"/>
                </a:solidFill>
                <a:latin typeface="Cambria" pitchFamily="34" charset="0"/>
                <a:ea typeface="Cambria" pitchFamily="34" charset="-122"/>
                <a:cs typeface="Cambria" pitchFamily="34" charset="-120"/>
              </a:rPr>
              <a:t>10 ms – 1 s</a:t>
            </a:r>
            <a:endParaRPr lang="en-US" sz="1700" dirty="0"/>
          </a:p>
        </p:txBody>
      </p:sp>
      <p:sp>
        <p:nvSpPr>
          <p:cNvPr id="16" name="Text 13"/>
          <p:cNvSpPr txBox="1"/>
          <p:nvPr/>
        </p:nvSpPr>
        <p:spPr>
          <a:xfrm>
            <a:off x="7406640" y="2633472"/>
            <a:ext cx="4023360" cy="6858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Near-RT RIC · xApp</a:t>
            </a:r>
            <a:endParaRPr lang="en-US" sz="1400" dirty="0"/>
          </a:p>
          <a:p>
            <a:pPr marL="0" indent="0">
              <a:buNone/>
            </a:pPr>
            <a:r>
              <a:rPr lang="en-US" sz="1250" dirty="0">
                <a:solidFill>
                  <a:srgbClr val="C3D3DD"/>
                </a:solidFill>
                <a:latin typeface="Calibri" pitchFamily="34" charset="0"/>
                <a:ea typeface="Calibri" pitchFamily="34" charset="-122"/>
                <a:cs typeface="Calibri" pitchFamily="34" charset="-120"/>
              </a:rPr>
              <a:t>Observe E2 KPM, act E2 RAN Control · PRB split, steering</a:t>
            </a:r>
            <a:endParaRPr lang="en-US" sz="1400" dirty="0"/>
          </a:p>
        </p:txBody>
      </p:sp>
      <p:sp>
        <p:nvSpPr>
          <p:cNvPr id="17" name="Shape 14"/>
          <p:cNvSpPr/>
          <p:nvPr/>
        </p:nvSpPr>
        <p:spPr>
          <a:xfrm>
            <a:off x="5806440" y="3474720"/>
            <a:ext cx="5715000" cy="804672"/>
          </a:xfrm>
          <a:prstGeom prst="roundRect">
            <a:avLst>
              <a:gd name="adj" fmla="val 6818"/>
            </a:avLst>
          </a:prstGeom>
          <a:solidFill>
            <a:srgbClr val="F0F5F7"/>
          </a:solidFill>
          <a:ln w="12700">
            <a:solidFill>
              <a:srgbClr val="F0F5F7"/>
            </a:solidFill>
            <a:prstDash val="solid"/>
          </a:ln>
        </p:spPr>
        <p:txBody>
          <a:bodyPr/>
          <a:lstStyle/>
          <a:p>
            <a:endParaRPr lang="en-US"/>
          </a:p>
        </p:txBody>
      </p:sp>
      <p:sp>
        <p:nvSpPr>
          <p:cNvPr id="18" name="Text 15"/>
          <p:cNvSpPr txBox="1"/>
          <p:nvPr/>
        </p:nvSpPr>
        <p:spPr>
          <a:xfrm>
            <a:off x="5989320" y="3474720"/>
            <a:ext cx="1371600" cy="804672"/>
          </a:xfrm>
          <a:prstGeom prst="rect">
            <a:avLst/>
          </a:prstGeom>
          <a:noFill/>
          <a:ln/>
        </p:spPr>
        <p:txBody>
          <a:bodyPr wrap="square" lIns="0" tIns="0" rIns="0" bIns="0" rtlCol="0" anchor="ctr"/>
          <a:lstStyle/>
          <a:p>
            <a:pPr marL="0" indent="0">
              <a:buNone/>
            </a:pPr>
            <a:r>
              <a:rPr lang="en-US" sz="1700" b="1" dirty="0">
                <a:solidFill>
                  <a:srgbClr val="1A8A99"/>
                </a:solidFill>
                <a:latin typeface="Cambria" pitchFamily="34" charset="0"/>
                <a:ea typeface="Cambria" pitchFamily="34" charset="-122"/>
                <a:cs typeface="Cambria" pitchFamily="34" charset="-120"/>
              </a:rPr>
              <a:t>&lt; 10 ms</a:t>
            </a:r>
            <a:endParaRPr lang="en-US" sz="1700" dirty="0"/>
          </a:p>
        </p:txBody>
      </p:sp>
      <p:sp>
        <p:nvSpPr>
          <p:cNvPr id="19" name="Text 16"/>
          <p:cNvSpPr txBox="1"/>
          <p:nvPr/>
        </p:nvSpPr>
        <p:spPr>
          <a:xfrm>
            <a:off x="7406640" y="3547872"/>
            <a:ext cx="4023360" cy="685800"/>
          </a:xfrm>
          <a:prstGeom prst="rect">
            <a:avLst/>
          </a:prstGeom>
          <a:noFill/>
          <a:ln/>
        </p:spPr>
        <p:txBody>
          <a:bodyPr wrap="square" lIns="0" tIns="0" rIns="0" bIns="0" rtlCol="0" anchor="ctr"/>
          <a:lstStyle/>
          <a:p>
            <a:pPr marL="0" indent="0">
              <a:buNone/>
            </a:pPr>
            <a:r>
              <a:rPr lang="en-US" sz="1400" b="1" dirty="0">
                <a:solidFill>
                  <a:srgbClr val="12394D"/>
                </a:solidFill>
                <a:latin typeface="Calibri" pitchFamily="34" charset="0"/>
                <a:ea typeface="Calibri" pitchFamily="34" charset="-122"/>
                <a:cs typeface="Calibri" pitchFamily="34" charset="-120"/>
              </a:rPr>
              <a:t>O-CU / O-DU · dApp</a:t>
            </a:r>
            <a:endParaRPr lang="en-US" sz="1400" dirty="0"/>
          </a:p>
          <a:p>
            <a:pPr marL="0" indent="0">
              <a:buNone/>
            </a:pPr>
            <a:r>
              <a:rPr lang="en-US" sz="1250" dirty="0">
                <a:solidFill>
                  <a:srgbClr val="5F7A8A"/>
                </a:solidFill>
                <a:latin typeface="Calibri" pitchFamily="34" charset="0"/>
                <a:ea typeface="Calibri" pitchFamily="34" charset="-122"/>
                <a:cs typeface="Calibri" pitchFamily="34" charset="-120"/>
              </a:rPr>
              <a:t>Local MAC/PHY state, research stage · scheduling, beams</a:t>
            </a:r>
            <a:endParaRPr lang="en-US" sz="1400" dirty="0"/>
          </a:p>
        </p:txBody>
      </p:sp>
      <p:sp>
        <p:nvSpPr>
          <p:cNvPr id="20" name="Text 17"/>
          <p:cNvSpPr txBox="1"/>
          <p:nvPr/>
        </p:nvSpPr>
        <p:spPr>
          <a:xfrm>
            <a:off x="5806440" y="4480560"/>
            <a:ext cx="5715000" cy="914400"/>
          </a:xfrm>
          <a:prstGeom prst="rect">
            <a:avLst/>
          </a:prstGeom>
          <a:noFill/>
          <a:ln/>
        </p:spPr>
        <p:txBody>
          <a:bodyPr wrap="square" lIns="0" tIns="0" rIns="0" bIns="0" rtlCol="0" anchor="t"/>
          <a:lstStyle/>
          <a:p>
            <a:pPr marL="0" indent="0">
              <a:spcAft>
                <a:spcPts val="600"/>
              </a:spcAft>
              <a:buNone/>
            </a:pPr>
            <a:r>
              <a:rPr lang="en-US" sz="1300" b="1" dirty="0">
                <a:solidFill>
                  <a:srgbClr val="12394D"/>
                </a:solidFill>
                <a:latin typeface="Calibri" pitchFamily="34" charset="0"/>
                <a:ea typeface="Calibri" pitchFamily="34" charset="-122"/>
                <a:cs typeface="Calibri" pitchFamily="34" charset="-120"/>
              </a:rPr>
              <a:t>Splits: </a:t>
            </a:r>
            <a:r>
              <a:rPr lang="en-US" sz="1300" dirty="0">
                <a:solidFill>
                  <a:srgbClr val="2A3F4C"/>
                </a:solidFill>
                <a:latin typeface="Calibri" pitchFamily="34" charset="0"/>
                <a:ea typeface="Calibri" pitchFamily="34" charset="-122"/>
                <a:cs typeface="Calibri" pitchFamily="34" charset="-120"/>
              </a:rPr>
              <a:t>Option 2 (CU | DU over F1) and 7.2x (DU | RU over Open Fronthaul); O2 manages the O-Cloud</a:t>
            </a:r>
            <a:endParaRPr lang="en-US" sz="1300" dirty="0"/>
          </a:p>
          <a:p>
            <a:pPr marL="0" indent="0">
              <a:spcAft>
                <a:spcPts val="600"/>
              </a:spcAft>
              <a:buNone/>
            </a:pPr>
            <a:r>
              <a:rPr lang="en-US" sz="1300" b="1" dirty="0">
                <a:solidFill>
                  <a:srgbClr val="12394D"/>
                </a:solidFill>
                <a:latin typeface="Calibri" pitchFamily="34" charset="0"/>
                <a:ea typeface="Calibri" pitchFamily="34" charset="-122"/>
                <a:cs typeface="Calibri" pitchFamily="34" charset="-120"/>
              </a:rPr>
              <a:t>Telemetry is sampled, aggregated and delayed: </a:t>
            </a:r>
            <a:r>
              <a:rPr lang="en-US" sz="1300" dirty="0">
                <a:solidFill>
                  <a:srgbClr val="2A3F4C"/>
                </a:solidFill>
                <a:latin typeface="Calibri" pitchFamily="34" charset="0"/>
                <a:ea typeface="Calibri" pitchFamily="34" charset="-122"/>
                <a:cs typeface="Calibri" pitchFamily="34" charset="-120"/>
              </a:rPr>
              <a:t>the agent faces a POMDP</a:t>
            </a:r>
            <a:endParaRPr lang="en-US" sz="1300" dirty="0"/>
          </a:p>
        </p:txBody>
      </p:sp>
      <p:pic>
        <p:nvPicPr>
          <p:cNvPr id="21" name="Image 20">
            <a:extLst>
              <a:ext uri="{FF2B5EF4-FFF2-40B4-BE49-F238E27FC236}">
                <a16:creationId xmlns:a16="http://schemas.microsoft.com/office/drawing/2014/main" id="{B9FF7B04-B90A-7F01-030F-62E70D013A3A}"/>
              </a:ext>
            </a:extLst>
          </p:cNvPr>
          <p:cNvPicPr>
            <a:picLocks noChangeAspect="1"/>
          </p:cNvPicPr>
          <p:nvPr/>
        </p:nvPicPr>
        <p:blipFill>
          <a:blip r:embed="rId3"/>
          <a:stretch>
            <a:fillRect/>
          </a:stretch>
        </p:blipFill>
        <p:spPr>
          <a:xfrm>
            <a:off x="762000" y="1457050"/>
            <a:ext cx="3801005" cy="39439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320040"/>
          </a:xfrm>
          <a:prstGeom prst="rect">
            <a:avLst/>
          </a:prstGeom>
          <a:noFill/>
          <a:ln/>
        </p:spPr>
        <p:txBody>
          <a:bodyPr wrap="square" lIns="0" tIns="0" rIns="0" bIns="0" rtlCol="0" anchor="t"/>
          <a:lstStyle/>
          <a:p>
            <a:pPr marL="0" indent="0">
              <a:buNone/>
            </a:pPr>
            <a:r>
              <a:rPr lang="en-US" sz="1400" b="1" kern="0" spc="200" dirty="0">
                <a:solidFill>
                  <a:srgbClr val="2BB3A3"/>
                </a:solidFill>
                <a:latin typeface="Calibri" pitchFamily="34" charset="0"/>
                <a:ea typeface="Calibri" pitchFamily="34" charset="-122"/>
                <a:cs typeface="Calibri" pitchFamily="34" charset="-120"/>
              </a:rPr>
              <a:t>Survey 2 · Lu et al. · DRL for 6G AI-RAN</a:t>
            </a:r>
            <a:endParaRPr lang="en-US" sz="1400" dirty="0"/>
          </a:p>
        </p:txBody>
      </p:sp>
      <p:sp>
        <p:nvSpPr>
          <p:cNvPr id="3" name="Text 1"/>
          <p:cNvSpPr txBox="1"/>
          <p:nvPr/>
        </p:nvSpPr>
        <p:spPr>
          <a:xfrm>
            <a:off x="640080" y="786384"/>
            <a:ext cx="10881360" cy="640080"/>
          </a:xfrm>
          <a:prstGeom prst="rect">
            <a:avLst/>
          </a:prstGeom>
          <a:noFill/>
          <a:ln/>
        </p:spPr>
        <p:txBody>
          <a:bodyPr wrap="square" lIns="0" tIns="0" rIns="0" bIns="0" rtlCol="0" anchor="t">
            <a:normAutofit/>
          </a:bodyPr>
          <a:lstStyle/>
          <a:p>
            <a:pPr marL="0" indent="0">
              <a:buNone/>
            </a:pPr>
            <a:r>
              <a:rPr lang="en-US" sz="2700" b="1" dirty="0">
                <a:solidFill>
                  <a:srgbClr val="12394D"/>
                </a:solidFill>
                <a:latin typeface="Cambria" pitchFamily="34" charset="0"/>
                <a:ea typeface="Cambria" pitchFamily="34" charset="-122"/>
                <a:cs typeface="Cambria" pitchFamily="34" charset="-120"/>
              </a:rPr>
              <a:t>Turning RAN problems into MDPs</a:t>
            </a:r>
            <a:endParaRPr lang="en-US" sz="2700" dirty="0"/>
          </a:p>
        </p:txBody>
      </p:sp>
      <p:sp>
        <p:nvSpPr>
          <p:cNvPr id="4" name="Shape 2"/>
          <p:cNvSpPr/>
          <p:nvPr/>
        </p:nvSpPr>
        <p:spPr>
          <a:xfrm>
            <a:off x="640080" y="5596128"/>
            <a:ext cx="10881360" cy="502920"/>
          </a:xfrm>
          <a:prstGeom prst="roundRect">
            <a:avLst>
              <a:gd name="adj" fmla="val 10909"/>
            </a:avLst>
          </a:prstGeom>
          <a:solidFill>
            <a:srgbClr val="E6F4F2"/>
          </a:solidFill>
          <a:ln w="12700">
            <a:solidFill>
              <a:srgbClr val="E6F4F2"/>
            </a:solidFill>
            <a:prstDash val="solid"/>
          </a:ln>
        </p:spPr>
        <p:txBody>
          <a:bodyPr/>
          <a:lstStyle/>
          <a:p>
            <a:endParaRPr lang="en-US"/>
          </a:p>
        </p:txBody>
      </p:sp>
      <p:sp>
        <p:nvSpPr>
          <p:cNvPr id="5" name="Text 3"/>
          <p:cNvSpPr txBox="1"/>
          <p:nvPr/>
        </p:nvSpPr>
        <p:spPr>
          <a:xfrm>
            <a:off x="868680" y="5596128"/>
            <a:ext cx="10469880" cy="502920"/>
          </a:xfrm>
          <a:prstGeom prst="rect">
            <a:avLst/>
          </a:prstGeom>
          <a:noFill/>
          <a:ln/>
        </p:spPr>
        <p:txBody>
          <a:bodyPr wrap="square" lIns="0" tIns="0" rIns="0" bIns="0" rtlCol="0" anchor="ctr"/>
          <a:lstStyle/>
          <a:p>
            <a:pPr marL="0" indent="0">
              <a:buNone/>
            </a:pPr>
            <a:r>
              <a:rPr lang="en-US" sz="1400" b="1" dirty="0">
                <a:solidFill>
                  <a:srgbClr val="1A8A99"/>
                </a:solidFill>
                <a:latin typeface="Calibri" pitchFamily="34" charset="0"/>
                <a:ea typeface="Calibri" pitchFamily="34" charset="-122"/>
                <a:cs typeface="Calibri" pitchFamily="34" charset="-120"/>
              </a:rPr>
              <a:t>Takeaway  </a:t>
            </a:r>
            <a:r>
              <a:rPr lang="en-US" sz="1400" dirty="0">
                <a:solidFill>
                  <a:srgbClr val="12394D"/>
                </a:solidFill>
                <a:latin typeface="Calibri" pitchFamily="34" charset="0"/>
                <a:ea typeface="Calibri" pitchFamily="34" charset="-122"/>
                <a:cs typeface="Calibri" pitchFamily="34" charset="-120"/>
              </a:rPr>
              <a:t>Keep SLAs as explicit constraints and report the decision period: the formulation matters as much as the algorithm.</a:t>
            </a:r>
            <a:endParaRPr lang="en-US" sz="1400" dirty="0"/>
          </a:p>
        </p:txBody>
      </p:sp>
      <p:sp>
        <p:nvSpPr>
          <p:cNvPr id="6" name="Text 4"/>
          <p:cNvSpPr txBox="1"/>
          <p:nvPr/>
        </p:nvSpPr>
        <p:spPr>
          <a:xfrm>
            <a:off x="640080" y="6355080"/>
            <a:ext cx="6400800" cy="274320"/>
          </a:xfrm>
          <a:prstGeom prst="rect">
            <a:avLst/>
          </a:prstGeom>
          <a:noFill/>
          <a:ln/>
        </p:spPr>
        <p:txBody>
          <a:bodyPr wrap="square" lIns="0" tIns="0" rIns="0" bIns="0" rtlCol="0" anchor="t"/>
          <a:lstStyle/>
          <a:p>
            <a:pPr marL="0" indent="0">
              <a:buNone/>
            </a:pPr>
            <a:r>
              <a:rPr lang="en-US" sz="1100" dirty="0">
                <a:solidFill>
                  <a:srgbClr val="5F7A8A"/>
                </a:solidFill>
                <a:latin typeface="Calibri" pitchFamily="34" charset="0"/>
                <a:ea typeface="Calibri" pitchFamily="34" charset="-122"/>
                <a:cs typeface="Calibri" pitchFamily="34" charset="-120"/>
              </a:rPr>
              <a:t>RS2M Department · Télécom SudParis · Palaiseau, France</a:t>
            </a:r>
            <a:endParaRPr lang="en-US" sz="1100" dirty="0"/>
          </a:p>
        </p:txBody>
      </p:sp>
      <p:sp>
        <p:nvSpPr>
          <p:cNvPr id="7" name="Text 5"/>
          <p:cNvSpPr txBox="1"/>
          <p:nvPr/>
        </p:nvSpPr>
        <p:spPr>
          <a:xfrm>
            <a:off x="11064240" y="6355080"/>
            <a:ext cx="457200" cy="274320"/>
          </a:xfrm>
          <a:prstGeom prst="rect">
            <a:avLst/>
          </a:prstGeom>
          <a:noFill/>
          <a:ln/>
        </p:spPr>
        <p:txBody>
          <a:bodyPr wrap="square" lIns="0" tIns="0" rIns="0" bIns="0" rtlCol="0" anchor="t"/>
          <a:lstStyle/>
          <a:p>
            <a:pPr marL="0" indent="0" algn="r">
              <a:buNone/>
            </a:pPr>
            <a:r>
              <a:rPr lang="en-US" sz="1100" dirty="0">
                <a:solidFill>
                  <a:srgbClr val="5F7A8A"/>
                </a:solidFill>
                <a:latin typeface="Calibri" pitchFamily="34" charset="0"/>
                <a:ea typeface="Calibri" pitchFamily="34" charset="-122"/>
                <a:cs typeface="Calibri" pitchFamily="34" charset="-120"/>
              </a:rPr>
              <a:t>20</a:t>
            </a:r>
            <a:endParaRPr lang="en-US" sz="1100" dirty="0"/>
          </a:p>
        </p:txBody>
      </p:sp>
      <p:sp>
        <p:nvSpPr>
          <p:cNvPr id="9" name="Shape 6"/>
          <p:cNvSpPr/>
          <p:nvPr/>
        </p:nvSpPr>
        <p:spPr>
          <a:xfrm>
            <a:off x="640080" y="1645920"/>
            <a:ext cx="2011680" cy="2514600"/>
          </a:xfrm>
          <a:prstGeom prst="roundRect">
            <a:avLst>
              <a:gd name="adj" fmla="val 2727"/>
            </a:avLst>
          </a:prstGeom>
          <a:solidFill>
            <a:srgbClr val="F0F5F7"/>
          </a:solidFill>
          <a:ln w="12700">
            <a:solidFill>
              <a:srgbClr val="F0F5F7"/>
            </a:solidFill>
            <a:prstDash val="solid"/>
          </a:ln>
        </p:spPr>
        <p:txBody>
          <a:bodyPr/>
          <a:lstStyle/>
          <a:p>
            <a:endParaRPr lang="en-US"/>
          </a:p>
        </p:txBody>
      </p:sp>
      <p:sp>
        <p:nvSpPr>
          <p:cNvPr id="10" name="Shape 7"/>
          <p:cNvSpPr/>
          <p:nvPr/>
        </p:nvSpPr>
        <p:spPr>
          <a:xfrm>
            <a:off x="868680" y="1828800"/>
            <a:ext cx="384048" cy="384048"/>
          </a:xfrm>
          <a:prstGeom prst="ellipse">
            <a:avLst/>
          </a:prstGeom>
          <a:solidFill>
            <a:srgbClr val="1A8A99"/>
          </a:solidFill>
          <a:ln w="12700">
            <a:solidFill>
              <a:srgbClr val="1A8A99"/>
            </a:solidFill>
            <a:prstDash val="solid"/>
          </a:ln>
        </p:spPr>
        <p:txBody>
          <a:bodyPr/>
          <a:lstStyle/>
          <a:p>
            <a:endParaRPr lang="en-US"/>
          </a:p>
        </p:txBody>
      </p:sp>
      <p:sp>
        <p:nvSpPr>
          <p:cNvPr id="11" name="Text 8"/>
          <p:cNvSpPr txBox="1"/>
          <p:nvPr/>
        </p:nvSpPr>
        <p:spPr>
          <a:xfrm>
            <a:off x="868680" y="18288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2" name="Text 9"/>
          <p:cNvSpPr txBox="1"/>
          <p:nvPr/>
        </p:nvSpPr>
        <p:spPr>
          <a:xfrm>
            <a:off x="868680" y="2331720"/>
            <a:ext cx="1600200" cy="548640"/>
          </a:xfrm>
          <a:prstGeom prst="rect">
            <a:avLst/>
          </a:prstGeom>
          <a:noFill/>
          <a:ln/>
        </p:spPr>
        <p:txBody>
          <a:bodyPr wrap="square" lIns="0" tIns="0" rIns="0" bIns="0" rtlCol="0" anchor="t"/>
          <a:lstStyle/>
          <a:p>
            <a:pPr marL="0" indent="0">
              <a:buNone/>
            </a:pPr>
            <a:r>
              <a:rPr lang="en-US" sz="1500" b="1" dirty="0">
                <a:solidFill>
                  <a:srgbClr val="12394D"/>
                </a:solidFill>
                <a:latin typeface="Calibri" pitchFamily="34" charset="0"/>
                <a:ea typeface="Calibri" pitchFamily="34" charset="-122"/>
                <a:cs typeface="Calibri" pitchFamily="34" charset="-120"/>
              </a:rPr>
              <a:t>Decision model</a:t>
            </a:r>
            <a:endParaRPr lang="en-US" sz="1500" dirty="0"/>
          </a:p>
        </p:txBody>
      </p:sp>
      <p:sp>
        <p:nvSpPr>
          <p:cNvPr id="13" name="Text 10"/>
          <p:cNvSpPr txBox="1"/>
          <p:nvPr/>
        </p:nvSpPr>
        <p:spPr>
          <a:xfrm>
            <a:off x="868680" y="2926080"/>
            <a:ext cx="1600200" cy="1188720"/>
          </a:xfrm>
          <a:prstGeom prst="rect">
            <a:avLst/>
          </a:prstGeom>
          <a:noFill/>
          <a:ln/>
        </p:spPr>
        <p:txBody>
          <a:bodyPr wrap="square" lIns="0" tIns="0" rIns="0" bIns="0" rtlCol="0" anchor="t"/>
          <a:lstStyle/>
          <a:p>
            <a:pPr marL="0" indent="0">
              <a:buNone/>
            </a:pPr>
            <a:r>
              <a:rPr lang="en-US" sz="1250" dirty="0">
                <a:solidFill>
                  <a:srgbClr val="5F7A8A"/>
                </a:solidFill>
                <a:latin typeface="Calibri" pitchFamily="34" charset="0"/>
                <a:ea typeface="Calibri" pitchFamily="34" charset="-122"/>
                <a:cs typeface="Calibri" pitchFamily="34" charset="-120"/>
              </a:rPr>
              <a:t>MDP/POMDP for one controller; CMDP when SLAs are explicit; MARL or federated when coupled</a:t>
            </a:r>
            <a:endParaRPr lang="en-US" sz="1250" dirty="0"/>
          </a:p>
        </p:txBody>
      </p:sp>
      <p:sp>
        <p:nvSpPr>
          <p:cNvPr id="14" name="Shape 11"/>
          <p:cNvSpPr/>
          <p:nvPr/>
        </p:nvSpPr>
        <p:spPr>
          <a:xfrm>
            <a:off x="2857500" y="1645920"/>
            <a:ext cx="2011680" cy="2514600"/>
          </a:xfrm>
          <a:prstGeom prst="roundRect">
            <a:avLst>
              <a:gd name="adj" fmla="val 2727"/>
            </a:avLst>
          </a:prstGeom>
          <a:solidFill>
            <a:srgbClr val="F0F5F7"/>
          </a:solidFill>
          <a:ln w="12700">
            <a:solidFill>
              <a:srgbClr val="F0F5F7"/>
            </a:solidFill>
            <a:prstDash val="solid"/>
          </a:ln>
        </p:spPr>
        <p:txBody>
          <a:bodyPr/>
          <a:lstStyle/>
          <a:p>
            <a:endParaRPr lang="en-US"/>
          </a:p>
        </p:txBody>
      </p:sp>
      <p:sp>
        <p:nvSpPr>
          <p:cNvPr id="15" name="Shape 12"/>
          <p:cNvSpPr/>
          <p:nvPr/>
        </p:nvSpPr>
        <p:spPr>
          <a:xfrm>
            <a:off x="3086100" y="1828800"/>
            <a:ext cx="384048" cy="384048"/>
          </a:xfrm>
          <a:prstGeom prst="ellipse">
            <a:avLst/>
          </a:prstGeom>
          <a:solidFill>
            <a:srgbClr val="1A8A99"/>
          </a:solidFill>
          <a:ln w="12700">
            <a:solidFill>
              <a:srgbClr val="1A8A99"/>
            </a:solidFill>
            <a:prstDash val="solid"/>
          </a:ln>
        </p:spPr>
        <p:txBody>
          <a:bodyPr/>
          <a:lstStyle/>
          <a:p>
            <a:endParaRPr lang="en-US"/>
          </a:p>
        </p:txBody>
      </p:sp>
      <p:sp>
        <p:nvSpPr>
          <p:cNvPr id="16" name="Text 13"/>
          <p:cNvSpPr txBox="1"/>
          <p:nvPr/>
        </p:nvSpPr>
        <p:spPr>
          <a:xfrm>
            <a:off x="3086100" y="18288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7" name="Text 14"/>
          <p:cNvSpPr txBox="1"/>
          <p:nvPr/>
        </p:nvSpPr>
        <p:spPr>
          <a:xfrm>
            <a:off x="3086100" y="2331720"/>
            <a:ext cx="1600200" cy="548640"/>
          </a:xfrm>
          <a:prstGeom prst="rect">
            <a:avLst/>
          </a:prstGeom>
          <a:noFill/>
          <a:ln/>
        </p:spPr>
        <p:txBody>
          <a:bodyPr wrap="square" lIns="0" tIns="0" rIns="0" bIns="0" rtlCol="0" anchor="t"/>
          <a:lstStyle/>
          <a:p>
            <a:pPr marL="0" indent="0">
              <a:buNone/>
            </a:pPr>
            <a:r>
              <a:rPr lang="en-US" sz="1500" b="1" dirty="0">
                <a:solidFill>
                  <a:srgbClr val="12394D"/>
                </a:solidFill>
                <a:latin typeface="Calibri" pitchFamily="34" charset="0"/>
                <a:ea typeface="Calibri" pitchFamily="34" charset="-122"/>
                <a:cs typeface="Calibri" pitchFamily="34" charset="-120"/>
              </a:rPr>
              <a:t>Observations</a:t>
            </a:r>
            <a:endParaRPr lang="en-US" sz="1500" dirty="0"/>
          </a:p>
        </p:txBody>
      </p:sp>
      <p:sp>
        <p:nvSpPr>
          <p:cNvPr id="18" name="Text 15"/>
          <p:cNvSpPr txBox="1"/>
          <p:nvPr/>
        </p:nvSpPr>
        <p:spPr>
          <a:xfrm>
            <a:off x="3086100" y="2926080"/>
            <a:ext cx="1600200" cy="1188720"/>
          </a:xfrm>
          <a:prstGeom prst="rect">
            <a:avLst/>
          </a:prstGeom>
          <a:noFill/>
          <a:ln/>
        </p:spPr>
        <p:txBody>
          <a:bodyPr wrap="square" lIns="0" tIns="0" rIns="0" bIns="0" rtlCol="0" anchor="t"/>
          <a:lstStyle/>
          <a:p>
            <a:pPr marL="0" indent="0">
              <a:buNone/>
            </a:pPr>
            <a:r>
              <a:rPr lang="en-US" sz="1250" dirty="0">
                <a:solidFill>
                  <a:srgbClr val="5F7A8A"/>
                </a:solidFill>
                <a:latin typeface="Calibri" pitchFamily="34" charset="0"/>
                <a:ea typeface="Calibri" pitchFamily="34" charset="-122"/>
                <a:cs typeface="Calibri" pitchFamily="34" charset="-120"/>
              </a:rPr>
              <a:t>CQI, SINR, queues, PRB usage, slice KPIs, SLA margin; GNN or attention for variable entities</a:t>
            </a:r>
            <a:endParaRPr lang="en-US" sz="1250" dirty="0"/>
          </a:p>
        </p:txBody>
      </p:sp>
      <p:sp>
        <p:nvSpPr>
          <p:cNvPr id="19" name="Shape 16"/>
          <p:cNvSpPr/>
          <p:nvPr/>
        </p:nvSpPr>
        <p:spPr>
          <a:xfrm>
            <a:off x="5074920" y="1645920"/>
            <a:ext cx="2011680" cy="2514600"/>
          </a:xfrm>
          <a:prstGeom prst="roundRect">
            <a:avLst>
              <a:gd name="adj" fmla="val 2727"/>
            </a:avLst>
          </a:prstGeom>
          <a:solidFill>
            <a:srgbClr val="F0F5F7"/>
          </a:solidFill>
          <a:ln w="12700">
            <a:solidFill>
              <a:srgbClr val="F0F5F7"/>
            </a:solidFill>
            <a:prstDash val="solid"/>
          </a:ln>
        </p:spPr>
        <p:txBody>
          <a:bodyPr/>
          <a:lstStyle/>
          <a:p>
            <a:endParaRPr lang="en-US"/>
          </a:p>
        </p:txBody>
      </p:sp>
      <p:sp>
        <p:nvSpPr>
          <p:cNvPr id="20" name="Shape 17"/>
          <p:cNvSpPr/>
          <p:nvPr/>
        </p:nvSpPr>
        <p:spPr>
          <a:xfrm>
            <a:off x="5303520" y="1828800"/>
            <a:ext cx="384048" cy="384048"/>
          </a:xfrm>
          <a:prstGeom prst="ellipse">
            <a:avLst/>
          </a:prstGeom>
          <a:solidFill>
            <a:srgbClr val="1A8A99"/>
          </a:solidFill>
          <a:ln w="12700">
            <a:solidFill>
              <a:srgbClr val="1A8A99"/>
            </a:solidFill>
            <a:prstDash val="solid"/>
          </a:ln>
        </p:spPr>
        <p:txBody>
          <a:bodyPr/>
          <a:lstStyle/>
          <a:p>
            <a:endParaRPr lang="en-US"/>
          </a:p>
        </p:txBody>
      </p:sp>
      <p:sp>
        <p:nvSpPr>
          <p:cNvPr id="21" name="Text 18"/>
          <p:cNvSpPr txBox="1"/>
          <p:nvPr/>
        </p:nvSpPr>
        <p:spPr>
          <a:xfrm>
            <a:off x="5303520" y="18288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22" name="Text 19"/>
          <p:cNvSpPr txBox="1"/>
          <p:nvPr/>
        </p:nvSpPr>
        <p:spPr>
          <a:xfrm>
            <a:off x="5303520" y="2331720"/>
            <a:ext cx="1600200" cy="548640"/>
          </a:xfrm>
          <a:prstGeom prst="rect">
            <a:avLst/>
          </a:prstGeom>
          <a:noFill/>
          <a:ln/>
        </p:spPr>
        <p:txBody>
          <a:bodyPr wrap="square" lIns="0" tIns="0" rIns="0" bIns="0" rtlCol="0" anchor="t"/>
          <a:lstStyle/>
          <a:p>
            <a:pPr marL="0" indent="0">
              <a:buNone/>
            </a:pPr>
            <a:r>
              <a:rPr lang="en-US" sz="1500" b="1" dirty="0">
                <a:solidFill>
                  <a:srgbClr val="12394D"/>
                </a:solidFill>
                <a:latin typeface="Calibri" pitchFamily="34" charset="0"/>
                <a:ea typeface="Calibri" pitchFamily="34" charset="-122"/>
                <a:cs typeface="Calibri" pitchFamily="34" charset="-120"/>
              </a:rPr>
              <a:t>Actions</a:t>
            </a:r>
            <a:endParaRPr lang="en-US" sz="1500" dirty="0"/>
          </a:p>
        </p:txBody>
      </p:sp>
      <p:sp>
        <p:nvSpPr>
          <p:cNvPr id="23" name="Text 20"/>
          <p:cNvSpPr txBox="1"/>
          <p:nvPr/>
        </p:nvSpPr>
        <p:spPr>
          <a:xfrm>
            <a:off x="5303520" y="2926080"/>
            <a:ext cx="1600200" cy="1188720"/>
          </a:xfrm>
          <a:prstGeom prst="rect">
            <a:avLst/>
          </a:prstGeom>
          <a:noFill/>
          <a:ln/>
        </p:spPr>
        <p:txBody>
          <a:bodyPr wrap="square" lIns="0" tIns="0" rIns="0" bIns="0" rtlCol="0" anchor="t"/>
          <a:lstStyle/>
          <a:p>
            <a:pPr marL="0" indent="0">
              <a:buNone/>
            </a:pPr>
            <a:r>
              <a:rPr lang="en-US" sz="1250" dirty="0">
                <a:solidFill>
                  <a:srgbClr val="5F7A8A"/>
                </a:solidFill>
                <a:latin typeface="Calibri" pitchFamily="34" charset="0"/>
                <a:ea typeface="Calibri" pitchFamily="34" charset="-122"/>
                <a:cs typeface="Calibri" pitchFamily="34" charset="-120"/>
              </a:rPr>
              <a:t>Discrete (steering), continuous (SAC power vector), hybrid (EExAPP: RU sleep + PRB ratios)</a:t>
            </a:r>
            <a:endParaRPr lang="en-US" sz="1250" dirty="0"/>
          </a:p>
        </p:txBody>
      </p:sp>
      <p:sp>
        <p:nvSpPr>
          <p:cNvPr id="24" name="Shape 21"/>
          <p:cNvSpPr/>
          <p:nvPr/>
        </p:nvSpPr>
        <p:spPr>
          <a:xfrm>
            <a:off x="7292340" y="1645920"/>
            <a:ext cx="2011680" cy="2514600"/>
          </a:xfrm>
          <a:prstGeom prst="roundRect">
            <a:avLst>
              <a:gd name="adj" fmla="val 2727"/>
            </a:avLst>
          </a:prstGeom>
          <a:solidFill>
            <a:srgbClr val="F0F5F7"/>
          </a:solidFill>
          <a:ln w="12700">
            <a:solidFill>
              <a:srgbClr val="F0F5F7"/>
            </a:solidFill>
            <a:prstDash val="solid"/>
          </a:ln>
        </p:spPr>
        <p:txBody>
          <a:bodyPr/>
          <a:lstStyle/>
          <a:p>
            <a:endParaRPr lang="en-US"/>
          </a:p>
        </p:txBody>
      </p:sp>
      <p:sp>
        <p:nvSpPr>
          <p:cNvPr id="25" name="Shape 22"/>
          <p:cNvSpPr/>
          <p:nvPr/>
        </p:nvSpPr>
        <p:spPr>
          <a:xfrm>
            <a:off x="7520940" y="1828800"/>
            <a:ext cx="384048" cy="384048"/>
          </a:xfrm>
          <a:prstGeom prst="ellipse">
            <a:avLst/>
          </a:prstGeom>
          <a:solidFill>
            <a:srgbClr val="1A8A99"/>
          </a:solidFill>
          <a:ln w="12700">
            <a:solidFill>
              <a:srgbClr val="1A8A99"/>
            </a:solidFill>
            <a:prstDash val="solid"/>
          </a:ln>
        </p:spPr>
        <p:txBody>
          <a:bodyPr/>
          <a:lstStyle/>
          <a:p>
            <a:endParaRPr lang="en-US"/>
          </a:p>
        </p:txBody>
      </p:sp>
      <p:sp>
        <p:nvSpPr>
          <p:cNvPr id="26" name="Text 23"/>
          <p:cNvSpPr txBox="1"/>
          <p:nvPr/>
        </p:nvSpPr>
        <p:spPr>
          <a:xfrm>
            <a:off x="7520940" y="18288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7" name="Text 24"/>
          <p:cNvSpPr txBox="1"/>
          <p:nvPr/>
        </p:nvSpPr>
        <p:spPr>
          <a:xfrm>
            <a:off x="7520940" y="2331720"/>
            <a:ext cx="1600200" cy="548640"/>
          </a:xfrm>
          <a:prstGeom prst="rect">
            <a:avLst/>
          </a:prstGeom>
          <a:noFill/>
          <a:ln/>
        </p:spPr>
        <p:txBody>
          <a:bodyPr wrap="square" lIns="0" tIns="0" rIns="0" bIns="0" rtlCol="0" anchor="t"/>
          <a:lstStyle/>
          <a:p>
            <a:pPr marL="0" indent="0">
              <a:buNone/>
            </a:pPr>
            <a:r>
              <a:rPr lang="en-US" sz="1500" b="1" dirty="0">
                <a:solidFill>
                  <a:srgbClr val="12394D"/>
                </a:solidFill>
                <a:latin typeface="Calibri" pitchFamily="34" charset="0"/>
                <a:ea typeface="Calibri" pitchFamily="34" charset="-122"/>
                <a:cs typeface="Calibri" pitchFamily="34" charset="-120"/>
              </a:rPr>
              <a:t>Reward &amp; constraints</a:t>
            </a:r>
            <a:endParaRPr lang="en-US" sz="1500" dirty="0"/>
          </a:p>
        </p:txBody>
      </p:sp>
      <p:sp>
        <p:nvSpPr>
          <p:cNvPr id="28" name="Text 25"/>
          <p:cNvSpPr txBox="1"/>
          <p:nvPr/>
        </p:nvSpPr>
        <p:spPr>
          <a:xfrm>
            <a:off x="7520940" y="2926080"/>
            <a:ext cx="1600200" cy="1188720"/>
          </a:xfrm>
          <a:prstGeom prst="rect">
            <a:avLst/>
          </a:prstGeom>
          <a:noFill/>
          <a:ln/>
        </p:spPr>
        <p:txBody>
          <a:bodyPr wrap="square" lIns="0" tIns="0" rIns="0" bIns="0" rtlCol="0" anchor="t"/>
          <a:lstStyle/>
          <a:p>
            <a:pPr marL="0" indent="0">
              <a:buNone/>
            </a:pPr>
            <a:r>
              <a:rPr lang="en-US" sz="1250" dirty="0">
                <a:solidFill>
                  <a:srgbClr val="5F7A8A"/>
                </a:solidFill>
                <a:latin typeface="Calibri" pitchFamily="34" charset="0"/>
                <a:ea typeface="Calibri" pitchFamily="34" charset="-122"/>
                <a:cs typeface="Calibri" pitchFamily="34" charset="-120"/>
              </a:rPr>
              <a:t>Weighted KPI sums dominate; constraint-aware works keep SLAs as costs</a:t>
            </a:r>
            <a:endParaRPr lang="en-US" sz="1250" dirty="0"/>
          </a:p>
        </p:txBody>
      </p:sp>
      <p:sp>
        <p:nvSpPr>
          <p:cNvPr id="29" name="Shape 26"/>
          <p:cNvSpPr/>
          <p:nvPr/>
        </p:nvSpPr>
        <p:spPr>
          <a:xfrm>
            <a:off x="9509760" y="1645920"/>
            <a:ext cx="2011680" cy="2514600"/>
          </a:xfrm>
          <a:prstGeom prst="roundRect">
            <a:avLst>
              <a:gd name="adj" fmla="val 2727"/>
            </a:avLst>
          </a:prstGeom>
          <a:solidFill>
            <a:srgbClr val="F0F5F7"/>
          </a:solidFill>
          <a:ln w="12700">
            <a:solidFill>
              <a:srgbClr val="F0F5F7"/>
            </a:solidFill>
            <a:prstDash val="solid"/>
          </a:ln>
        </p:spPr>
        <p:txBody>
          <a:bodyPr/>
          <a:lstStyle/>
          <a:p>
            <a:endParaRPr lang="en-US"/>
          </a:p>
        </p:txBody>
      </p:sp>
      <p:sp>
        <p:nvSpPr>
          <p:cNvPr id="30" name="Shape 27"/>
          <p:cNvSpPr/>
          <p:nvPr/>
        </p:nvSpPr>
        <p:spPr>
          <a:xfrm>
            <a:off x="9738360" y="1828800"/>
            <a:ext cx="384048" cy="384048"/>
          </a:xfrm>
          <a:prstGeom prst="ellipse">
            <a:avLst/>
          </a:prstGeom>
          <a:solidFill>
            <a:srgbClr val="1A8A99"/>
          </a:solidFill>
          <a:ln w="12700">
            <a:solidFill>
              <a:srgbClr val="1A8A99"/>
            </a:solidFill>
            <a:prstDash val="solid"/>
          </a:ln>
        </p:spPr>
        <p:txBody>
          <a:bodyPr/>
          <a:lstStyle/>
          <a:p>
            <a:endParaRPr lang="en-US"/>
          </a:p>
        </p:txBody>
      </p:sp>
      <p:sp>
        <p:nvSpPr>
          <p:cNvPr id="31" name="Text 28"/>
          <p:cNvSpPr txBox="1"/>
          <p:nvPr/>
        </p:nvSpPr>
        <p:spPr>
          <a:xfrm>
            <a:off x="9738360" y="18288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32" name="Text 29"/>
          <p:cNvSpPr txBox="1"/>
          <p:nvPr/>
        </p:nvSpPr>
        <p:spPr>
          <a:xfrm>
            <a:off x="9738360" y="2331720"/>
            <a:ext cx="1600200" cy="548640"/>
          </a:xfrm>
          <a:prstGeom prst="rect">
            <a:avLst/>
          </a:prstGeom>
          <a:noFill/>
          <a:ln/>
        </p:spPr>
        <p:txBody>
          <a:bodyPr wrap="square" lIns="0" tIns="0" rIns="0" bIns="0" rtlCol="0" anchor="t"/>
          <a:lstStyle/>
          <a:p>
            <a:pPr marL="0" indent="0">
              <a:buNone/>
            </a:pPr>
            <a:r>
              <a:rPr lang="en-US" sz="1500" b="1" dirty="0">
                <a:solidFill>
                  <a:srgbClr val="12394D"/>
                </a:solidFill>
                <a:latin typeface="Calibri" pitchFamily="34" charset="0"/>
                <a:ea typeface="Calibri" pitchFamily="34" charset="-122"/>
                <a:cs typeface="Calibri" pitchFamily="34" charset="-120"/>
              </a:rPr>
              <a:t>Temporal structure</a:t>
            </a:r>
            <a:endParaRPr lang="en-US" sz="1500" dirty="0"/>
          </a:p>
        </p:txBody>
      </p:sp>
      <p:sp>
        <p:nvSpPr>
          <p:cNvPr id="33" name="Text 30"/>
          <p:cNvSpPr txBox="1"/>
          <p:nvPr/>
        </p:nvSpPr>
        <p:spPr>
          <a:xfrm>
            <a:off x="9738360" y="2926080"/>
            <a:ext cx="1600200" cy="1188720"/>
          </a:xfrm>
          <a:prstGeom prst="rect">
            <a:avLst/>
          </a:prstGeom>
          <a:noFill/>
          <a:ln/>
        </p:spPr>
        <p:txBody>
          <a:bodyPr wrap="square" lIns="0" tIns="0" rIns="0" bIns="0" rtlCol="0" anchor="t"/>
          <a:lstStyle/>
          <a:p>
            <a:pPr marL="0" indent="0">
              <a:buNone/>
            </a:pPr>
            <a:r>
              <a:rPr lang="en-US" sz="1250" dirty="0">
                <a:solidFill>
                  <a:srgbClr val="5F7A8A"/>
                </a:solidFill>
                <a:latin typeface="Calibri" pitchFamily="34" charset="0"/>
                <a:ea typeface="Calibri" pitchFamily="34" charset="-122"/>
                <a:cs typeface="Calibri" pitchFamily="34" charset="-120"/>
              </a:rPr>
              <a:t>Decision period matched to the loop; horizon and interval reported</a:t>
            </a:r>
            <a:endParaRPr lang="en-US" sz="1250" dirty="0"/>
          </a:p>
        </p:txBody>
      </p:sp>
      <p:sp>
        <p:nvSpPr>
          <p:cNvPr id="34" name="Text 31"/>
          <p:cNvSpPr txBox="1"/>
          <p:nvPr/>
        </p:nvSpPr>
        <p:spPr>
          <a:xfrm>
            <a:off x="640080" y="4389120"/>
            <a:ext cx="5486400" cy="274320"/>
          </a:xfrm>
          <a:prstGeom prst="rect">
            <a:avLst/>
          </a:prstGeom>
          <a:noFill/>
          <a:ln/>
        </p:spPr>
        <p:txBody>
          <a:bodyPr wrap="square" lIns="0" tIns="0" rIns="0" bIns="0" rtlCol="0" anchor="t"/>
          <a:lstStyle/>
          <a:p>
            <a:pPr marL="0" indent="0">
              <a:buNone/>
            </a:pPr>
            <a:r>
              <a:rPr lang="en-US" sz="1200" b="1" kern="0" spc="100" dirty="0">
                <a:solidFill>
                  <a:srgbClr val="1A8A99"/>
                </a:solidFill>
                <a:latin typeface="Calibri" pitchFamily="34" charset="0"/>
                <a:ea typeface="Calibri" pitchFamily="34" charset="-122"/>
                <a:cs typeface="Calibri" pitchFamily="34" charset="-120"/>
              </a:rPr>
              <a:t>EVIDENCE FROM THE SURVEY</a:t>
            </a:r>
            <a:endParaRPr lang="en-US" sz="1200" dirty="0"/>
          </a:p>
        </p:txBody>
      </p:sp>
      <p:sp>
        <p:nvSpPr>
          <p:cNvPr id="35" name="Text 32"/>
          <p:cNvSpPr txBox="1"/>
          <p:nvPr/>
        </p:nvSpPr>
        <p:spPr>
          <a:xfrm>
            <a:off x="640080" y="4709160"/>
            <a:ext cx="10881360" cy="77724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2A3F4C"/>
                </a:solidFill>
                <a:latin typeface="Calibri" pitchFamily="34" charset="0"/>
                <a:ea typeface="Calibri" pitchFamily="34" charset="-122"/>
                <a:cs typeface="Calibri" pitchFamily="34" charset="-120"/>
              </a:rPr>
              <a:t>PandORA: changing the reward, action space or decision period changes which agent comes out best</a:t>
            </a:r>
            <a:endParaRPr lang="en-US" sz="1400" dirty="0"/>
          </a:p>
          <a:p>
            <a:pPr marL="342900" indent="-342900">
              <a:spcAft>
                <a:spcPts val="500"/>
              </a:spcAft>
              <a:buSzPct val="100000"/>
              <a:buChar char="•"/>
            </a:pPr>
            <a:r>
              <a:rPr lang="en-US" sz="1400" dirty="0">
                <a:solidFill>
                  <a:srgbClr val="2A3F4C"/>
                </a:solidFill>
                <a:latin typeface="Calibri" pitchFamily="34" charset="0"/>
                <a:ea typeface="Calibri" pitchFamily="34" charset="-122"/>
                <a:cs typeface="Calibri" pitchFamily="34" charset="-120"/>
              </a:rPr>
              <a:t>Two studies with the same algorithm but different decision periods are solving different problems</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320040"/>
          </a:xfrm>
          <a:prstGeom prst="rect">
            <a:avLst/>
          </a:prstGeom>
          <a:noFill/>
          <a:ln/>
        </p:spPr>
        <p:txBody>
          <a:bodyPr wrap="square" lIns="0" tIns="0" rIns="0" bIns="0" rtlCol="0" anchor="t"/>
          <a:lstStyle/>
          <a:p>
            <a:pPr marL="0" indent="0">
              <a:buNone/>
            </a:pPr>
            <a:r>
              <a:rPr lang="en-US" sz="1400" b="1" kern="0" spc="200" dirty="0">
                <a:solidFill>
                  <a:srgbClr val="2BB3A3"/>
                </a:solidFill>
                <a:latin typeface="Calibri" pitchFamily="34" charset="0"/>
                <a:ea typeface="Calibri" pitchFamily="34" charset="-122"/>
                <a:cs typeface="Calibri" pitchFamily="34" charset="-120"/>
              </a:rPr>
              <a:t>Survey 2 · Lu et al. · DRL for 6G AI-RAN</a:t>
            </a:r>
            <a:endParaRPr lang="en-US" sz="1400" dirty="0"/>
          </a:p>
        </p:txBody>
      </p:sp>
      <p:sp>
        <p:nvSpPr>
          <p:cNvPr id="3" name="Text 1"/>
          <p:cNvSpPr txBox="1"/>
          <p:nvPr/>
        </p:nvSpPr>
        <p:spPr>
          <a:xfrm>
            <a:off x="640080" y="786384"/>
            <a:ext cx="10881360" cy="640080"/>
          </a:xfrm>
          <a:prstGeom prst="rect">
            <a:avLst/>
          </a:prstGeom>
          <a:noFill/>
          <a:ln/>
        </p:spPr>
        <p:txBody>
          <a:bodyPr wrap="square" lIns="0" tIns="0" rIns="0" bIns="0" rtlCol="0" anchor="t">
            <a:normAutofit/>
          </a:bodyPr>
          <a:lstStyle/>
          <a:p>
            <a:pPr marL="0" indent="0">
              <a:buNone/>
            </a:pPr>
            <a:r>
              <a:rPr lang="en-US" sz="2700" b="1" dirty="0">
                <a:solidFill>
                  <a:srgbClr val="12394D"/>
                </a:solidFill>
                <a:latin typeface="Cambria" pitchFamily="34" charset="0"/>
                <a:ea typeface="Cambria" pitchFamily="34" charset="-122"/>
                <a:cs typeface="Cambria" pitchFamily="34" charset="-120"/>
              </a:rPr>
              <a:t>Use cases: nine domains, slicing and RRM lead</a:t>
            </a:r>
            <a:endParaRPr lang="en-US" sz="2700" dirty="0"/>
          </a:p>
        </p:txBody>
      </p:sp>
      <p:sp>
        <p:nvSpPr>
          <p:cNvPr id="4" name="Shape 2"/>
          <p:cNvSpPr/>
          <p:nvPr/>
        </p:nvSpPr>
        <p:spPr>
          <a:xfrm>
            <a:off x="640080" y="5596128"/>
            <a:ext cx="10881360" cy="502920"/>
          </a:xfrm>
          <a:prstGeom prst="roundRect">
            <a:avLst>
              <a:gd name="adj" fmla="val 10909"/>
            </a:avLst>
          </a:prstGeom>
          <a:solidFill>
            <a:srgbClr val="E6F4F2"/>
          </a:solidFill>
          <a:ln w="12700">
            <a:solidFill>
              <a:srgbClr val="E6F4F2"/>
            </a:solidFill>
            <a:prstDash val="solid"/>
          </a:ln>
        </p:spPr>
        <p:txBody>
          <a:bodyPr/>
          <a:lstStyle/>
          <a:p>
            <a:endParaRPr lang="en-US"/>
          </a:p>
        </p:txBody>
      </p:sp>
      <p:sp>
        <p:nvSpPr>
          <p:cNvPr id="5" name="Text 3"/>
          <p:cNvSpPr txBox="1"/>
          <p:nvPr/>
        </p:nvSpPr>
        <p:spPr>
          <a:xfrm>
            <a:off x="868680" y="5596128"/>
            <a:ext cx="10469880" cy="502920"/>
          </a:xfrm>
          <a:prstGeom prst="rect">
            <a:avLst/>
          </a:prstGeom>
          <a:noFill/>
          <a:ln/>
        </p:spPr>
        <p:txBody>
          <a:bodyPr wrap="square" lIns="0" tIns="0" rIns="0" bIns="0" rtlCol="0" anchor="ctr"/>
          <a:lstStyle/>
          <a:p>
            <a:pPr marL="0" indent="0">
              <a:buNone/>
            </a:pPr>
            <a:r>
              <a:rPr lang="en-US" sz="1400" b="1" dirty="0">
                <a:solidFill>
                  <a:srgbClr val="1A8A99"/>
                </a:solidFill>
                <a:latin typeface="Calibri" pitchFamily="34" charset="0"/>
                <a:ea typeface="Calibri" pitchFamily="34" charset="-122"/>
                <a:cs typeface="Calibri" pitchFamily="34" charset="-120"/>
              </a:rPr>
              <a:t>Takeaway  </a:t>
            </a:r>
            <a:r>
              <a:rPr lang="en-US" sz="1400" dirty="0">
                <a:solidFill>
                  <a:srgbClr val="12394D"/>
                </a:solidFill>
                <a:latin typeface="Calibri" pitchFamily="34" charset="0"/>
                <a:ea typeface="Calibri" pitchFamily="34" charset="-122"/>
                <a:cs typeface="Calibri" pitchFamily="34" charset="-120"/>
              </a:rPr>
              <a:t>Slicing is the most active domain, and every eMBB/URLLC work cited here is trained online.</a:t>
            </a:r>
            <a:endParaRPr lang="en-US" sz="1400" dirty="0"/>
          </a:p>
        </p:txBody>
      </p:sp>
      <p:sp>
        <p:nvSpPr>
          <p:cNvPr id="6" name="Text 4"/>
          <p:cNvSpPr txBox="1"/>
          <p:nvPr/>
        </p:nvSpPr>
        <p:spPr>
          <a:xfrm>
            <a:off x="640080" y="6355080"/>
            <a:ext cx="6400800" cy="274320"/>
          </a:xfrm>
          <a:prstGeom prst="rect">
            <a:avLst/>
          </a:prstGeom>
          <a:noFill/>
          <a:ln/>
        </p:spPr>
        <p:txBody>
          <a:bodyPr wrap="square" lIns="0" tIns="0" rIns="0" bIns="0" rtlCol="0" anchor="t"/>
          <a:lstStyle/>
          <a:p>
            <a:pPr marL="0" indent="0">
              <a:buNone/>
            </a:pPr>
            <a:r>
              <a:rPr lang="en-US" sz="1100" dirty="0">
                <a:solidFill>
                  <a:srgbClr val="5F7A8A"/>
                </a:solidFill>
                <a:latin typeface="Calibri" pitchFamily="34" charset="0"/>
                <a:ea typeface="Calibri" pitchFamily="34" charset="-122"/>
                <a:cs typeface="Calibri" pitchFamily="34" charset="-120"/>
              </a:rPr>
              <a:t>RS2M Department · Télécom SudParis · Palaiseau, France</a:t>
            </a:r>
            <a:endParaRPr lang="en-US" sz="1100" dirty="0"/>
          </a:p>
        </p:txBody>
      </p:sp>
      <p:sp>
        <p:nvSpPr>
          <p:cNvPr id="7" name="Text 5"/>
          <p:cNvSpPr txBox="1"/>
          <p:nvPr/>
        </p:nvSpPr>
        <p:spPr>
          <a:xfrm>
            <a:off x="11064240" y="6355080"/>
            <a:ext cx="457200" cy="274320"/>
          </a:xfrm>
          <a:prstGeom prst="rect">
            <a:avLst/>
          </a:prstGeom>
          <a:noFill/>
          <a:ln/>
        </p:spPr>
        <p:txBody>
          <a:bodyPr wrap="square" lIns="0" tIns="0" rIns="0" bIns="0" rtlCol="0" anchor="t"/>
          <a:lstStyle/>
          <a:p>
            <a:pPr marL="0" indent="0" algn="r">
              <a:buNone/>
            </a:pPr>
            <a:r>
              <a:rPr lang="en-US" sz="1100" dirty="0">
                <a:solidFill>
                  <a:srgbClr val="5F7A8A"/>
                </a:solidFill>
                <a:latin typeface="Calibri" pitchFamily="34" charset="0"/>
                <a:ea typeface="Calibri" pitchFamily="34" charset="-122"/>
                <a:cs typeface="Calibri" pitchFamily="34" charset="-120"/>
              </a:rPr>
              <a:t>21</a:t>
            </a:r>
            <a:endParaRPr lang="en-US" sz="1100" dirty="0"/>
          </a:p>
        </p:txBody>
      </p:sp>
      <p:sp>
        <p:nvSpPr>
          <p:cNvPr id="14" name="Text 11"/>
          <p:cNvSpPr txBox="1"/>
          <p:nvPr/>
        </p:nvSpPr>
        <p:spPr>
          <a:xfrm>
            <a:off x="9026681" y="1572768"/>
            <a:ext cx="2723359" cy="310896"/>
          </a:xfrm>
          <a:prstGeom prst="rect">
            <a:avLst/>
          </a:prstGeom>
          <a:noFill/>
          <a:ln/>
        </p:spPr>
        <p:txBody>
          <a:bodyPr wrap="square" lIns="0" tIns="0" rIns="0" bIns="0" rtlCol="0" anchor="ctr"/>
          <a:lstStyle/>
          <a:p>
            <a:pPr marL="0" indent="0">
              <a:buNone/>
            </a:pPr>
            <a:r>
              <a:rPr lang="en-US" sz="1350" dirty="0">
                <a:solidFill>
                  <a:srgbClr val="2A3F4C"/>
                </a:solidFill>
                <a:latin typeface="Calibri" pitchFamily="34" charset="0"/>
                <a:ea typeface="Calibri" pitchFamily="34" charset="-122"/>
                <a:cs typeface="Calibri" pitchFamily="34" charset="-120"/>
              </a:rPr>
              <a:t>RRM · network slicing · traffic steering</a:t>
            </a:r>
            <a:endParaRPr lang="en-US" sz="1350" dirty="0"/>
          </a:p>
        </p:txBody>
      </p:sp>
      <p:sp>
        <p:nvSpPr>
          <p:cNvPr id="17" name="Text 14"/>
          <p:cNvSpPr txBox="1"/>
          <p:nvPr/>
        </p:nvSpPr>
        <p:spPr>
          <a:xfrm>
            <a:off x="9026681" y="2008661"/>
            <a:ext cx="2904514" cy="310896"/>
          </a:xfrm>
          <a:prstGeom prst="rect">
            <a:avLst/>
          </a:prstGeom>
          <a:noFill/>
          <a:ln/>
        </p:spPr>
        <p:txBody>
          <a:bodyPr wrap="square" lIns="0" tIns="0" rIns="0" bIns="0" rtlCol="0" anchor="ctr"/>
          <a:lstStyle/>
          <a:p>
            <a:pPr marL="0" indent="0">
              <a:buNone/>
            </a:pPr>
            <a:r>
              <a:rPr lang="en-US" sz="1350" dirty="0">
                <a:solidFill>
                  <a:srgbClr val="2A3F4C"/>
                </a:solidFill>
                <a:latin typeface="Calibri" pitchFamily="34" charset="0"/>
                <a:ea typeface="Calibri" pitchFamily="34" charset="-122"/>
                <a:cs typeface="Calibri" pitchFamily="34" charset="-120"/>
              </a:rPr>
              <a:t>mobility · energy · interference · security</a:t>
            </a:r>
            <a:endParaRPr lang="en-US" sz="1350" dirty="0"/>
          </a:p>
        </p:txBody>
      </p:sp>
      <p:sp>
        <p:nvSpPr>
          <p:cNvPr id="20" name="Text 17"/>
          <p:cNvSpPr txBox="1"/>
          <p:nvPr/>
        </p:nvSpPr>
        <p:spPr>
          <a:xfrm>
            <a:off x="9026681" y="2505456"/>
            <a:ext cx="1653684" cy="310896"/>
          </a:xfrm>
          <a:prstGeom prst="rect">
            <a:avLst/>
          </a:prstGeom>
          <a:noFill/>
          <a:ln/>
        </p:spPr>
        <p:txBody>
          <a:bodyPr wrap="square" lIns="0" tIns="0" rIns="0" bIns="0" rtlCol="0" anchor="ctr"/>
          <a:lstStyle/>
          <a:p>
            <a:pPr marL="0" indent="0">
              <a:buNone/>
            </a:pPr>
            <a:r>
              <a:rPr lang="en-US" sz="1350" dirty="0">
                <a:solidFill>
                  <a:srgbClr val="2A3F4C"/>
                </a:solidFill>
                <a:latin typeface="Calibri" pitchFamily="34" charset="0"/>
                <a:ea typeface="Calibri" pitchFamily="34" charset="-122"/>
                <a:cs typeface="Calibri" pitchFamily="34" charset="-120"/>
              </a:rPr>
              <a:t>ISAC · massive MIMO</a:t>
            </a:r>
            <a:endParaRPr lang="en-US" sz="1350" dirty="0"/>
          </a:p>
        </p:txBody>
      </p:sp>
      <p:sp>
        <p:nvSpPr>
          <p:cNvPr id="21" name="Text 18"/>
          <p:cNvSpPr txBox="1"/>
          <p:nvPr/>
        </p:nvSpPr>
        <p:spPr>
          <a:xfrm>
            <a:off x="7144397" y="3456432"/>
            <a:ext cx="2052224" cy="274320"/>
          </a:xfrm>
          <a:prstGeom prst="rect">
            <a:avLst/>
          </a:prstGeom>
          <a:noFill/>
          <a:ln/>
        </p:spPr>
        <p:txBody>
          <a:bodyPr wrap="square" lIns="0" tIns="0" rIns="0" bIns="0" rtlCol="0" anchor="t"/>
          <a:lstStyle/>
          <a:p>
            <a:pPr marL="0" indent="0">
              <a:buNone/>
            </a:pPr>
            <a:r>
              <a:rPr lang="en-US" sz="1200" b="1" kern="0" spc="100" dirty="0">
                <a:solidFill>
                  <a:srgbClr val="1A8A99"/>
                </a:solidFill>
                <a:latin typeface="Calibri" pitchFamily="34" charset="0"/>
                <a:ea typeface="Calibri" pitchFamily="34" charset="-122"/>
                <a:cs typeface="Calibri" pitchFamily="34" charset="-120"/>
              </a:rPr>
              <a:t>CLOSEST TO MY SETTING</a:t>
            </a:r>
            <a:endParaRPr lang="en-US" sz="1200" dirty="0"/>
          </a:p>
        </p:txBody>
      </p:sp>
      <p:sp>
        <p:nvSpPr>
          <p:cNvPr id="22" name="Text 19"/>
          <p:cNvSpPr txBox="1"/>
          <p:nvPr/>
        </p:nvSpPr>
        <p:spPr>
          <a:xfrm>
            <a:off x="7144397" y="3803904"/>
            <a:ext cx="4605643" cy="1828800"/>
          </a:xfrm>
          <a:prstGeom prst="rect">
            <a:avLst/>
          </a:prstGeom>
          <a:noFill/>
          <a:ln/>
        </p:spPr>
        <p:txBody>
          <a:bodyPr wrap="square" lIns="0" tIns="0" rIns="0" bIns="0" rtlCol="0" anchor="t"/>
          <a:lstStyle/>
          <a:p>
            <a:pPr marL="0" indent="0">
              <a:buNone/>
            </a:pPr>
            <a:r>
              <a:rPr lang="en-US" sz="1400" b="1" dirty="0">
                <a:solidFill>
                  <a:srgbClr val="12394D"/>
                </a:solidFill>
                <a:latin typeface="Calibri" pitchFamily="34" charset="0"/>
                <a:ea typeface="Calibri" pitchFamily="34" charset="-122"/>
                <a:cs typeface="Calibri" pitchFamily="34" charset="-120"/>
              </a:rPr>
              <a:t>Sohaib et al.</a:t>
            </a:r>
            <a:endParaRPr lang="en-US" sz="1400" dirty="0"/>
          </a:p>
          <a:p>
            <a:pPr marL="0" indent="0">
              <a:spcAft>
                <a:spcPts val="500"/>
              </a:spcAft>
              <a:buNone/>
            </a:pPr>
            <a:r>
              <a:rPr lang="en-US" sz="1250" dirty="0">
                <a:solidFill>
                  <a:srgbClr val="5F7A8A"/>
                </a:solidFill>
                <a:latin typeface="Calibri" pitchFamily="34" charset="0"/>
                <a:ea typeface="Calibri" pitchFamily="34" charset="-122"/>
                <a:cs typeface="Calibri" pitchFamily="34" charset="-120"/>
              </a:rPr>
              <a:t>Distributed Thompson-sampling DRL for joint eMBB/URLLC scheduling</a:t>
            </a:r>
            <a:endParaRPr lang="en-US" sz="1400" dirty="0"/>
          </a:p>
          <a:p>
            <a:pPr marL="0" indent="0">
              <a:buNone/>
            </a:pPr>
            <a:r>
              <a:rPr lang="en-US" sz="1400" b="1" dirty="0">
                <a:solidFill>
                  <a:srgbClr val="12394D"/>
                </a:solidFill>
                <a:latin typeface="Calibri" pitchFamily="34" charset="0"/>
                <a:ea typeface="Calibri" pitchFamily="34" charset="-122"/>
                <a:cs typeface="Calibri" pitchFamily="34" charset="-120"/>
              </a:rPr>
              <a:t>Eskandari et al.</a:t>
            </a:r>
            <a:endParaRPr lang="en-US" sz="1400" dirty="0"/>
          </a:p>
          <a:p>
            <a:pPr marL="0" indent="0">
              <a:spcAft>
                <a:spcPts val="500"/>
              </a:spcAft>
              <a:buNone/>
            </a:pPr>
            <a:r>
              <a:rPr lang="en-US" sz="1250" dirty="0">
                <a:solidFill>
                  <a:srgbClr val="5F7A8A"/>
                </a:solidFill>
                <a:latin typeface="Calibri" pitchFamily="34" charset="0"/>
                <a:ea typeface="Calibri" pitchFamily="34" charset="-122"/>
                <a:cs typeface="Calibri" pitchFamily="34" charset="-120"/>
              </a:rPr>
              <a:t>SAC power control for eMBB/URLLC slices in cell-free O-RAN</a:t>
            </a:r>
            <a:endParaRPr lang="en-US" sz="1400" dirty="0"/>
          </a:p>
          <a:p>
            <a:pPr marL="0" indent="0">
              <a:buNone/>
            </a:pPr>
            <a:r>
              <a:rPr lang="en-US" sz="1400" b="1" dirty="0">
                <a:solidFill>
                  <a:srgbClr val="12394D"/>
                </a:solidFill>
                <a:latin typeface="Calibri" pitchFamily="34" charset="0"/>
                <a:ea typeface="Calibri" pitchFamily="34" charset="-122"/>
                <a:cs typeface="Calibri" pitchFamily="34" charset="-120"/>
              </a:rPr>
              <a:t>SafeSlice · Zangooei et al.</a:t>
            </a:r>
            <a:endParaRPr lang="en-US" sz="1400" dirty="0"/>
          </a:p>
          <a:p>
            <a:pPr marL="0" indent="0">
              <a:spcAft>
                <a:spcPts val="500"/>
              </a:spcAft>
              <a:buNone/>
            </a:pPr>
            <a:r>
              <a:rPr lang="en-US" sz="1250" dirty="0">
                <a:solidFill>
                  <a:srgbClr val="5F7A8A"/>
                </a:solidFill>
                <a:latin typeface="Calibri" pitchFamily="34" charset="0"/>
                <a:ea typeface="Calibri" pitchFamily="34" charset="-122"/>
                <a:cs typeface="Calibri" pitchFamily="34" charset="-120"/>
              </a:rPr>
              <a:t>Safe slicing with action projection · constrained multi-agent slicing</a:t>
            </a:r>
            <a:endParaRPr lang="en-US" sz="1400" dirty="0"/>
          </a:p>
        </p:txBody>
      </p:sp>
      <p:pic>
        <p:nvPicPr>
          <p:cNvPr id="23" name="Image 22">
            <a:extLst>
              <a:ext uri="{FF2B5EF4-FFF2-40B4-BE49-F238E27FC236}">
                <a16:creationId xmlns:a16="http://schemas.microsoft.com/office/drawing/2014/main" id="{C6831BA4-DD73-7F09-413A-E1A9A8863BF8}"/>
              </a:ext>
            </a:extLst>
          </p:cNvPr>
          <p:cNvPicPr>
            <a:picLocks noChangeAspect="1"/>
          </p:cNvPicPr>
          <p:nvPr/>
        </p:nvPicPr>
        <p:blipFill>
          <a:blip r:embed="rId3"/>
          <a:stretch>
            <a:fillRect/>
          </a:stretch>
        </p:blipFill>
        <p:spPr>
          <a:xfrm>
            <a:off x="640080" y="1617905"/>
            <a:ext cx="6275216" cy="3978223"/>
          </a:xfrm>
          <a:prstGeom prst="rect">
            <a:avLst/>
          </a:prstGeom>
        </p:spPr>
      </p:pic>
      <p:sp>
        <p:nvSpPr>
          <p:cNvPr id="24" name="Flèche : haut 23">
            <a:extLst>
              <a:ext uri="{FF2B5EF4-FFF2-40B4-BE49-F238E27FC236}">
                <a16:creationId xmlns:a16="http://schemas.microsoft.com/office/drawing/2014/main" id="{253E929B-86E3-C1A6-2021-84F56867D4B9}"/>
              </a:ext>
            </a:extLst>
          </p:cNvPr>
          <p:cNvSpPr/>
          <p:nvPr/>
        </p:nvSpPr>
        <p:spPr>
          <a:xfrm>
            <a:off x="8258931" y="1317878"/>
            <a:ext cx="612475" cy="1613140"/>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ZoneTexte 24">
            <a:extLst>
              <a:ext uri="{FF2B5EF4-FFF2-40B4-BE49-F238E27FC236}">
                <a16:creationId xmlns:a16="http://schemas.microsoft.com/office/drawing/2014/main" id="{244FCB94-2668-2641-B971-56D87BE70D31}"/>
              </a:ext>
            </a:extLst>
          </p:cNvPr>
          <p:cNvSpPr txBox="1"/>
          <p:nvPr/>
        </p:nvSpPr>
        <p:spPr>
          <a:xfrm rot="5400000">
            <a:off x="7366096" y="2046211"/>
            <a:ext cx="1608826" cy="369332"/>
          </a:xfrm>
          <a:prstGeom prst="rect">
            <a:avLst/>
          </a:prstGeom>
          <a:noFill/>
        </p:spPr>
        <p:txBody>
          <a:bodyPr wrap="square" rtlCol="0">
            <a:spAutoFit/>
          </a:bodyPr>
          <a:lstStyle/>
          <a:p>
            <a:pPr algn="ctr"/>
            <a:r>
              <a:rPr lang="fr-FR" dirty="0"/>
              <a:t>maturity</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47510AE0-4CF3-EA5C-0B8D-72810A791E8D}"/>
              </a:ext>
            </a:extLst>
          </p:cNvPr>
          <p:cNvPicPr>
            <a:picLocks noChangeAspect="1"/>
          </p:cNvPicPr>
          <p:nvPr/>
        </p:nvPicPr>
        <p:blipFill>
          <a:blip r:embed="rId2"/>
          <a:stretch>
            <a:fillRect/>
          </a:stretch>
        </p:blipFill>
        <p:spPr>
          <a:xfrm>
            <a:off x="643467" y="1561507"/>
            <a:ext cx="10905066" cy="3734984"/>
          </a:xfrm>
          <a:prstGeom prst="rect">
            <a:avLst/>
          </a:prstGeom>
        </p:spPr>
      </p:pic>
      <p:sp>
        <p:nvSpPr>
          <p:cNvPr id="5" name="Text 5">
            <a:extLst>
              <a:ext uri="{FF2B5EF4-FFF2-40B4-BE49-F238E27FC236}">
                <a16:creationId xmlns:a16="http://schemas.microsoft.com/office/drawing/2014/main" id="{9ED62F21-548C-FB6F-FB22-BA626CAE33B2}"/>
              </a:ext>
            </a:extLst>
          </p:cNvPr>
          <p:cNvSpPr txBox="1"/>
          <p:nvPr/>
        </p:nvSpPr>
        <p:spPr>
          <a:xfrm>
            <a:off x="11064240" y="6355080"/>
            <a:ext cx="457200" cy="274320"/>
          </a:xfrm>
          <a:prstGeom prst="rect">
            <a:avLst/>
          </a:prstGeom>
          <a:noFill/>
          <a:ln/>
        </p:spPr>
        <p:txBody>
          <a:bodyPr wrap="square" lIns="0" tIns="0" rIns="0" bIns="0" rtlCol="0" anchor="t"/>
          <a:lstStyle/>
          <a:p>
            <a:pPr marL="0" indent="0" algn="r">
              <a:buNone/>
            </a:pPr>
            <a:r>
              <a:rPr lang="en-US" sz="1100" dirty="0">
                <a:solidFill>
                  <a:srgbClr val="5F7A8A"/>
                </a:solidFill>
                <a:latin typeface="Calibri" pitchFamily="34" charset="0"/>
                <a:ea typeface="Calibri" pitchFamily="34" charset="-122"/>
                <a:cs typeface="Calibri" pitchFamily="34" charset="-120"/>
              </a:rPr>
              <a:t>22</a:t>
            </a:r>
            <a:endParaRPr lang="en-US" sz="1100" dirty="0"/>
          </a:p>
        </p:txBody>
      </p:sp>
    </p:spTree>
    <p:extLst>
      <p:ext uri="{BB962C8B-B14F-4D97-AF65-F5344CB8AC3E}">
        <p14:creationId xmlns:p14="http://schemas.microsoft.com/office/powerpoint/2010/main" val="23084784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320040"/>
          </a:xfrm>
          <a:prstGeom prst="rect">
            <a:avLst/>
          </a:prstGeom>
          <a:noFill/>
          <a:ln/>
        </p:spPr>
        <p:txBody>
          <a:bodyPr wrap="square" lIns="0" tIns="0" rIns="0" bIns="0" rtlCol="0" anchor="t"/>
          <a:lstStyle/>
          <a:p>
            <a:pPr marL="0" indent="0">
              <a:buNone/>
            </a:pPr>
            <a:r>
              <a:rPr lang="en-US" sz="1400" b="1" kern="0" spc="200" dirty="0">
                <a:solidFill>
                  <a:srgbClr val="2BB3A3"/>
                </a:solidFill>
                <a:latin typeface="Calibri" pitchFamily="34" charset="0"/>
                <a:ea typeface="Calibri" pitchFamily="34" charset="-122"/>
                <a:cs typeface="Calibri" pitchFamily="34" charset="-120"/>
              </a:rPr>
              <a:t>Survey 2 · Lu et al. · DRL for 6G AI-RAN</a:t>
            </a:r>
            <a:endParaRPr lang="en-US" sz="1400" dirty="0"/>
          </a:p>
        </p:txBody>
      </p:sp>
      <p:sp>
        <p:nvSpPr>
          <p:cNvPr id="3" name="Text 1"/>
          <p:cNvSpPr txBox="1"/>
          <p:nvPr/>
        </p:nvSpPr>
        <p:spPr>
          <a:xfrm>
            <a:off x="640080" y="786384"/>
            <a:ext cx="10881360" cy="640080"/>
          </a:xfrm>
          <a:prstGeom prst="rect">
            <a:avLst/>
          </a:prstGeom>
          <a:noFill/>
          <a:ln/>
        </p:spPr>
        <p:txBody>
          <a:bodyPr wrap="square" lIns="0" tIns="0" rIns="0" bIns="0" rtlCol="0" anchor="t">
            <a:normAutofit/>
          </a:bodyPr>
          <a:lstStyle/>
          <a:p>
            <a:pPr marL="0" indent="0">
              <a:buNone/>
            </a:pPr>
            <a:r>
              <a:rPr lang="en-US" sz="2700" b="1" dirty="0">
                <a:solidFill>
                  <a:srgbClr val="12394D"/>
                </a:solidFill>
                <a:latin typeface="Cambria" pitchFamily="34" charset="0"/>
                <a:ea typeface="Cambria" pitchFamily="34" charset="-122"/>
                <a:cs typeface="Cambria" pitchFamily="34" charset="-120"/>
              </a:rPr>
              <a:t>Multi-agent and federated DRL in O-RAN</a:t>
            </a:r>
            <a:endParaRPr lang="en-US" sz="2700" dirty="0"/>
          </a:p>
        </p:txBody>
      </p:sp>
      <p:sp>
        <p:nvSpPr>
          <p:cNvPr id="4" name="Shape 2"/>
          <p:cNvSpPr/>
          <p:nvPr/>
        </p:nvSpPr>
        <p:spPr>
          <a:xfrm>
            <a:off x="640080" y="5596128"/>
            <a:ext cx="10881360" cy="502920"/>
          </a:xfrm>
          <a:prstGeom prst="roundRect">
            <a:avLst>
              <a:gd name="adj" fmla="val 10909"/>
            </a:avLst>
          </a:prstGeom>
          <a:solidFill>
            <a:srgbClr val="E6F4F2"/>
          </a:solidFill>
          <a:ln w="12700">
            <a:solidFill>
              <a:srgbClr val="E6F4F2"/>
            </a:solidFill>
            <a:prstDash val="solid"/>
          </a:ln>
        </p:spPr>
        <p:txBody>
          <a:bodyPr/>
          <a:lstStyle/>
          <a:p>
            <a:endParaRPr lang="en-US"/>
          </a:p>
        </p:txBody>
      </p:sp>
      <p:sp>
        <p:nvSpPr>
          <p:cNvPr id="5" name="Text 3"/>
          <p:cNvSpPr txBox="1"/>
          <p:nvPr/>
        </p:nvSpPr>
        <p:spPr>
          <a:xfrm>
            <a:off x="868680" y="5596128"/>
            <a:ext cx="10469880" cy="502920"/>
          </a:xfrm>
          <a:prstGeom prst="rect">
            <a:avLst/>
          </a:prstGeom>
          <a:noFill/>
          <a:ln/>
        </p:spPr>
        <p:txBody>
          <a:bodyPr wrap="square" lIns="0" tIns="0" rIns="0" bIns="0" rtlCol="0" anchor="ctr"/>
          <a:lstStyle/>
          <a:p>
            <a:pPr marL="0" indent="0">
              <a:buNone/>
            </a:pPr>
            <a:r>
              <a:rPr lang="en-US" sz="1400" b="1" dirty="0">
                <a:solidFill>
                  <a:srgbClr val="1A8A99"/>
                </a:solidFill>
                <a:latin typeface="Calibri" pitchFamily="34" charset="0"/>
                <a:ea typeface="Calibri" pitchFamily="34" charset="-122"/>
                <a:cs typeface="Calibri" pitchFamily="34" charset="-120"/>
              </a:rPr>
              <a:t>Takeaway  </a:t>
            </a:r>
            <a:r>
              <a:rPr lang="en-US" sz="1400" dirty="0">
                <a:solidFill>
                  <a:srgbClr val="12394D"/>
                </a:solidFill>
                <a:latin typeface="Calibri" pitchFamily="34" charset="0"/>
                <a:ea typeface="Calibri" pitchFamily="34" charset="-122"/>
                <a:cs typeface="Calibri" pitchFamily="34" charset="-120"/>
              </a:rPr>
              <a:t>Several learning xApps on shared resources need coordination by design.</a:t>
            </a:r>
            <a:endParaRPr lang="en-US" sz="1400" dirty="0"/>
          </a:p>
        </p:txBody>
      </p:sp>
      <p:sp>
        <p:nvSpPr>
          <p:cNvPr id="6" name="Text 4"/>
          <p:cNvSpPr txBox="1"/>
          <p:nvPr/>
        </p:nvSpPr>
        <p:spPr>
          <a:xfrm>
            <a:off x="640080" y="6355080"/>
            <a:ext cx="6400800" cy="274320"/>
          </a:xfrm>
          <a:prstGeom prst="rect">
            <a:avLst/>
          </a:prstGeom>
          <a:noFill/>
          <a:ln/>
        </p:spPr>
        <p:txBody>
          <a:bodyPr wrap="square" lIns="0" tIns="0" rIns="0" bIns="0" rtlCol="0" anchor="t"/>
          <a:lstStyle/>
          <a:p>
            <a:pPr marL="0" indent="0">
              <a:buNone/>
            </a:pPr>
            <a:r>
              <a:rPr lang="en-US" sz="1100" dirty="0">
                <a:solidFill>
                  <a:srgbClr val="5F7A8A"/>
                </a:solidFill>
                <a:latin typeface="Calibri" pitchFamily="34" charset="0"/>
                <a:ea typeface="Calibri" pitchFamily="34" charset="-122"/>
                <a:cs typeface="Calibri" pitchFamily="34" charset="-120"/>
              </a:rPr>
              <a:t>RS2M Department · Télécom SudParis · Palaiseau, France</a:t>
            </a:r>
            <a:endParaRPr lang="en-US" sz="1100" dirty="0"/>
          </a:p>
        </p:txBody>
      </p:sp>
      <p:sp>
        <p:nvSpPr>
          <p:cNvPr id="7" name="Text 5"/>
          <p:cNvSpPr txBox="1"/>
          <p:nvPr/>
        </p:nvSpPr>
        <p:spPr>
          <a:xfrm>
            <a:off x="11064240" y="6355080"/>
            <a:ext cx="457200" cy="274320"/>
          </a:xfrm>
          <a:prstGeom prst="rect">
            <a:avLst/>
          </a:prstGeom>
          <a:noFill/>
          <a:ln/>
        </p:spPr>
        <p:txBody>
          <a:bodyPr wrap="square" lIns="0" tIns="0" rIns="0" bIns="0" rtlCol="0" anchor="t"/>
          <a:lstStyle/>
          <a:p>
            <a:pPr marL="0" indent="0" algn="r">
              <a:buNone/>
            </a:pPr>
            <a:r>
              <a:rPr lang="en-US" sz="1100" dirty="0">
                <a:solidFill>
                  <a:srgbClr val="5F7A8A"/>
                </a:solidFill>
                <a:latin typeface="Calibri" pitchFamily="34" charset="0"/>
                <a:ea typeface="Calibri" pitchFamily="34" charset="-122"/>
                <a:cs typeface="Calibri" pitchFamily="34" charset="-120"/>
              </a:rPr>
              <a:t>23</a:t>
            </a:r>
            <a:endParaRPr lang="en-US" sz="1100" dirty="0"/>
          </a:p>
        </p:txBody>
      </p:sp>
      <p:sp>
        <p:nvSpPr>
          <p:cNvPr id="11" name="Text 8"/>
          <p:cNvSpPr txBox="1"/>
          <p:nvPr/>
        </p:nvSpPr>
        <p:spPr>
          <a:xfrm>
            <a:off x="6477000" y="1993552"/>
            <a:ext cx="5715000" cy="2675914"/>
          </a:xfrm>
          <a:prstGeom prst="rect">
            <a:avLst/>
          </a:prstGeom>
          <a:noFill/>
          <a:ln/>
        </p:spPr>
        <p:txBody>
          <a:bodyPr wrap="square" lIns="0" tIns="0" rIns="0" bIns="0" rtlCol="0" anchor="t"/>
          <a:lstStyle/>
          <a:p>
            <a:pPr marL="0" indent="0">
              <a:buNone/>
            </a:pPr>
            <a:r>
              <a:rPr lang="en-US" sz="1450" b="1" dirty="0">
                <a:solidFill>
                  <a:srgbClr val="12394D"/>
                </a:solidFill>
                <a:latin typeface="Calibri" pitchFamily="34" charset="0"/>
                <a:ea typeface="Calibri" pitchFamily="34" charset="-122"/>
                <a:cs typeface="Calibri" pitchFamily="34" charset="-120"/>
              </a:rPr>
              <a:t>The xApp conflict problem</a:t>
            </a:r>
            <a:endParaRPr lang="en-US" sz="1450" dirty="0"/>
          </a:p>
          <a:p>
            <a:pPr marL="0" indent="0">
              <a:spcAft>
                <a:spcPts val="900"/>
              </a:spcAft>
              <a:buNone/>
            </a:pPr>
            <a:r>
              <a:rPr lang="en-US" sz="1250" dirty="0">
                <a:solidFill>
                  <a:srgbClr val="5F7A8A"/>
                </a:solidFill>
                <a:latin typeface="Calibri" pitchFamily="34" charset="0"/>
                <a:ea typeface="Calibri" pitchFamily="34" charset="-122"/>
                <a:cs typeface="Calibri" pitchFamily="34" charset="-120"/>
              </a:rPr>
              <a:t>e.g., traffic steering vs energy saving on the same resources. Answers: heterogeneous-agent PPO, digital-twin testing, xApp distillation</a:t>
            </a:r>
            <a:endParaRPr lang="en-US" sz="1450" dirty="0"/>
          </a:p>
          <a:p>
            <a:pPr marL="0" indent="0">
              <a:buNone/>
            </a:pPr>
            <a:r>
              <a:rPr lang="en-US" sz="1450" b="1" dirty="0">
                <a:solidFill>
                  <a:srgbClr val="12394D"/>
                </a:solidFill>
                <a:latin typeface="Calibri" pitchFamily="34" charset="0"/>
                <a:ea typeface="Calibri" pitchFamily="34" charset="-122"/>
                <a:cs typeface="Calibri" pitchFamily="34" charset="-120"/>
              </a:rPr>
              <a:t>Hierarchical MARL</a:t>
            </a:r>
            <a:endParaRPr lang="en-US" sz="1450" dirty="0"/>
          </a:p>
          <a:p>
            <a:pPr marL="0" indent="0">
              <a:spcAft>
                <a:spcPts val="900"/>
              </a:spcAft>
              <a:buNone/>
            </a:pPr>
            <a:r>
              <a:rPr lang="en-US" sz="1250" dirty="0">
                <a:solidFill>
                  <a:srgbClr val="5F7A8A"/>
                </a:solidFill>
                <a:latin typeface="Calibri" pitchFamily="34" charset="0"/>
                <a:ea typeface="Calibri" pitchFamily="34" charset="-122"/>
                <a:cs typeface="Calibri" pitchFamily="34" charset="-120"/>
              </a:rPr>
              <a:t>rApp sets budgets or goals, xApp executes; LLM-hRIC puts an LLM at the Non-RT level</a:t>
            </a:r>
            <a:endParaRPr lang="en-US" sz="1450" dirty="0"/>
          </a:p>
          <a:p>
            <a:pPr marL="0" indent="0">
              <a:buNone/>
            </a:pPr>
            <a:r>
              <a:rPr lang="en-US" sz="1450" b="1" dirty="0">
                <a:solidFill>
                  <a:srgbClr val="12394D"/>
                </a:solidFill>
                <a:latin typeface="Calibri" pitchFamily="34" charset="0"/>
                <a:ea typeface="Calibri" pitchFamily="34" charset="-122"/>
                <a:cs typeface="Calibri" pitchFamily="34" charset="-120"/>
              </a:rPr>
              <a:t>Federated DRL across vendors</a:t>
            </a:r>
            <a:endParaRPr lang="en-US" sz="1450" dirty="0"/>
          </a:p>
          <a:p>
            <a:pPr marL="0" indent="0">
              <a:spcAft>
                <a:spcPts val="900"/>
              </a:spcAft>
              <a:buNone/>
            </a:pPr>
            <a:r>
              <a:rPr lang="en-US" sz="1250" dirty="0">
                <a:solidFill>
                  <a:srgbClr val="5F7A8A"/>
                </a:solidFill>
                <a:latin typeface="Calibri" pitchFamily="34" charset="0"/>
                <a:ea typeface="Calibri" pitchFamily="34" charset="-122"/>
                <a:cs typeface="Calibri" pitchFamily="34" charset="-120"/>
              </a:rPr>
              <a:t>Slicing, offloading, anti-jamming. Risks: non-IID data, synchronisation overhead, poisoning</a:t>
            </a:r>
            <a:endParaRPr lang="en-US" sz="1450" dirty="0"/>
          </a:p>
          <a:p>
            <a:pPr marL="0" indent="0">
              <a:buNone/>
            </a:pPr>
            <a:r>
              <a:rPr lang="en-US" sz="1450" b="1" dirty="0">
                <a:solidFill>
                  <a:srgbClr val="12394D"/>
                </a:solidFill>
                <a:latin typeface="Calibri" pitchFamily="34" charset="0"/>
                <a:ea typeface="Calibri" pitchFamily="34" charset="-122"/>
                <a:cs typeface="Calibri" pitchFamily="34" charset="-120"/>
              </a:rPr>
              <a:t>Game-theoretic warning</a:t>
            </a:r>
            <a:endParaRPr lang="en-US" sz="1450" dirty="0"/>
          </a:p>
          <a:p>
            <a:pPr marL="0" indent="0">
              <a:spcAft>
                <a:spcPts val="900"/>
              </a:spcAft>
              <a:buNone/>
            </a:pPr>
            <a:r>
              <a:rPr lang="en-US" sz="1250" dirty="0">
                <a:solidFill>
                  <a:srgbClr val="5F7A8A"/>
                </a:solidFill>
                <a:latin typeface="Calibri" pitchFamily="34" charset="0"/>
                <a:ea typeface="Calibri" pitchFamily="34" charset="-122"/>
                <a:cs typeface="Calibri" pitchFamily="34" charset="-120"/>
              </a:rPr>
              <a:t>Matching, auctions, Stackelberg: high local rewards do not imply stable or fair joint behaviour</a:t>
            </a:r>
            <a:endParaRPr lang="en-US" sz="1450" dirty="0"/>
          </a:p>
        </p:txBody>
      </p:sp>
      <p:pic>
        <p:nvPicPr>
          <p:cNvPr id="12" name="Image 11">
            <a:extLst>
              <a:ext uri="{FF2B5EF4-FFF2-40B4-BE49-F238E27FC236}">
                <a16:creationId xmlns:a16="http://schemas.microsoft.com/office/drawing/2014/main" id="{B0386D33-0D4B-A3CE-E8C6-441CB80F3A60}"/>
              </a:ext>
            </a:extLst>
          </p:cNvPr>
          <p:cNvPicPr>
            <a:picLocks noChangeAspect="1"/>
          </p:cNvPicPr>
          <p:nvPr/>
        </p:nvPicPr>
        <p:blipFill>
          <a:blip r:embed="rId3"/>
          <a:stretch>
            <a:fillRect/>
          </a:stretch>
        </p:blipFill>
        <p:spPr>
          <a:xfrm>
            <a:off x="640080" y="1993552"/>
            <a:ext cx="5396878" cy="287089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320040"/>
          </a:xfrm>
          <a:prstGeom prst="rect">
            <a:avLst/>
          </a:prstGeom>
          <a:noFill/>
          <a:ln/>
        </p:spPr>
        <p:txBody>
          <a:bodyPr wrap="square" lIns="0" tIns="0" rIns="0" bIns="0" rtlCol="0" anchor="t"/>
          <a:lstStyle/>
          <a:p>
            <a:pPr marL="0" indent="0">
              <a:buNone/>
            </a:pPr>
            <a:r>
              <a:rPr lang="en-US" sz="1400" b="1" kern="0" spc="200" dirty="0">
                <a:solidFill>
                  <a:srgbClr val="2BB3A3"/>
                </a:solidFill>
                <a:latin typeface="Calibri" pitchFamily="34" charset="0"/>
                <a:ea typeface="Calibri" pitchFamily="34" charset="-122"/>
                <a:cs typeface="Calibri" pitchFamily="34" charset="-120"/>
              </a:rPr>
              <a:t>Survey 2 · Lu et al. · DRL for 6G AI-RAN</a:t>
            </a:r>
            <a:endParaRPr lang="en-US" sz="1400" dirty="0"/>
          </a:p>
        </p:txBody>
      </p:sp>
      <p:sp>
        <p:nvSpPr>
          <p:cNvPr id="3" name="Text 1"/>
          <p:cNvSpPr txBox="1"/>
          <p:nvPr/>
        </p:nvSpPr>
        <p:spPr>
          <a:xfrm>
            <a:off x="640080" y="786384"/>
            <a:ext cx="10881360" cy="640080"/>
          </a:xfrm>
          <a:prstGeom prst="rect">
            <a:avLst/>
          </a:prstGeom>
          <a:noFill/>
          <a:ln/>
        </p:spPr>
        <p:txBody>
          <a:bodyPr wrap="square" lIns="0" tIns="0" rIns="0" bIns="0" rtlCol="0" anchor="t">
            <a:normAutofit/>
          </a:bodyPr>
          <a:lstStyle/>
          <a:p>
            <a:pPr marL="0" indent="0">
              <a:buNone/>
            </a:pPr>
            <a:r>
              <a:rPr lang="en-US" sz="2700" b="1" dirty="0">
                <a:solidFill>
                  <a:srgbClr val="12394D"/>
                </a:solidFill>
                <a:latin typeface="Cambria" pitchFamily="34" charset="0"/>
                <a:ea typeface="Cambria" pitchFamily="34" charset="-122"/>
                <a:cs typeface="Cambria" pitchFamily="34" charset="-120"/>
              </a:rPr>
              <a:t>Foundation models and agentic AI: around DRL, not instead of it</a:t>
            </a:r>
            <a:endParaRPr lang="en-US" sz="2700" dirty="0"/>
          </a:p>
        </p:txBody>
      </p:sp>
      <p:sp>
        <p:nvSpPr>
          <p:cNvPr id="4" name="Shape 2"/>
          <p:cNvSpPr/>
          <p:nvPr/>
        </p:nvSpPr>
        <p:spPr>
          <a:xfrm>
            <a:off x="640080" y="5596128"/>
            <a:ext cx="10881360" cy="502920"/>
          </a:xfrm>
          <a:prstGeom prst="roundRect">
            <a:avLst>
              <a:gd name="adj" fmla="val 10909"/>
            </a:avLst>
          </a:prstGeom>
          <a:solidFill>
            <a:srgbClr val="E6F4F2"/>
          </a:solidFill>
          <a:ln w="12700">
            <a:solidFill>
              <a:srgbClr val="E6F4F2"/>
            </a:solidFill>
            <a:prstDash val="solid"/>
          </a:ln>
        </p:spPr>
        <p:txBody>
          <a:bodyPr/>
          <a:lstStyle/>
          <a:p>
            <a:endParaRPr lang="en-US"/>
          </a:p>
        </p:txBody>
      </p:sp>
      <p:sp>
        <p:nvSpPr>
          <p:cNvPr id="5" name="Text 3"/>
          <p:cNvSpPr txBox="1"/>
          <p:nvPr/>
        </p:nvSpPr>
        <p:spPr>
          <a:xfrm>
            <a:off x="868680" y="5596128"/>
            <a:ext cx="10469880" cy="502920"/>
          </a:xfrm>
          <a:prstGeom prst="rect">
            <a:avLst/>
          </a:prstGeom>
          <a:noFill/>
          <a:ln/>
        </p:spPr>
        <p:txBody>
          <a:bodyPr wrap="square" lIns="0" tIns="0" rIns="0" bIns="0" rtlCol="0" anchor="ctr"/>
          <a:lstStyle/>
          <a:p>
            <a:pPr marL="0" indent="0">
              <a:buNone/>
            </a:pPr>
            <a:r>
              <a:rPr lang="en-US" sz="1400" b="1" dirty="0">
                <a:solidFill>
                  <a:srgbClr val="1A8A99"/>
                </a:solidFill>
                <a:latin typeface="Calibri" pitchFamily="34" charset="0"/>
                <a:ea typeface="Calibri" pitchFamily="34" charset="-122"/>
                <a:cs typeface="Calibri" pitchFamily="34" charset="-120"/>
              </a:rPr>
              <a:t>Takeaway  </a:t>
            </a:r>
            <a:r>
              <a:rPr lang="en-US" sz="1400" dirty="0">
                <a:solidFill>
                  <a:srgbClr val="12394D"/>
                </a:solidFill>
                <a:latin typeface="Calibri" pitchFamily="34" charset="0"/>
                <a:ea typeface="Calibri" pitchFamily="34" charset="-122"/>
                <a:cs typeface="Calibri" pitchFamily="34" charset="-120"/>
              </a:rPr>
              <a:t>LLMs reason and orchestrate; latency-critical radio actions stay with deterministic, auditable policies.</a:t>
            </a:r>
            <a:endParaRPr lang="en-US" sz="1400" dirty="0"/>
          </a:p>
        </p:txBody>
      </p:sp>
      <p:sp>
        <p:nvSpPr>
          <p:cNvPr id="6" name="Text 4"/>
          <p:cNvSpPr txBox="1"/>
          <p:nvPr/>
        </p:nvSpPr>
        <p:spPr>
          <a:xfrm>
            <a:off x="640080" y="6355080"/>
            <a:ext cx="6400800" cy="274320"/>
          </a:xfrm>
          <a:prstGeom prst="rect">
            <a:avLst/>
          </a:prstGeom>
          <a:noFill/>
          <a:ln/>
        </p:spPr>
        <p:txBody>
          <a:bodyPr wrap="square" lIns="0" tIns="0" rIns="0" bIns="0" rtlCol="0" anchor="t"/>
          <a:lstStyle/>
          <a:p>
            <a:pPr marL="0" indent="0">
              <a:buNone/>
            </a:pPr>
            <a:r>
              <a:rPr lang="en-US" sz="1100" dirty="0">
                <a:solidFill>
                  <a:srgbClr val="5F7A8A"/>
                </a:solidFill>
                <a:latin typeface="Calibri" pitchFamily="34" charset="0"/>
                <a:ea typeface="Calibri" pitchFamily="34" charset="-122"/>
                <a:cs typeface="Calibri" pitchFamily="34" charset="-120"/>
              </a:rPr>
              <a:t>RS2M Department · Télécom SudParis · Palaiseau, France</a:t>
            </a:r>
            <a:endParaRPr lang="en-US" sz="1100" dirty="0"/>
          </a:p>
        </p:txBody>
      </p:sp>
      <p:sp>
        <p:nvSpPr>
          <p:cNvPr id="7" name="Text 5"/>
          <p:cNvSpPr txBox="1"/>
          <p:nvPr/>
        </p:nvSpPr>
        <p:spPr>
          <a:xfrm>
            <a:off x="11064240" y="6355080"/>
            <a:ext cx="457200" cy="274320"/>
          </a:xfrm>
          <a:prstGeom prst="rect">
            <a:avLst/>
          </a:prstGeom>
          <a:noFill/>
          <a:ln/>
        </p:spPr>
        <p:txBody>
          <a:bodyPr wrap="square" lIns="0" tIns="0" rIns="0" bIns="0" rtlCol="0" anchor="t"/>
          <a:lstStyle/>
          <a:p>
            <a:pPr marL="0" indent="0" algn="r">
              <a:buNone/>
            </a:pPr>
            <a:r>
              <a:rPr lang="en-US" sz="1100" dirty="0">
                <a:solidFill>
                  <a:srgbClr val="5F7A8A"/>
                </a:solidFill>
                <a:latin typeface="Calibri" pitchFamily="34" charset="0"/>
                <a:ea typeface="Calibri" pitchFamily="34" charset="-122"/>
                <a:cs typeface="Calibri" pitchFamily="34" charset="-120"/>
              </a:rPr>
              <a:t>24</a:t>
            </a:r>
            <a:endParaRPr lang="en-US" sz="1100" dirty="0"/>
          </a:p>
        </p:txBody>
      </p:sp>
      <p:sp>
        <p:nvSpPr>
          <p:cNvPr id="11" name="Text 8"/>
          <p:cNvSpPr txBox="1"/>
          <p:nvPr/>
        </p:nvSpPr>
        <p:spPr>
          <a:xfrm>
            <a:off x="6194629" y="2328614"/>
            <a:ext cx="5715000" cy="2365363"/>
          </a:xfrm>
          <a:prstGeom prst="rect">
            <a:avLst/>
          </a:prstGeom>
          <a:noFill/>
          <a:ln/>
        </p:spPr>
        <p:txBody>
          <a:bodyPr wrap="square" lIns="0" tIns="0" rIns="0" bIns="0" rtlCol="0" anchor="t"/>
          <a:lstStyle/>
          <a:p>
            <a:pPr marL="0" indent="0">
              <a:buNone/>
            </a:pPr>
            <a:r>
              <a:rPr lang="en-US" sz="1450" b="1" dirty="0">
                <a:solidFill>
                  <a:srgbClr val="12394D"/>
                </a:solidFill>
                <a:latin typeface="Calibri" pitchFamily="34" charset="0"/>
                <a:ea typeface="Calibri" pitchFamily="34" charset="-122"/>
                <a:cs typeface="Calibri" pitchFamily="34" charset="-120"/>
              </a:rPr>
              <a:t>State representation</a:t>
            </a:r>
            <a:endParaRPr lang="en-US" sz="1450" dirty="0"/>
          </a:p>
          <a:p>
            <a:pPr marL="0" indent="0">
              <a:spcAft>
                <a:spcPts val="1000"/>
              </a:spcAft>
              <a:buNone/>
            </a:pPr>
            <a:r>
              <a:rPr lang="en-US" sz="1250" dirty="0">
                <a:solidFill>
                  <a:srgbClr val="5F7A8A"/>
                </a:solidFill>
                <a:latin typeface="Calibri" pitchFamily="34" charset="0"/>
                <a:ea typeface="Calibri" pitchFamily="34" charset="-122"/>
                <a:cs typeface="Calibri" pitchFamily="34" charset="-120"/>
              </a:rPr>
              <a:t>IQFM on raw I/Q; set and graph encoders; causal O-RAN world model</a:t>
            </a:r>
            <a:endParaRPr lang="en-US" sz="1450" dirty="0"/>
          </a:p>
          <a:p>
            <a:pPr marL="0" indent="0">
              <a:buNone/>
            </a:pPr>
            <a:r>
              <a:rPr lang="en-US" sz="1450" b="1" dirty="0">
                <a:solidFill>
                  <a:srgbClr val="12394D"/>
                </a:solidFill>
                <a:latin typeface="Calibri" pitchFamily="34" charset="0"/>
                <a:ea typeface="Calibri" pitchFamily="34" charset="-122"/>
                <a:cs typeface="Calibri" pitchFamily="34" charset="-120"/>
              </a:rPr>
              <a:t>LLM-augmented DRL</a:t>
            </a:r>
            <a:endParaRPr lang="en-US" sz="1450" dirty="0"/>
          </a:p>
          <a:p>
            <a:pPr marL="0" indent="0">
              <a:spcAft>
                <a:spcPts val="1000"/>
              </a:spcAft>
              <a:buNone/>
            </a:pPr>
            <a:r>
              <a:rPr lang="en-US" sz="1250" dirty="0">
                <a:solidFill>
                  <a:srgbClr val="5F7A8A"/>
                </a:solidFill>
                <a:latin typeface="Calibri" pitchFamily="34" charset="0"/>
                <a:ea typeface="Calibri" pitchFamily="34" charset="-122"/>
                <a:cs typeface="Calibri" pitchFamily="34" charset="-120"/>
              </a:rPr>
              <a:t>Intent → states, actions, rewards, constraints; RAG grounding (ORAN-GUIDE)</a:t>
            </a:r>
            <a:endParaRPr lang="en-US" sz="1450" dirty="0"/>
          </a:p>
          <a:p>
            <a:pPr marL="0" indent="0">
              <a:buNone/>
            </a:pPr>
            <a:r>
              <a:rPr lang="en-US" sz="1450" b="1" dirty="0">
                <a:solidFill>
                  <a:srgbClr val="12394D"/>
                </a:solidFill>
                <a:latin typeface="Calibri" pitchFamily="34" charset="0"/>
                <a:ea typeface="Calibri" pitchFamily="34" charset="-122"/>
                <a:cs typeface="Calibri" pitchFamily="34" charset="-120"/>
              </a:rPr>
              <a:t>Agentic control</a:t>
            </a:r>
            <a:endParaRPr lang="en-US" sz="1450" dirty="0"/>
          </a:p>
          <a:p>
            <a:pPr marL="0" indent="0">
              <a:spcAft>
                <a:spcPts val="1000"/>
              </a:spcAft>
              <a:buNone/>
            </a:pPr>
            <a:r>
              <a:rPr lang="en-US" sz="1250" dirty="0">
                <a:solidFill>
                  <a:srgbClr val="5F7A8A"/>
                </a:solidFill>
                <a:latin typeface="Calibri" pitchFamily="34" charset="0"/>
                <a:ea typeface="Calibri" pitchFamily="34" charset="-122"/>
                <a:cs typeface="Calibri" pitchFamily="34" charset="-120"/>
              </a:rPr>
              <a:t>AgentRAN, LLM-hRIC; memory, tools, conflict-aware rApp orchestration</a:t>
            </a:r>
            <a:endParaRPr lang="en-US" sz="1450" dirty="0"/>
          </a:p>
          <a:p>
            <a:pPr marL="0" indent="0">
              <a:buNone/>
            </a:pPr>
            <a:r>
              <a:rPr lang="en-US" sz="1450" b="1" dirty="0">
                <a:solidFill>
                  <a:srgbClr val="12394D"/>
                </a:solidFill>
                <a:latin typeface="Calibri" pitchFamily="34" charset="0"/>
                <a:ea typeface="Calibri" pitchFamily="34" charset="-122"/>
                <a:cs typeface="Calibri" pitchFamily="34" charset="-120"/>
              </a:rPr>
              <a:t>Trajectory and world models</a:t>
            </a:r>
            <a:endParaRPr lang="en-US" sz="1450" dirty="0"/>
          </a:p>
          <a:p>
            <a:pPr marL="0" indent="0">
              <a:spcAft>
                <a:spcPts val="1000"/>
              </a:spcAft>
              <a:buNone/>
            </a:pPr>
            <a:r>
              <a:rPr lang="en-US" sz="1250" dirty="0">
                <a:solidFill>
                  <a:srgbClr val="5F7A8A"/>
                </a:solidFill>
                <a:latin typeface="Calibri" pitchFamily="34" charset="0"/>
                <a:ea typeface="Calibri" pitchFamily="34" charset="-122"/>
                <a:cs typeface="Calibri" pitchFamily="34" charset="-120"/>
              </a:rPr>
              <a:t>Decision Transformer, Mamba: learn from logs, plan before acting on the live RAN</a:t>
            </a:r>
            <a:endParaRPr lang="en-US" sz="1450" dirty="0"/>
          </a:p>
        </p:txBody>
      </p:sp>
      <p:pic>
        <p:nvPicPr>
          <p:cNvPr id="12" name="Image 11">
            <a:extLst>
              <a:ext uri="{FF2B5EF4-FFF2-40B4-BE49-F238E27FC236}">
                <a16:creationId xmlns:a16="http://schemas.microsoft.com/office/drawing/2014/main" id="{6B27A207-E766-0EE6-5AD5-71C02B9CEE22}"/>
              </a:ext>
            </a:extLst>
          </p:cNvPr>
          <p:cNvPicPr>
            <a:picLocks noChangeAspect="1"/>
          </p:cNvPicPr>
          <p:nvPr/>
        </p:nvPicPr>
        <p:blipFill>
          <a:blip r:embed="rId3"/>
          <a:stretch>
            <a:fillRect/>
          </a:stretch>
        </p:blipFill>
        <p:spPr>
          <a:xfrm>
            <a:off x="640080" y="1838151"/>
            <a:ext cx="5076143" cy="3181698"/>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320040"/>
          </a:xfrm>
          <a:prstGeom prst="rect">
            <a:avLst/>
          </a:prstGeom>
          <a:noFill/>
          <a:ln/>
        </p:spPr>
        <p:txBody>
          <a:bodyPr wrap="square" lIns="0" tIns="0" rIns="0" bIns="0" rtlCol="0" anchor="t"/>
          <a:lstStyle/>
          <a:p>
            <a:pPr marL="0" indent="0">
              <a:buNone/>
            </a:pPr>
            <a:r>
              <a:rPr lang="en-US" sz="1400" b="1" kern="0" spc="200" dirty="0">
                <a:solidFill>
                  <a:srgbClr val="2BB3A3"/>
                </a:solidFill>
                <a:latin typeface="Calibri" pitchFamily="34" charset="0"/>
                <a:ea typeface="Calibri" pitchFamily="34" charset="-122"/>
                <a:cs typeface="Calibri" pitchFamily="34" charset="-120"/>
              </a:rPr>
              <a:t>Survey 2 · Lu et al. · DRL for 6G AI-RAN</a:t>
            </a:r>
            <a:endParaRPr lang="en-US" sz="1400" dirty="0"/>
          </a:p>
        </p:txBody>
      </p:sp>
      <p:sp>
        <p:nvSpPr>
          <p:cNvPr id="3" name="Text 1"/>
          <p:cNvSpPr txBox="1"/>
          <p:nvPr/>
        </p:nvSpPr>
        <p:spPr>
          <a:xfrm>
            <a:off x="640080" y="786384"/>
            <a:ext cx="10881360" cy="640080"/>
          </a:xfrm>
          <a:prstGeom prst="rect">
            <a:avLst/>
          </a:prstGeom>
          <a:noFill/>
          <a:ln/>
        </p:spPr>
        <p:txBody>
          <a:bodyPr wrap="square" lIns="0" tIns="0" rIns="0" bIns="0" rtlCol="0" anchor="t">
            <a:normAutofit/>
          </a:bodyPr>
          <a:lstStyle/>
          <a:p>
            <a:pPr marL="0" indent="0">
              <a:buNone/>
            </a:pPr>
            <a:r>
              <a:rPr lang="en-US" sz="2700" b="1" dirty="0">
                <a:solidFill>
                  <a:srgbClr val="12394D"/>
                </a:solidFill>
                <a:latin typeface="Cambria" pitchFamily="34" charset="0"/>
                <a:ea typeface="Cambria" pitchFamily="34" charset="-122"/>
                <a:cs typeface="Cambria" pitchFamily="34" charset="-120"/>
              </a:rPr>
              <a:t>Trustworthy DRL: five complementary dimensions</a:t>
            </a:r>
            <a:endParaRPr lang="en-US" sz="2700" dirty="0"/>
          </a:p>
        </p:txBody>
      </p:sp>
      <p:sp>
        <p:nvSpPr>
          <p:cNvPr id="4" name="Shape 2"/>
          <p:cNvSpPr/>
          <p:nvPr/>
        </p:nvSpPr>
        <p:spPr>
          <a:xfrm>
            <a:off x="640080" y="5596128"/>
            <a:ext cx="10881360" cy="502920"/>
          </a:xfrm>
          <a:prstGeom prst="roundRect">
            <a:avLst>
              <a:gd name="adj" fmla="val 10909"/>
            </a:avLst>
          </a:prstGeom>
          <a:solidFill>
            <a:srgbClr val="E6F4F2"/>
          </a:solidFill>
          <a:ln w="12700">
            <a:solidFill>
              <a:srgbClr val="E6F4F2"/>
            </a:solidFill>
            <a:prstDash val="solid"/>
          </a:ln>
        </p:spPr>
        <p:txBody>
          <a:bodyPr/>
          <a:lstStyle/>
          <a:p>
            <a:endParaRPr lang="en-US"/>
          </a:p>
        </p:txBody>
      </p:sp>
      <p:sp>
        <p:nvSpPr>
          <p:cNvPr id="5" name="Text 3"/>
          <p:cNvSpPr txBox="1"/>
          <p:nvPr/>
        </p:nvSpPr>
        <p:spPr>
          <a:xfrm>
            <a:off x="868680" y="5596128"/>
            <a:ext cx="10469880" cy="502920"/>
          </a:xfrm>
          <a:prstGeom prst="rect">
            <a:avLst/>
          </a:prstGeom>
          <a:noFill/>
          <a:ln/>
        </p:spPr>
        <p:txBody>
          <a:bodyPr wrap="square" lIns="0" tIns="0" rIns="0" bIns="0" rtlCol="0" anchor="ctr"/>
          <a:lstStyle/>
          <a:p>
            <a:pPr marL="0" indent="0">
              <a:buNone/>
            </a:pPr>
            <a:r>
              <a:rPr lang="en-US" sz="1400" b="1" dirty="0">
                <a:solidFill>
                  <a:srgbClr val="1A8A99"/>
                </a:solidFill>
                <a:latin typeface="Calibri" pitchFamily="34" charset="0"/>
                <a:ea typeface="Calibri" pitchFamily="34" charset="-122"/>
                <a:cs typeface="Calibri" pitchFamily="34" charset="-120"/>
              </a:rPr>
              <a:t>Takeaway  </a:t>
            </a:r>
            <a:r>
              <a:rPr lang="en-US" sz="1400" dirty="0">
                <a:solidFill>
                  <a:srgbClr val="12394D"/>
                </a:solidFill>
                <a:latin typeface="Calibri" pitchFamily="34" charset="0"/>
                <a:ea typeface="Calibri" pitchFamily="34" charset="-122"/>
                <a:cs typeface="Calibri" pitchFamily="34" charset="-120"/>
              </a:rPr>
              <a:t>Keep operational limits as explicit constraints and let the reward carry only the objective.</a:t>
            </a:r>
            <a:endParaRPr lang="en-US" sz="1400" dirty="0"/>
          </a:p>
        </p:txBody>
      </p:sp>
      <p:sp>
        <p:nvSpPr>
          <p:cNvPr id="6" name="Text 4"/>
          <p:cNvSpPr txBox="1"/>
          <p:nvPr/>
        </p:nvSpPr>
        <p:spPr>
          <a:xfrm>
            <a:off x="640080" y="6355080"/>
            <a:ext cx="6400800" cy="274320"/>
          </a:xfrm>
          <a:prstGeom prst="rect">
            <a:avLst/>
          </a:prstGeom>
          <a:noFill/>
          <a:ln/>
        </p:spPr>
        <p:txBody>
          <a:bodyPr wrap="square" lIns="0" tIns="0" rIns="0" bIns="0" rtlCol="0" anchor="t"/>
          <a:lstStyle/>
          <a:p>
            <a:pPr marL="0" indent="0">
              <a:buNone/>
            </a:pPr>
            <a:r>
              <a:rPr lang="en-US" sz="1100" dirty="0">
                <a:solidFill>
                  <a:srgbClr val="5F7A8A"/>
                </a:solidFill>
                <a:latin typeface="Calibri" pitchFamily="34" charset="0"/>
                <a:ea typeface="Calibri" pitchFamily="34" charset="-122"/>
                <a:cs typeface="Calibri" pitchFamily="34" charset="-120"/>
              </a:rPr>
              <a:t>RS2M Department · Télécom SudParis · Palaiseau, France</a:t>
            </a:r>
            <a:endParaRPr lang="en-US" sz="1100" dirty="0"/>
          </a:p>
        </p:txBody>
      </p:sp>
      <p:sp>
        <p:nvSpPr>
          <p:cNvPr id="7" name="Text 5"/>
          <p:cNvSpPr txBox="1"/>
          <p:nvPr/>
        </p:nvSpPr>
        <p:spPr>
          <a:xfrm>
            <a:off x="11064240" y="6355080"/>
            <a:ext cx="457200" cy="274320"/>
          </a:xfrm>
          <a:prstGeom prst="rect">
            <a:avLst/>
          </a:prstGeom>
          <a:noFill/>
          <a:ln/>
        </p:spPr>
        <p:txBody>
          <a:bodyPr wrap="square" lIns="0" tIns="0" rIns="0" bIns="0" rtlCol="0" anchor="t"/>
          <a:lstStyle/>
          <a:p>
            <a:pPr marL="0" indent="0" algn="r">
              <a:buNone/>
            </a:pPr>
            <a:r>
              <a:rPr lang="en-US" sz="1100" dirty="0">
                <a:solidFill>
                  <a:srgbClr val="5F7A8A"/>
                </a:solidFill>
                <a:latin typeface="Calibri" pitchFamily="34" charset="0"/>
                <a:ea typeface="Calibri" pitchFamily="34" charset="-122"/>
                <a:cs typeface="Calibri" pitchFamily="34" charset="-120"/>
              </a:rPr>
              <a:t>25</a:t>
            </a:r>
            <a:endParaRPr lang="en-US" sz="1100" dirty="0"/>
          </a:p>
        </p:txBody>
      </p:sp>
      <p:sp>
        <p:nvSpPr>
          <p:cNvPr id="9" name="Shape 6"/>
          <p:cNvSpPr/>
          <p:nvPr/>
        </p:nvSpPr>
        <p:spPr>
          <a:xfrm>
            <a:off x="640080" y="1645920"/>
            <a:ext cx="2011680" cy="3749040"/>
          </a:xfrm>
          <a:prstGeom prst="roundRect">
            <a:avLst>
              <a:gd name="adj" fmla="val 2727"/>
            </a:avLst>
          </a:prstGeom>
          <a:solidFill>
            <a:srgbClr val="12394D"/>
          </a:solidFill>
          <a:ln w="12700">
            <a:solidFill>
              <a:srgbClr val="12394D"/>
            </a:solidFill>
            <a:prstDash val="solid"/>
          </a:ln>
        </p:spPr>
        <p:txBody>
          <a:bodyPr/>
          <a:lstStyle/>
          <a:p>
            <a:endParaRPr lang="en-US"/>
          </a:p>
        </p:txBody>
      </p:sp>
      <p:sp>
        <p:nvSpPr>
          <p:cNvPr id="10" name="Text 7"/>
          <p:cNvSpPr txBox="1"/>
          <p:nvPr/>
        </p:nvSpPr>
        <p:spPr>
          <a:xfrm>
            <a:off x="841248" y="1810512"/>
            <a:ext cx="1645920" cy="411480"/>
          </a:xfrm>
          <a:prstGeom prst="rect">
            <a:avLst/>
          </a:prstGeom>
          <a:noFill/>
          <a:ln/>
        </p:spPr>
        <p:txBody>
          <a:bodyPr wrap="square" lIns="0" tIns="0" rIns="0" bIns="0" rtlCol="0" anchor="t"/>
          <a:lstStyle/>
          <a:p>
            <a:pPr marL="0" indent="0">
              <a:buNone/>
            </a:pPr>
            <a:r>
              <a:rPr lang="en-US" sz="1600" b="1" dirty="0">
                <a:solidFill>
                  <a:srgbClr val="FFFFFF"/>
                </a:solidFill>
                <a:latin typeface="Cambria" pitchFamily="34" charset="0"/>
                <a:ea typeface="Cambria" pitchFamily="34" charset="-122"/>
                <a:cs typeface="Cambria" pitchFamily="34" charset="-120"/>
              </a:rPr>
              <a:t>Safety</a:t>
            </a:r>
            <a:endParaRPr lang="en-US" sz="1600" dirty="0"/>
          </a:p>
        </p:txBody>
      </p:sp>
      <p:sp>
        <p:nvSpPr>
          <p:cNvPr id="11" name="Text 8"/>
          <p:cNvSpPr txBox="1"/>
          <p:nvPr/>
        </p:nvSpPr>
        <p:spPr>
          <a:xfrm>
            <a:off x="841248" y="2286000"/>
            <a:ext cx="1645920" cy="594360"/>
          </a:xfrm>
          <a:prstGeom prst="rect">
            <a:avLst/>
          </a:prstGeom>
          <a:noFill/>
          <a:ln/>
        </p:spPr>
        <p:txBody>
          <a:bodyPr wrap="square" lIns="0" tIns="0" rIns="0" bIns="0" rtlCol="0" anchor="t"/>
          <a:lstStyle/>
          <a:p>
            <a:pPr marL="0" indent="0">
              <a:buNone/>
            </a:pPr>
            <a:r>
              <a:rPr lang="en-US" sz="1250" i="1" dirty="0">
                <a:solidFill>
                  <a:srgbClr val="8FD3C9"/>
                </a:solidFill>
                <a:latin typeface="Calibri" pitchFamily="34" charset="0"/>
                <a:ea typeface="Calibri" pitchFamily="34" charset="-122"/>
                <a:cs typeface="Calibri" pitchFamily="34" charset="-120"/>
              </a:rPr>
              <a:t>Fails: constraint violations</a:t>
            </a:r>
            <a:endParaRPr lang="en-US" sz="1250" dirty="0"/>
          </a:p>
        </p:txBody>
      </p:sp>
      <p:sp>
        <p:nvSpPr>
          <p:cNvPr id="12" name="Text 9"/>
          <p:cNvSpPr txBox="1"/>
          <p:nvPr/>
        </p:nvSpPr>
        <p:spPr>
          <a:xfrm>
            <a:off x="841248" y="2926080"/>
            <a:ext cx="1645920" cy="1234440"/>
          </a:xfrm>
          <a:prstGeom prst="rect">
            <a:avLst/>
          </a:prstGeom>
          <a:noFill/>
          <a:ln/>
        </p:spPr>
        <p:txBody>
          <a:bodyPr wrap="square" lIns="0" tIns="0" rIns="0" bIns="0" rtlCol="0" anchor="t"/>
          <a:lstStyle/>
          <a:p>
            <a:pPr marL="0" indent="0">
              <a:buNone/>
            </a:pPr>
            <a:r>
              <a:rPr lang="en-US" sz="1250" dirty="0">
                <a:solidFill>
                  <a:srgbClr val="FFFFFF"/>
                </a:solidFill>
                <a:latin typeface="Calibri" pitchFamily="34" charset="0"/>
                <a:ea typeface="Calibri" pitchFamily="34" charset="-122"/>
                <a:cs typeface="Calibri" pitchFamily="34" charset="-120"/>
              </a:rPr>
              <a:t>CMDP, CVaR, barrier certificates, shields</a:t>
            </a:r>
            <a:endParaRPr lang="en-US" sz="1250" dirty="0"/>
          </a:p>
        </p:txBody>
      </p:sp>
      <p:sp>
        <p:nvSpPr>
          <p:cNvPr id="13" name="Text 10"/>
          <p:cNvSpPr txBox="1"/>
          <p:nvPr/>
        </p:nvSpPr>
        <p:spPr>
          <a:xfrm>
            <a:off x="841248" y="4251960"/>
            <a:ext cx="1645920" cy="1005840"/>
          </a:xfrm>
          <a:prstGeom prst="rect">
            <a:avLst/>
          </a:prstGeom>
          <a:noFill/>
          <a:ln/>
        </p:spPr>
        <p:txBody>
          <a:bodyPr wrap="square" lIns="0" tIns="0" rIns="0" bIns="0" rtlCol="0" anchor="t"/>
          <a:lstStyle/>
          <a:p>
            <a:pPr marL="0" indent="0">
              <a:buNone/>
            </a:pPr>
            <a:r>
              <a:rPr lang="en-US" sz="1200" dirty="0">
                <a:solidFill>
                  <a:srgbClr val="C3D3DD"/>
                </a:solidFill>
                <a:latin typeface="Calibri" pitchFamily="34" charset="0"/>
                <a:ea typeface="Calibri" pitchFamily="34" charset="-122"/>
                <a:cs typeface="Calibri" pitchFamily="34" charset="-120"/>
              </a:rPr>
              <a:t>e.g., SafeSlice; 2OffRAN (offline + OPE)</a:t>
            </a:r>
            <a:endParaRPr lang="en-US" sz="1200" dirty="0"/>
          </a:p>
        </p:txBody>
      </p:sp>
      <p:sp>
        <p:nvSpPr>
          <p:cNvPr id="14" name="Shape 11"/>
          <p:cNvSpPr/>
          <p:nvPr/>
        </p:nvSpPr>
        <p:spPr>
          <a:xfrm>
            <a:off x="2857500" y="1645920"/>
            <a:ext cx="2011680" cy="3749040"/>
          </a:xfrm>
          <a:prstGeom prst="roundRect">
            <a:avLst>
              <a:gd name="adj" fmla="val 2727"/>
            </a:avLst>
          </a:prstGeom>
          <a:solidFill>
            <a:srgbClr val="F0F5F7"/>
          </a:solidFill>
          <a:ln w="12700">
            <a:solidFill>
              <a:srgbClr val="F0F5F7"/>
            </a:solidFill>
            <a:prstDash val="solid"/>
          </a:ln>
        </p:spPr>
        <p:txBody>
          <a:bodyPr/>
          <a:lstStyle/>
          <a:p>
            <a:endParaRPr lang="en-US"/>
          </a:p>
        </p:txBody>
      </p:sp>
      <p:sp>
        <p:nvSpPr>
          <p:cNvPr id="15" name="Text 12"/>
          <p:cNvSpPr txBox="1"/>
          <p:nvPr/>
        </p:nvSpPr>
        <p:spPr>
          <a:xfrm>
            <a:off x="3058668" y="1810512"/>
            <a:ext cx="1645920" cy="411480"/>
          </a:xfrm>
          <a:prstGeom prst="rect">
            <a:avLst/>
          </a:prstGeom>
          <a:noFill/>
          <a:ln/>
        </p:spPr>
        <p:txBody>
          <a:bodyPr wrap="square" lIns="0" tIns="0" rIns="0" bIns="0" rtlCol="0" anchor="t"/>
          <a:lstStyle/>
          <a:p>
            <a:pPr marL="0" indent="0">
              <a:buNone/>
            </a:pPr>
            <a:r>
              <a:rPr lang="en-US" sz="1600" b="1" dirty="0">
                <a:solidFill>
                  <a:srgbClr val="12394D"/>
                </a:solidFill>
                <a:latin typeface="Cambria" pitchFamily="34" charset="0"/>
                <a:ea typeface="Cambria" pitchFamily="34" charset="-122"/>
                <a:cs typeface="Cambria" pitchFamily="34" charset="-120"/>
              </a:rPr>
              <a:t>Fairness</a:t>
            </a:r>
            <a:endParaRPr lang="en-US" sz="1600" dirty="0"/>
          </a:p>
        </p:txBody>
      </p:sp>
      <p:sp>
        <p:nvSpPr>
          <p:cNvPr id="16" name="Text 13"/>
          <p:cNvSpPr txBox="1"/>
          <p:nvPr/>
        </p:nvSpPr>
        <p:spPr>
          <a:xfrm>
            <a:off x="3058668" y="2286000"/>
            <a:ext cx="1645920" cy="594360"/>
          </a:xfrm>
          <a:prstGeom prst="rect">
            <a:avLst/>
          </a:prstGeom>
          <a:noFill/>
          <a:ln/>
        </p:spPr>
        <p:txBody>
          <a:bodyPr wrap="square" lIns="0" tIns="0" rIns="0" bIns="0" rtlCol="0" anchor="t"/>
          <a:lstStyle/>
          <a:p>
            <a:pPr marL="0" indent="0">
              <a:buNone/>
            </a:pPr>
            <a:r>
              <a:rPr lang="en-US" sz="1250" i="1" dirty="0">
                <a:solidFill>
                  <a:srgbClr val="1A8A99"/>
                </a:solidFill>
                <a:latin typeface="Calibri" pitchFamily="34" charset="0"/>
                <a:ea typeface="Calibri" pitchFamily="34" charset="-122"/>
                <a:cs typeface="Calibri" pitchFamily="34" charset="-120"/>
              </a:rPr>
              <a:t>Fails: starved edge UEs or slices</a:t>
            </a:r>
            <a:endParaRPr lang="en-US" sz="1250" dirty="0"/>
          </a:p>
        </p:txBody>
      </p:sp>
      <p:sp>
        <p:nvSpPr>
          <p:cNvPr id="17" name="Text 14"/>
          <p:cNvSpPr txBox="1"/>
          <p:nvPr/>
        </p:nvSpPr>
        <p:spPr>
          <a:xfrm>
            <a:off x="3058668" y="2926080"/>
            <a:ext cx="1645920" cy="1234440"/>
          </a:xfrm>
          <a:prstGeom prst="rect">
            <a:avLst/>
          </a:prstGeom>
          <a:noFill/>
          <a:ln/>
        </p:spPr>
        <p:txBody>
          <a:bodyPr wrap="square" lIns="0" tIns="0" rIns="0" bIns="0" rtlCol="0" anchor="t"/>
          <a:lstStyle/>
          <a:p>
            <a:pPr marL="0" indent="0">
              <a:buNone/>
            </a:pPr>
            <a:r>
              <a:rPr lang="en-US" sz="1250" dirty="0">
                <a:solidFill>
                  <a:srgbClr val="2A3F4C"/>
                </a:solidFill>
                <a:latin typeface="Calibri" pitchFamily="34" charset="0"/>
                <a:ea typeface="Calibri" pitchFamily="34" charset="-122"/>
                <a:cs typeface="Calibri" pitchFamily="34" charset="-120"/>
              </a:rPr>
              <a:t>α-fairness, Jain index, welfare objectives</a:t>
            </a:r>
            <a:endParaRPr lang="en-US" sz="1250" dirty="0"/>
          </a:p>
        </p:txBody>
      </p:sp>
      <p:sp>
        <p:nvSpPr>
          <p:cNvPr id="18" name="Text 15"/>
          <p:cNvSpPr txBox="1"/>
          <p:nvPr/>
        </p:nvSpPr>
        <p:spPr>
          <a:xfrm>
            <a:off x="3058668" y="4251960"/>
            <a:ext cx="1645920" cy="1005840"/>
          </a:xfrm>
          <a:prstGeom prst="rect">
            <a:avLst/>
          </a:prstGeom>
          <a:noFill/>
          <a:ln/>
        </p:spPr>
        <p:txBody>
          <a:bodyPr wrap="square" lIns="0" tIns="0" rIns="0" bIns="0" rtlCol="0" anchor="t"/>
          <a:lstStyle/>
          <a:p>
            <a:pPr marL="0" indent="0">
              <a:buNone/>
            </a:pPr>
            <a:r>
              <a:rPr lang="en-US" sz="1200" dirty="0">
                <a:solidFill>
                  <a:srgbClr val="5F7A8A"/>
                </a:solidFill>
                <a:latin typeface="Calibri" pitchFamily="34" charset="0"/>
                <a:ea typeface="Calibri" pitchFamily="34" charset="-122"/>
                <a:cs typeface="Calibri" pitchFamily="34" charset="-120"/>
              </a:rPr>
              <a:t>e.g., PPO vs TD3: throughput vs evenness</a:t>
            </a:r>
            <a:endParaRPr lang="en-US" sz="1200" dirty="0"/>
          </a:p>
        </p:txBody>
      </p:sp>
      <p:sp>
        <p:nvSpPr>
          <p:cNvPr id="19" name="Shape 16"/>
          <p:cNvSpPr/>
          <p:nvPr/>
        </p:nvSpPr>
        <p:spPr>
          <a:xfrm>
            <a:off x="5074920" y="1645920"/>
            <a:ext cx="2011680" cy="3749040"/>
          </a:xfrm>
          <a:prstGeom prst="roundRect">
            <a:avLst>
              <a:gd name="adj" fmla="val 2727"/>
            </a:avLst>
          </a:prstGeom>
          <a:solidFill>
            <a:srgbClr val="F0F5F7"/>
          </a:solidFill>
          <a:ln w="12700">
            <a:solidFill>
              <a:srgbClr val="F0F5F7"/>
            </a:solidFill>
            <a:prstDash val="solid"/>
          </a:ln>
        </p:spPr>
        <p:txBody>
          <a:bodyPr/>
          <a:lstStyle/>
          <a:p>
            <a:endParaRPr lang="en-US"/>
          </a:p>
        </p:txBody>
      </p:sp>
      <p:sp>
        <p:nvSpPr>
          <p:cNvPr id="20" name="Text 17"/>
          <p:cNvSpPr txBox="1"/>
          <p:nvPr/>
        </p:nvSpPr>
        <p:spPr>
          <a:xfrm>
            <a:off x="5276088" y="1810512"/>
            <a:ext cx="1645920" cy="411480"/>
          </a:xfrm>
          <a:prstGeom prst="rect">
            <a:avLst/>
          </a:prstGeom>
          <a:noFill/>
          <a:ln/>
        </p:spPr>
        <p:txBody>
          <a:bodyPr wrap="square" lIns="0" tIns="0" rIns="0" bIns="0" rtlCol="0" anchor="t"/>
          <a:lstStyle/>
          <a:p>
            <a:pPr marL="0" indent="0">
              <a:buNone/>
            </a:pPr>
            <a:r>
              <a:rPr lang="en-US" sz="1600" b="1" dirty="0">
                <a:solidFill>
                  <a:srgbClr val="12394D"/>
                </a:solidFill>
                <a:latin typeface="Cambria" pitchFamily="34" charset="0"/>
                <a:ea typeface="Cambria" pitchFamily="34" charset="-122"/>
                <a:cs typeface="Cambria" pitchFamily="34" charset="-120"/>
              </a:rPr>
              <a:t>Explainability</a:t>
            </a:r>
            <a:endParaRPr lang="en-US" sz="1600" dirty="0"/>
          </a:p>
        </p:txBody>
      </p:sp>
      <p:sp>
        <p:nvSpPr>
          <p:cNvPr id="21" name="Text 18"/>
          <p:cNvSpPr txBox="1"/>
          <p:nvPr/>
        </p:nvSpPr>
        <p:spPr>
          <a:xfrm>
            <a:off x="5276088" y="2286000"/>
            <a:ext cx="1645920" cy="594360"/>
          </a:xfrm>
          <a:prstGeom prst="rect">
            <a:avLst/>
          </a:prstGeom>
          <a:noFill/>
          <a:ln/>
        </p:spPr>
        <p:txBody>
          <a:bodyPr wrap="square" lIns="0" tIns="0" rIns="0" bIns="0" rtlCol="0" anchor="t"/>
          <a:lstStyle/>
          <a:p>
            <a:pPr marL="0" indent="0">
              <a:buNone/>
            </a:pPr>
            <a:r>
              <a:rPr lang="en-US" sz="1250" i="1" dirty="0">
                <a:solidFill>
                  <a:srgbClr val="1A8A99"/>
                </a:solidFill>
                <a:latin typeface="Calibri" pitchFamily="34" charset="0"/>
                <a:ea typeface="Calibri" pitchFamily="34" charset="-122"/>
                <a:cs typeface="Calibri" pitchFamily="34" charset="-120"/>
              </a:rPr>
              <a:t>Fails: no accountability</a:t>
            </a:r>
            <a:endParaRPr lang="en-US" sz="1250" dirty="0"/>
          </a:p>
        </p:txBody>
      </p:sp>
      <p:sp>
        <p:nvSpPr>
          <p:cNvPr id="22" name="Text 19"/>
          <p:cNvSpPr txBox="1"/>
          <p:nvPr/>
        </p:nvSpPr>
        <p:spPr>
          <a:xfrm>
            <a:off x="5276088" y="2926080"/>
            <a:ext cx="1645920" cy="1234440"/>
          </a:xfrm>
          <a:prstGeom prst="rect">
            <a:avLst/>
          </a:prstGeom>
          <a:noFill/>
          <a:ln/>
        </p:spPr>
        <p:txBody>
          <a:bodyPr wrap="square" lIns="0" tIns="0" rIns="0" bIns="0" rtlCol="0" anchor="t"/>
          <a:lstStyle/>
          <a:p>
            <a:pPr marL="0" indent="0">
              <a:buNone/>
            </a:pPr>
            <a:r>
              <a:rPr lang="en-US" sz="1250" dirty="0">
                <a:solidFill>
                  <a:srgbClr val="2A3F4C"/>
                </a:solidFill>
                <a:latin typeface="Calibri" pitchFamily="34" charset="0"/>
                <a:ea typeface="Calibri" pitchFamily="34" charset="-122"/>
                <a:cs typeface="Calibri" pitchFamily="34" charset="-120"/>
              </a:rPr>
              <a:t>Attribution, explanation-guided training, symbolic policies</a:t>
            </a:r>
            <a:endParaRPr lang="en-US" sz="1250" dirty="0"/>
          </a:p>
        </p:txBody>
      </p:sp>
      <p:sp>
        <p:nvSpPr>
          <p:cNvPr id="23" name="Text 20"/>
          <p:cNvSpPr txBox="1"/>
          <p:nvPr/>
        </p:nvSpPr>
        <p:spPr>
          <a:xfrm>
            <a:off x="5276088" y="4251960"/>
            <a:ext cx="1645920" cy="1005840"/>
          </a:xfrm>
          <a:prstGeom prst="rect">
            <a:avLst/>
          </a:prstGeom>
          <a:noFill/>
          <a:ln/>
        </p:spPr>
        <p:txBody>
          <a:bodyPr wrap="square" lIns="0" tIns="0" rIns="0" bIns="0" rtlCol="0" anchor="t"/>
          <a:lstStyle/>
          <a:p>
            <a:pPr marL="0" indent="0">
              <a:buNone/>
            </a:pPr>
            <a:r>
              <a:rPr lang="en-US" sz="1200" dirty="0">
                <a:solidFill>
                  <a:srgbClr val="5F7A8A"/>
                </a:solidFill>
                <a:latin typeface="Calibri" pitchFamily="34" charset="0"/>
                <a:ea typeface="Calibri" pitchFamily="34" charset="-122"/>
                <a:cs typeface="Calibri" pitchFamily="34" charset="-120"/>
              </a:rPr>
              <a:t>e.g., EXPLORA, SymbXRL</a:t>
            </a:r>
            <a:endParaRPr lang="en-US" sz="1200" dirty="0"/>
          </a:p>
        </p:txBody>
      </p:sp>
      <p:sp>
        <p:nvSpPr>
          <p:cNvPr id="24" name="Shape 21"/>
          <p:cNvSpPr/>
          <p:nvPr/>
        </p:nvSpPr>
        <p:spPr>
          <a:xfrm>
            <a:off x="7292340" y="1645920"/>
            <a:ext cx="2011680" cy="3749040"/>
          </a:xfrm>
          <a:prstGeom prst="roundRect">
            <a:avLst>
              <a:gd name="adj" fmla="val 2727"/>
            </a:avLst>
          </a:prstGeom>
          <a:solidFill>
            <a:srgbClr val="F0F5F7"/>
          </a:solidFill>
          <a:ln w="12700">
            <a:solidFill>
              <a:srgbClr val="F0F5F7"/>
            </a:solidFill>
            <a:prstDash val="solid"/>
          </a:ln>
        </p:spPr>
        <p:txBody>
          <a:bodyPr/>
          <a:lstStyle/>
          <a:p>
            <a:endParaRPr lang="en-US"/>
          </a:p>
        </p:txBody>
      </p:sp>
      <p:sp>
        <p:nvSpPr>
          <p:cNvPr id="25" name="Text 22"/>
          <p:cNvSpPr txBox="1"/>
          <p:nvPr/>
        </p:nvSpPr>
        <p:spPr>
          <a:xfrm>
            <a:off x="7493508" y="1810512"/>
            <a:ext cx="1645920" cy="411480"/>
          </a:xfrm>
          <a:prstGeom prst="rect">
            <a:avLst/>
          </a:prstGeom>
          <a:noFill/>
          <a:ln/>
        </p:spPr>
        <p:txBody>
          <a:bodyPr wrap="square" lIns="0" tIns="0" rIns="0" bIns="0" rtlCol="0" anchor="t"/>
          <a:lstStyle/>
          <a:p>
            <a:pPr marL="0" indent="0">
              <a:buNone/>
            </a:pPr>
            <a:r>
              <a:rPr lang="en-US" sz="1600" b="1" dirty="0">
                <a:solidFill>
                  <a:srgbClr val="12394D"/>
                </a:solidFill>
                <a:latin typeface="Cambria" pitchFamily="34" charset="0"/>
                <a:ea typeface="Cambria" pitchFamily="34" charset="-122"/>
                <a:cs typeface="Cambria" pitchFamily="34" charset="-120"/>
              </a:rPr>
              <a:t>Robustness</a:t>
            </a:r>
            <a:endParaRPr lang="en-US" sz="1600" dirty="0"/>
          </a:p>
        </p:txBody>
      </p:sp>
      <p:sp>
        <p:nvSpPr>
          <p:cNvPr id="26" name="Text 23"/>
          <p:cNvSpPr txBox="1"/>
          <p:nvPr/>
        </p:nvSpPr>
        <p:spPr>
          <a:xfrm>
            <a:off x="7493508" y="2286000"/>
            <a:ext cx="1645920" cy="594360"/>
          </a:xfrm>
          <a:prstGeom prst="rect">
            <a:avLst/>
          </a:prstGeom>
          <a:noFill/>
          <a:ln/>
        </p:spPr>
        <p:txBody>
          <a:bodyPr wrap="square" lIns="0" tIns="0" rIns="0" bIns="0" rtlCol="0" anchor="t"/>
          <a:lstStyle/>
          <a:p>
            <a:pPr marL="0" indent="0">
              <a:buNone/>
            </a:pPr>
            <a:r>
              <a:rPr lang="en-US" sz="1250" i="1" dirty="0">
                <a:solidFill>
                  <a:srgbClr val="1A8A99"/>
                </a:solidFill>
                <a:latin typeface="Calibri" pitchFamily="34" charset="0"/>
                <a:ea typeface="Calibri" pitchFamily="34" charset="-122"/>
                <a:cs typeface="Calibri" pitchFamily="34" charset="-120"/>
              </a:rPr>
              <a:t>Fails: shift, poisoned telemetry</a:t>
            </a:r>
            <a:endParaRPr lang="en-US" sz="1250" dirty="0"/>
          </a:p>
        </p:txBody>
      </p:sp>
      <p:sp>
        <p:nvSpPr>
          <p:cNvPr id="27" name="Text 24"/>
          <p:cNvSpPr txBox="1"/>
          <p:nvPr/>
        </p:nvSpPr>
        <p:spPr>
          <a:xfrm>
            <a:off x="7493508" y="2926080"/>
            <a:ext cx="1645920" cy="1234440"/>
          </a:xfrm>
          <a:prstGeom prst="rect">
            <a:avLst/>
          </a:prstGeom>
          <a:noFill/>
          <a:ln/>
        </p:spPr>
        <p:txBody>
          <a:bodyPr wrap="square" lIns="0" tIns="0" rIns="0" bIns="0" rtlCol="0" anchor="t"/>
          <a:lstStyle/>
          <a:p>
            <a:pPr marL="0" indent="0">
              <a:buNone/>
            </a:pPr>
            <a:r>
              <a:rPr lang="en-US" sz="1250" dirty="0">
                <a:solidFill>
                  <a:srgbClr val="2A3F4C"/>
                </a:solidFill>
                <a:latin typeface="Calibri" pitchFamily="34" charset="0"/>
                <a:ea typeface="Calibri" pitchFamily="34" charset="-122"/>
                <a:cs typeface="Calibri" pitchFamily="34" charset="-120"/>
              </a:rPr>
              <a:t>Randomisation, adversarial training, anomaly detection</a:t>
            </a:r>
            <a:endParaRPr lang="en-US" sz="1250" dirty="0"/>
          </a:p>
        </p:txBody>
      </p:sp>
      <p:sp>
        <p:nvSpPr>
          <p:cNvPr id="28" name="Text 25"/>
          <p:cNvSpPr txBox="1"/>
          <p:nvPr/>
        </p:nvSpPr>
        <p:spPr>
          <a:xfrm>
            <a:off x="7493508" y="4251960"/>
            <a:ext cx="1645920" cy="1005840"/>
          </a:xfrm>
          <a:prstGeom prst="rect">
            <a:avLst/>
          </a:prstGeom>
          <a:noFill/>
          <a:ln/>
        </p:spPr>
        <p:txBody>
          <a:bodyPr wrap="square" lIns="0" tIns="0" rIns="0" bIns="0" rtlCol="0" anchor="t"/>
          <a:lstStyle/>
          <a:p>
            <a:pPr marL="0" indent="0">
              <a:buNone/>
            </a:pPr>
            <a:r>
              <a:rPr lang="en-US" sz="1200" dirty="0">
                <a:solidFill>
                  <a:srgbClr val="5F7A8A"/>
                </a:solidFill>
                <a:latin typeface="Calibri" pitchFamily="34" charset="0"/>
                <a:ea typeface="Calibri" pitchFamily="34" charset="-122"/>
                <a:cs typeface="Calibri" pitchFamily="34" charset="-120"/>
              </a:rPr>
              <a:t>e.g., Malicious-xApp attacks</a:t>
            </a:r>
            <a:endParaRPr lang="en-US" sz="1200" dirty="0"/>
          </a:p>
        </p:txBody>
      </p:sp>
      <p:sp>
        <p:nvSpPr>
          <p:cNvPr id="29" name="Shape 26"/>
          <p:cNvSpPr/>
          <p:nvPr/>
        </p:nvSpPr>
        <p:spPr>
          <a:xfrm>
            <a:off x="9509760" y="1645920"/>
            <a:ext cx="2011680" cy="3749040"/>
          </a:xfrm>
          <a:prstGeom prst="roundRect">
            <a:avLst>
              <a:gd name="adj" fmla="val 2727"/>
            </a:avLst>
          </a:prstGeom>
          <a:solidFill>
            <a:srgbClr val="F0F5F7"/>
          </a:solidFill>
          <a:ln w="12700">
            <a:solidFill>
              <a:srgbClr val="F0F5F7"/>
            </a:solidFill>
            <a:prstDash val="solid"/>
          </a:ln>
        </p:spPr>
        <p:txBody>
          <a:bodyPr/>
          <a:lstStyle/>
          <a:p>
            <a:endParaRPr lang="en-US"/>
          </a:p>
        </p:txBody>
      </p:sp>
      <p:sp>
        <p:nvSpPr>
          <p:cNvPr id="30" name="Text 27"/>
          <p:cNvSpPr txBox="1"/>
          <p:nvPr/>
        </p:nvSpPr>
        <p:spPr>
          <a:xfrm>
            <a:off x="9710928" y="1810512"/>
            <a:ext cx="1645920" cy="411480"/>
          </a:xfrm>
          <a:prstGeom prst="rect">
            <a:avLst/>
          </a:prstGeom>
          <a:noFill/>
          <a:ln/>
        </p:spPr>
        <p:txBody>
          <a:bodyPr wrap="square" lIns="0" tIns="0" rIns="0" bIns="0" rtlCol="0" anchor="t"/>
          <a:lstStyle/>
          <a:p>
            <a:pPr marL="0" indent="0">
              <a:buNone/>
            </a:pPr>
            <a:r>
              <a:rPr lang="en-US" sz="1600" b="1" dirty="0">
                <a:solidFill>
                  <a:srgbClr val="12394D"/>
                </a:solidFill>
                <a:latin typeface="Cambria" pitchFamily="34" charset="0"/>
                <a:ea typeface="Cambria" pitchFamily="34" charset="-122"/>
                <a:cs typeface="Cambria" pitchFamily="34" charset="-120"/>
              </a:rPr>
              <a:t>Verification</a:t>
            </a:r>
            <a:endParaRPr lang="en-US" sz="1600" dirty="0"/>
          </a:p>
        </p:txBody>
      </p:sp>
      <p:sp>
        <p:nvSpPr>
          <p:cNvPr id="31" name="Text 28"/>
          <p:cNvSpPr txBox="1"/>
          <p:nvPr/>
        </p:nvSpPr>
        <p:spPr>
          <a:xfrm>
            <a:off x="9710928" y="2286000"/>
            <a:ext cx="1645920" cy="594360"/>
          </a:xfrm>
          <a:prstGeom prst="rect">
            <a:avLst/>
          </a:prstGeom>
          <a:noFill/>
          <a:ln/>
        </p:spPr>
        <p:txBody>
          <a:bodyPr wrap="square" lIns="0" tIns="0" rIns="0" bIns="0" rtlCol="0" anchor="t"/>
          <a:lstStyle/>
          <a:p>
            <a:pPr marL="0" indent="0">
              <a:buNone/>
            </a:pPr>
            <a:r>
              <a:rPr lang="en-US" sz="1250" i="1" dirty="0">
                <a:solidFill>
                  <a:srgbClr val="1A8A99"/>
                </a:solidFill>
                <a:latin typeface="Calibri" pitchFamily="34" charset="0"/>
                <a:ea typeface="Calibri" pitchFamily="34" charset="-122"/>
                <a:cs typeface="Calibri" pitchFamily="34" charset="-120"/>
              </a:rPr>
              <a:t>Fails: undetected runtime faults</a:t>
            </a:r>
            <a:endParaRPr lang="en-US" sz="1250" dirty="0"/>
          </a:p>
        </p:txBody>
      </p:sp>
      <p:sp>
        <p:nvSpPr>
          <p:cNvPr id="32" name="Text 29"/>
          <p:cNvSpPr txBox="1"/>
          <p:nvPr/>
        </p:nvSpPr>
        <p:spPr>
          <a:xfrm>
            <a:off x="9710928" y="2926080"/>
            <a:ext cx="1645920" cy="1234440"/>
          </a:xfrm>
          <a:prstGeom prst="rect">
            <a:avLst/>
          </a:prstGeom>
          <a:noFill/>
          <a:ln/>
        </p:spPr>
        <p:txBody>
          <a:bodyPr wrap="square" lIns="0" tIns="0" rIns="0" bIns="0" rtlCol="0" anchor="t"/>
          <a:lstStyle/>
          <a:p>
            <a:pPr marL="0" indent="0">
              <a:buNone/>
            </a:pPr>
            <a:r>
              <a:rPr lang="en-US" sz="1250" dirty="0">
                <a:solidFill>
                  <a:srgbClr val="2A3F4C"/>
                </a:solidFill>
                <a:latin typeface="Calibri" pitchFamily="34" charset="0"/>
                <a:ea typeface="Calibri" pitchFamily="34" charset="-122"/>
                <a:cs typeface="Calibri" pitchFamily="34" charset="-120"/>
              </a:rPr>
              <a:t>Formal checks, runtime shields, fallback, conflict detection</a:t>
            </a:r>
            <a:endParaRPr lang="en-US" sz="1250" dirty="0"/>
          </a:p>
        </p:txBody>
      </p:sp>
      <p:sp>
        <p:nvSpPr>
          <p:cNvPr id="33" name="Text 30"/>
          <p:cNvSpPr txBox="1"/>
          <p:nvPr/>
        </p:nvSpPr>
        <p:spPr>
          <a:xfrm>
            <a:off x="9710928" y="4251960"/>
            <a:ext cx="1645920" cy="1005840"/>
          </a:xfrm>
          <a:prstGeom prst="rect">
            <a:avLst/>
          </a:prstGeom>
          <a:noFill/>
          <a:ln/>
        </p:spPr>
        <p:txBody>
          <a:bodyPr wrap="square" lIns="0" tIns="0" rIns="0" bIns="0" rtlCol="0" anchor="t"/>
          <a:lstStyle/>
          <a:p>
            <a:pPr marL="0" indent="0">
              <a:buNone/>
            </a:pPr>
            <a:r>
              <a:rPr lang="en-US" sz="1200" dirty="0">
                <a:solidFill>
                  <a:srgbClr val="5F7A8A"/>
                </a:solidFill>
                <a:latin typeface="Calibri" pitchFamily="34" charset="0"/>
                <a:ea typeface="Calibri" pitchFamily="34" charset="-122"/>
                <a:cs typeface="Calibri" pitchFamily="34" charset="-120"/>
              </a:rPr>
              <a:t>e.g., PRISM-checked cell-switching xApp</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320040"/>
          </a:xfrm>
          <a:prstGeom prst="rect">
            <a:avLst/>
          </a:prstGeom>
          <a:noFill/>
          <a:ln/>
        </p:spPr>
        <p:txBody>
          <a:bodyPr wrap="square" lIns="0" tIns="0" rIns="0" bIns="0" rtlCol="0" anchor="t"/>
          <a:lstStyle/>
          <a:p>
            <a:pPr marL="0" indent="0">
              <a:buNone/>
            </a:pPr>
            <a:r>
              <a:rPr lang="en-US" sz="1400" b="1" kern="0" spc="200" dirty="0">
                <a:solidFill>
                  <a:srgbClr val="2BB3A3"/>
                </a:solidFill>
                <a:latin typeface="Calibri" pitchFamily="34" charset="0"/>
                <a:ea typeface="Calibri" pitchFamily="34" charset="-122"/>
                <a:cs typeface="Calibri" pitchFamily="34" charset="-120"/>
              </a:rPr>
              <a:t>Survey 2 · Lu et al. · DRL for 6G AI-RAN</a:t>
            </a:r>
            <a:endParaRPr lang="en-US" sz="1400" dirty="0"/>
          </a:p>
        </p:txBody>
      </p:sp>
      <p:sp>
        <p:nvSpPr>
          <p:cNvPr id="3" name="Text 1"/>
          <p:cNvSpPr txBox="1"/>
          <p:nvPr/>
        </p:nvSpPr>
        <p:spPr>
          <a:xfrm>
            <a:off x="640080" y="786384"/>
            <a:ext cx="10881360" cy="640080"/>
          </a:xfrm>
          <a:prstGeom prst="rect">
            <a:avLst/>
          </a:prstGeom>
          <a:noFill/>
          <a:ln/>
        </p:spPr>
        <p:txBody>
          <a:bodyPr wrap="square" lIns="0" tIns="0" rIns="0" bIns="0" rtlCol="0" anchor="t">
            <a:normAutofit/>
          </a:bodyPr>
          <a:lstStyle/>
          <a:p>
            <a:pPr marL="0" indent="0">
              <a:buNone/>
            </a:pPr>
            <a:r>
              <a:rPr lang="en-US" sz="2700" b="1" dirty="0">
                <a:solidFill>
                  <a:srgbClr val="12394D"/>
                </a:solidFill>
                <a:latin typeface="Cambria" pitchFamily="34" charset="0"/>
                <a:ea typeface="Cambria" pitchFamily="34" charset="-122"/>
                <a:cs typeface="Cambria" pitchFamily="34" charset="-120"/>
              </a:rPr>
              <a:t>From training to deployment</a:t>
            </a:r>
            <a:endParaRPr lang="en-US" sz="2700" dirty="0"/>
          </a:p>
        </p:txBody>
      </p:sp>
      <p:sp>
        <p:nvSpPr>
          <p:cNvPr id="4" name="Shape 2"/>
          <p:cNvSpPr/>
          <p:nvPr/>
        </p:nvSpPr>
        <p:spPr>
          <a:xfrm>
            <a:off x="640080" y="5596128"/>
            <a:ext cx="10881360" cy="502920"/>
          </a:xfrm>
          <a:prstGeom prst="roundRect">
            <a:avLst>
              <a:gd name="adj" fmla="val 10909"/>
            </a:avLst>
          </a:prstGeom>
          <a:solidFill>
            <a:srgbClr val="E6F4F2"/>
          </a:solidFill>
          <a:ln w="12700">
            <a:solidFill>
              <a:srgbClr val="E6F4F2"/>
            </a:solidFill>
            <a:prstDash val="solid"/>
          </a:ln>
        </p:spPr>
        <p:txBody>
          <a:bodyPr/>
          <a:lstStyle/>
          <a:p>
            <a:endParaRPr lang="en-US"/>
          </a:p>
        </p:txBody>
      </p:sp>
      <p:sp>
        <p:nvSpPr>
          <p:cNvPr id="5" name="Text 3"/>
          <p:cNvSpPr txBox="1"/>
          <p:nvPr/>
        </p:nvSpPr>
        <p:spPr>
          <a:xfrm>
            <a:off x="868680" y="5596128"/>
            <a:ext cx="10469880" cy="502920"/>
          </a:xfrm>
          <a:prstGeom prst="rect">
            <a:avLst/>
          </a:prstGeom>
          <a:noFill/>
          <a:ln/>
        </p:spPr>
        <p:txBody>
          <a:bodyPr wrap="square" lIns="0" tIns="0" rIns="0" bIns="0" rtlCol="0" anchor="ctr"/>
          <a:lstStyle/>
          <a:p>
            <a:pPr marL="0" indent="0">
              <a:buNone/>
            </a:pPr>
            <a:r>
              <a:rPr lang="en-US" sz="1400" b="1" dirty="0">
                <a:solidFill>
                  <a:srgbClr val="1A8A99"/>
                </a:solidFill>
                <a:latin typeface="Calibri" pitchFamily="34" charset="0"/>
                <a:ea typeface="Calibri" pitchFamily="34" charset="-122"/>
                <a:cs typeface="Calibri" pitchFamily="34" charset="-120"/>
              </a:rPr>
              <a:t>Takeaway  </a:t>
            </a:r>
            <a:r>
              <a:rPr lang="en-US" sz="1400" dirty="0">
                <a:solidFill>
                  <a:srgbClr val="12394D"/>
                </a:solidFill>
                <a:latin typeface="Calibri" pitchFamily="34" charset="0"/>
                <a:ea typeface="Calibri" pitchFamily="34" charset="-122"/>
                <a:cs typeface="Calibri" pitchFamily="34" charset="-120"/>
              </a:rPr>
              <a:t>The survey's first research direction: conservative offline RL, then constrained online fine-tuning.</a:t>
            </a:r>
            <a:endParaRPr lang="en-US" sz="1400" dirty="0"/>
          </a:p>
        </p:txBody>
      </p:sp>
      <p:sp>
        <p:nvSpPr>
          <p:cNvPr id="6" name="Text 4"/>
          <p:cNvSpPr txBox="1"/>
          <p:nvPr/>
        </p:nvSpPr>
        <p:spPr>
          <a:xfrm>
            <a:off x="640080" y="6355080"/>
            <a:ext cx="6400800" cy="274320"/>
          </a:xfrm>
          <a:prstGeom prst="rect">
            <a:avLst/>
          </a:prstGeom>
          <a:noFill/>
          <a:ln/>
        </p:spPr>
        <p:txBody>
          <a:bodyPr wrap="square" lIns="0" tIns="0" rIns="0" bIns="0" rtlCol="0" anchor="t"/>
          <a:lstStyle/>
          <a:p>
            <a:pPr marL="0" indent="0">
              <a:buNone/>
            </a:pPr>
            <a:r>
              <a:rPr lang="en-US" sz="1100" dirty="0">
                <a:solidFill>
                  <a:srgbClr val="5F7A8A"/>
                </a:solidFill>
                <a:latin typeface="Calibri" pitchFamily="34" charset="0"/>
                <a:ea typeface="Calibri" pitchFamily="34" charset="-122"/>
                <a:cs typeface="Calibri" pitchFamily="34" charset="-120"/>
              </a:rPr>
              <a:t>RS2M Department · Télécom SudParis · Palaiseau, France</a:t>
            </a:r>
            <a:endParaRPr lang="en-US" sz="1100" dirty="0"/>
          </a:p>
        </p:txBody>
      </p:sp>
      <p:sp>
        <p:nvSpPr>
          <p:cNvPr id="7" name="Text 5"/>
          <p:cNvSpPr txBox="1"/>
          <p:nvPr/>
        </p:nvSpPr>
        <p:spPr>
          <a:xfrm>
            <a:off x="11064240" y="6355080"/>
            <a:ext cx="457200" cy="274320"/>
          </a:xfrm>
          <a:prstGeom prst="rect">
            <a:avLst/>
          </a:prstGeom>
          <a:noFill/>
          <a:ln/>
        </p:spPr>
        <p:txBody>
          <a:bodyPr wrap="square" lIns="0" tIns="0" rIns="0" bIns="0" rtlCol="0" anchor="t"/>
          <a:lstStyle/>
          <a:p>
            <a:pPr marL="0" indent="0" algn="r">
              <a:buNone/>
            </a:pPr>
            <a:r>
              <a:rPr lang="en-US" sz="1100" dirty="0">
                <a:solidFill>
                  <a:srgbClr val="5F7A8A"/>
                </a:solidFill>
                <a:latin typeface="Calibri" pitchFamily="34" charset="0"/>
                <a:ea typeface="Calibri" pitchFamily="34" charset="-122"/>
                <a:cs typeface="Calibri" pitchFamily="34" charset="-120"/>
              </a:rPr>
              <a:t>26</a:t>
            </a:r>
            <a:endParaRPr lang="en-US" sz="1100" dirty="0"/>
          </a:p>
        </p:txBody>
      </p:sp>
      <p:sp>
        <p:nvSpPr>
          <p:cNvPr id="9" name="Shape 6"/>
          <p:cNvSpPr/>
          <p:nvPr/>
        </p:nvSpPr>
        <p:spPr>
          <a:xfrm>
            <a:off x="640080" y="1645920"/>
            <a:ext cx="3474720" cy="1463040"/>
          </a:xfrm>
          <a:prstGeom prst="roundRect">
            <a:avLst>
              <a:gd name="adj" fmla="val 3750"/>
            </a:avLst>
          </a:prstGeom>
          <a:solidFill>
            <a:srgbClr val="12394D"/>
          </a:solidFill>
          <a:ln w="12700">
            <a:solidFill>
              <a:srgbClr val="12394D"/>
            </a:solidFill>
            <a:prstDash val="solid"/>
          </a:ln>
        </p:spPr>
        <p:txBody>
          <a:bodyPr/>
          <a:lstStyle/>
          <a:p>
            <a:endParaRPr lang="en-US"/>
          </a:p>
        </p:txBody>
      </p:sp>
      <p:sp>
        <p:nvSpPr>
          <p:cNvPr id="10" name="Text 7"/>
          <p:cNvSpPr txBox="1"/>
          <p:nvPr/>
        </p:nvSpPr>
        <p:spPr>
          <a:xfrm>
            <a:off x="868680" y="1810512"/>
            <a:ext cx="3017520" cy="411480"/>
          </a:xfrm>
          <a:prstGeom prst="rect">
            <a:avLst/>
          </a:prstGeom>
          <a:noFill/>
          <a:ln/>
        </p:spPr>
        <p:txBody>
          <a:bodyPr wrap="square" lIns="0" tIns="0" rIns="0" bIns="0" rtlCol="0" anchor="t"/>
          <a:lstStyle/>
          <a:p>
            <a:pPr marL="0" indent="0">
              <a:buNone/>
            </a:pPr>
            <a:r>
              <a:rPr lang="en-US" sz="1600" b="1" dirty="0">
                <a:solidFill>
                  <a:srgbClr val="FFFFFF"/>
                </a:solidFill>
                <a:latin typeface="Cambria" pitchFamily="34" charset="0"/>
                <a:ea typeface="Cambria" pitchFamily="34" charset="-122"/>
                <a:cs typeface="Cambria" pitchFamily="34" charset="-120"/>
              </a:rPr>
              <a:t>Offline</a:t>
            </a:r>
            <a:endParaRPr lang="en-US" sz="1600" dirty="0"/>
          </a:p>
        </p:txBody>
      </p:sp>
      <p:sp>
        <p:nvSpPr>
          <p:cNvPr id="11" name="Text 8"/>
          <p:cNvSpPr txBox="1"/>
          <p:nvPr/>
        </p:nvSpPr>
        <p:spPr>
          <a:xfrm>
            <a:off x="868680" y="2194560"/>
            <a:ext cx="3017520" cy="804672"/>
          </a:xfrm>
          <a:prstGeom prst="rect">
            <a:avLst/>
          </a:prstGeom>
          <a:noFill/>
          <a:ln/>
        </p:spPr>
        <p:txBody>
          <a:bodyPr wrap="square" lIns="0" tIns="0" rIns="0" bIns="0" rtlCol="0" anchor="t"/>
          <a:lstStyle/>
          <a:p>
            <a:pPr marL="0" indent="0">
              <a:buNone/>
            </a:pPr>
            <a:r>
              <a:rPr lang="en-US" sz="1250" dirty="0">
                <a:solidFill>
                  <a:srgbClr val="C3D3DD"/>
                </a:solidFill>
                <a:latin typeface="Calibri" pitchFamily="34" charset="0"/>
                <a:ea typeface="Calibri" pitchFamily="34" charset="-122"/>
                <a:cs typeface="Calibri" pitchFamily="34" charset="-120"/>
              </a:rPr>
              <a:t>Logs → policy. Needs trajectory reconstruction, delay alignment, behaviour-policy provenance (2OffRAN, SafeSlice)</a:t>
            </a:r>
            <a:endParaRPr lang="en-US" sz="1250" dirty="0"/>
          </a:p>
        </p:txBody>
      </p:sp>
      <p:sp>
        <p:nvSpPr>
          <p:cNvPr id="12" name="Shape 9"/>
          <p:cNvSpPr/>
          <p:nvPr/>
        </p:nvSpPr>
        <p:spPr>
          <a:xfrm>
            <a:off x="4343400" y="1645920"/>
            <a:ext cx="3474720" cy="1463040"/>
          </a:xfrm>
          <a:prstGeom prst="roundRect">
            <a:avLst>
              <a:gd name="adj" fmla="val 3750"/>
            </a:avLst>
          </a:prstGeom>
          <a:solidFill>
            <a:srgbClr val="F0F5F7"/>
          </a:solidFill>
          <a:ln w="12700">
            <a:solidFill>
              <a:srgbClr val="F0F5F7"/>
            </a:solidFill>
            <a:prstDash val="solid"/>
          </a:ln>
        </p:spPr>
        <p:txBody>
          <a:bodyPr/>
          <a:lstStyle/>
          <a:p>
            <a:endParaRPr lang="en-US"/>
          </a:p>
        </p:txBody>
      </p:sp>
      <p:sp>
        <p:nvSpPr>
          <p:cNvPr id="13" name="Text 10"/>
          <p:cNvSpPr txBox="1"/>
          <p:nvPr/>
        </p:nvSpPr>
        <p:spPr>
          <a:xfrm>
            <a:off x="4572000" y="1810512"/>
            <a:ext cx="3017520" cy="411480"/>
          </a:xfrm>
          <a:prstGeom prst="rect">
            <a:avLst/>
          </a:prstGeom>
          <a:noFill/>
          <a:ln/>
        </p:spPr>
        <p:txBody>
          <a:bodyPr wrap="square" lIns="0" tIns="0" rIns="0" bIns="0" rtlCol="0" anchor="t"/>
          <a:lstStyle/>
          <a:p>
            <a:pPr marL="0" indent="0">
              <a:buNone/>
            </a:pPr>
            <a:r>
              <a:rPr lang="en-US" sz="1600" b="1" dirty="0">
                <a:solidFill>
                  <a:srgbClr val="12394D"/>
                </a:solidFill>
                <a:latin typeface="Cambria" pitchFamily="34" charset="0"/>
                <a:ea typeface="Cambria" pitchFamily="34" charset="-122"/>
                <a:cs typeface="Cambria" pitchFamily="34" charset="-120"/>
              </a:rPr>
              <a:t>Online</a:t>
            </a:r>
            <a:endParaRPr lang="en-US" sz="1600" dirty="0"/>
          </a:p>
        </p:txBody>
      </p:sp>
      <p:sp>
        <p:nvSpPr>
          <p:cNvPr id="14" name="Text 11"/>
          <p:cNvSpPr txBox="1"/>
          <p:nvPr/>
        </p:nvSpPr>
        <p:spPr>
          <a:xfrm>
            <a:off x="4572000" y="2194560"/>
            <a:ext cx="3017520" cy="804672"/>
          </a:xfrm>
          <a:prstGeom prst="rect">
            <a:avLst/>
          </a:prstGeom>
          <a:noFill/>
          <a:ln/>
        </p:spPr>
        <p:txBody>
          <a:bodyPr wrap="square" lIns="0" tIns="0" rIns="0" bIns="0" rtlCol="0" anchor="t"/>
          <a:lstStyle/>
          <a:p>
            <a:pPr marL="0" indent="0">
              <a:buNone/>
            </a:pPr>
            <a:r>
              <a:rPr lang="en-US" sz="1250" dirty="0">
                <a:solidFill>
                  <a:srgbClr val="2A3F4C"/>
                </a:solidFill>
                <a:latin typeface="Calibri" pitchFamily="34" charset="0"/>
                <a:ea typeface="Calibri" pitchFamily="34" charset="-122"/>
                <a:cs typeface="Calibri" pitchFamily="34" charset="-120"/>
              </a:rPr>
              <a:t>Only in simulators, emulators or testbeds (ns-O-RAN, ColO-RAN, OpenRAN Gym), never on a live RAN</a:t>
            </a:r>
            <a:endParaRPr lang="en-US" sz="1250" dirty="0"/>
          </a:p>
        </p:txBody>
      </p:sp>
      <p:sp>
        <p:nvSpPr>
          <p:cNvPr id="15" name="Shape 12"/>
          <p:cNvSpPr/>
          <p:nvPr/>
        </p:nvSpPr>
        <p:spPr>
          <a:xfrm>
            <a:off x="8046720" y="1645920"/>
            <a:ext cx="3474720" cy="1463040"/>
          </a:xfrm>
          <a:prstGeom prst="roundRect">
            <a:avLst>
              <a:gd name="adj" fmla="val 3750"/>
            </a:avLst>
          </a:prstGeom>
          <a:solidFill>
            <a:srgbClr val="F0F5F7"/>
          </a:solidFill>
          <a:ln w="12700">
            <a:solidFill>
              <a:srgbClr val="F0F5F7"/>
            </a:solidFill>
            <a:prstDash val="solid"/>
          </a:ln>
        </p:spPr>
        <p:txBody>
          <a:bodyPr/>
          <a:lstStyle/>
          <a:p>
            <a:endParaRPr lang="en-US"/>
          </a:p>
        </p:txBody>
      </p:sp>
      <p:sp>
        <p:nvSpPr>
          <p:cNvPr id="16" name="Text 13"/>
          <p:cNvSpPr txBox="1"/>
          <p:nvPr/>
        </p:nvSpPr>
        <p:spPr>
          <a:xfrm>
            <a:off x="8275320" y="1810512"/>
            <a:ext cx="3017520" cy="411480"/>
          </a:xfrm>
          <a:prstGeom prst="rect">
            <a:avLst/>
          </a:prstGeom>
          <a:noFill/>
          <a:ln/>
        </p:spPr>
        <p:txBody>
          <a:bodyPr wrap="square" lIns="0" tIns="0" rIns="0" bIns="0" rtlCol="0" anchor="t"/>
          <a:lstStyle/>
          <a:p>
            <a:pPr marL="0" indent="0">
              <a:buNone/>
            </a:pPr>
            <a:r>
              <a:rPr lang="en-US" sz="1600" b="1" dirty="0">
                <a:solidFill>
                  <a:srgbClr val="12394D"/>
                </a:solidFill>
                <a:latin typeface="Cambria" pitchFamily="34" charset="0"/>
                <a:ea typeface="Cambria" pitchFamily="34" charset="-122"/>
                <a:cs typeface="Cambria" pitchFamily="34" charset="-120"/>
              </a:rPr>
              <a:t>Hybrid</a:t>
            </a:r>
            <a:endParaRPr lang="en-US" sz="1600" dirty="0"/>
          </a:p>
        </p:txBody>
      </p:sp>
      <p:sp>
        <p:nvSpPr>
          <p:cNvPr id="17" name="Text 14"/>
          <p:cNvSpPr txBox="1"/>
          <p:nvPr/>
        </p:nvSpPr>
        <p:spPr>
          <a:xfrm>
            <a:off x="8275320" y="2194560"/>
            <a:ext cx="3017520" cy="804672"/>
          </a:xfrm>
          <a:prstGeom prst="rect">
            <a:avLst/>
          </a:prstGeom>
          <a:noFill/>
          <a:ln/>
        </p:spPr>
        <p:txBody>
          <a:bodyPr wrap="square" lIns="0" tIns="0" rIns="0" bIns="0" rtlCol="0" anchor="t"/>
          <a:lstStyle/>
          <a:p>
            <a:pPr marL="0" indent="0">
              <a:buNone/>
            </a:pPr>
            <a:r>
              <a:rPr lang="en-US" sz="1250" dirty="0">
                <a:solidFill>
                  <a:srgbClr val="2A3F4C"/>
                </a:solidFill>
                <a:latin typeface="Calibri" pitchFamily="34" charset="0"/>
                <a:ea typeface="Calibri" pitchFamily="34" charset="-122"/>
                <a:cs typeface="Calibri" pitchFamily="34" charset="-120"/>
              </a:rPr>
              <a:t>Pre-train offline or in simulation, validate on a testbed, adapt under constraints and shields</a:t>
            </a:r>
            <a:endParaRPr lang="en-US" sz="1250" dirty="0"/>
          </a:p>
        </p:txBody>
      </p:sp>
      <p:sp>
        <p:nvSpPr>
          <p:cNvPr id="18" name="Text 15"/>
          <p:cNvSpPr txBox="1"/>
          <p:nvPr/>
        </p:nvSpPr>
        <p:spPr>
          <a:xfrm>
            <a:off x="640080" y="3291840"/>
            <a:ext cx="10881360" cy="365760"/>
          </a:xfrm>
          <a:prstGeom prst="rect">
            <a:avLst/>
          </a:prstGeom>
          <a:noFill/>
          <a:ln/>
        </p:spPr>
        <p:txBody>
          <a:bodyPr wrap="square" lIns="0" tIns="0" rIns="0" bIns="0" rtlCol="0" anchor="t"/>
          <a:lstStyle/>
          <a:p>
            <a:pPr marL="0" indent="0">
              <a:buNone/>
            </a:pPr>
            <a:r>
              <a:rPr lang="en-US" sz="1350" b="1" dirty="0">
                <a:solidFill>
                  <a:srgbClr val="12394D"/>
                </a:solidFill>
                <a:latin typeface="Calibri" pitchFamily="34" charset="0"/>
                <a:ea typeface="Calibri" pitchFamily="34" charset="-122"/>
                <a:cs typeface="Calibri" pitchFamily="34" charset="-120"/>
              </a:rPr>
              <a:t>Sim-to-real in four stages:  </a:t>
            </a:r>
            <a:r>
              <a:rPr lang="en-US" sz="1350" dirty="0">
                <a:solidFill>
                  <a:srgbClr val="2A3F4C"/>
                </a:solidFill>
                <a:latin typeface="Calibri" pitchFamily="34" charset="0"/>
                <a:ea typeface="Calibri" pitchFamily="34" charset="-122"/>
                <a:cs typeface="Calibri" pitchFamily="34" charset="-120"/>
              </a:rPr>
              <a:t>domain randomisation  →  system identification  →  digital twin (OpenTwin about 96 % KPM accuracy)  →  shadow deployment</a:t>
            </a:r>
            <a:endParaRPr lang="en-US" sz="1350" dirty="0"/>
          </a:p>
        </p:txBody>
      </p:sp>
      <p:sp>
        <p:nvSpPr>
          <p:cNvPr id="19" name="Text 16"/>
          <p:cNvSpPr txBox="1"/>
          <p:nvPr/>
        </p:nvSpPr>
        <p:spPr>
          <a:xfrm>
            <a:off x="640080" y="3794760"/>
            <a:ext cx="5486400" cy="274320"/>
          </a:xfrm>
          <a:prstGeom prst="rect">
            <a:avLst/>
          </a:prstGeom>
          <a:noFill/>
          <a:ln/>
        </p:spPr>
        <p:txBody>
          <a:bodyPr wrap="square" lIns="0" tIns="0" rIns="0" bIns="0" rtlCol="0" anchor="t"/>
          <a:lstStyle/>
          <a:p>
            <a:pPr marL="0" indent="0">
              <a:buNone/>
            </a:pPr>
            <a:r>
              <a:rPr lang="en-US" sz="1200" b="1" kern="0" spc="100" dirty="0">
                <a:solidFill>
                  <a:srgbClr val="1A8A99"/>
                </a:solidFill>
                <a:latin typeface="Calibri" pitchFamily="34" charset="0"/>
                <a:ea typeface="Calibri" pitchFamily="34" charset="-122"/>
                <a:cs typeface="Calibri" pitchFamily="34" charset="-120"/>
              </a:rPr>
              <a:t>RECOMMENDED PIPELINE</a:t>
            </a:r>
            <a:endParaRPr lang="en-US" sz="1200" dirty="0"/>
          </a:p>
        </p:txBody>
      </p:sp>
      <p:sp>
        <p:nvSpPr>
          <p:cNvPr id="20" name="Shape 17"/>
          <p:cNvSpPr/>
          <p:nvPr/>
        </p:nvSpPr>
        <p:spPr>
          <a:xfrm>
            <a:off x="640080" y="4114800"/>
            <a:ext cx="1874520" cy="685800"/>
          </a:xfrm>
          <a:prstGeom prst="roundRect">
            <a:avLst>
              <a:gd name="adj" fmla="val 8000"/>
            </a:avLst>
          </a:prstGeom>
          <a:solidFill>
            <a:srgbClr val="FFFFFF"/>
          </a:solidFill>
          <a:ln w="12700">
            <a:solidFill>
              <a:srgbClr val="1A8A99"/>
            </a:solidFill>
            <a:prstDash val="solid"/>
          </a:ln>
        </p:spPr>
        <p:txBody>
          <a:bodyPr/>
          <a:lstStyle/>
          <a:p>
            <a:endParaRPr lang="en-US"/>
          </a:p>
        </p:txBody>
      </p:sp>
      <p:sp>
        <p:nvSpPr>
          <p:cNvPr id="21" name="Text 18"/>
          <p:cNvSpPr txBox="1"/>
          <p:nvPr/>
        </p:nvSpPr>
        <p:spPr>
          <a:xfrm>
            <a:off x="713232" y="4114800"/>
            <a:ext cx="1728216" cy="685800"/>
          </a:xfrm>
          <a:prstGeom prst="rect">
            <a:avLst/>
          </a:prstGeom>
          <a:noFill/>
          <a:ln/>
        </p:spPr>
        <p:txBody>
          <a:bodyPr wrap="square" lIns="0" tIns="0" rIns="0" bIns="0" rtlCol="0" anchor="ctr"/>
          <a:lstStyle/>
          <a:p>
            <a:pPr marL="0" indent="0" algn="ctr">
              <a:buNone/>
            </a:pPr>
            <a:r>
              <a:rPr lang="en-US" sz="1300" b="1" dirty="0">
                <a:solidFill>
                  <a:srgbClr val="12394D"/>
                </a:solidFill>
                <a:latin typeface="Calibri" pitchFamily="34" charset="0"/>
                <a:ea typeface="Calibri" pitchFamily="34" charset="-122"/>
                <a:cs typeface="Calibri" pitchFamily="34" charset="-120"/>
              </a:rPr>
              <a:t>Network logs</a:t>
            </a:r>
            <a:endParaRPr lang="en-US" sz="1300" dirty="0"/>
          </a:p>
        </p:txBody>
      </p:sp>
      <p:sp>
        <p:nvSpPr>
          <p:cNvPr id="22" name="Shape 19"/>
          <p:cNvSpPr/>
          <p:nvPr/>
        </p:nvSpPr>
        <p:spPr>
          <a:xfrm>
            <a:off x="2569464" y="4457700"/>
            <a:ext cx="265176" cy="0"/>
          </a:xfrm>
          <a:prstGeom prst="line">
            <a:avLst/>
          </a:prstGeom>
          <a:noFill/>
          <a:ln w="19050">
            <a:solidFill>
              <a:srgbClr val="1A8A99"/>
            </a:solidFill>
            <a:prstDash val="solid"/>
            <a:tailEnd type="triangle"/>
          </a:ln>
        </p:spPr>
        <p:txBody>
          <a:bodyPr/>
          <a:lstStyle/>
          <a:p>
            <a:endParaRPr lang="en-US"/>
          </a:p>
        </p:txBody>
      </p:sp>
      <p:sp>
        <p:nvSpPr>
          <p:cNvPr id="23" name="Shape 20"/>
          <p:cNvSpPr/>
          <p:nvPr/>
        </p:nvSpPr>
        <p:spPr>
          <a:xfrm>
            <a:off x="2889504" y="4114800"/>
            <a:ext cx="1874520" cy="685800"/>
          </a:xfrm>
          <a:prstGeom prst="roundRect">
            <a:avLst>
              <a:gd name="adj" fmla="val 8000"/>
            </a:avLst>
          </a:prstGeom>
          <a:solidFill>
            <a:srgbClr val="12394D"/>
          </a:solidFill>
          <a:ln w="12700">
            <a:solidFill>
              <a:srgbClr val="12394D"/>
            </a:solidFill>
            <a:prstDash val="solid"/>
          </a:ln>
        </p:spPr>
        <p:txBody>
          <a:bodyPr/>
          <a:lstStyle/>
          <a:p>
            <a:endParaRPr lang="en-US"/>
          </a:p>
        </p:txBody>
      </p:sp>
      <p:sp>
        <p:nvSpPr>
          <p:cNvPr id="24" name="Text 21"/>
          <p:cNvSpPr txBox="1"/>
          <p:nvPr/>
        </p:nvSpPr>
        <p:spPr>
          <a:xfrm>
            <a:off x="2962656" y="4114800"/>
            <a:ext cx="1728216" cy="6858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Offline pre-training</a:t>
            </a:r>
            <a:endParaRPr lang="en-US" sz="1300" dirty="0"/>
          </a:p>
        </p:txBody>
      </p:sp>
      <p:sp>
        <p:nvSpPr>
          <p:cNvPr id="25" name="Shape 22"/>
          <p:cNvSpPr/>
          <p:nvPr/>
        </p:nvSpPr>
        <p:spPr>
          <a:xfrm>
            <a:off x="4818888" y="4457700"/>
            <a:ext cx="265176" cy="0"/>
          </a:xfrm>
          <a:prstGeom prst="line">
            <a:avLst/>
          </a:prstGeom>
          <a:noFill/>
          <a:ln w="19050">
            <a:solidFill>
              <a:srgbClr val="1A8A99"/>
            </a:solidFill>
            <a:prstDash val="solid"/>
            <a:tailEnd type="triangle"/>
          </a:ln>
        </p:spPr>
        <p:txBody>
          <a:bodyPr/>
          <a:lstStyle/>
          <a:p>
            <a:endParaRPr lang="en-US"/>
          </a:p>
        </p:txBody>
      </p:sp>
      <p:sp>
        <p:nvSpPr>
          <p:cNvPr id="26" name="Shape 23"/>
          <p:cNvSpPr/>
          <p:nvPr/>
        </p:nvSpPr>
        <p:spPr>
          <a:xfrm>
            <a:off x="5138928" y="4114800"/>
            <a:ext cx="1874520" cy="685800"/>
          </a:xfrm>
          <a:prstGeom prst="roundRect">
            <a:avLst>
              <a:gd name="adj" fmla="val 8000"/>
            </a:avLst>
          </a:prstGeom>
          <a:solidFill>
            <a:srgbClr val="FFFFFF"/>
          </a:solidFill>
          <a:ln w="12700">
            <a:solidFill>
              <a:srgbClr val="1A8A99"/>
            </a:solidFill>
            <a:prstDash val="solid"/>
          </a:ln>
        </p:spPr>
        <p:txBody>
          <a:bodyPr/>
          <a:lstStyle/>
          <a:p>
            <a:endParaRPr lang="en-US"/>
          </a:p>
        </p:txBody>
      </p:sp>
      <p:sp>
        <p:nvSpPr>
          <p:cNvPr id="27" name="Text 24"/>
          <p:cNvSpPr txBox="1"/>
          <p:nvPr/>
        </p:nvSpPr>
        <p:spPr>
          <a:xfrm>
            <a:off x="5212080" y="4114800"/>
            <a:ext cx="1728216" cy="685800"/>
          </a:xfrm>
          <a:prstGeom prst="rect">
            <a:avLst/>
          </a:prstGeom>
          <a:noFill/>
          <a:ln/>
        </p:spPr>
        <p:txBody>
          <a:bodyPr wrap="square" lIns="0" tIns="0" rIns="0" bIns="0" rtlCol="0" anchor="ctr"/>
          <a:lstStyle/>
          <a:p>
            <a:pPr marL="0" indent="0" algn="ctr">
              <a:buNone/>
            </a:pPr>
            <a:r>
              <a:rPr lang="en-US" sz="1300" b="1" dirty="0">
                <a:solidFill>
                  <a:srgbClr val="12394D"/>
                </a:solidFill>
                <a:latin typeface="Calibri" pitchFamily="34" charset="0"/>
                <a:ea typeface="Calibri" pitchFamily="34" charset="-122"/>
                <a:cs typeface="Calibri" pitchFamily="34" charset="-120"/>
              </a:rPr>
              <a:t>Off-policy evaluation</a:t>
            </a:r>
            <a:endParaRPr lang="en-US" sz="1300" dirty="0"/>
          </a:p>
        </p:txBody>
      </p:sp>
      <p:sp>
        <p:nvSpPr>
          <p:cNvPr id="28" name="Shape 25"/>
          <p:cNvSpPr/>
          <p:nvPr/>
        </p:nvSpPr>
        <p:spPr>
          <a:xfrm>
            <a:off x="7068312" y="4457700"/>
            <a:ext cx="265176" cy="0"/>
          </a:xfrm>
          <a:prstGeom prst="line">
            <a:avLst/>
          </a:prstGeom>
          <a:noFill/>
          <a:ln w="19050">
            <a:solidFill>
              <a:srgbClr val="1A8A99"/>
            </a:solidFill>
            <a:prstDash val="solid"/>
            <a:tailEnd type="triangle"/>
          </a:ln>
        </p:spPr>
        <p:txBody>
          <a:bodyPr/>
          <a:lstStyle/>
          <a:p>
            <a:endParaRPr lang="en-US"/>
          </a:p>
        </p:txBody>
      </p:sp>
      <p:sp>
        <p:nvSpPr>
          <p:cNvPr id="29" name="Shape 26"/>
          <p:cNvSpPr/>
          <p:nvPr/>
        </p:nvSpPr>
        <p:spPr>
          <a:xfrm>
            <a:off x="7388352" y="4114800"/>
            <a:ext cx="1874520" cy="685800"/>
          </a:xfrm>
          <a:prstGeom prst="roundRect">
            <a:avLst>
              <a:gd name="adj" fmla="val 8000"/>
            </a:avLst>
          </a:prstGeom>
          <a:solidFill>
            <a:srgbClr val="FFFFFF"/>
          </a:solidFill>
          <a:ln w="12700">
            <a:solidFill>
              <a:srgbClr val="1A8A99"/>
            </a:solidFill>
            <a:prstDash val="solid"/>
          </a:ln>
        </p:spPr>
        <p:txBody>
          <a:bodyPr/>
          <a:lstStyle/>
          <a:p>
            <a:endParaRPr lang="en-US"/>
          </a:p>
        </p:txBody>
      </p:sp>
      <p:sp>
        <p:nvSpPr>
          <p:cNvPr id="30" name="Text 27"/>
          <p:cNvSpPr txBox="1"/>
          <p:nvPr/>
        </p:nvSpPr>
        <p:spPr>
          <a:xfrm>
            <a:off x="7461504" y="4114800"/>
            <a:ext cx="1728216" cy="685800"/>
          </a:xfrm>
          <a:prstGeom prst="rect">
            <a:avLst/>
          </a:prstGeom>
          <a:noFill/>
          <a:ln/>
        </p:spPr>
        <p:txBody>
          <a:bodyPr wrap="square" lIns="0" tIns="0" rIns="0" bIns="0" rtlCol="0" anchor="ctr"/>
          <a:lstStyle/>
          <a:p>
            <a:pPr marL="0" indent="0" algn="ctr">
              <a:buNone/>
            </a:pPr>
            <a:r>
              <a:rPr lang="en-US" sz="1300" b="1" dirty="0">
                <a:solidFill>
                  <a:srgbClr val="12394D"/>
                </a:solidFill>
                <a:latin typeface="Calibri" pitchFamily="34" charset="0"/>
                <a:ea typeface="Calibri" pitchFamily="34" charset="-122"/>
                <a:cs typeface="Calibri" pitchFamily="34" charset="-120"/>
              </a:rPr>
              <a:t>Shadow mode</a:t>
            </a:r>
            <a:endParaRPr lang="en-US" sz="1300" dirty="0"/>
          </a:p>
        </p:txBody>
      </p:sp>
      <p:sp>
        <p:nvSpPr>
          <p:cNvPr id="31" name="Shape 28"/>
          <p:cNvSpPr/>
          <p:nvPr/>
        </p:nvSpPr>
        <p:spPr>
          <a:xfrm>
            <a:off x="9317736" y="4457700"/>
            <a:ext cx="265176" cy="0"/>
          </a:xfrm>
          <a:prstGeom prst="line">
            <a:avLst/>
          </a:prstGeom>
          <a:noFill/>
          <a:ln w="19050">
            <a:solidFill>
              <a:srgbClr val="1A8A99"/>
            </a:solidFill>
            <a:prstDash val="solid"/>
            <a:tailEnd type="triangle"/>
          </a:ln>
        </p:spPr>
        <p:txBody>
          <a:bodyPr/>
          <a:lstStyle/>
          <a:p>
            <a:endParaRPr lang="en-US"/>
          </a:p>
        </p:txBody>
      </p:sp>
      <p:sp>
        <p:nvSpPr>
          <p:cNvPr id="32" name="Shape 29"/>
          <p:cNvSpPr/>
          <p:nvPr/>
        </p:nvSpPr>
        <p:spPr>
          <a:xfrm>
            <a:off x="9637776" y="4114800"/>
            <a:ext cx="1874520" cy="685800"/>
          </a:xfrm>
          <a:prstGeom prst="roundRect">
            <a:avLst>
              <a:gd name="adj" fmla="val 8000"/>
            </a:avLst>
          </a:prstGeom>
          <a:solidFill>
            <a:srgbClr val="FFFFFF"/>
          </a:solidFill>
          <a:ln w="12700">
            <a:solidFill>
              <a:srgbClr val="1A8A99"/>
            </a:solidFill>
            <a:prstDash val="solid"/>
          </a:ln>
        </p:spPr>
        <p:txBody>
          <a:bodyPr/>
          <a:lstStyle/>
          <a:p>
            <a:endParaRPr lang="en-US"/>
          </a:p>
        </p:txBody>
      </p:sp>
      <p:sp>
        <p:nvSpPr>
          <p:cNvPr id="33" name="Text 30"/>
          <p:cNvSpPr txBox="1"/>
          <p:nvPr/>
        </p:nvSpPr>
        <p:spPr>
          <a:xfrm>
            <a:off x="9710928" y="4114800"/>
            <a:ext cx="1728216" cy="685800"/>
          </a:xfrm>
          <a:prstGeom prst="rect">
            <a:avLst/>
          </a:prstGeom>
          <a:noFill/>
          <a:ln/>
        </p:spPr>
        <p:txBody>
          <a:bodyPr wrap="square" lIns="0" tIns="0" rIns="0" bIns="0" rtlCol="0" anchor="ctr"/>
          <a:lstStyle/>
          <a:p>
            <a:pPr marL="0" indent="0" algn="ctr">
              <a:buNone/>
            </a:pPr>
            <a:r>
              <a:rPr lang="en-US" sz="1300" b="1" dirty="0">
                <a:solidFill>
                  <a:srgbClr val="12394D"/>
                </a:solidFill>
                <a:latin typeface="Calibri" pitchFamily="34" charset="0"/>
                <a:ea typeface="Calibri" pitchFamily="34" charset="-122"/>
                <a:cs typeface="Calibri" pitchFamily="34" charset="-120"/>
              </a:rPr>
              <a:t>Constrained fine-tuning + shield</a:t>
            </a:r>
            <a:endParaRPr lang="en-US" sz="1300" dirty="0"/>
          </a:p>
        </p:txBody>
      </p:sp>
      <p:sp>
        <p:nvSpPr>
          <p:cNvPr id="34" name="Text 31"/>
          <p:cNvSpPr txBox="1"/>
          <p:nvPr/>
        </p:nvSpPr>
        <p:spPr>
          <a:xfrm>
            <a:off x="640080" y="4983480"/>
            <a:ext cx="10881360" cy="411480"/>
          </a:xfrm>
          <a:prstGeom prst="rect">
            <a:avLst/>
          </a:prstGeom>
          <a:noFill/>
          <a:ln/>
        </p:spPr>
        <p:txBody>
          <a:bodyPr wrap="square" lIns="0" tIns="0" rIns="0" bIns="0" rtlCol="0" anchor="t"/>
          <a:lstStyle/>
          <a:p>
            <a:pPr marL="0" indent="0">
              <a:buNone/>
            </a:pPr>
            <a:r>
              <a:rPr lang="en-US" sz="1250" b="1" dirty="0">
                <a:solidFill>
                  <a:srgbClr val="12394D"/>
                </a:solidFill>
                <a:latin typeface="Calibri" pitchFamily="34" charset="0"/>
                <a:ea typeface="Calibri" pitchFamily="34" charset="-122"/>
                <a:cs typeface="Calibri" pitchFamily="34" charset="-120"/>
              </a:rPr>
              <a:t>Inference: </a:t>
            </a:r>
            <a:r>
              <a:rPr lang="en-US" sz="1250" dirty="0">
                <a:solidFill>
                  <a:srgbClr val="5F7A8A"/>
                </a:solidFill>
                <a:latin typeface="Calibri" pitchFamily="34" charset="0"/>
                <a:ea typeface="Calibri" pitchFamily="34" charset="-122"/>
                <a:cs typeface="Calibri" pitchFamily="34" charset="-120"/>
              </a:rPr>
              <a:t>measure end-to-end loop latency on target hardware, not FLOPs   ·   </a:t>
            </a:r>
            <a:r>
              <a:rPr lang="en-US" sz="1250" b="1" dirty="0">
                <a:solidFill>
                  <a:srgbClr val="12394D"/>
                </a:solidFill>
                <a:latin typeface="Calibri" pitchFamily="34" charset="0"/>
                <a:ea typeface="Calibri" pitchFamily="34" charset="-122"/>
                <a:cs typeface="Calibri" pitchFamily="34" charset="-120"/>
              </a:rPr>
              <a:t>RLOps: </a:t>
            </a:r>
            <a:r>
              <a:rPr lang="en-US" sz="1250" dirty="0">
                <a:solidFill>
                  <a:srgbClr val="5F7A8A"/>
                </a:solidFill>
                <a:latin typeface="Calibri" pitchFamily="34" charset="0"/>
                <a:ea typeface="Calibri" pitchFamily="34" charset="-122"/>
                <a:cs typeface="Calibri" pitchFamily="34" charset="-120"/>
              </a:rPr>
              <a:t>version data, environment and model; staged rollout; rollback</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058400" cy="320040"/>
          </a:xfrm>
          <a:prstGeom prst="rect">
            <a:avLst/>
          </a:prstGeom>
          <a:noFill/>
          <a:ln/>
        </p:spPr>
        <p:txBody>
          <a:bodyPr wrap="square" lIns="0" tIns="0" rIns="0" bIns="0" rtlCol="0" anchor="t"/>
          <a:lstStyle/>
          <a:p>
            <a:pPr marL="0" indent="0">
              <a:buNone/>
            </a:pPr>
            <a:r>
              <a:rPr lang="en-US" sz="1400" b="1" kern="0" spc="200" dirty="0">
                <a:solidFill>
                  <a:srgbClr val="2BB3A3"/>
                </a:solidFill>
                <a:latin typeface="Calibri" pitchFamily="34" charset="0"/>
                <a:ea typeface="Calibri" pitchFamily="34" charset="-122"/>
                <a:cs typeface="Calibri" pitchFamily="34" charset="-120"/>
              </a:rPr>
              <a:t>Survey 2 · Lu et al. · DRL for 6G AI-RAN</a:t>
            </a:r>
            <a:endParaRPr lang="en-US" sz="1400" dirty="0"/>
          </a:p>
        </p:txBody>
      </p:sp>
      <p:sp>
        <p:nvSpPr>
          <p:cNvPr id="3" name="Text 1"/>
          <p:cNvSpPr txBox="1"/>
          <p:nvPr/>
        </p:nvSpPr>
        <p:spPr>
          <a:xfrm>
            <a:off x="640080" y="804672"/>
            <a:ext cx="10881360" cy="594360"/>
          </a:xfrm>
          <a:prstGeom prst="rect">
            <a:avLst/>
          </a:prstGeom>
          <a:noFill/>
          <a:ln/>
        </p:spPr>
        <p:txBody>
          <a:bodyPr wrap="square" lIns="0" tIns="0" rIns="0" bIns="0" rtlCol="0" anchor="t"/>
          <a:lstStyle/>
          <a:p>
            <a:pPr marL="0" indent="0">
              <a:buNone/>
            </a:pPr>
            <a:r>
              <a:rPr lang="en-US" sz="2800" b="1" dirty="0">
                <a:solidFill>
                  <a:srgbClr val="12394D"/>
                </a:solidFill>
                <a:latin typeface="Cambria" pitchFamily="34" charset="0"/>
                <a:ea typeface="Cambria" pitchFamily="34" charset="-122"/>
                <a:cs typeface="Cambria" pitchFamily="34" charset="-120"/>
              </a:rPr>
              <a:t>From paper to deployment: what the survey asks of every DRL study</a:t>
            </a:r>
            <a:endParaRPr lang="en-US" sz="2800" dirty="0"/>
          </a:p>
        </p:txBody>
      </p:sp>
      <p:sp>
        <p:nvSpPr>
          <p:cNvPr id="4" name="Shape 2"/>
          <p:cNvSpPr/>
          <p:nvPr/>
        </p:nvSpPr>
        <p:spPr>
          <a:xfrm>
            <a:off x="640080" y="5577840"/>
            <a:ext cx="10881360" cy="502920"/>
          </a:xfrm>
          <a:prstGeom prst="roundRect">
            <a:avLst>
              <a:gd name="adj" fmla="val 10909"/>
            </a:avLst>
          </a:prstGeom>
          <a:solidFill>
            <a:srgbClr val="E6F4F2"/>
          </a:solidFill>
          <a:ln w="12700">
            <a:solidFill>
              <a:srgbClr val="E6F4F2"/>
            </a:solidFill>
            <a:prstDash val="solid"/>
          </a:ln>
        </p:spPr>
        <p:txBody>
          <a:bodyPr/>
          <a:lstStyle/>
          <a:p>
            <a:endParaRPr lang="en-US"/>
          </a:p>
        </p:txBody>
      </p:sp>
      <p:sp>
        <p:nvSpPr>
          <p:cNvPr id="5" name="Text 3"/>
          <p:cNvSpPr txBox="1"/>
          <p:nvPr/>
        </p:nvSpPr>
        <p:spPr>
          <a:xfrm>
            <a:off x="868680" y="5577840"/>
            <a:ext cx="10469880" cy="502920"/>
          </a:xfrm>
          <a:prstGeom prst="rect">
            <a:avLst/>
          </a:prstGeom>
          <a:noFill/>
          <a:ln/>
        </p:spPr>
        <p:txBody>
          <a:bodyPr wrap="square" lIns="0" tIns="0" rIns="0" bIns="0" rtlCol="0" anchor="ctr"/>
          <a:lstStyle/>
          <a:p>
            <a:pPr marL="0" indent="0">
              <a:buNone/>
            </a:pPr>
            <a:r>
              <a:rPr lang="en-US" sz="1350" b="1" dirty="0">
                <a:solidFill>
                  <a:srgbClr val="1A8A99"/>
                </a:solidFill>
                <a:latin typeface="Calibri" pitchFamily="34" charset="0"/>
                <a:ea typeface="Calibri" pitchFamily="34" charset="-122"/>
                <a:cs typeface="Calibri" pitchFamily="34" charset="-120"/>
              </a:rPr>
              <a:t>Takeaway  </a:t>
            </a:r>
            <a:r>
              <a:rPr lang="en-US" sz="1350" dirty="0">
                <a:solidFill>
                  <a:srgbClr val="12394D"/>
                </a:solidFill>
                <a:latin typeface="Calibri" pitchFamily="34" charset="0"/>
                <a:ea typeface="Calibri" pitchFamily="34" charset="-122"/>
                <a:cs typeface="Calibri" pitchFamily="34" charset="-120"/>
              </a:rPr>
              <a:t>Top research direction: conservative offline RL, then constrained online fine-tuning.</a:t>
            </a:r>
            <a:endParaRPr lang="en-US" sz="1350" dirty="0"/>
          </a:p>
        </p:txBody>
      </p:sp>
      <p:sp>
        <p:nvSpPr>
          <p:cNvPr id="6" name="Text 4"/>
          <p:cNvSpPr txBox="1"/>
          <p:nvPr/>
        </p:nvSpPr>
        <p:spPr>
          <a:xfrm>
            <a:off x="640080" y="6355080"/>
            <a:ext cx="6400800" cy="274320"/>
          </a:xfrm>
          <a:prstGeom prst="rect">
            <a:avLst/>
          </a:prstGeom>
          <a:noFill/>
          <a:ln/>
        </p:spPr>
        <p:txBody>
          <a:bodyPr wrap="square" lIns="0" tIns="0" rIns="0" bIns="0" rtlCol="0" anchor="t"/>
          <a:lstStyle/>
          <a:p>
            <a:pPr marL="0" indent="0">
              <a:buNone/>
            </a:pPr>
            <a:r>
              <a:rPr lang="en-US" sz="1100" dirty="0">
                <a:solidFill>
                  <a:srgbClr val="5F7A8A"/>
                </a:solidFill>
                <a:latin typeface="Calibri" pitchFamily="34" charset="0"/>
                <a:ea typeface="Calibri" pitchFamily="34" charset="-122"/>
                <a:cs typeface="Calibri" pitchFamily="34" charset="-120"/>
              </a:rPr>
              <a:t>RS2M Department · Télécom SudParis · Palaiseau, France</a:t>
            </a:r>
            <a:endParaRPr lang="en-US" sz="1100" dirty="0"/>
          </a:p>
        </p:txBody>
      </p:sp>
      <p:sp>
        <p:nvSpPr>
          <p:cNvPr id="7" name="Text 5"/>
          <p:cNvSpPr txBox="1"/>
          <p:nvPr/>
        </p:nvSpPr>
        <p:spPr>
          <a:xfrm>
            <a:off x="11064240" y="6355080"/>
            <a:ext cx="457200" cy="274320"/>
          </a:xfrm>
          <a:prstGeom prst="rect">
            <a:avLst/>
          </a:prstGeom>
          <a:noFill/>
          <a:ln/>
        </p:spPr>
        <p:txBody>
          <a:bodyPr wrap="square" lIns="0" tIns="0" rIns="0" bIns="0" rtlCol="0" anchor="t"/>
          <a:lstStyle/>
          <a:p>
            <a:pPr marL="0" indent="0" algn="r">
              <a:buNone/>
            </a:pPr>
            <a:r>
              <a:rPr lang="en-US" sz="1100" dirty="0">
                <a:solidFill>
                  <a:srgbClr val="5F7A8A"/>
                </a:solidFill>
                <a:latin typeface="Calibri" pitchFamily="34" charset="0"/>
                <a:ea typeface="Calibri" pitchFamily="34" charset="-122"/>
                <a:cs typeface="Calibri" pitchFamily="34" charset="-120"/>
              </a:rPr>
              <a:t>27</a:t>
            </a:r>
            <a:endParaRPr lang="en-US" sz="1100" dirty="0"/>
          </a:p>
        </p:txBody>
      </p:sp>
      <p:sp>
        <p:nvSpPr>
          <p:cNvPr id="8" name="Shape 6"/>
          <p:cNvSpPr/>
          <p:nvPr/>
        </p:nvSpPr>
        <p:spPr>
          <a:xfrm>
            <a:off x="640080" y="1737360"/>
            <a:ext cx="5349240" cy="1691640"/>
          </a:xfrm>
          <a:prstGeom prst="roundRect">
            <a:avLst>
              <a:gd name="adj" fmla="val 3243"/>
            </a:avLst>
          </a:prstGeom>
          <a:solidFill>
            <a:srgbClr val="F0F5F7"/>
          </a:solidFill>
          <a:ln w="12700">
            <a:solidFill>
              <a:srgbClr val="F0F5F7"/>
            </a:solidFill>
            <a:prstDash val="solid"/>
          </a:ln>
        </p:spPr>
        <p:txBody>
          <a:bodyPr/>
          <a:lstStyle/>
          <a:p>
            <a:endParaRPr lang="en-US"/>
          </a:p>
        </p:txBody>
      </p:sp>
      <p:sp>
        <p:nvSpPr>
          <p:cNvPr id="9" name="Text 7"/>
          <p:cNvSpPr txBox="1"/>
          <p:nvPr/>
        </p:nvSpPr>
        <p:spPr>
          <a:xfrm>
            <a:off x="914400" y="1920240"/>
            <a:ext cx="4754880" cy="365760"/>
          </a:xfrm>
          <a:prstGeom prst="rect">
            <a:avLst/>
          </a:prstGeom>
          <a:noFill/>
          <a:ln/>
        </p:spPr>
        <p:txBody>
          <a:bodyPr wrap="square" lIns="0" tIns="0" rIns="0" bIns="0" rtlCol="0" anchor="t"/>
          <a:lstStyle/>
          <a:p>
            <a:pPr marL="0" indent="0">
              <a:buNone/>
            </a:pPr>
            <a:r>
              <a:rPr lang="en-US" sz="1700" b="1" dirty="0">
                <a:solidFill>
                  <a:srgbClr val="12394D"/>
                </a:solidFill>
                <a:latin typeface="Cambria" pitchFamily="34" charset="0"/>
                <a:ea typeface="Cambria" pitchFamily="34" charset="-122"/>
                <a:cs typeface="Cambria" pitchFamily="34" charset="-120"/>
              </a:rPr>
              <a:t>Sim-to-real</a:t>
            </a:r>
            <a:endParaRPr lang="en-US" sz="1700" dirty="0"/>
          </a:p>
        </p:txBody>
      </p:sp>
      <p:sp>
        <p:nvSpPr>
          <p:cNvPr id="10" name="Text 8"/>
          <p:cNvSpPr txBox="1"/>
          <p:nvPr/>
        </p:nvSpPr>
        <p:spPr>
          <a:xfrm>
            <a:off x="914400" y="2377440"/>
            <a:ext cx="4754880" cy="960120"/>
          </a:xfrm>
          <a:prstGeom prst="rect">
            <a:avLst/>
          </a:prstGeom>
          <a:noFill/>
          <a:ln/>
        </p:spPr>
        <p:txBody>
          <a:bodyPr wrap="square" lIns="0" tIns="0" rIns="0" bIns="0" rtlCol="0" anchor="t"/>
          <a:lstStyle/>
          <a:p>
            <a:pPr marL="0" indent="0">
              <a:buNone/>
            </a:pPr>
            <a:r>
              <a:rPr lang="en-US" sz="1500" dirty="0">
                <a:solidFill>
                  <a:srgbClr val="2A3F4C"/>
                </a:solidFill>
                <a:latin typeface="Calibri" pitchFamily="34" charset="0"/>
                <a:ea typeface="Calibri" pitchFamily="34" charset="-122"/>
                <a:cs typeface="Calibri" pitchFamily="34" charset="-120"/>
              </a:rPr>
              <a:t>Domain randomisation, system identification, calibrated digital twins, shadow deployment</a:t>
            </a:r>
            <a:endParaRPr lang="en-US" sz="1500" dirty="0"/>
          </a:p>
        </p:txBody>
      </p:sp>
      <p:sp>
        <p:nvSpPr>
          <p:cNvPr id="11" name="Shape 9"/>
          <p:cNvSpPr/>
          <p:nvPr/>
        </p:nvSpPr>
        <p:spPr>
          <a:xfrm>
            <a:off x="6172200" y="1737360"/>
            <a:ext cx="5349240" cy="1691640"/>
          </a:xfrm>
          <a:prstGeom prst="roundRect">
            <a:avLst>
              <a:gd name="adj" fmla="val 3243"/>
            </a:avLst>
          </a:prstGeom>
          <a:solidFill>
            <a:srgbClr val="F0F5F7"/>
          </a:solidFill>
          <a:ln w="12700">
            <a:solidFill>
              <a:srgbClr val="F0F5F7"/>
            </a:solidFill>
            <a:prstDash val="solid"/>
          </a:ln>
        </p:spPr>
        <p:txBody>
          <a:bodyPr/>
          <a:lstStyle/>
          <a:p>
            <a:endParaRPr lang="en-US"/>
          </a:p>
        </p:txBody>
      </p:sp>
      <p:sp>
        <p:nvSpPr>
          <p:cNvPr id="12" name="Text 10"/>
          <p:cNvSpPr txBox="1"/>
          <p:nvPr/>
        </p:nvSpPr>
        <p:spPr>
          <a:xfrm>
            <a:off x="6446520" y="1920240"/>
            <a:ext cx="4754880" cy="365760"/>
          </a:xfrm>
          <a:prstGeom prst="rect">
            <a:avLst/>
          </a:prstGeom>
          <a:noFill/>
          <a:ln/>
        </p:spPr>
        <p:txBody>
          <a:bodyPr wrap="square" lIns="0" tIns="0" rIns="0" bIns="0" rtlCol="0" anchor="t"/>
          <a:lstStyle/>
          <a:p>
            <a:pPr marL="0" indent="0">
              <a:buNone/>
            </a:pPr>
            <a:r>
              <a:rPr lang="en-US" sz="1700" b="1" dirty="0">
                <a:solidFill>
                  <a:srgbClr val="12394D"/>
                </a:solidFill>
                <a:latin typeface="Cambria" pitchFamily="34" charset="0"/>
                <a:ea typeface="Cambria" pitchFamily="34" charset="-122"/>
                <a:cs typeface="Cambria" pitchFamily="34" charset="-120"/>
              </a:rPr>
              <a:t>Data</a:t>
            </a:r>
            <a:endParaRPr lang="en-US" sz="1700" dirty="0"/>
          </a:p>
        </p:txBody>
      </p:sp>
      <p:sp>
        <p:nvSpPr>
          <p:cNvPr id="13" name="Text 11"/>
          <p:cNvSpPr txBox="1"/>
          <p:nvPr/>
        </p:nvSpPr>
        <p:spPr>
          <a:xfrm>
            <a:off x="6446520" y="2377440"/>
            <a:ext cx="4754880" cy="960120"/>
          </a:xfrm>
          <a:prstGeom prst="rect">
            <a:avLst/>
          </a:prstGeom>
          <a:noFill/>
          <a:ln/>
        </p:spPr>
        <p:txBody>
          <a:bodyPr wrap="square" lIns="0" tIns="0" rIns="0" bIns="0" rtlCol="0" anchor="t"/>
          <a:lstStyle/>
          <a:p>
            <a:pPr marL="0" indent="0">
              <a:buNone/>
            </a:pPr>
            <a:r>
              <a:rPr lang="en-US" sz="1500" dirty="0">
                <a:solidFill>
                  <a:srgbClr val="2A3F4C"/>
                </a:solidFill>
                <a:latin typeface="Calibri" pitchFamily="34" charset="0"/>
                <a:ea typeface="Calibri" pitchFamily="34" charset="-122"/>
                <a:cs typeface="Calibri" pitchFamily="34" charset="-120"/>
              </a:rPr>
              <a:t>Log (s, a, r, s′, Δt, z) with delays and context; record the behaviour policy; include stress cases</a:t>
            </a:r>
            <a:endParaRPr lang="en-US" sz="1500" dirty="0"/>
          </a:p>
        </p:txBody>
      </p:sp>
      <p:sp>
        <p:nvSpPr>
          <p:cNvPr id="14" name="Shape 12"/>
          <p:cNvSpPr/>
          <p:nvPr/>
        </p:nvSpPr>
        <p:spPr>
          <a:xfrm>
            <a:off x="640080" y="3611880"/>
            <a:ext cx="5349240" cy="1691640"/>
          </a:xfrm>
          <a:prstGeom prst="roundRect">
            <a:avLst>
              <a:gd name="adj" fmla="val 3243"/>
            </a:avLst>
          </a:prstGeom>
          <a:solidFill>
            <a:srgbClr val="F0F5F7"/>
          </a:solidFill>
          <a:ln w="12700">
            <a:solidFill>
              <a:srgbClr val="F0F5F7"/>
            </a:solidFill>
            <a:prstDash val="solid"/>
          </a:ln>
        </p:spPr>
        <p:txBody>
          <a:bodyPr/>
          <a:lstStyle/>
          <a:p>
            <a:endParaRPr lang="en-US"/>
          </a:p>
        </p:txBody>
      </p:sp>
      <p:sp>
        <p:nvSpPr>
          <p:cNvPr id="15" name="Text 13"/>
          <p:cNvSpPr txBox="1"/>
          <p:nvPr/>
        </p:nvSpPr>
        <p:spPr>
          <a:xfrm>
            <a:off x="914400" y="3794760"/>
            <a:ext cx="4754880" cy="365760"/>
          </a:xfrm>
          <a:prstGeom prst="rect">
            <a:avLst/>
          </a:prstGeom>
          <a:noFill/>
          <a:ln/>
        </p:spPr>
        <p:txBody>
          <a:bodyPr wrap="square" lIns="0" tIns="0" rIns="0" bIns="0" rtlCol="0" anchor="t"/>
          <a:lstStyle/>
          <a:p>
            <a:pPr marL="0" indent="0">
              <a:buNone/>
            </a:pPr>
            <a:r>
              <a:rPr lang="en-US" sz="1700" b="1" dirty="0">
                <a:solidFill>
                  <a:srgbClr val="12394D"/>
                </a:solidFill>
                <a:latin typeface="Cambria" pitchFamily="34" charset="0"/>
                <a:ea typeface="Cambria" pitchFamily="34" charset="-122"/>
                <a:cs typeface="Cambria" pitchFamily="34" charset="-120"/>
              </a:rPr>
              <a:t>Reproducibility</a:t>
            </a:r>
            <a:endParaRPr lang="en-US" sz="1700" dirty="0"/>
          </a:p>
        </p:txBody>
      </p:sp>
      <p:sp>
        <p:nvSpPr>
          <p:cNvPr id="16" name="Text 14"/>
          <p:cNvSpPr txBox="1"/>
          <p:nvPr/>
        </p:nvSpPr>
        <p:spPr>
          <a:xfrm>
            <a:off x="914400" y="4251960"/>
            <a:ext cx="4754880" cy="960120"/>
          </a:xfrm>
          <a:prstGeom prst="rect">
            <a:avLst/>
          </a:prstGeom>
          <a:noFill/>
          <a:ln/>
        </p:spPr>
        <p:txBody>
          <a:bodyPr wrap="square" lIns="0" tIns="0" rIns="0" bIns="0" rtlCol="0" anchor="t"/>
          <a:lstStyle/>
          <a:p>
            <a:pPr marL="0" indent="0">
              <a:buNone/>
            </a:pPr>
            <a:r>
              <a:rPr lang="en-US" sz="1500" dirty="0">
                <a:solidFill>
                  <a:srgbClr val="2A3F4C"/>
                </a:solidFill>
                <a:latin typeface="Calibri" pitchFamily="34" charset="0"/>
                <a:ea typeface="Calibri" pitchFamily="34" charset="-122"/>
                <a:cs typeface="Calibri" pitchFamily="34" charset="-120"/>
              </a:rPr>
              <a:t>Several seeds with confidence intervals, full MDP spec, measured inference latency on target hardware</a:t>
            </a:r>
            <a:endParaRPr lang="en-US" sz="1500" dirty="0"/>
          </a:p>
        </p:txBody>
      </p:sp>
      <p:sp>
        <p:nvSpPr>
          <p:cNvPr id="17" name="Shape 15"/>
          <p:cNvSpPr/>
          <p:nvPr/>
        </p:nvSpPr>
        <p:spPr>
          <a:xfrm>
            <a:off x="6172200" y="3611880"/>
            <a:ext cx="5349240" cy="1691640"/>
          </a:xfrm>
          <a:prstGeom prst="roundRect">
            <a:avLst>
              <a:gd name="adj" fmla="val 3243"/>
            </a:avLst>
          </a:prstGeom>
          <a:solidFill>
            <a:srgbClr val="F0F5F7"/>
          </a:solidFill>
          <a:ln w="12700">
            <a:solidFill>
              <a:srgbClr val="F0F5F7"/>
            </a:solidFill>
            <a:prstDash val="solid"/>
          </a:ln>
        </p:spPr>
        <p:txBody>
          <a:bodyPr/>
          <a:lstStyle/>
          <a:p>
            <a:endParaRPr lang="en-US"/>
          </a:p>
        </p:txBody>
      </p:sp>
      <p:sp>
        <p:nvSpPr>
          <p:cNvPr id="18" name="Text 16"/>
          <p:cNvSpPr txBox="1"/>
          <p:nvPr/>
        </p:nvSpPr>
        <p:spPr>
          <a:xfrm>
            <a:off x="6446520" y="3794760"/>
            <a:ext cx="4754880" cy="365760"/>
          </a:xfrm>
          <a:prstGeom prst="rect">
            <a:avLst/>
          </a:prstGeom>
          <a:noFill/>
          <a:ln/>
        </p:spPr>
        <p:txBody>
          <a:bodyPr wrap="square" lIns="0" tIns="0" rIns="0" bIns="0" rtlCol="0" anchor="t"/>
          <a:lstStyle/>
          <a:p>
            <a:pPr marL="0" indent="0">
              <a:buNone/>
            </a:pPr>
            <a:r>
              <a:rPr lang="en-US" sz="1700" b="1" dirty="0">
                <a:solidFill>
                  <a:srgbClr val="12394D"/>
                </a:solidFill>
                <a:latin typeface="Cambria" pitchFamily="34" charset="0"/>
                <a:ea typeface="Cambria" pitchFamily="34" charset="-122"/>
                <a:cs typeface="Cambria" pitchFamily="34" charset="-120"/>
              </a:rPr>
              <a:t>Standards</a:t>
            </a:r>
            <a:endParaRPr lang="en-US" sz="1700" dirty="0"/>
          </a:p>
        </p:txBody>
      </p:sp>
      <p:sp>
        <p:nvSpPr>
          <p:cNvPr id="19" name="Text 17"/>
          <p:cNvSpPr txBox="1"/>
          <p:nvPr/>
        </p:nvSpPr>
        <p:spPr>
          <a:xfrm>
            <a:off x="6446520" y="4251960"/>
            <a:ext cx="4754880" cy="960120"/>
          </a:xfrm>
          <a:prstGeom prst="rect">
            <a:avLst/>
          </a:prstGeom>
          <a:noFill/>
          <a:ln/>
        </p:spPr>
        <p:txBody>
          <a:bodyPr wrap="square" lIns="0" tIns="0" rIns="0" bIns="0" rtlCol="0" anchor="t"/>
          <a:lstStyle/>
          <a:p>
            <a:pPr marL="0" indent="0">
              <a:buNone/>
            </a:pPr>
            <a:r>
              <a:rPr lang="en-US" sz="1500" dirty="0">
                <a:solidFill>
                  <a:srgbClr val="2A3F4C"/>
                </a:solidFill>
                <a:latin typeface="Calibri" pitchFamily="34" charset="0"/>
                <a:ea typeface="Calibri" pitchFamily="34" charset="-122"/>
                <a:cs typeface="Calibri" pitchFamily="34" charset="-120"/>
              </a:rPr>
              <a:t>Actions must be expressible through E2 RAN Control; declare fallback, latency budget and conflict domain</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320040"/>
          </a:xfrm>
          <a:prstGeom prst="rect">
            <a:avLst/>
          </a:prstGeom>
          <a:noFill/>
          <a:ln/>
        </p:spPr>
        <p:txBody>
          <a:bodyPr wrap="square" lIns="0" tIns="0" rIns="0" bIns="0" rtlCol="0" anchor="t"/>
          <a:lstStyle/>
          <a:p>
            <a:pPr marL="0" indent="0">
              <a:buNone/>
            </a:pPr>
            <a:r>
              <a:rPr lang="en-US" sz="1400" b="1" kern="0" spc="200" dirty="0">
                <a:solidFill>
                  <a:srgbClr val="2BB3A3"/>
                </a:solidFill>
                <a:latin typeface="Calibri" pitchFamily="34" charset="0"/>
                <a:ea typeface="Calibri" pitchFamily="34" charset="-122"/>
                <a:cs typeface="Calibri" pitchFamily="34" charset="-120"/>
              </a:rPr>
              <a:t>Survey 3 · Adhikari et al. · eMBB–URLLC coexistence</a:t>
            </a:r>
            <a:endParaRPr lang="en-US" sz="1400" dirty="0"/>
          </a:p>
        </p:txBody>
      </p:sp>
      <p:sp>
        <p:nvSpPr>
          <p:cNvPr id="3" name="Text 1"/>
          <p:cNvSpPr txBox="1"/>
          <p:nvPr/>
        </p:nvSpPr>
        <p:spPr>
          <a:xfrm>
            <a:off x="640080" y="786384"/>
            <a:ext cx="10881360" cy="640080"/>
          </a:xfrm>
          <a:prstGeom prst="rect">
            <a:avLst/>
          </a:prstGeom>
          <a:noFill/>
          <a:ln/>
        </p:spPr>
        <p:txBody>
          <a:bodyPr wrap="square" lIns="0" tIns="0" rIns="0" bIns="0" rtlCol="0" anchor="t">
            <a:normAutofit/>
          </a:bodyPr>
          <a:lstStyle/>
          <a:p>
            <a:pPr marL="0" indent="0">
              <a:buNone/>
            </a:pPr>
            <a:r>
              <a:rPr lang="en-US" sz="2700" b="1" dirty="0">
                <a:solidFill>
                  <a:srgbClr val="12394D"/>
                </a:solidFill>
                <a:latin typeface="Cambria" pitchFamily="34" charset="0"/>
                <a:ea typeface="Cambria" pitchFamily="34" charset="-122"/>
                <a:cs typeface="Cambria" pitchFamily="34" charset="-120"/>
              </a:rPr>
              <a:t>Why coexistence deserves its own survey</a:t>
            </a:r>
            <a:endParaRPr lang="en-US" sz="2700" dirty="0"/>
          </a:p>
        </p:txBody>
      </p:sp>
      <p:sp>
        <p:nvSpPr>
          <p:cNvPr id="4" name="Shape 2"/>
          <p:cNvSpPr/>
          <p:nvPr/>
        </p:nvSpPr>
        <p:spPr>
          <a:xfrm>
            <a:off x="640080" y="5596128"/>
            <a:ext cx="10881360" cy="502920"/>
          </a:xfrm>
          <a:prstGeom prst="roundRect">
            <a:avLst>
              <a:gd name="adj" fmla="val 10909"/>
            </a:avLst>
          </a:prstGeom>
          <a:solidFill>
            <a:srgbClr val="E6F4F2"/>
          </a:solidFill>
          <a:ln w="12700">
            <a:solidFill>
              <a:srgbClr val="E6F4F2"/>
            </a:solidFill>
            <a:prstDash val="solid"/>
          </a:ln>
        </p:spPr>
        <p:txBody>
          <a:bodyPr/>
          <a:lstStyle/>
          <a:p>
            <a:endParaRPr lang="en-US"/>
          </a:p>
        </p:txBody>
      </p:sp>
      <p:sp>
        <p:nvSpPr>
          <p:cNvPr id="5" name="Text 3"/>
          <p:cNvSpPr txBox="1"/>
          <p:nvPr/>
        </p:nvSpPr>
        <p:spPr>
          <a:xfrm>
            <a:off x="868680" y="5596128"/>
            <a:ext cx="10469880" cy="502920"/>
          </a:xfrm>
          <a:prstGeom prst="rect">
            <a:avLst/>
          </a:prstGeom>
          <a:noFill/>
          <a:ln/>
        </p:spPr>
        <p:txBody>
          <a:bodyPr wrap="square" lIns="0" tIns="0" rIns="0" bIns="0" rtlCol="0" anchor="ctr"/>
          <a:lstStyle/>
          <a:p>
            <a:pPr marL="0" indent="0">
              <a:buNone/>
            </a:pPr>
            <a:r>
              <a:rPr lang="en-US" sz="1400" b="1" dirty="0">
                <a:solidFill>
                  <a:srgbClr val="1A8A99"/>
                </a:solidFill>
                <a:latin typeface="Calibri" pitchFamily="34" charset="0"/>
                <a:ea typeface="Calibri" pitchFamily="34" charset="-122"/>
                <a:cs typeface="Calibri" pitchFamily="34" charset="-120"/>
              </a:rPr>
              <a:t>Takeaway  </a:t>
            </a:r>
            <a:r>
              <a:rPr lang="en-US" sz="1400" dirty="0">
                <a:solidFill>
                  <a:srgbClr val="12394D"/>
                </a:solidFill>
                <a:latin typeface="Calibri" pitchFamily="34" charset="0"/>
                <a:ea typeface="Calibri" pitchFamily="34" charset="-122"/>
                <a:cs typeface="Calibri" pitchFamily="34" charset="-120"/>
              </a:rPr>
              <a:t>The first survey dedicated to joint eMBB/URLLC resource allocation.</a:t>
            </a:r>
            <a:endParaRPr lang="en-US" sz="1400" dirty="0"/>
          </a:p>
        </p:txBody>
      </p:sp>
      <p:sp>
        <p:nvSpPr>
          <p:cNvPr id="6" name="Text 4"/>
          <p:cNvSpPr txBox="1"/>
          <p:nvPr/>
        </p:nvSpPr>
        <p:spPr>
          <a:xfrm>
            <a:off x="640080" y="6355080"/>
            <a:ext cx="6400800" cy="274320"/>
          </a:xfrm>
          <a:prstGeom prst="rect">
            <a:avLst/>
          </a:prstGeom>
          <a:noFill/>
          <a:ln/>
        </p:spPr>
        <p:txBody>
          <a:bodyPr wrap="square" lIns="0" tIns="0" rIns="0" bIns="0" rtlCol="0" anchor="t"/>
          <a:lstStyle/>
          <a:p>
            <a:pPr marL="0" indent="0">
              <a:buNone/>
            </a:pPr>
            <a:r>
              <a:rPr lang="en-US" sz="1100" dirty="0">
                <a:solidFill>
                  <a:srgbClr val="5F7A8A"/>
                </a:solidFill>
                <a:latin typeface="Calibri" pitchFamily="34" charset="0"/>
                <a:ea typeface="Calibri" pitchFamily="34" charset="-122"/>
                <a:cs typeface="Calibri" pitchFamily="34" charset="-120"/>
              </a:rPr>
              <a:t>RS2M Department · Télécom SudParis · Palaiseau, France</a:t>
            </a:r>
            <a:endParaRPr lang="en-US" sz="1100" dirty="0"/>
          </a:p>
        </p:txBody>
      </p:sp>
      <p:sp>
        <p:nvSpPr>
          <p:cNvPr id="7" name="Text 5"/>
          <p:cNvSpPr txBox="1"/>
          <p:nvPr/>
        </p:nvSpPr>
        <p:spPr>
          <a:xfrm>
            <a:off x="11064240" y="6355080"/>
            <a:ext cx="457200" cy="274320"/>
          </a:xfrm>
          <a:prstGeom prst="rect">
            <a:avLst/>
          </a:prstGeom>
          <a:noFill/>
          <a:ln/>
        </p:spPr>
        <p:txBody>
          <a:bodyPr wrap="square" lIns="0" tIns="0" rIns="0" bIns="0" rtlCol="0" anchor="t"/>
          <a:lstStyle/>
          <a:p>
            <a:pPr marL="0" indent="0" algn="r">
              <a:buNone/>
            </a:pPr>
            <a:r>
              <a:rPr lang="en-US" sz="1100" dirty="0">
                <a:solidFill>
                  <a:srgbClr val="5F7A8A"/>
                </a:solidFill>
                <a:latin typeface="Calibri" pitchFamily="34" charset="0"/>
                <a:ea typeface="Calibri" pitchFamily="34" charset="-122"/>
                <a:cs typeface="Calibri" pitchFamily="34" charset="-120"/>
              </a:rPr>
              <a:t>28</a:t>
            </a:r>
            <a:endParaRPr lang="en-US" sz="1100" dirty="0"/>
          </a:p>
        </p:txBody>
      </p:sp>
      <p:graphicFrame>
        <p:nvGraphicFramePr>
          <p:cNvPr id="23" name="Table 0"/>
          <p:cNvGraphicFramePr>
            <a:graphicFrameLocks noGrp="1"/>
          </p:cNvGraphicFramePr>
          <p:nvPr/>
        </p:nvGraphicFramePr>
        <p:xfrm>
          <a:off x="5806440" y="1645920"/>
          <a:ext cx="5715000" cy="1920240"/>
        </p:xfrm>
        <a:graphic>
          <a:graphicData uri="http://schemas.openxmlformats.org/drawingml/2006/table">
            <a:tbl>
              <a:tblPr/>
              <a:tblGrid>
                <a:gridCol w="132588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384048">
                <a:tc>
                  <a:txBody>
                    <a:bodyPr/>
                    <a:lstStyle/>
                    <a:p>
                      <a:pPr marL="0" indent="0" algn="l">
                        <a:buNone/>
                      </a:pPr>
                      <a:endParaRPr lang="en-US" sz="130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12394D"/>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eMBB</a:t>
                      </a:r>
                      <a:endParaRPr lang="en-US" sz="130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12394D"/>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URLLC</a:t>
                      </a:r>
                      <a:endParaRPr lang="en-US" sz="130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12394D"/>
                    </a:solidFill>
                  </a:tcPr>
                </a:tc>
                <a:extLst>
                  <a:ext uri="{0D108BD9-81ED-4DB2-BD59-A6C34878D82A}">
                    <a16:rowId xmlns:a16="http://schemas.microsoft.com/office/drawing/2014/main" val="10000"/>
                  </a:ext>
                </a:extLst>
              </a:tr>
              <a:tr h="384048">
                <a:tc>
                  <a:txBody>
                    <a:bodyPr/>
                    <a:lstStyle/>
                    <a:p>
                      <a:pPr marL="0" indent="0" algn="l">
                        <a:buNone/>
                      </a:pPr>
                      <a:r>
                        <a:rPr lang="en-US" sz="1300" dirty="0">
                          <a:solidFill>
                            <a:srgbClr val="2A3F4C"/>
                          </a:solidFill>
                          <a:latin typeface="Calibri" pitchFamily="34" charset="0"/>
                          <a:ea typeface="Calibri" pitchFamily="34" charset="-122"/>
                          <a:cs typeface="Calibri" pitchFamily="34" charset="-120"/>
                        </a:rPr>
                        <a:t>Traffic</a:t>
                      </a:r>
                      <a:endParaRPr lang="en-US" sz="130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2A3F4C"/>
                          </a:solidFill>
                          <a:latin typeface="Calibri" pitchFamily="34" charset="0"/>
                          <a:ea typeface="Calibri" pitchFamily="34" charset="-122"/>
                          <a:cs typeface="Calibri" pitchFamily="34" charset="-120"/>
                        </a:rPr>
                        <a:t>Large payloads, continuous</a:t>
                      </a:r>
                      <a:endParaRPr lang="en-US" sz="130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2A3F4C"/>
                          </a:solidFill>
                          <a:latin typeface="Calibri" pitchFamily="34" charset="0"/>
                          <a:ea typeface="Calibri" pitchFamily="34" charset="-122"/>
                          <a:cs typeface="Calibri" pitchFamily="34" charset="-120"/>
                        </a:rPr>
                        <a:t>Small, sporadic</a:t>
                      </a:r>
                      <a:endParaRPr lang="en-US" sz="130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300" dirty="0">
                          <a:solidFill>
                            <a:srgbClr val="2A3F4C"/>
                          </a:solidFill>
                          <a:latin typeface="Calibri" pitchFamily="34" charset="0"/>
                          <a:ea typeface="Calibri" pitchFamily="34" charset="-122"/>
                          <a:cs typeface="Calibri" pitchFamily="34" charset="-120"/>
                        </a:rPr>
                        <a:t>Priority</a:t>
                      </a:r>
                      <a:endParaRPr lang="en-US" sz="130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0F5F7"/>
                    </a:solidFill>
                  </a:tcPr>
                </a:tc>
                <a:tc>
                  <a:txBody>
                    <a:bodyPr/>
                    <a:lstStyle/>
                    <a:p>
                      <a:pPr marL="0" indent="0" algn="ctr">
                        <a:buNone/>
                      </a:pPr>
                      <a:r>
                        <a:rPr lang="en-US" sz="1300" dirty="0">
                          <a:solidFill>
                            <a:srgbClr val="2A3F4C"/>
                          </a:solidFill>
                          <a:latin typeface="Calibri" pitchFamily="34" charset="0"/>
                          <a:ea typeface="Calibri" pitchFamily="34" charset="-122"/>
                          <a:cs typeface="Calibri" pitchFamily="34" charset="-120"/>
                        </a:rPr>
                        <a:t>Data rate</a:t>
                      </a:r>
                      <a:endParaRPr lang="en-US" sz="130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0F5F7"/>
                    </a:solidFill>
                  </a:tcPr>
                </a:tc>
                <a:tc>
                  <a:txBody>
                    <a:bodyPr/>
                    <a:lstStyle/>
                    <a:p>
                      <a:pPr marL="0" indent="0" algn="ctr">
                        <a:buNone/>
                      </a:pPr>
                      <a:r>
                        <a:rPr lang="en-US" sz="1300" dirty="0">
                          <a:solidFill>
                            <a:srgbClr val="2A3F4C"/>
                          </a:solidFill>
                          <a:latin typeface="Calibri" pitchFamily="34" charset="0"/>
                          <a:ea typeface="Calibri" pitchFamily="34" charset="-122"/>
                          <a:cs typeface="Calibri" pitchFamily="34" charset="-120"/>
                        </a:rPr>
                        <a:t>Latency + reliability</a:t>
                      </a:r>
                      <a:endParaRPr lang="en-US" sz="130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0F5F7"/>
                    </a:solidFill>
                  </a:tcPr>
                </a:tc>
                <a:extLst>
                  <a:ext uri="{0D108BD9-81ED-4DB2-BD59-A6C34878D82A}">
                    <a16:rowId xmlns:a16="http://schemas.microsoft.com/office/drawing/2014/main" val="10002"/>
                  </a:ext>
                </a:extLst>
              </a:tr>
              <a:tr h="384048">
                <a:tc>
                  <a:txBody>
                    <a:bodyPr/>
                    <a:lstStyle/>
                    <a:p>
                      <a:pPr marL="0" indent="0" algn="l">
                        <a:buNone/>
                      </a:pPr>
                      <a:r>
                        <a:rPr lang="en-US" sz="1300" dirty="0">
                          <a:solidFill>
                            <a:srgbClr val="2A3F4C"/>
                          </a:solidFill>
                          <a:latin typeface="Calibri" pitchFamily="34" charset="0"/>
                          <a:ea typeface="Calibri" pitchFamily="34" charset="-122"/>
                          <a:cs typeface="Calibri" pitchFamily="34" charset="-120"/>
                        </a:rPr>
                        <a:t>Packets</a:t>
                      </a:r>
                      <a:endParaRPr lang="en-US" sz="130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2A3F4C"/>
                          </a:solidFill>
                          <a:latin typeface="Calibri" pitchFamily="34" charset="0"/>
                          <a:ea typeface="Calibri" pitchFamily="34" charset="-122"/>
                          <a:cs typeface="Calibri" pitchFamily="34" charset="-120"/>
                        </a:rPr>
                        <a:t>Long (Shannon capacity)</a:t>
                      </a:r>
                      <a:endParaRPr lang="en-US" sz="130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2A3F4C"/>
                          </a:solidFill>
                          <a:latin typeface="Calibri" pitchFamily="34" charset="0"/>
                          <a:ea typeface="Calibri" pitchFamily="34" charset="-122"/>
                          <a:cs typeface="Calibri" pitchFamily="34" charset="-120"/>
                        </a:rPr>
                        <a:t>Short (finite blocklength)</a:t>
                      </a:r>
                      <a:endParaRPr lang="en-US" sz="130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1300" dirty="0">
                          <a:solidFill>
                            <a:srgbClr val="2A3F4C"/>
                          </a:solidFill>
                          <a:latin typeface="Calibri" pitchFamily="34" charset="0"/>
                          <a:ea typeface="Calibri" pitchFamily="34" charset="-122"/>
                          <a:cs typeface="Calibri" pitchFamily="34" charset="-120"/>
                        </a:rPr>
                        <a:t>Target</a:t>
                      </a:r>
                      <a:endParaRPr lang="en-US" sz="130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0F5F7"/>
                    </a:solidFill>
                  </a:tcPr>
                </a:tc>
                <a:tc>
                  <a:txBody>
                    <a:bodyPr/>
                    <a:lstStyle/>
                    <a:p>
                      <a:pPr marL="0" indent="0" algn="ctr">
                        <a:buNone/>
                      </a:pPr>
                      <a:r>
                        <a:rPr lang="en-US" sz="1300" dirty="0">
                          <a:solidFill>
                            <a:srgbClr val="2A3F4C"/>
                          </a:solidFill>
                          <a:latin typeface="Calibri" pitchFamily="34" charset="0"/>
                          <a:ea typeface="Calibri" pitchFamily="34" charset="-122"/>
                          <a:cs typeface="Calibri" pitchFamily="34" charset="-120"/>
                        </a:rPr>
                        <a:t>Gbps to Tbps</a:t>
                      </a:r>
                      <a:endParaRPr lang="en-US" sz="130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0F5F7"/>
                    </a:solidFill>
                  </a:tcPr>
                </a:tc>
                <a:tc>
                  <a:txBody>
                    <a:bodyPr/>
                    <a:lstStyle/>
                    <a:p>
                      <a:pPr marL="0" indent="0" algn="ctr">
                        <a:buNone/>
                      </a:pPr>
                      <a:r>
                        <a:rPr lang="en-US" sz="1300" dirty="0">
                          <a:solidFill>
                            <a:srgbClr val="2A3F4C"/>
                          </a:solidFill>
                          <a:latin typeface="Calibri" pitchFamily="34" charset="0"/>
                          <a:ea typeface="Calibri" pitchFamily="34" charset="-122"/>
                          <a:cs typeface="Calibri" pitchFamily="34" charset="-120"/>
                        </a:rPr>
                        <a:t>≤ 1 ms, PER ≤ 10⁻⁵</a:t>
                      </a:r>
                      <a:endParaRPr lang="en-US" sz="130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0F5F7"/>
                    </a:solidFill>
                  </a:tcPr>
                </a:tc>
                <a:extLst>
                  <a:ext uri="{0D108BD9-81ED-4DB2-BD59-A6C34878D82A}">
                    <a16:rowId xmlns:a16="http://schemas.microsoft.com/office/drawing/2014/main" val="10004"/>
                  </a:ext>
                </a:extLst>
              </a:tr>
            </a:tbl>
          </a:graphicData>
        </a:graphic>
      </p:graphicFrame>
      <p:sp>
        <p:nvSpPr>
          <p:cNvPr id="12" name="Text 8"/>
          <p:cNvSpPr txBox="1"/>
          <p:nvPr/>
        </p:nvSpPr>
        <p:spPr>
          <a:xfrm>
            <a:off x="5806440" y="3703320"/>
            <a:ext cx="5715000" cy="1737360"/>
          </a:xfrm>
          <a:prstGeom prst="rect">
            <a:avLst/>
          </a:prstGeom>
          <a:noFill/>
          <a:ln/>
        </p:spPr>
        <p:txBody>
          <a:bodyPr wrap="square" lIns="0" tIns="0" rIns="0" bIns="0" rtlCol="0" anchor="t"/>
          <a:lstStyle/>
          <a:p>
            <a:pPr marL="0" indent="0">
              <a:buNone/>
            </a:pPr>
            <a:r>
              <a:rPr lang="en-US" sz="1450" b="1" dirty="0">
                <a:solidFill>
                  <a:srgbClr val="12394D"/>
                </a:solidFill>
                <a:latin typeface="Calibri" pitchFamily="34" charset="0"/>
                <a:ea typeface="Calibri" pitchFamily="34" charset="-122"/>
                <a:cs typeface="Calibri" pitchFamily="34" charset="-120"/>
              </a:rPr>
              <a:t>6G makes it harder</a:t>
            </a:r>
            <a:endParaRPr lang="en-US" sz="1450" dirty="0"/>
          </a:p>
          <a:p>
            <a:pPr marL="0" indent="0">
              <a:spcAft>
                <a:spcPts val="800"/>
              </a:spcAft>
              <a:buNone/>
            </a:pPr>
            <a:r>
              <a:rPr lang="en-US" sz="1250" dirty="0">
                <a:solidFill>
                  <a:srgbClr val="5F7A8A"/>
                </a:solidFill>
                <a:latin typeface="Calibri" pitchFamily="34" charset="0"/>
                <a:ea typeface="Calibri" pitchFamily="34" charset="-122"/>
                <a:cs typeface="Calibri" pitchFamily="34" charset="-120"/>
              </a:rPr>
              <a:t>mURLLC (many URLLC devices) and MBRLLC (rate and reliability: XR, vehicles)</a:t>
            </a:r>
            <a:endParaRPr lang="en-US" sz="1450" dirty="0"/>
          </a:p>
          <a:p>
            <a:pPr marL="0" indent="0">
              <a:buNone/>
            </a:pPr>
            <a:r>
              <a:rPr lang="en-US" sz="1450" b="1" dirty="0">
                <a:solidFill>
                  <a:srgbClr val="12394D"/>
                </a:solidFill>
                <a:latin typeface="Calibri" pitchFamily="34" charset="0"/>
                <a:ea typeface="Calibri" pitchFamily="34" charset="-122"/>
                <a:cs typeface="Calibri" pitchFamily="34" charset="-120"/>
              </a:rPr>
              <a:t>The gap</a:t>
            </a:r>
            <a:endParaRPr lang="en-US" sz="1450" dirty="0"/>
          </a:p>
          <a:p>
            <a:pPr marL="0" indent="0">
              <a:spcAft>
                <a:spcPts val="800"/>
              </a:spcAft>
              <a:buNone/>
            </a:pPr>
            <a:r>
              <a:rPr lang="en-US" sz="1250" dirty="0">
                <a:solidFill>
                  <a:srgbClr val="5F7A8A"/>
                </a:solidFill>
                <a:latin typeface="Calibri" pitchFamily="34" charset="0"/>
                <a:ea typeface="Calibri" pitchFamily="34" charset="-122"/>
                <a:cs typeface="Calibri" pitchFamily="34" charset="-120"/>
              </a:rPr>
              <a:t>Earlier surveys treat URLLC alone or the two services separately (Table 2, p. 5)</a:t>
            </a:r>
            <a:endParaRPr lang="en-US" sz="1450" dirty="0"/>
          </a:p>
        </p:txBody>
      </p:sp>
      <p:pic>
        <p:nvPicPr>
          <p:cNvPr id="14" name="Image 13">
            <a:extLst>
              <a:ext uri="{FF2B5EF4-FFF2-40B4-BE49-F238E27FC236}">
                <a16:creationId xmlns:a16="http://schemas.microsoft.com/office/drawing/2014/main" id="{33B62F1C-DD66-5129-6BE9-6E4BC7007F0E}"/>
              </a:ext>
            </a:extLst>
          </p:cNvPr>
          <p:cNvPicPr>
            <a:picLocks noChangeAspect="1"/>
          </p:cNvPicPr>
          <p:nvPr/>
        </p:nvPicPr>
        <p:blipFill>
          <a:blip r:embed="rId3"/>
          <a:stretch>
            <a:fillRect/>
          </a:stretch>
        </p:blipFill>
        <p:spPr>
          <a:xfrm>
            <a:off x="218202" y="1256498"/>
            <a:ext cx="4974900" cy="4345003"/>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320040"/>
          </a:xfrm>
          <a:prstGeom prst="rect">
            <a:avLst/>
          </a:prstGeom>
          <a:noFill/>
          <a:ln/>
        </p:spPr>
        <p:txBody>
          <a:bodyPr wrap="square" lIns="0" tIns="0" rIns="0" bIns="0" rtlCol="0" anchor="t"/>
          <a:lstStyle/>
          <a:p>
            <a:pPr marL="0" indent="0">
              <a:buNone/>
            </a:pPr>
            <a:r>
              <a:rPr lang="en-US" sz="1400" b="1" kern="0" spc="200" dirty="0">
                <a:solidFill>
                  <a:srgbClr val="2BB3A3"/>
                </a:solidFill>
                <a:latin typeface="Calibri" pitchFamily="34" charset="0"/>
                <a:ea typeface="Calibri" pitchFamily="34" charset="-122"/>
                <a:cs typeface="Calibri" pitchFamily="34" charset="-120"/>
              </a:rPr>
              <a:t>Survey 3 · Adhikari et al. · eMBB–URLLC coexistence</a:t>
            </a:r>
            <a:endParaRPr lang="en-US" sz="1400" dirty="0"/>
          </a:p>
        </p:txBody>
      </p:sp>
      <p:sp>
        <p:nvSpPr>
          <p:cNvPr id="3" name="Text 1"/>
          <p:cNvSpPr txBox="1"/>
          <p:nvPr/>
        </p:nvSpPr>
        <p:spPr>
          <a:xfrm>
            <a:off x="640080" y="786384"/>
            <a:ext cx="10881360" cy="640080"/>
          </a:xfrm>
          <a:prstGeom prst="rect">
            <a:avLst/>
          </a:prstGeom>
          <a:noFill/>
          <a:ln/>
        </p:spPr>
        <p:txBody>
          <a:bodyPr wrap="square" lIns="0" tIns="0" rIns="0" bIns="0" rtlCol="0" anchor="t">
            <a:normAutofit/>
          </a:bodyPr>
          <a:lstStyle/>
          <a:p>
            <a:pPr marL="0" indent="0">
              <a:buNone/>
            </a:pPr>
            <a:r>
              <a:rPr lang="en-US" sz="2700" b="1" dirty="0">
                <a:solidFill>
                  <a:srgbClr val="12394D"/>
                </a:solidFill>
                <a:latin typeface="Cambria" pitchFamily="34" charset="0"/>
                <a:ea typeface="Cambria" pitchFamily="34" charset="-122"/>
                <a:cs typeface="Cambria" pitchFamily="34" charset="-120"/>
              </a:rPr>
              <a:t>Sharing a slot: puncturing, superposition, OMA vs NOMA</a:t>
            </a:r>
            <a:endParaRPr lang="en-US" sz="2700" dirty="0"/>
          </a:p>
        </p:txBody>
      </p:sp>
      <p:sp>
        <p:nvSpPr>
          <p:cNvPr id="4" name="Shape 2"/>
          <p:cNvSpPr/>
          <p:nvPr/>
        </p:nvSpPr>
        <p:spPr>
          <a:xfrm>
            <a:off x="6126480" y="4681728"/>
            <a:ext cx="5394960" cy="658368"/>
          </a:xfrm>
          <a:prstGeom prst="roundRect">
            <a:avLst>
              <a:gd name="adj" fmla="val 10909"/>
            </a:avLst>
          </a:prstGeom>
          <a:solidFill>
            <a:srgbClr val="E6F4F2"/>
          </a:solidFill>
          <a:ln w="12700">
            <a:solidFill>
              <a:srgbClr val="E6F4F2"/>
            </a:solidFill>
            <a:prstDash val="solid"/>
          </a:ln>
        </p:spPr>
        <p:txBody>
          <a:bodyPr/>
          <a:lstStyle/>
          <a:p>
            <a:endParaRPr lang="en-US" dirty="0"/>
          </a:p>
        </p:txBody>
      </p:sp>
      <p:sp>
        <p:nvSpPr>
          <p:cNvPr id="5" name="Text 3"/>
          <p:cNvSpPr txBox="1"/>
          <p:nvPr/>
        </p:nvSpPr>
        <p:spPr>
          <a:xfrm>
            <a:off x="6469811" y="4759452"/>
            <a:ext cx="4980892" cy="502920"/>
          </a:xfrm>
          <a:prstGeom prst="rect">
            <a:avLst/>
          </a:prstGeom>
          <a:noFill/>
          <a:ln/>
        </p:spPr>
        <p:txBody>
          <a:bodyPr wrap="square" lIns="0" tIns="0" rIns="0" bIns="0" rtlCol="0" anchor="ctr"/>
          <a:lstStyle/>
          <a:p>
            <a:pPr marL="0" indent="0" algn="ctr">
              <a:buNone/>
            </a:pPr>
            <a:r>
              <a:rPr lang="en-US" sz="1400" b="1" dirty="0">
                <a:solidFill>
                  <a:srgbClr val="1A8A99"/>
                </a:solidFill>
                <a:latin typeface="Calibri" pitchFamily="34" charset="0"/>
                <a:ea typeface="Calibri" pitchFamily="34" charset="-122"/>
                <a:cs typeface="Calibri" pitchFamily="34" charset="-120"/>
              </a:rPr>
              <a:t>Takeaway  </a:t>
            </a:r>
            <a:r>
              <a:rPr lang="en-US" sz="1400" dirty="0">
                <a:solidFill>
                  <a:srgbClr val="12394D"/>
                </a:solidFill>
                <a:latin typeface="Calibri" pitchFamily="34" charset="0"/>
                <a:ea typeface="Calibri" pitchFamily="34" charset="-122"/>
                <a:cs typeface="Calibri" pitchFamily="34" charset="-120"/>
              </a:rPr>
              <a:t>No sharing mechanism is free: puncturing hurts eMBB, NOMA adds interference and SIC delay.</a:t>
            </a:r>
            <a:endParaRPr lang="en-US" sz="1400" dirty="0"/>
          </a:p>
        </p:txBody>
      </p:sp>
      <p:sp>
        <p:nvSpPr>
          <p:cNvPr id="6" name="Text 4"/>
          <p:cNvSpPr txBox="1"/>
          <p:nvPr/>
        </p:nvSpPr>
        <p:spPr>
          <a:xfrm>
            <a:off x="640080" y="6355080"/>
            <a:ext cx="6400800" cy="274320"/>
          </a:xfrm>
          <a:prstGeom prst="rect">
            <a:avLst/>
          </a:prstGeom>
          <a:noFill/>
          <a:ln/>
        </p:spPr>
        <p:txBody>
          <a:bodyPr wrap="square" lIns="0" tIns="0" rIns="0" bIns="0" rtlCol="0" anchor="t"/>
          <a:lstStyle/>
          <a:p>
            <a:pPr marL="0" indent="0">
              <a:buNone/>
            </a:pPr>
            <a:r>
              <a:rPr lang="en-US" sz="1100" dirty="0">
                <a:solidFill>
                  <a:srgbClr val="5F7A8A"/>
                </a:solidFill>
                <a:latin typeface="Calibri" pitchFamily="34" charset="0"/>
                <a:ea typeface="Calibri" pitchFamily="34" charset="-122"/>
                <a:cs typeface="Calibri" pitchFamily="34" charset="-120"/>
              </a:rPr>
              <a:t>RS2M Department · Télécom SudParis · Palaiseau, France</a:t>
            </a:r>
            <a:endParaRPr lang="en-US" sz="1100" dirty="0"/>
          </a:p>
        </p:txBody>
      </p:sp>
      <p:sp>
        <p:nvSpPr>
          <p:cNvPr id="7" name="Text 5"/>
          <p:cNvSpPr txBox="1"/>
          <p:nvPr/>
        </p:nvSpPr>
        <p:spPr>
          <a:xfrm>
            <a:off x="11064240" y="6355080"/>
            <a:ext cx="457200" cy="274320"/>
          </a:xfrm>
          <a:prstGeom prst="rect">
            <a:avLst/>
          </a:prstGeom>
          <a:noFill/>
          <a:ln/>
        </p:spPr>
        <p:txBody>
          <a:bodyPr wrap="square" lIns="0" tIns="0" rIns="0" bIns="0" rtlCol="0" anchor="t"/>
          <a:lstStyle/>
          <a:p>
            <a:pPr marL="0" indent="0" algn="r">
              <a:buNone/>
            </a:pPr>
            <a:r>
              <a:rPr lang="fr-FR" sz="1100" dirty="0">
                <a:solidFill>
                  <a:srgbClr val="5F7A8A"/>
                </a:solidFill>
                <a:latin typeface="Calibri" pitchFamily="34" charset="0"/>
                <a:ea typeface="Calibri" pitchFamily="34" charset="-122"/>
                <a:cs typeface="Calibri" pitchFamily="34" charset="-120"/>
              </a:rPr>
              <a:t>29</a:t>
            </a:r>
            <a:endParaRPr lang="en-US" sz="1100" dirty="0"/>
          </a:p>
        </p:txBody>
      </p:sp>
      <p:sp>
        <p:nvSpPr>
          <p:cNvPr id="13" name="Text 10"/>
          <p:cNvSpPr txBox="1"/>
          <p:nvPr/>
        </p:nvSpPr>
        <p:spPr>
          <a:xfrm>
            <a:off x="6126480" y="1645920"/>
            <a:ext cx="5394960" cy="3794760"/>
          </a:xfrm>
          <a:prstGeom prst="rect">
            <a:avLst/>
          </a:prstGeom>
          <a:noFill/>
          <a:ln/>
        </p:spPr>
        <p:txBody>
          <a:bodyPr wrap="square" lIns="0" tIns="0" rIns="0" bIns="0" rtlCol="0" anchor="t"/>
          <a:lstStyle/>
          <a:p>
            <a:pPr marL="0" indent="0">
              <a:buNone/>
            </a:pPr>
            <a:r>
              <a:rPr lang="en-US" sz="1450" b="1" dirty="0">
                <a:solidFill>
                  <a:srgbClr val="12394D"/>
                </a:solidFill>
                <a:latin typeface="Calibri" pitchFamily="34" charset="0"/>
                <a:ea typeface="Calibri" pitchFamily="34" charset="-122"/>
                <a:cs typeface="Calibri" pitchFamily="34" charset="-120"/>
              </a:rPr>
              <a:t>Slots and mini-slots</a:t>
            </a:r>
            <a:endParaRPr lang="en-US" sz="1450" dirty="0"/>
          </a:p>
          <a:p>
            <a:pPr marL="0" indent="0">
              <a:spcAft>
                <a:spcPts val="700"/>
              </a:spcAft>
              <a:buNone/>
            </a:pPr>
            <a:r>
              <a:rPr lang="en-US" sz="1250" dirty="0">
                <a:solidFill>
                  <a:srgbClr val="5F7A8A"/>
                </a:solidFill>
                <a:latin typeface="Calibri" pitchFamily="34" charset="0"/>
                <a:ea typeface="Calibri" pitchFamily="34" charset="-122"/>
                <a:cs typeface="Calibri" pitchFamily="34" charset="-120"/>
              </a:rPr>
              <a:t>eMBB is scheduled per slot; URLLC arrives in mini-slots inside it</a:t>
            </a:r>
            <a:endParaRPr lang="en-US" sz="1450" dirty="0"/>
          </a:p>
          <a:p>
            <a:pPr marL="0" indent="0">
              <a:buNone/>
            </a:pPr>
            <a:r>
              <a:rPr lang="en-US" sz="1450" b="1" dirty="0">
                <a:solidFill>
                  <a:srgbClr val="12394D"/>
                </a:solidFill>
                <a:latin typeface="Calibri" pitchFamily="34" charset="0"/>
                <a:ea typeface="Calibri" pitchFamily="34" charset="-122"/>
                <a:cs typeface="Calibri" pitchFamily="34" charset="-120"/>
              </a:rPr>
              <a:t>Puncturing</a:t>
            </a:r>
            <a:endParaRPr lang="en-US" sz="1450" dirty="0"/>
          </a:p>
          <a:p>
            <a:pPr marL="0" indent="0">
              <a:spcAft>
                <a:spcPts val="700"/>
              </a:spcAft>
              <a:buNone/>
            </a:pPr>
            <a:r>
              <a:rPr lang="en-US" sz="1250" dirty="0">
                <a:solidFill>
                  <a:srgbClr val="5F7A8A"/>
                </a:solidFill>
                <a:latin typeface="Calibri" pitchFamily="34" charset="0"/>
                <a:ea typeface="Calibri" pitchFamily="34" charset="-122"/>
                <a:cs typeface="Calibri" pitchFamily="34" charset="-120"/>
              </a:rPr>
              <a:t>eMBB power set to zero in the mini-slot: no interference, but eMBB loses rate</a:t>
            </a:r>
            <a:endParaRPr lang="en-US" sz="1450" dirty="0"/>
          </a:p>
          <a:p>
            <a:pPr marL="0" indent="0">
              <a:buNone/>
            </a:pPr>
            <a:r>
              <a:rPr lang="en-US" sz="1450" b="1" dirty="0">
                <a:solidFill>
                  <a:srgbClr val="12394D"/>
                </a:solidFill>
                <a:latin typeface="Calibri" pitchFamily="34" charset="0"/>
                <a:ea typeface="Calibri" pitchFamily="34" charset="-122"/>
                <a:cs typeface="Calibri" pitchFamily="34" charset="-120"/>
              </a:rPr>
              <a:t>Superposition</a:t>
            </a:r>
            <a:endParaRPr lang="en-US" sz="1450" dirty="0"/>
          </a:p>
          <a:p>
            <a:pPr marL="0" indent="0">
              <a:spcAft>
                <a:spcPts val="700"/>
              </a:spcAft>
              <a:buNone/>
            </a:pPr>
            <a:r>
              <a:rPr lang="en-US" sz="1250" dirty="0">
                <a:solidFill>
                  <a:srgbClr val="5F7A8A"/>
                </a:solidFill>
                <a:latin typeface="Calibri" pitchFamily="34" charset="0"/>
                <a:ea typeface="Calibri" pitchFamily="34" charset="-122"/>
                <a:cs typeface="Calibri" pitchFamily="34" charset="-120"/>
              </a:rPr>
              <a:t>Both share the mini-slot; URLLC power factor 0.5–1 (puncturing = 1)</a:t>
            </a:r>
            <a:endParaRPr lang="en-US" sz="1450" dirty="0"/>
          </a:p>
          <a:p>
            <a:pPr marL="0" indent="0">
              <a:buNone/>
            </a:pPr>
            <a:r>
              <a:rPr lang="en-US" sz="1450" b="1" dirty="0">
                <a:solidFill>
                  <a:srgbClr val="12394D"/>
                </a:solidFill>
                <a:latin typeface="Calibri" pitchFamily="34" charset="0"/>
                <a:ea typeface="Calibri" pitchFamily="34" charset="-122"/>
                <a:cs typeface="Calibri" pitchFamily="34" charset="-120"/>
              </a:rPr>
              <a:t>OMA vs NOMA</a:t>
            </a:r>
            <a:endParaRPr lang="en-US" sz="1450" dirty="0"/>
          </a:p>
          <a:p>
            <a:pPr marL="0" indent="0">
              <a:spcAft>
                <a:spcPts val="700"/>
              </a:spcAft>
              <a:buNone/>
            </a:pPr>
            <a:r>
              <a:rPr lang="en-US" sz="1250" dirty="0">
                <a:solidFill>
                  <a:srgbClr val="5F7A8A"/>
                </a:solidFill>
                <a:latin typeface="Calibri" pitchFamily="34" charset="0"/>
                <a:ea typeface="Calibri" pitchFamily="34" charset="-122"/>
                <a:cs typeface="Calibri" pitchFamily="34" charset="-120"/>
              </a:rPr>
              <a:t>OMA: no interference, low efficiency · NOMA: efficient, but SIC delay conflicts with URLLC</a:t>
            </a:r>
            <a:endParaRPr lang="en-US" sz="1450" dirty="0"/>
          </a:p>
          <a:p>
            <a:pPr marL="0" indent="0">
              <a:buNone/>
            </a:pPr>
            <a:r>
              <a:rPr lang="en-US" sz="1450" b="1" dirty="0">
                <a:solidFill>
                  <a:srgbClr val="12394D"/>
                </a:solidFill>
                <a:latin typeface="Calibri" pitchFamily="34" charset="0"/>
                <a:ea typeface="Calibri" pitchFamily="34" charset="-122"/>
                <a:cs typeface="Calibri" pitchFamily="34" charset="-120"/>
              </a:rPr>
              <a:t>RSMA</a:t>
            </a:r>
            <a:endParaRPr lang="en-US" sz="1450" dirty="0"/>
          </a:p>
          <a:p>
            <a:pPr marL="0" indent="0">
              <a:spcAft>
                <a:spcPts val="700"/>
              </a:spcAft>
              <a:buNone/>
            </a:pPr>
            <a:r>
              <a:rPr lang="en-US" sz="1250" dirty="0">
                <a:solidFill>
                  <a:srgbClr val="5F7A8A"/>
                </a:solidFill>
                <a:latin typeface="Calibri" pitchFamily="34" charset="0"/>
                <a:ea typeface="Calibri" pitchFamily="34" charset="-122"/>
                <a:cs typeface="Calibri" pitchFamily="34" charset="-120"/>
              </a:rPr>
              <a:t>Decodes part of the interference: robust to imperfect CSI</a:t>
            </a:r>
            <a:endParaRPr lang="en-US" sz="1450" dirty="0"/>
          </a:p>
        </p:txBody>
      </p:sp>
      <p:pic>
        <p:nvPicPr>
          <p:cNvPr id="14" name="Image 13">
            <a:extLst>
              <a:ext uri="{FF2B5EF4-FFF2-40B4-BE49-F238E27FC236}">
                <a16:creationId xmlns:a16="http://schemas.microsoft.com/office/drawing/2014/main" id="{ABE117F7-0FE4-554C-48DB-233D36EAFEE3}"/>
              </a:ext>
            </a:extLst>
          </p:cNvPr>
          <p:cNvPicPr>
            <a:picLocks noChangeAspect="1"/>
          </p:cNvPicPr>
          <p:nvPr/>
        </p:nvPicPr>
        <p:blipFill>
          <a:blip r:embed="rId3"/>
          <a:stretch>
            <a:fillRect/>
          </a:stretch>
        </p:blipFill>
        <p:spPr>
          <a:xfrm>
            <a:off x="1543528" y="1202307"/>
            <a:ext cx="3011219" cy="2413364"/>
          </a:xfrm>
          <a:prstGeom prst="rect">
            <a:avLst/>
          </a:prstGeom>
        </p:spPr>
      </p:pic>
      <p:pic>
        <p:nvPicPr>
          <p:cNvPr id="16" name="Image 15">
            <a:extLst>
              <a:ext uri="{FF2B5EF4-FFF2-40B4-BE49-F238E27FC236}">
                <a16:creationId xmlns:a16="http://schemas.microsoft.com/office/drawing/2014/main" id="{41E401B8-1C9D-9E96-2A0D-1A76580E4A2E}"/>
              </a:ext>
            </a:extLst>
          </p:cNvPr>
          <p:cNvPicPr>
            <a:picLocks noChangeAspect="1"/>
          </p:cNvPicPr>
          <p:nvPr/>
        </p:nvPicPr>
        <p:blipFill>
          <a:blip r:embed="rId4"/>
          <a:stretch>
            <a:fillRect/>
          </a:stretch>
        </p:blipFill>
        <p:spPr>
          <a:xfrm>
            <a:off x="1537629" y="3615671"/>
            <a:ext cx="3017118" cy="2345182"/>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320040"/>
          </a:xfrm>
          <a:prstGeom prst="rect">
            <a:avLst/>
          </a:prstGeom>
          <a:noFill/>
          <a:ln/>
        </p:spPr>
        <p:txBody>
          <a:bodyPr wrap="square" lIns="0" tIns="0" rIns="0" bIns="0" rtlCol="0" anchor="t"/>
          <a:lstStyle/>
          <a:p>
            <a:pPr marL="0" indent="0">
              <a:buNone/>
            </a:pPr>
            <a:r>
              <a:rPr lang="en-US" sz="1400" b="1" kern="0" spc="200" dirty="0">
                <a:solidFill>
                  <a:srgbClr val="2BB3A3"/>
                </a:solidFill>
                <a:latin typeface="Calibri" pitchFamily="34" charset="0"/>
                <a:ea typeface="Calibri" pitchFamily="34" charset="-122"/>
                <a:cs typeface="Calibri" pitchFamily="34" charset="-120"/>
              </a:rPr>
              <a:t>Survey 3 · Adhikari et al. · eMBB–URLLC coexistence</a:t>
            </a:r>
            <a:endParaRPr lang="en-US" sz="1400" dirty="0"/>
          </a:p>
        </p:txBody>
      </p:sp>
      <p:sp>
        <p:nvSpPr>
          <p:cNvPr id="3" name="Text 1"/>
          <p:cNvSpPr txBox="1"/>
          <p:nvPr/>
        </p:nvSpPr>
        <p:spPr>
          <a:xfrm>
            <a:off x="640080" y="786384"/>
            <a:ext cx="10881360" cy="640080"/>
          </a:xfrm>
          <a:prstGeom prst="rect">
            <a:avLst/>
          </a:prstGeom>
          <a:noFill/>
          <a:ln/>
        </p:spPr>
        <p:txBody>
          <a:bodyPr wrap="square" lIns="0" tIns="0" rIns="0" bIns="0" rtlCol="0" anchor="t">
            <a:normAutofit/>
          </a:bodyPr>
          <a:lstStyle/>
          <a:p>
            <a:pPr marL="0" indent="0">
              <a:buNone/>
            </a:pPr>
            <a:r>
              <a:rPr lang="en-US" sz="2700" b="1" dirty="0">
                <a:solidFill>
                  <a:srgbClr val="12394D"/>
                </a:solidFill>
                <a:latin typeface="Cambria" pitchFamily="34" charset="0"/>
                <a:ea typeface="Cambria" pitchFamily="34" charset="-122"/>
                <a:cs typeface="Cambria" pitchFamily="34" charset="-120"/>
              </a:rPr>
              <a:t>The rate-loss model: how URLLC load is charged to eMBB</a:t>
            </a:r>
            <a:endParaRPr lang="en-US" sz="2700" dirty="0"/>
          </a:p>
        </p:txBody>
      </p:sp>
      <p:sp>
        <p:nvSpPr>
          <p:cNvPr id="4" name="Shape 2"/>
          <p:cNvSpPr/>
          <p:nvPr/>
        </p:nvSpPr>
        <p:spPr>
          <a:xfrm>
            <a:off x="640080" y="5596128"/>
            <a:ext cx="10881360" cy="502920"/>
          </a:xfrm>
          <a:prstGeom prst="roundRect">
            <a:avLst>
              <a:gd name="adj" fmla="val 10909"/>
            </a:avLst>
          </a:prstGeom>
          <a:solidFill>
            <a:srgbClr val="E6F4F2"/>
          </a:solidFill>
          <a:ln w="12700">
            <a:solidFill>
              <a:srgbClr val="E6F4F2"/>
            </a:solidFill>
            <a:prstDash val="solid"/>
          </a:ln>
        </p:spPr>
        <p:txBody>
          <a:bodyPr/>
          <a:lstStyle/>
          <a:p>
            <a:endParaRPr lang="en-US"/>
          </a:p>
        </p:txBody>
      </p:sp>
      <p:sp>
        <p:nvSpPr>
          <p:cNvPr id="5" name="Text 3"/>
          <p:cNvSpPr txBox="1"/>
          <p:nvPr/>
        </p:nvSpPr>
        <p:spPr>
          <a:xfrm>
            <a:off x="868680" y="5596128"/>
            <a:ext cx="10469880" cy="502920"/>
          </a:xfrm>
          <a:prstGeom prst="rect">
            <a:avLst/>
          </a:prstGeom>
          <a:noFill/>
          <a:ln/>
        </p:spPr>
        <p:txBody>
          <a:bodyPr wrap="square" lIns="0" tIns="0" rIns="0" bIns="0" rtlCol="0" anchor="ctr"/>
          <a:lstStyle/>
          <a:p>
            <a:pPr marL="0" indent="0">
              <a:buNone/>
            </a:pPr>
            <a:r>
              <a:rPr lang="en-US" sz="1400" b="1" dirty="0">
                <a:solidFill>
                  <a:srgbClr val="1A8A99"/>
                </a:solidFill>
                <a:latin typeface="Calibri" pitchFamily="34" charset="0"/>
                <a:ea typeface="Calibri" pitchFamily="34" charset="-122"/>
                <a:cs typeface="Calibri" pitchFamily="34" charset="-120"/>
              </a:rPr>
              <a:t>Takeaway  </a:t>
            </a:r>
            <a:r>
              <a:rPr lang="en-US" sz="1400" dirty="0">
                <a:solidFill>
                  <a:srgbClr val="12394D"/>
                </a:solidFill>
                <a:latin typeface="Calibri" pitchFamily="34" charset="0"/>
                <a:ea typeface="Calibri" pitchFamily="34" charset="-122"/>
                <a:cs typeface="Calibri" pitchFamily="34" charset="-120"/>
              </a:rPr>
              <a:t>The choice of h(·) is a modelling assumption that every coexistence study, mine included, should state.</a:t>
            </a:r>
            <a:endParaRPr lang="en-US" sz="1400" dirty="0"/>
          </a:p>
        </p:txBody>
      </p:sp>
      <p:sp>
        <p:nvSpPr>
          <p:cNvPr id="6" name="Text 4"/>
          <p:cNvSpPr txBox="1"/>
          <p:nvPr/>
        </p:nvSpPr>
        <p:spPr>
          <a:xfrm>
            <a:off x="640080" y="6355080"/>
            <a:ext cx="6400800" cy="274320"/>
          </a:xfrm>
          <a:prstGeom prst="rect">
            <a:avLst/>
          </a:prstGeom>
          <a:noFill/>
          <a:ln/>
        </p:spPr>
        <p:txBody>
          <a:bodyPr wrap="square" lIns="0" tIns="0" rIns="0" bIns="0" rtlCol="0" anchor="t"/>
          <a:lstStyle/>
          <a:p>
            <a:pPr marL="0" indent="0">
              <a:buNone/>
            </a:pPr>
            <a:r>
              <a:rPr lang="en-US" sz="1100" dirty="0">
                <a:solidFill>
                  <a:srgbClr val="5F7A8A"/>
                </a:solidFill>
                <a:latin typeface="Calibri" pitchFamily="34" charset="0"/>
                <a:ea typeface="Calibri" pitchFamily="34" charset="-122"/>
                <a:cs typeface="Calibri" pitchFamily="34" charset="-120"/>
              </a:rPr>
              <a:t>RS2M Department · Télécom SudParis · Palaiseau, France</a:t>
            </a:r>
            <a:endParaRPr lang="en-US" sz="1100" dirty="0"/>
          </a:p>
        </p:txBody>
      </p:sp>
      <p:sp>
        <p:nvSpPr>
          <p:cNvPr id="7" name="Text 5"/>
          <p:cNvSpPr txBox="1"/>
          <p:nvPr/>
        </p:nvSpPr>
        <p:spPr>
          <a:xfrm>
            <a:off x="11064240" y="6355080"/>
            <a:ext cx="457200" cy="274320"/>
          </a:xfrm>
          <a:prstGeom prst="rect">
            <a:avLst/>
          </a:prstGeom>
          <a:noFill/>
          <a:ln/>
        </p:spPr>
        <p:txBody>
          <a:bodyPr wrap="square" lIns="0" tIns="0" rIns="0" bIns="0" rtlCol="0" anchor="t"/>
          <a:lstStyle/>
          <a:p>
            <a:pPr marL="0" indent="0" algn="r">
              <a:buNone/>
            </a:pPr>
            <a:r>
              <a:rPr lang="en-US" sz="1100" dirty="0">
                <a:solidFill>
                  <a:srgbClr val="5F7A8A"/>
                </a:solidFill>
                <a:latin typeface="Calibri" pitchFamily="34" charset="0"/>
                <a:ea typeface="Calibri" pitchFamily="34" charset="-122"/>
                <a:cs typeface="Calibri" pitchFamily="34" charset="-120"/>
              </a:rPr>
              <a:t>30</a:t>
            </a:r>
            <a:endParaRPr lang="en-US" sz="1100" dirty="0"/>
          </a:p>
        </p:txBody>
      </p:sp>
      <p:sp>
        <p:nvSpPr>
          <p:cNvPr id="9" name="Shape 6"/>
          <p:cNvSpPr/>
          <p:nvPr/>
        </p:nvSpPr>
        <p:spPr>
          <a:xfrm>
            <a:off x="640080" y="1645920"/>
            <a:ext cx="5120640" cy="2788920"/>
          </a:xfrm>
          <a:prstGeom prst="roundRect">
            <a:avLst>
              <a:gd name="adj" fmla="val 1967"/>
            </a:avLst>
          </a:prstGeom>
          <a:solidFill>
            <a:srgbClr val="F7FAFB"/>
          </a:solidFill>
          <a:ln w="15875">
            <a:solidFill>
              <a:srgbClr val="9FB4C2"/>
            </a:solidFill>
            <a:prstDash val="dash"/>
          </a:ln>
        </p:spPr>
        <p:txBody>
          <a:bodyPr/>
          <a:lstStyle/>
          <a:p>
            <a:endParaRPr lang="en-US"/>
          </a:p>
        </p:txBody>
      </p:sp>
      <p:sp>
        <p:nvSpPr>
          <p:cNvPr id="11" name="Text 8"/>
          <p:cNvSpPr txBox="1"/>
          <p:nvPr/>
        </p:nvSpPr>
        <p:spPr>
          <a:xfrm>
            <a:off x="640080" y="4617720"/>
            <a:ext cx="5120640" cy="822960"/>
          </a:xfrm>
          <a:prstGeom prst="rect">
            <a:avLst/>
          </a:prstGeom>
          <a:noFill/>
          <a:ln/>
        </p:spPr>
        <p:txBody>
          <a:bodyPr wrap="square" lIns="0" tIns="0" rIns="0" bIns="0" rtlCol="0" anchor="t"/>
          <a:lstStyle/>
          <a:p>
            <a:pPr marL="0" indent="0" algn="ctr">
              <a:buNone/>
            </a:pPr>
            <a:r>
              <a:rPr lang="en-US" sz="2000" b="1" dirty="0">
                <a:solidFill>
                  <a:srgbClr val="12394D"/>
                </a:solidFill>
                <a:latin typeface="Cambria" pitchFamily="34" charset="0"/>
                <a:ea typeface="Cambria" pitchFamily="34" charset="-122"/>
                <a:cs typeface="Cambria" pitchFamily="34" charset="-120"/>
              </a:rPr>
              <a:t>g = r · ψ · ( 1 − h( L / ψ ) )</a:t>
            </a:r>
            <a:endParaRPr lang="en-US" sz="2000" dirty="0"/>
          </a:p>
          <a:p>
            <a:pPr marL="0" indent="0" algn="ctr">
              <a:buNone/>
            </a:pPr>
            <a:r>
              <a:rPr lang="en-US" sz="1250" dirty="0">
                <a:solidFill>
                  <a:srgbClr val="5F7A8A"/>
                </a:solidFill>
                <a:latin typeface="Calibri" pitchFamily="34" charset="0"/>
                <a:ea typeface="Calibri" pitchFamily="34" charset="-122"/>
                <a:cs typeface="Calibri" pitchFamily="34" charset="-120"/>
              </a:rPr>
              <a:t>r: mean eMBB rate  ·  ψ: eMBB allocation  ·  L: URLLC load</a:t>
            </a:r>
            <a:endParaRPr lang="en-US" sz="2000" dirty="0"/>
          </a:p>
        </p:txBody>
      </p:sp>
      <p:sp>
        <p:nvSpPr>
          <p:cNvPr id="12" name="Shape 9"/>
          <p:cNvSpPr/>
          <p:nvPr/>
        </p:nvSpPr>
        <p:spPr>
          <a:xfrm>
            <a:off x="6126480" y="1645920"/>
            <a:ext cx="5394960" cy="1161288"/>
          </a:xfrm>
          <a:prstGeom prst="roundRect">
            <a:avLst>
              <a:gd name="adj" fmla="val 4724"/>
            </a:avLst>
          </a:prstGeom>
          <a:solidFill>
            <a:srgbClr val="12394D"/>
          </a:solidFill>
          <a:ln w="12700">
            <a:solidFill>
              <a:srgbClr val="12394D"/>
            </a:solidFill>
            <a:prstDash val="solid"/>
          </a:ln>
        </p:spPr>
        <p:txBody>
          <a:bodyPr/>
          <a:lstStyle/>
          <a:p>
            <a:endParaRPr lang="en-US"/>
          </a:p>
        </p:txBody>
      </p:sp>
      <p:sp>
        <p:nvSpPr>
          <p:cNvPr id="13" name="Text 10"/>
          <p:cNvSpPr txBox="1"/>
          <p:nvPr/>
        </p:nvSpPr>
        <p:spPr>
          <a:xfrm>
            <a:off x="6355080" y="1810512"/>
            <a:ext cx="4937760" cy="411480"/>
          </a:xfrm>
          <a:prstGeom prst="rect">
            <a:avLst/>
          </a:prstGeom>
          <a:noFill/>
          <a:ln/>
        </p:spPr>
        <p:txBody>
          <a:bodyPr wrap="square" lIns="0" tIns="0" rIns="0" bIns="0" rtlCol="0" anchor="t"/>
          <a:lstStyle/>
          <a:p>
            <a:pPr marL="0" indent="0">
              <a:buNone/>
            </a:pPr>
            <a:r>
              <a:rPr lang="en-US" sz="1500" b="1" dirty="0">
                <a:solidFill>
                  <a:srgbClr val="FFFFFF"/>
                </a:solidFill>
                <a:latin typeface="Cambria" pitchFamily="34" charset="0"/>
                <a:ea typeface="Cambria" pitchFamily="34" charset="-122"/>
                <a:cs typeface="Cambria" pitchFamily="34" charset="-120"/>
              </a:rPr>
              <a:t>Linear  h(x) = x</a:t>
            </a:r>
            <a:endParaRPr lang="en-US" sz="1500" dirty="0"/>
          </a:p>
        </p:txBody>
      </p:sp>
      <p:sp>
        <p:nvSpPr>
          <p:cNvPr id="14" name="Text 11"/>
          <p:cNvSpPr txBox="1"/>
          <p:nvPr/>
        </p:nvSpPr>
        <p:spPr>
          <a:xfrm>
            <a:off x="6355080" y="2148840"/>
            <a:ext cx="4937760" cy="548640"/>
          </a:xfrm>
          <a:prstGeom prst="rect">
            <a:avLst/>
          </a:prstGeom>
          <a:noFill/>
          <a:ln/>
        </p:spPr>
        <p:txBody>
          <a:bodyPr wrap="square" lIns="0" tIns="0" rIns="0" bIns="0" rtlCol="0" anchor="t"/>
          <a:lstStyle/>
          <a:p>
            <a:pPr marL="0" indent="0">
              <a:buNone/>
            </a:pPr>
            <a:r>
              <a:rPr lang="en-US" sz="1250" dirty="0">
                <a:solidFill>
                  <a:srgbClr val="C3D3DD"/>
                </a:solidFill>
                <a:latin typeface="Calibri" pitchFamily="34" charset="0"/>
                <a:ea typeface="Calibri" pitchFamily="34" charset="-122"/>
                <a:cs typeface="Calibri" pitchFamily="34" charset="-120"/>
              </a:rPr>
              <a:t>Loss proportional to the punctured fraction; the joint scheduler decomposes cleanly; any URLLC arrival distribution</a:t>
            </a:r>
            <a:endParaRPr lang="en-US" sz="1250" dirty="0"/>
          </a:p>
        </p:txBody>
      </p:sp>
      <p:sp>
        <p:nvSpPr>
          <p:cNvPr id="15" name="Shape 12"/>
          <p:cNvSpPr/>
          <p:nvPr/>
        </p:nvSpPr>
        <p:spPr>
          <a:xfrm>
            <a:off x="6126480" y="2926080"/>
            <a:ext cx="5394960" cy="1161288"/>
          </a:xfrm>
          <a:prstGeom prst="roundRect">
            <a:avLst>
              <a:gd name="adj" fmla="val 4724"/>
            </a:avLst>
          </a:prstGeom>
          <a:solidFill>
            <a:srgbClr val="F0F5F7"/>
          </a:solidFill>
          <a:ln w="12700">
            <a:solidFill>
              <a:srgbClr val="F0F5F7"/>
            </a:solidFill>
            <a:prstDash val="solid"/>
          </a:ln>
        </p:spPr>
        <p:txBody>
          <a:bodyPr/>
          <a:lstStyle/>
          <a:p>
            <a:endParaRPr lang="en-US"/>
          </a:p>
        </p:txBody>
      </p:sp>
      <p:sp>
        <p:nvSpPr>
          <p:cNvPr id="16" name="Text 13"/>
          <p:cNvSpPr txBox="1"/>
          <p:nvPr/>
        </p:nvSpPr>
        <p:spPr>
          <a:xfrm>
            <a:off x="6355080" y="3090672"/>
            <a:ext cx="4937760" cy="411480"/>
          </a:xfrm>
          <a:prstGeom prst="rect">
            <a:avLst/>
          </a:prstGeom>
          <a:noFill/>
          <a:ln/>
        </p:spPr>
        <p:txBody>
          <a:bodyPr wrap="square" lIns="0" tIns="0" rIns="0" bIns="0" rtlCol="0" anchor="t"/>
          <a:lstStyle/>
          <a:p>
            <a:pPr marL="0" indent="0">
              <a:buNone/>
            </a:pPr>
            <a:r>
              <a:rPr lang="en-US" sz="1500" b="1" dirty="0">
                <a:solidFill>
                  <a:srgbClr val="12394D"/>
                </a:solidFill>
                <a:latin typeface="Cambria" pitchFamily="34" charset="0"/>
                <a:ea typeface="Cambria" pitchFamily="34" charset="-122"/>
                <a:cs typeface="Cambria" pitchFamily="34" charset="-120"/>
              </a:rPr>
              <a:t>Convex</a:t>
            </a:r>
            <a:endParaRPr lang="en-US" sz="1500" dirty="0"/>
          </a:p>
        </p:txBody>
      </p:sp>
      <p:sp>
        <p:nvSpPr>
          <p:cNvPr id="17" name="Text 14"/>
          <p:cNvSpPr txBox="1"/>
          <p:nvPr/>
        </p:nvSpPr>
        <p:spPr>
          <a:xfrm>
            <a:off x="6355080" y="3429000"/>
            <a:ext cx="4937760" cy="548640"/>
          </a:xfrm>
          <a:prstGeom prst="rect">
            <a:avLst/>
          </a:prstGeom>
          <a:noFill/>
          <a:ln/>
        </p:spPr>
        <p:txBody>
          <a:bodyPr wrap="square" lIns="0" tIns="0" rIns="0" bIns="0" rtlCol="0" anchor="t"/>
          <a:lstStyle/>
          <a:p>
            <a:pPr marL="0" indent="0">
              <a:buNone/>
            </a:pPr>
            <a:r>
              <a:rPr lang="en-US" sz="1250" dirty="0">
                <a:solidFill>
                  <a:srgbClr val="2A3F4C"/>
                </a:solidFill>
                <a:latin typeface="Calibri" pitchFamily="34" charset="0"/>
                <a:ea typeface="Calibri" pitchFamily="34" charset="-122"/>
                <a:cs typeface="Calibri" pitchFamily="34" charset="-120"/>
              </a:rPr>
              <a:t>Loss grows faster than linearly; needs an approximation algorithm; eMBB users spread across the whole slot</a:t>
            </a:r>
            <a:endParaRPr lang="en-US" sz="1250" dirty="0"/>
          </a:p>
        </p:txBody>
      </p:sp>
      <p:sp>
        <p:nvSpPr>
          <p:cNvPr id="18" name="Shape 15"/>
          <p:cNvSpPr/>
          <p:nvPr/>
        </p:nvSpPr>
        <p:spPr>
          <a:xfrm>
            <a:off x="6126480" y="4206240"/>
            <a:ext cx="5394960" cy="1161288"/>
          </a:xfrm>
          <a:prstGeom prst="roundRect">
            <a:avLst>
              <a:gd name="adj" fmla="val 4724"/>
            </a:avLst>
          </a:prstGeom>
          <a:solidFill>
            <a:srgbClr val="F0F5F7"/>
          </a:solidFill>
          <a:ln w="12700">
            <a:solidFill>
              <a:srgbClr val="F0F5F7"/>
            </a:solidFill>
            <a:prstDash val="solid"/>
          </a:ln>
        </p:spPr>
        <p:txBody>
          <a:bodyPr/>
          <a:lstStyle/>
          <a:p>
            <a:endParaRPr lang="en-US"/>
          </a:p>
        </p:txBody>
      </p:sp>
      <p:sp>
        <p:nvSpPr>
          <p:cNvPr id="19" name="Text 16"/>
          <p:cNvSpPr txBox="1"/>
          <p:nvPr/>
        </p:nvSpPr>
        <p:spPr>
          <a:xfrm>
            <a:off x="6355080" y="4370832"/>
            <a:ext cx="4937760" cy="411480"/>
          </a:xfrm>
          <a:prstGeom prst="rect">
            <a:avLst/>
          </a:prstGeom>
          <a:noFill/>
          <a:ln/>
        </p:spPr>
        <p:txBody>
          <a:bodyPr wrap="square" lIns="0" tIns="0" rIns="0" bIns="0" rtlCol="0" anchor="t"/>
          <a:lstStyle/>
          <a:p>
            <a:pPr marL="0" indent="0">
              <a:buNone/>
            </a:pPr>
            <a:r>
              <a:rPr lang="en-US" sz="1500" b="1" dirty="0">
                <a:solidFill>
                  <a:srgbClr val="12394D"/>
                </a:solidFill>
                <a:latin typeface="Cambria" pitchFamily="34" charset="0"/>
                <a:ea typeface="Cambria" pitchFamily="34" charset="-122"/>
                <a:cs typeface="Cambria" pitchFamily="34" charset="-120"/>
              </a:rPr>
              <a:t>Threshold (0–1)</a:t>
            </a:r>
            <a:endParaRPr lang="en-US" sz="1500" dirty="0"/>
          </a:p>
        </p:txBody>
      </p:sp>
      <p:sp>
        <p:nvSpPr>
          <p:cNvPr id="20" name="Text 17"/>
          <p:cNvSpPr txBox="1"/>
          <p:nvPr/>
        </p:nvSpPr>
        <p:spPr>
          <a:xfrm>
            <a:off x="6355080" y="4709160"/>
            <a:ext cx="4937760" cy="548640"/>
          </a:xfrm>
          <a:prstGeom prst="rect">
            <a:avLst/>
          </a:prstGeom>
          <a:noFill/>
          <a:ln/>
        </p:spPr>
        <p:txBody>
          <a:bodyPr wrap="square" lIns="0" tIns="0" rIns="0" bIns="0" rtlCol="0" anchor="t"/>
          <a:lstStyle/>
          <a:p>
            <a:pPr marL="0" indent="0">
              <a:buNone/>
            </a:pPr>
            <a:r>
              <a:rPr lang="en-US" sz="1250" dirty="0">
                <a:solidFill>
                  <a:srgbClr val="2A3F4C"/>
                </a:solidFill>
                <a:latin typeface="Calibri" pitchFamily="34" charset="0"/>
                <a:ea typeface="Calibri" pitchFamily="34" charset="-122"/>
                <a:cs typeface="Calibri" pitchFamily="34" charset="-120"/>
              </a:rPr>
              <a:t>No loss until a threshold, then the codeword is lost entirely; URLLC placed proportionally to rate</a:t>
            </a:r>
            <a:endParaRPr lang="en-US" sz="1250" dirty="0"/>
          </a:p>
        </p:txBody>
      </p:sp>
      <p:pic>
        <p:nvPicPr>
          <p:cNvPr id="21" name="Image 20">
            <a:extLst>
              <a:ext uri="{FF2B5EF4-FFF2-40B4-BE49-F238E27FC236}">
                <a16:creationId xmlns:a16="http://schemas.microsoft.com/office/drawing/2014/main" id="{F8D92261-3D71-CC9E-CA31-06044B49ACF7}"/>
              </a:ext>
            </a:extLst>
          </p:cNvPr>
          <p:cNvPicPr>
            <a:picLocks noChangeAspect="1"/>
          </p:cNvPicPr>
          <p:nvPr/>
        </p:nvPicPr>
        <p:blipFill>
          <a:blip r:embed="rId3"/>
          <a:stretch>
            <a:fillRect/>
          </a:stretch>
        </p:blipFill>
        <p:spPr>
          <a:xfrm>
            <a:off x="868680" y="2020139"/>
            <a:ext cx="4629796" cy="2181529"/>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320040"/>
          </a:xfrm>
          <a:prstGeom prst="rect">
            <a:avLst/>
          </a:prstGeom>
          <a:noFill/>
          <a:ln/>
        </p:spPr>
        <p:txBody>
          <a:bodyPr wrap="square" lIns="0" tIns="0" rIns="0" bIns="0" rtlCol="0" anchor="t"/>
          <a:lstStyle/>
          <a:p>
            <a:pPr marL="0" indent="0">
              <a:buNone/>
            </a:pPr>
            <a:r>
              <a:rPr lang="en-US" sz="1400" b="1" kern="0" spc="200" dirty="0">
                <a:solidFill>
                  <a:srgbClr val="2BB3A3"/>
                </a:solidFill>
                <a:latin typeface="Calibri" pitchFamily="34" charset="0"/>
                <a:ea typeface="Calibri" pitchFamily="34" charset="-122"/>
                <a:cs typeface="Calibri" pitchFamily="34" charset="-120"/>
              </a:rPr>
              <a:t>Survey 3 · Adhikari et al. · eMBB–URLLC coexistence</a:t>
            </a:r>
            <a:endParaRPr lang="en-US" sz="1400" dirty="0"/>
          </a:p>
        </p:txBody>
      </p:sp>
      <p:sp>
        <p:nvSpPr>
          <p:cNvPr id="3" name="Text 1"/>
          <p:cNvSpPr txBox="1"/>
          <p:nvPr/>
        </p:nvSpPr>
        <p:spPr>
          <a:xfrm>
            <a:off x="640080" y="786384"/>
            <a:ext cx="10881360" cy="640080"/>
          </a:xfrm>
          <a:prstGeom prst="rect">
            <a:avLst/>
          </a:prstGeom>
          <a:noFill/>
          <a:ln/>
        </p:spPr>
        <p:txBody>
          <a:bodyPr wrap="square" lIns="0" tIns="0" rIns="0" bIns="0" rtlCol="0" anchor="t">
            <a:normAutofit/>
          </a:bodyPr>
          <a:lstStyle/>
          <a:p>
            <a:pPr marL="0" indent="0">
              <a:buNone/>
            </a:pPr>
            <a:r>
              <a:rPr lang="en-US" sz="2700" b="1" dirty="0">
                <a:solidFill>
                  <a:srgbClr val="12394D"/>
                </a:solidFill>
                <a:latin typeface="Cambria" pitchFamily="34" charset="0"/>
                <a:ea typeface="Cambria" pitchFamily="34" charset="-122"/>
                <a:cs typeface="Cambria" pitchFamily="34" charset="-120"/>
              </a:rPr>
              <a:t>Optimisation-based allocation: slicing, scheduling, flexible TTI</a:t>
            </a:r>
            <a:endParaRPr lang="en-US" sz="2700" dirty="0"/>
          </a:p>
        </p:txBody>
      </p:sp>
      <p:sp>
        <p:nvSpPr>
          <p:cNvPr id="4" name="Shape 2"/>
          <p:cNvSpPr/>
          <p:nvPr/>
        </p:nvSpPr>
        <p:spPr>
          <a:xfrm>
            <a:off x="640080" y="5596128"/>
            <a:ext cx="10881360" cy="502920"/>
          </a:xfrm>
          <a:prstGeom prst="roundRect">
            <a:avLst>
              <a:gd name="adj" fmla="val 10909"/>
            </a:avLst>
          </a:prstGeom>
          <a:solidFill>
            <a:srgbClr val="E6F4F2"/>
          </a:solidFill>
          <a:ln w="12700">
            <a:solidFill>
              <a:srgbClr val="E6F4F2"/>
            </a:solidFill>
            <a:prstDash val="solid"/>
          </a:ln>
        </p:spPr>
        <p:txBody>
          <a:bodyPr/>
          <a:lstStyle/>
          <a:p>
            <a:endParaRPr lang="en-US"/>
          </a:p>
        </p:txBody>
      </p:sp>
      <p:sp>
        <p:nvSpPr>
          <p:cNvPr id="5" name="Text 3"/>
          <p:cNvSpPr txBox="1"/>
          <p:nvPr/>
        </p:nvSpPr>
        <p:spPr>
          <a:xfrm>
            <a:off x="868680" y="5596128"/>
            <a:ext cx="10469880" cy="502920"/>
          </a:xfrm>
          <a:prstGeom prst="rect">
            <a:avLst/>
          </a:prstGeom>
          <a:noFill/>
          <a:ln/>
        </p:spPr>
        <p:txBody>
          <a:bodyPr wrap="square" lIns="0" tIns="0" rIns="0" bIns="0" rtlCol="0" anchor="ctr"/>
          <a:lstStyle/>
          <a:p>
            <a:pPr marL="0" indent="0">
              <a:buNone/>
            </a:pPr>
            <a:r>
              <a:rPr lang="en-US" sz="1400" b="1" dirty="0">
                <a:solidFill>
                  <a:srgbClr val="1A8A99"/>
                </a:solidFill>
                <a:latin typeface="Calibri" pitchFamily="34" charset="0"/>
                <a:ea typeface="Calibri" pitchFamily="34" charset="-122"/>
                <a:cs typeface="Calibri" pitchFamily="34" charset="-120"/>
              </a:rPr>
              <a:t>Takeaway  </a:t>
            </a:r>
            <a:r>
              <a:rPr lang="en-US" sz="1400" dirty="0">
                <a:solidFill>
                  <a:srgbClr val="12394D"/>
                </a:solidFill>
                <a:latin typeface="Calibri" pitchFamily="34" charset="0"/>
                <a:ea typeface="Calibri" pitchFamily="34" charset="-122"/>
                <a:cs typeface="Calibri" pitchFamily="34" charset="-120"/>
              </a:rPr>
              <a:t>URLLC QoS depends on the URLLC load itself: results must be reported across loads.</a:t>
            </a:r>
            <a:endParaRPr lang="en-US" sz="1400" dirty="0"/>
          </a:p>
        </p:txBody>
      </p:sp>
      <p:sp>
        <p:nvSpPr>
          <p:cNvPr id="6" name="Text 4"/>
          <p:cNvSpPr txBox="1"/>
          <p:nvPr/>
        </p:nvSpPr>
        <p:spPr>
          <a:xfrm>
            <a:off x="640080" y="6355080"/>
            <a:ext cx="6400800" cy="274320"/>
          </a:xfrm>
          <a:prstGeom prst="rect">
            <a:avLst/>
          </a:prstGeom>
          <a:noFill/>
          <a:ln/>
        </p:spPr>
        <p:txBody>
          <a:bodyPr wrap="square" lIns="0" tIns="0" rIns="0" bIns="0" rtlCol="0" anchor="t"/>
          <a:lstStyle/>
          <a:p>
            <a:pPr marL="0" indent="0">
              <a:buNone/>
            </a:pPr>
            <a:r>
              <a:rPr lang="en-US" sz="1100" dirty="0">
                <a:solidFill>
                  <a:srgbClr val="5F7A8A"/>
                </a:solidFill>
                <a:latin typeface="Calibri" pitchFamily="34" charset="0"/>
                <a:ea typeface="Calibri" pitchFamily="34" charset="-122"/>
                <a:cs typeface="Calibri" pitchFamily="34" charset="-120"/>
              </a:rPr>
              <a:t>RS2M Department · Télécom SudParis · Palaiseau, France</a:t>
            </a:r>
            <a:endParaRPr lang="en-US" sz="1100" dirty="0"/>
          </a:p>
        </p:txBody>
      </p:sp>
      <p:sp>
        <p:nvSpPr>
          <p:cNvPr id="7" name="Text 5"/>
          <p:cNvSpPr txBox="1"/>
          <p:nvPr/>
        </p:nvSpPr>
        <p:spPr>
          <a:xfrm>
            <a:off x="11064240" y="6355080"/>
            <a:ext cx="457200" cy="274320"/>
          </a:xfrm>
          <a:prstGeom prst="rect">
            <a:avLst/>
          </a:prstGeom>
          <a:noFill/>
          <a:ln/>
        </p:spPr>
        <p:txBody>
          <a:bodyPr wrap="square" lIns="0" tIns="0" rIns="0" bIns="0" rtlCol="0" anchor="t"/>
          <a:lstStyle/>
          <a:p>
            <a:pPr marL="0" indent="0" algn="r">
              <a:buNone/>
            </a:pPr>
            <a:r>
              <a:rPr lang="en-US" sz="1100" dirty="0">
                <a:solidFill>
                  <a:srgbClr val="5F7A8A"/>
                </a:solidFill>
                <a:latin typeface="Calibri" pitchFamily="34" charset="0"/>
                <a:ea typeface="Calibri" pitchFamily="34" charset="-122"/>
                <a:cs typeface="Calibri" pitchFamily="34" charset="-120"/>
              </a:rPr>
              <a:t>31</a:t>
            </a:r>
            <a:endParaRPr lang="en-US" sz="1100" dirty="0"/>
          </a:p>
        </p:txBody>
      </p:sp>
      <p:sp>
        <p:nvSpPr>
          <p:cNvPr id="11" name="Shape 8"/>
          <p:cNvSpPr/>
          <p:nvPr/>
        </p:nvSpPr>
        <p:spPr>
          <a:xfrm>
            <a:off x="4617720" y="1645920"/>
            <a:ext cx="3337560" cy="1783080"/>
          </a:xfrm>
          <a:prstGeom prst="roundRect">
            <a:avLst>
              <a:gd name="adj" fmla="val 3077"/>
            </a:avLst>
          </a:prstGeom>
          <a:solidFill>
            <a:srgbClr val="F0F5F7"/>
          </a:solidFill>
          <a:ln w="12700">
            <a:solidFill>
              <a:srgbClr val="F0F5F7"/>
            </a:solidFill>
            <a:prstDash val="solid"/>
          </a:ln>
        </p:spPr>
        <p:txBody>
          <a:bodyPr/>
          <a:lstStyle/>
          <a:p>
            <a:endParaRPr lang="en-US"/>
          </a:p>
        </p:txBody>
      </p:sp>
      <p:sp>
        <p:nvSpPr>
          <p:cNvPr id="12" name="Text 9"/>
          <p:cNvSpPr txBox="1"/>
          <p:nvPr/>
        </p:nvSpPr>
        <p:spPr>
          <a:xfrm>
            <a:off x="4846320" y="1810512"/>
            <a:ext cx="2880360" cy="411480"/>
          </a:xfrm>
          <a:prstGeom prst="rect">
            <a:avLst/>
          </a:prstGeom>
          <a:noFill/>
          <a:ln/>
        </p:spPr>
        <p:txBody>
          <a:bodyPr wrap="square" lIns="0" tIns="0" rIns="0" bIns="0" rtlCol="0" anchor="t"/>
          <a:lstStyle/>
          <a:p>
            <a:pPr marL="0" indent="0">
              <a:buNone/>
            </a:pPr>
            <a:r>
              <a:rPr lang="en-US" sz="1500" b="1" dirty="0">
                <a:solidFill>
                  <a:srgbClr val="12394D"/>
                </a:solidFill>
                <a:latin typeface="Cambria" pitchFamily="34" charset="0"/>
                <a:ea typeface="Cambria" pitchFamily="34" charset="-122"/>
                <a:cs typeface="Cambria" pitchFamily="34" charset="-120"/>
              </a:rPr>
              <a:t>General optimisation</a:t>
            </a:r>
            <a:endParaRPr lang="en-US" sz="1500" dirty="0"/>
          </a:p>
        </p:txBody>
      </p:sp>
      <p:sp>
        <p:nvSpPr>
          <p:cNvPr id="13" name="Text 10"/>
          <p:cNvSpPr txBox="1"/>
          <p:nvPr/>
        </p:nvSpPr>
        <p:spPr>
          <a:xfrm>
            <a:off x="4846320" y="2212848"/>
            <a:ext cx="2880360" cy="1106424"/>
          </a:xfrm>
          <a:prstGeom prst="rect">
            <a:avLst/>
          </a:prstGeom>
          <a:noFill/>
          <a:ln/>
        </p:spPr>
        <p:txBody>
          <a:bodyPr wrap="square" lIns="0" tIns="0" rIns="0" bIns="0" rtlCol="0" anchor="t"/>
          <a:lstStyle/>
          <a:p>
            <a:pPr marL="0" indent="0">
              <a:buNone/>
            </a:pPr>
            <a:r>
              <a:rPr lang="en-US" sz="1250" dirty="0">
                <a:solidFill>
                  <a:srgbClr val="2A3F4C"/>
                </a:solidFill>
                <a:latin typeface="Calibri" pitchFamily="34" charset="0"/>
                <a:ea typeface="Calibri" pitchFamily="34" charset="-122"/>
                <a:cs typeface="Calibri" pitchFamily="34" charset="-120"/>
              </a:rPr>
              <a:t>Matching, BCD, Lyapunov, MINLP. DDGSP error 48.2 → 4.1 %; multi-connectivity up to +49 % throughput</a:t>
            </a:r>
            <a:endParaRPr lang="en-US" sz="1250" dirty="0"/>
          </a:p>
        </p:txBody>
      </p:sp>
      <p:sp>
        <p:nvSpPr>
          <p:cNvPr id="14" name="Shape 11"/>
          <p:cNvSpPr/>
          <p:nvPr/>
        </p:nvSpPr>
        <p:spPr>
          <a:xfrm>
            <a:off x="8183880" y="1645920"/>
            <a:ext cx="3337560" cy="1783080"/>
          </a:xfrm>
          <a:prstGeom prst="roundRect">
            <a:avLst>
              <a:gd name="adj" fmla="val 3077"/>
            </a:avLst>
          </a:prstGeom>
          <a:solidFill>
            <a:srgbClr val="F0F5F7"/>
          </a:solidFill>
          <a:ln w="12700">
            <a:solidFill>
              <a:srgbClr val="F0F5F7"/>
            </a:solidFill>
            <a:prstDash val="solid"/>
          </a:ln>
        </p:spPr>
        <p:txBody>
          <a:bodyPr/>
          <a:lstStyle/>
          <a:p>
            <a:endParaRPr lang="en-US"/>
          </a:p>
        </p:txBody>
      </p:sp>
      <p:sp>
        <p:nvSpPr>
          <p:cNvPr id="15" name="Text 12"/>
          <p:cNvSpPr txBox="1"/>
          <p:nvPr/>
        </p:nvSpPr>
        <p:spPr>
          <a:xfrm>
            <a:off x="8412480" y="1810512"/>
            <a:ext cx="2880360" cy="411480"/>
          </a:xfrm>
          <a:prstGeom prst="rect">
            <a:avLst/>
          </a:prstGeom>
          <a:noFill/>
          <a:ln/>
        </p:spPr>
        <p:txBody>
          <a:bodyPr wrap="square" lIns="0" tIns="0" rIns="0" bIns="0" rtlCol="0" anchor="t"/>
          <a:lstStyle/>
          <a:p>
            <a:pPr marL="0" indent="0">
              <a:buNone/>
            </a:pPr>
            <a:r>
              <a:rPr lang="en-US" sz="1500" b="1" dirty="0">
                <a:solidFill>
                  <a:srgbClr val="12394D"/>
                </a:solidFill>
                <a:latin typeface="Cambria" pitchFamily="34" charset="0"/>
                <a:ea typeface="Cambria" pitchFamily="34" charset="-122"/>
                <a:cs typeface="Cambria" pitchFamily="34" charset="-120"/>
              </a:rPr>
              <a:t>Network slicing</a:t>
            </a:r>
            <a:endParaRPr lang="en-US" sz="1500" dirty="0"/>
          </a:p>
        </p:txBody>
      </p:sp>
      <p:sp>
        <p:nvSpPr>
          <p:cNvPr id="16" name="Text 13"/>
          <p:cNvSpPr txBox="1"/>
          <p:nvPr/>
        </p:nvSpPr>
        <p:spPr>
          <a:xfrm>
            <a:off x="8412480" y="2212848"/>
            <a:ext cx="2880360" cy="1106424"/>
          </a:xfrm>
          <a:prstGeom prst="rect">
            <a:avLst/>
          </a:prstGeom>
          <a:noFill/>
          <a:ln/>
        </p:spPr>
        <p:txBody>
          <a:bodyPr wrap="square" lIns="0" tIns="0" rIns="0" bIns="0" rtlCol="0" anchor="t"/>
          <a:lstStyle/>
          <a:p>
            <a:pPr marL="0" indent="0">
              <a:buNone/>
            </a:pPr>
            <a:r>
              <a:rPr lang="en-US" sz="1250" dirty="0">
                <a:solidFill>
                  <a:srgbClr val="2A3F4C"/>
                </a:solidFill>
                <a:latin typeface="Calibri" pitchFamily="34" charset="0"/>
                <a:ea typeface="Calibri" pitchFamily="34" charset="-122"/>
                <a:cs typeface="Calibri" pitchFamily="34" charset="-120"/>
              </a:rPr>
              <a:t>OMA, NOMA and RSMA slices; RSMA has the largest rate region and tolerates imperfect CSI</a:t>
            </a:r>
            <a:endParaRPr lang="en-US" sz="1250" dirty="0"/>
          </a:p>
        </p:txBody>
      </p:sp>
      <p:sp>
        <p:nvSpPr>
          <p:cNvPr id="17" name="Shape 14"/>
          <p:cNvSpPr/>
          <p:nvPr/>
        </p:nvSpPr>
        <p:spPr>
          <a:xfrm>
            <a:off x="4617720" y="3566160"/>
            <a:ext cx="3337560" cy="1783080"/>
          </a:xfrm>
          <a:prstGeom prst="roundRect">
            <a:avLst>
              <a:gd name="adj" fmla="val 3077"/>
            </a:avLst>
          </a:prstGeom>
          <a:solidFill>
            <a:srgbClr val="12394D"/>
          </a:solidFill>
          <a:ln w="12700">
            <a:solidFill>
              <a:srgbClr val="12394D"/>
            </a:solidFill>
            <a:prstDash val="solid"/>
          </a:ln>
        </p:spPr>
        <p:txBody>
          <a:bodyPr/>
          <a:lstStyle/>
          <a:p>
            <a:endParaRPr lang="en-US"/>
          </a:p>
        </p:txBody>
      </p:sp>
      <p:sp>
        <p:nvSpPr>
          <p:cNvPr id="18" name="Text 15"/>
          <p:cNvSpPr txBox="1"/>
          <p:nvPr/>
        </p:nvSpPr>
        <p:spPr>
          <a:xfrm>
            <a:off x="4846320" y="3730752"/>
            <a:ext cx="2880360" cy="411480"/>
          </a:xfrm>
          <a:prstGeom prst="rect">
            <a:avLst/>
          </a:prstGeom>
          <a:noFill/>
          <a:ln/>
        </p:spPr>
        <p:txBody>
          <a:bodyPr wrap="square" lIns="0" tIns="0" rIns="0" bIns="0" rtlCol="0" anchor="t"/>
          <a:lstStyle/>
          <a:p>
            <a:pPr marL="0" indent="0">
              <a:buNone/>
            </a:pPr>
            <a:r>
              <a:rPr lang="en-US" sz="1500" b="1" dirty="0">
                <a:solidFill>
                  <a:srgbClr val="FFFFFF"/>
                </a:solidFill>
                <a:latin typeface="Cambria" pitchFamily="34" charset="0"/>
                <a:ea typeface="Cambria" pitchFamily="34" charset="-122"/>
                <a:cs typeface="Cambria" pitchFamily="34" charset="-120"/>
              </a:rPr>
              <a:t>Scheduling</a:t>
            </a:r>
            <a:endParaRPr lang="en-US" sz="1500" dirty="0"/>
          </a:p>
        </p:txBody>
      </p:sp>
      <p:sp>
        <p:nvSpPr>
          <p:cNvPr id="19" name="Text 16"/>
          <p:cNvSpPr txBox="1"/>
          <p:nvPr/>
        </p:nvSpPr>
        <p:spPr>
          <a:xfrm>
            <a:off x="4846320" y="4133088"/>
            <a:ext cx="2880360" cy="1106424"/>
          </a:xfrm>
          <a:prstGeom prst="rect">
            <a:avLst/>
          </a:prstGeom>
          <a:noFill/>
          <a:ln/>
        </p:spPr>
        <p:txBody>
          <a:bodyPr wrap="square" lIns="0" tIns="0" rIns="0" bIns="0" rtlCol="0" anchor="t"/>
          <a:lstStyle/>
          <a:p>
            <a:pPr marL="0" indent="0">
              <a:buNone/>
            </a:pPr>
            <a:r>
              <a:rPr lang="en-US" sz="1250" dirty="0">
                <a:solidFill>
                  <a:srgbClr val="C3D3DD"/>
                </a:solidFill>
                <a:latin typeface="Calibri" pitchFamily="34" charset="0"/>
                <a:ea typeface="Calibri" pitchFamily="34" charset="-122"/>
                <a:cs typeface="Calibri" pitchFamily="34" charset="-120"/>
              </a:rPr>
              <a:t>Null-space pre-emption (eNSBPS). Joint link adaptation: URLLC 1.3 → 1 ms at 99.999th pct for −10 % eMBB</a:t>
            </a:r>
            <a:endParaRPr lang="en-US" sz="1250" dirty="0"/>
          </a:p>
        </p:txBody>
      </p:sp>
      <p:sp>
        <p:nvSpPr>
          <p:cNvPr id="20" name="Shape 17"/>
          <p:cNvSpPr/>
          <p:nvPr/>
        </p:nvSpPr>
        <p:spPr>
          <a:xfrm>
            <a:off x="8183880" y="3566160"/>
            <a:ext cx="3337560" cy="1783080"/>
          </a:xfrm>
          <a:prstGeom prst="roundRect">
            <a:avLst>
              <a:gd name="adj" fmla="val 3077"/>
            </a:avLst>
          </a:prstGeom>
          <a:solidFill>
            <a:srgbClr val="F0F5F7"/>
          </a:solidFill>
          <a:ln w="12700">
            <a:solidFill>
              <a:srgbClr val="F0F5F7"/>
            </a:solidFill>
            <a:prstDash val="solid"/>
          </a:ln>
        </p:spPr>
        <p:txBody>
          <a:bodyPr/>
          <a:lstStyle/>
          <a:p>
            <a:endParaRPr lang="en-US"/>
          </a:p>
        </p:txBody>
      </p:sp>
      <p:sp>
        <p:nvSpPr>
          <p:cNvPr id="21" name="Text 18"/>
          <p:cNvSpPr txBox="1"/>
          <p:nvPr/>
        </p:nvSpPr>
        <p:spPr>
          <a:xfrm>
            <a:off x="8412480" y="3730752"/>
            <a:ext cx="2880360" cy="411480"/>
          </a:xfrm>
          <a:prstGeom prst="rect">
            <a:avLst/>
          </a:prstGeom>
          <a:noFill/>
          <a:ln/>
        </p:spPr>
        <p:txBody>
          <a:bodyPr wrap="square" lIns="0" tIns="0" rIns="0" bIns="0" rtlCol="0" anchor="t"/>
          <a:lstStyle/>
          <a:p>
            <a:pPr marL="0" indent="0">
              <a:buNone/>
            </a:pPr>
            <a:r>
              <a:rPr lang="en-US" sz="1500" b="1" dirty="0">
                <a:solidFill>
                  <a:srgbClr val="12394D"/>
                </a:solidFill>
                <a:latin typeface="Cambria" pitchFamily="34" charset="0"/>
                <a:ea typeface="Cambria" pitchFamily="34" charset="-122"/>
                <a:cs typeface="Cambria" pitchFamily="34" charset="-120"/>
              </a:rPr>
              <a:t>Flexible TTI</a:t>
            </a:r>
            <a:endParaRPr lang="en-US" sz="1500" dirty="0"/>
          </a:p>
        </p:txBody>
      </p:sp>
      <p:sp>
        <p:nvSpPr>
          <p:cNvPr id="22" name="Text 19"/>
          <p:cNvSpPr txBox="1"/>
          <p:nvPr/>
        </p:nvSpPr>
        <p:spPr>
          <a:xfrm>
            <a:off x="8412480" y="4133088"/>
            <a:ext cx="2880360" cy="1106424"/>
          </a:xfrm>
          <a:prstGeom prst="rect">
            <a:avLst/>
          </a:prstGeom>
          <a:noFill/>
          <a:ln/>
        </p:spPr>
        <p:txBody>
          <a:bodyPr wrap="square" lIns="0" tIns="0" rIns="0" bIns="0" rtlCol="0" anchor="t"/>
          <a:lstStyle/>
          <a:p>
            <a:pPr marL="0" indent="0">
              <a:buNone/>
            </a:pPr>
            <a:r>
              <a:rPr lang="en-US" sz="1250" dirty="0">
                <a:solidFill>
                  <a:srgbClr val="2A3F4C"/>
                </a:solidFill>
                <a:latin typeface="Calibri" pitchFamily="34" charset="0"/>
                <a:ea typeface="Calibri" pitchFamily="34" charset="-122"/>
                <a:cs typeface="Calibri" pitchFamily="34" charset="-120"/>
              </a:rPr>
              <a:t>Short TTIs help only at low URLLC load; under heavy load, control overhead favours longer TTIs</a:t>
            </a:r>
            <a:endParaRPr lang="en-US" sz="1250" dirty="0"/>
          </a:p>
        </p:txBody>
      </p:sp>
      <p:pic>
        <p:nvPicPr>
          <p:cNvPr id="23" name="Image 22">
            <a:extLst>
              <a:ext uri="{FF2B5EF4-FFF2-40B4-BE49-F238E27FC236}">
                <a16:creationId xmlns:a16="http://schemas.microsoft.com/office/drawing/2014/main" id="{ABB9E97E-60E8-A8AF-2128-99250E0A2426}"/>
              </a:ext>
            </a:extLst>
          </p:cNvPr>
          <p:cNvPicPr>
            <a:picLocks noChangeAspect="1"/>
          </p:cNvPicPr>
          <p:nvPr/>
        </p:nvPicPr>
        <p:blipFill>
          <a:blip r:embed="rId3"/>
          <a:stretch>
            <a:fillRect/>
          </a:stretch>
        </p:blipFill>
        <p:spPr>
          <a:xfrm>
            <a:off x="487179" y="2239163"/>
            <a:ext cx="3589016" cy="2379673"/>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320040"/>
          </a:xfrm>
          <a:prstGeom prst="rect">
            <a:avLst/>
          </a:prstGeom>
          <a:noFill/>
          <a:ln/>
        </p:spPr>
        <p:txBody>
          <a:bodyPr wrap="square" lIns="0" tIns="0" rIns="0" bIns="0" rtlCol="0" anchor="t"/>
          <a:lstStyle/>
          <a:p>
            <a:pPr marL="0" indent="0">
              <a:buNone/>
            </a:pPr>
            <a:r>
              <a:rPr lang="en-US" sz="1400" b="1" kern="0" spc="200" dirty="0">
                <a:solidFill>
                  <a:srgbClr val="2BB3A3"/>
                </a:solidFill>
                <a:latin typeface="Calibri" pitchFamily="34" charset="0"/>
                <a:ea typeface="Calibri" pitchFamily="34" charset="-122"/>
                <a:cs typeface="Calibri" pitchFamily="34" charset="-120"/>
              </a:rPr>
              <a:t>Survey 3 · Adhikari et al. · eMBB–URLLC coexistence</a:t>
            </a:r>
            <a:endParaRPr lang="en-US" sz="1400" dirty="0"/>
          </a:p>
        </p:txBody>
      </p:sp>
      <p:sp>
        <p:nvSpPr>
          <p:cNvPr id="3" name="Text 1"/>
          <p:cNvSpPr txBox="1"/>
          <p:nvPr/>
        </p:nvSpPr>
        <p:spPr>
          <a:xfrm>
            <a:off x="640080" y="786384"/>
            <a:ext cx="10881360" cy="640080"/>
          </a:xfrm>
          <a:prstGeom prst="rect">
            <a:avLst/>
          </a:prstGeom>
          <a:noFill/>
          <a:ln/>
        </p:spPr>
        <p:txBody>
          <a:bodyPr wrap="square" lIns="0" tIns="0" rIns="0" bIns="0" rtlCol="0" anchor="t">
            <a:normAutofit/>
          </a:bodyPr>
          <a:lstStyle/>
          <a:p>
            <a:pPr marL="0" indent="0">
              <a:buNone/>
            </a:pPr>
            <a:r>
              <a:rPr lang="en-US" sz="2700" b="1" dirty="0">
                <a:solidFill>
                  <a:srgbClr val="12394D"/>
                </a:solidFill>
                <a:latin typeface="Cambria" pitchFamily="34" charset="0"/>
                <a:ea typeface="Cambria" pitchFamily="34" charset="-122"/>
                <a:cs typeface="Cambria" pitchFamily="34" charset="-120"/>
              </a:rPr>
              <a:t>Learning-based allocation: ML, distributed and federated</a:t>
            </a:r>
            <a:endParaRPr lang="en-US" sz="2700" dirty="0"/>
          </a:p>
        </p:txBody>
      </p:sp>
      <p:sp>
        <p:nvSpPr>
          <p:cNvPr id="4" name="Shape 2"/>
          <p:cNvSpPr/>
          <p:nvPr/>
        </p:nvSpPr>
        <p:spPr>
          <a:xfrm>
            <a:off x="640080" y="5596128"/>
            <a:ext cx="10881360" cy="502920"/>
          </a:xfrm>
          <a:prstGeom prst="roundRect">
            <a:avLst>
              <a:gd name="adj" fmla="val 10909"/>
            </a:avLst>
          </a:prstGeom>
          <a:solidFill>
            <a:srgbClr val="E6F4F2"/>
          </a:solidFill>
          <a:ln w="12700">
            <a:solidFill>
              <a:srgbClr val="E6F4F2"/>
            </a:solidFill>
            <a:prstDash val="solid"/>
          </a:ln>
        </p:spPr>
        <p:txBody>
          <a:bodyPr/>
          <a:lstStyle/>
          <a:p>
            <a:endParaRPr lang="en-US"/>
          </a:p>
        </p:txBody>
      </p:sp>
      <p:sp>
        <p:nvSpPr>
          <p:cNvPr id="5" name="Text 3"/>
          <p:cNvSpPr txBox="1"/>
          <p:nvPr/>
        </p:nvSpPr>
        <p:spPr>
          <a:xfrm>
            <a:off x="868680" y="5596128"/>
            <a:ext cx="10469880" cy="502920"/>
          </a:xfrm>
          <a:prstGeom prst="rect">
            <a:avLst/>
          </a:prstGeom>
          <a:noFill/>
          <a:ln/>
        </p:spPr>
        <p:txBody>
          <a:bodyPr wrap="square" lIns="0" tIns="0" rIns="0" bIns="0" rtlCol="0" anchor="ctr"/>
          <a:lstStyle/>
          <a:p>
            <a:pPr marL="0" indent="0">
              <a:buNone/>
            </a:pPr>
            <a:r>
              <a:rPr lang="en-US" sz="1400" b="1" dirty="0">
                <a:solidFill>
                  <a:srgbClr val="1A8A99"/>
                </a:solidFill>
                <a:latin typeface="Calibri" pitchFamily="34" charset="0"/>
                <a:ea typeface="Calibri" pitchFamily="34" charset="-122"/>
                <a:cs typeface="Calibri" pitchFamily="34" charset="-120"/>
              </a:rPr>
              <a:t>Takeaway  </a:t>
            </a:r>
            <a:r>
              <a:rPr lang="en-US" sz="1400" dirty="0">
                <a:solidFill>
                  <a:srgbClr val="12394D"/>
                </a:solidFill>
                <a:latin typeface="Calibri" pitchFamily="34" charset="0"/>
                <a:ea typeface="Calibri" pitchFamily="34" charset="-122"/>
                <a:cs typeface="Calibri" pitchFamily="34" charset="-120"/>
              </a:rPr>
              <a:t>All learning-based coexistence work is trained online: none learns from network logs.</a:t>
            </a:r>
            <a:endParaRPr lang="en-US" sz="1400" dirty="0"/>
          </a:p>
        </p:txBody>
      </p:sp>
      <p:sp>
        <p:nvSpPr>
          <p:cNvPr id="6" name="Text 4"/>
          <p:cNvSpPr txBox="1"/>
          <p:nvPr/>
        </p:nvSpPr>
        <p:spPr>
          <a:xfrm>
            <a:off x="640080" y="6355080"/>
            <a:ext cx="6400800" cy="274320"/>
          </a:xfrm>
          <a:prstGeom prst="rect">
            <a:avLst/>
          </a:prstGeom>
          <a:noFill/>
          <a:ln/>
        </p:spPr>
        <p:txBody>
          <a:bodyPr wrap="square" lIns="0" tIns="0" rIns="0" bIns="0" rtlCol="0" anchor="t"/>
          <a:lstStyle/>
          <a:p>
            <a:pPr marL="0" indent="0">
              <a:buNone/>
            </a:pPr>
            <a:r>
              <a:rPr lang="en-US" sz="1100" dirty="0">
                <a:solidFill>
                  <a:srgbClr val="5F7A8A"/>
                </a:solidFill>
                <a:latin typeface="Calibri" pitchFamily="34" charset="0"/>
                <a:ea typeface="Calibri" pitchFamily="34" charset="-122"/>
                <a:cs typeface="Calibri" pitchFamily="34" charset="-120"/>
              </a:rPr>
              <a:t>RS2M Department · Télécom SudParis · Palaiseau, France</a:t>
            </a:r>
            <a:endParaRPr lang="en-US" sz="1100" dirty="0"/>
          </a:p>
        </p:txBody>
      </p:sp>
      <p:sp>
        <p:nvSpPr>
          <p:cNvPr id="7" name="Text 5"/>
          <p:cNvSpPr txBox="1"/>
          <p:nvPr/>
        </p:nvSpPr>
        <p:spPr>
          <a:xfrm>
            <a:off x="11064240" y="6355080"/>
            <a:ext cx="457200" cy="274320"/>
          </a:xfrm>
          <a:prstGeom prst="rect">
            <a:avLst/>
          </a:prstGeom>
          <a:noFill/>
          <a:ln/>
        </p:spPr>
        <p:txBody>
          <a:bodyPr wrap="square" lIns="0" tIns="0" rIns="0" bIns="0" rtlCol="0" anchor="t"/>
          <a:lstStyle/>
          <a:p>
            <a:pPr marL="0" indent="0" algn="r">
              <a:buNone/>
            </a:pPr>
            <a:r>
              <a:rPr lang="en-US" sz="1100" dirty="0">
                <a:solidFill>
                  <a:srgbClr val="5F7A8A"/>
                </a:solidFill>
                <a:latin typeface="Calibri" pitchFamily="34" charset="0"/>
                <a:ea typeface="Calibri" pitchFamily="34" charset="-122"/>
                <a:cs typeface="Calibri" pitchFamily="34" charset="-120"/>
              </a:rPr>
              <a:t>32</a:t>
            </a:r>
            <a:endParaRPr lang="en-US" sz="1100" dirty="0"/>
          </a:p>
        </p:txBody>
      </p:sp>
      <p:sp>
        <p:nvSpPr>
          <p:cNvPr id="9" name="Text 6"/>
          <p:cNvSpPr txBox="1"/>
          <p:nvPr/>
        </p:nvSpPr>
        <p:spPr>
          <a:xfrm>
            <a:off x="640080" y="1645920"/>
            <a:ext cx="6400800" cy="274320"/>
          </a:xfrm>
          <a:prstGeom prst="rect">
            <a:avLst/>
          </a:prstGeom>
          <a:noFill/>
          <a:ln/>
        </p:spPr>
        <p:txBody>
          <a:bodyPr wrap="square" lIns="0" tIns="0" rIns="0" bIns="0" rtlCol="0" anchor="t"/>
          <a:lstStyle/>
          <a:p>
            <a:pPr marL="0" indent="0">
              <a:buNone/>
            </a:pPr>
            <a:r>
              <a:rPr lang="en-US" sz="1200" b="1" kern="0" spc="100" dirty="0">
                <a:solidFill>
                  <a:srgbClr val="1A8A99"/>
                </a:solidFill>
                <a:latin typeface="Calibri" pitchFamily="34" charset="0"/>
                <a:ea typeface="Calibri" pitchFamily="34" charset="-122"/>
                <a:cs typeface="Calibri" pitchFamily="34" charset="-120"/>
              </a:rPr>
              <a:t>ML-BASED WORKS AND RESULTS</a:t>
            </a:r>
            <a:endParaRPr lang="en-US" sz="1200" dirty="0"/>
          </a:p>
        </p:txBody>
      </p:sp>
      <p:graphicFrame>
        <p:nvGraphicFramePr>
          <p:cNvPr id="27" name="Table 0"/>
          <p:cNvGraphicFramePr>
            <a:graphicFrameLocks noGrp="1"/>
          </p:cNvGraphicFramePr>
          <p:nvPr/>
        </p:nvGraphicFramePr>
        <p:xfrm>
          <a:off x="640080" y="1965960"/>
          <a:ext cx="6400800" cy="3072384"/>
        </p:xfrm>
        <a:graphic>
          <a:graphicData uri="http://schemas.openxmlformats.org/drawingml/2006/table">
            <a:tbl>
              <a:tblPr/>
              <a:tblGrid>
                <a:gridCol w="27432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438912">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Method</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12394D"/>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Result</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12394D"/>
                    </a:solidFill>
                  </a:tcPr>
                </a:tc>
                <a:extLst>
                  <a:ext uri="{0D108BD9-81ED-4DB2-BD59-A6C34878D82A}">
                    <a16:rowId xmlns:a16="http://schemas.microsoft.com/office/drawing/2014/main" val="10000"/>
                  </a:ext>
                </a:extLst>
              </a:tr>
              <a:tr h="438912">
                <a:tc>
                  <a:txBody>
                    <a:bodyPr/>
                    <a:lstStyle/>
                    <a:p>
                      <a:pPr marL="0" indent="0" algn="l">
                        <a:buNone/>
                      </a:pPr>
                      <a:r>
                        <a:rPr lang="en-US" sz="1250" dirty="0">
                          <a:solidFill>
                            <a:srgbClr val="2A3F4C"/>
                          </a:solidFill>
                          <a:latin typeface="Calibri" pitchFamily="34" charset="0"/>
                          <a:ea typeface="Calibri" pitchFamily="34" charset="-122"/>
                          <a:cs typeface="Calibri" pitchFamily="34" charset="-120"/>
                        </a:rPr>
                        <a:t>RF-ETDA (random-forest TTI)</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50" dirty="0">
                          <a:solidFill>
                            <a:srgbClr val="2A3F4C"/>
                          </a:solidFill>
                          <a:latin typeface="Calibri" pitchFamily="34" charset="0"/>
                          <a:ea typeface="Calibri" pitchFamily="34" charset="-122"/>
                          <a:cs typeface="Calibri" pitchFamily="34" charset="-120"/>
                        </a:rPr>
                        <a:t>−45.6 % URLLC delay</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1"/>
                  </a:ext>
                </a:extLst>
              </a:tr>
              <a:tr h="438912">
                <a:tc>
                  <a:txBody>
                    <a:bodyPr/>
                    <a:lstStyle/>
                    <a:p>
                      <a:pPr marL="0" indent="0" algn="l">
                        <a:buNone/>
                      </a:pPr>
                      <a:r>
                        <a:rPr lang="en-US" sz="1250" dirty="0">
                          <a:solidFill>
                            <a:srgbClr val="2A3F4C"/>
                          </a:solidFill>
                          <a:latin typeface="Calibri" pitchFamily="34" charset="0"/>
                          <a:ea typeface="Calibri" pitchFamily="34" charset="-122"/>
                          <a:cs typeface="Calibri" pitchFamily="34" charset="-120"/>
                        </a:rPr>
                        <a:t>Alsenwi et al. (DRL, URLLC constraints)</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0F5F7"/>
                    </a:solidFill>
                  </a:tcPr>
                </a:tc>
                <a:tc>
                  <a:txBody>
                    <a:bodyPr/>
                    <a:lstStyle/>
                    <a:p>
                      <a:pPr marL="0" indent="0" algn="ctr">
                        <a:buNone/>
                      </a:pPr>
                      <a:r>
                        <a:rPr lang="en-US" sz="1250" dirty="0">
                          <a:solidFill>
                            <a:srgbClr val="2A3F4C"/>
                          </a:solidFill>
                          <a:latin typeface="Calibri" pitchFamily="34" charset="0"/>
                          <a:ea typeface="Calibri" pitchFamily="34" charset="-122"/>
                          <a:cs typeface="Calibri" pitchFamily="34" charset="-120"/>
                        </a:rPr>
                        <a:t>eMBB reliability &gt; 90 %</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0F5F7"/>
                    </a:solidFill>
                  </a:tcPr>
                </a:tc>
                <a:extLst>
                  <a:ext uri="{0D108BD9-81ED-4DB2-BD59-A6C34878D82A}">
                    <a16:rowId xmlns:a16="http://schemas.microsoft.com/office/drawing/2014/main" val="10002"/>
                  </a:ext>
                </a:extLst>
              </a:tr>
              <a:tr h="438912">
                <a:tc>
                  <a:txBody>
                    <a:bodyPr/>
                    <a:lstStyle/>
                    <a:p>
                      <a:pPr marL="0" indent="0" algn="l">
                        <a:buNone/>
                      </a:pPr>
                      <a:r>
                        <a:rPr lang="en-US" sz="1250" dirty="0">
                          <a:solidFill>
                            <a:srgbClr val="2A3F4C"/>
                          </a:solidFill>
                          <a:latin typeface="Calibri" pitchFamily="34" charset="0"/>
                          <a:ea typeface="Calibri" pitchFamily="34" charset="-122"/>
                          <a:cs typeface="Calibri" pitchFamily="34" charset="-120"/>
                        </a:rPr>
                        <a:t>DRSA (MDP-DRL, flexible numerology)</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50" dirty="0">
                          <a:solidFill>
                            <a:srgbClr val="2A3F4C"/>
                          </a:solidFill>
                          <a:latin typeface="Calibri" pitchFamily="34" charset="0"/>
                          <a:ea typeface="Calibri" pitchFamily="34" charset="-122"/>
                          <a:cs typeface="Calibri" pitchFamily="34" charset="-120"/>
                        </a:rPr>
                        <a:t>+7–24 % throughput</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3"/>
                  </a:ext>
                </a:extLst>
              </a:tr>
              <a:tr h="438912">
                <a:tc>
                  <a:txBody>
                    <a:bodyPr/>
                    <a:lstStyle/>
                    <a:p>
                      <a:pPr marL="0" indent="0" algn="l">
                        <a:buNone/>
                      </a:pPr>
                      <a:r>
                        <a:rPr lang="en-US" sz="1250" dirty="0">
                          <a:solidFill>
                            <a:srgbClr val="2A3F4C"/>
                          </a:solidFill>
                          <a:latin typeface="Calibri" pitchFamily="34" charset="0"/>
                          <a:ea typeface="Calibri" pitchFamily="34" charset="-122"/>
                          <a:cs typeface="Calibri" pitchFamily="34" charset="-120"/>
                        </a:rPr>
                        <a:t>DDPG</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0F5F7"/>
                    </a:solidFill>
                  </a:tcPr>
                </a:tc>
                <a:tc>
                  <a:txBody>
                    <a:bodyPr/>
                    <a:lstStyle/>
                    <a:p>
                      <a:pPr marL="0" indent="0" algn="ctr">
                        <a:buNone/>
                      </a:pPr>
                      <a:r>
                        <a:rPr lang="en-US" sz="1250" dirty="0">
                          <a:solidFill>
                            <a:srgbClr val="2A3F4C"/>
                          </a:solidFill>
                          <a:latin typeface="Calibri" pitchFamily="34" charset="0"/>
                          <a:ea typeface="Calibri" pitchFamily="34" charset="-122"/>
                          <a:cs typeface="Calibri" pitchFamily="34" charset="-120"/>
                        </a:rPr>
                        <a:t>URLLC overlap position + bandwidth</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0F5F7"/>
                    </a:solidFill>
                  </a:tcPr>
                </a:tc>
                <a:extLst>
                  <a:ext uri="{0D108BD9-81ED-4DB2-BD59-A6C34878D82A}">
                    <a16:rowId xmlns:a16="http://schemas.microsoft.com/office/drawing/2014/main" val="10004"/>
                  </a:ext>
                </a:extLst>
              </a:tr>
              <a:tr h="438912">
                <a:tc>
                  <a:txBody>
                    <a:bodyPr/>
                    <a:lstStyle/>
                    <a:p>
                      <a:pPr marL="0" indent="0" algn="l">
                        <a:buNone/>
                      </a:pPr>
                      <a:r>
                        <a:rPr lang="en-US" sz="1250" dirty="0">
                          <a:solidFill>
                            <a:srgbClr val="2A3F4C"/>
                          </a:solidFill>
                          <a:latin typeface="Calibri" pitchFamily="34" charset="0"/>
                          <a:ea typeface="Calibri" pitchFamily="34" charset="-122"/>
                          <a:cs typeface="Calibri" pitchFamily="34" charset="-120"/>
                        </a:rPr>
                        <a:t>PPO puncturing + water-filling</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50" dirty="0">
                          <a:solidFill>
                            <a:srgbClr val="2A3F4C"/>
                          </a:solidFill>
                          <a:latin typeface="Calibri" pitchFamily="34" charset="0"/>
                          <a:ea typeface="Calibri" pitchFamily="34" charset="-122"/>
                          <a:cs typeface="Calibri" pitchFamily="34" charset="-120"/>
                        </a:rPr>
                        <a:t>assumes perfect CSI</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5"/>
                  </a:ext>
                </a:extLst>
              </a:tr>
              <a:tr h="438912">
                <a:tc>
                  <a:txBody>
                    <a:bodyPr/>
                    <a:lstStyle/>
                    <a:p>
                      <a:pPr marL="0" indent="0" algn="l">
                        <a:buNone/>
                      </a:pPr>
                      <a:r>
                        <a:rPr lang="en-US" sz="1250" dirty="0">
                          <a:solidFill>
                            <a:srgbClr val="2A3F4C"/>
                          </a:solidFill>
                          <a:latin typeface="Calibri" pitchFamily="34" charset="0"/>
                          <a:ea typeface="Calibri" pitchFamily="34" charset="-122"/>
                          <a:cs typeface="Calibri" pitchFamily="34" charset="-120"/>
                        </a:rPr>
                        <a:t>DRL-NS with action elimination</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0F5F7"/>
                    </a:solidFill>
                  </a:tcPr>
                </a:tc>
                <a:tc>
                  <a:txBody>
                    <a:bodyPr/>
                    <a:lstStyle/>
                    <a:p>
                      <a:pPr marL="0" indent="0" algn="ctr">
                        <a:buNone/>
                      </a:pPr>
                      <a:r>
                        <a:rPr lang="en-US" sz="1250" dirty="0">
                          <a:solidFill>
                            <a:srgbClr val="2A3F4C"/>
                          </a:solidFill>
                          <a:latin typeface="Calibri" pitchFamily="34" charset="0"/>
                          <a:ea typeface="Calibri" pitchFamily="34" charset="-122"/>
                          <a:cs typeface="Calibri" pitchFamily="34" charset="-120"/>
                        </a:rPr>
                        <a:t>+19 / 27 % rate</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0F5F7"/>
                    </a:solidFill>
                  </a:tcPr>
                </a:tc>
                <a:extLst>
                  <a:ext uri="{0D108BD9-81ED-4DB2-BD59-A6C34878D82A}">
                    <a16:rowId xmlns:a16="http://schemas.microsoft.com/office/drawing/2014/main" val="10006"/>
                  </a:ext>
                </a:extLst>
              </a:tr>
            </a:tbl>
          </a:graphicData>
        </a:graphic>
      </p:graphicFrame>
      <p:sp>
        <p:nvSpPr>
          <p:cNvPr id="11" name="Shape 7"/>
          <p:cNvSpPr/>
          <p:nvPr/>
        </p:nvSpPr>
        <p:spPr>
          <a:xfrm>
            <a:off x="7360920" y="1645920"/>
            <a:ext cx="4160520" cy="1965960"/>
          </a:xfrm>
          <a:prstGeom prst="roundRect">
            <a:avLst>
              <a:gd name="adj" fmla="val 2791"/>
            </a:avLst>
          </a:prstGeom>
          <a:solidFill>
            <a:srgbClr val="F0F5F7"/>
          </a:solidFill>
          <a:ln w="12700">
            <a:solidFill>
              <a:srgbClr val="F0F5F7"/>
            </a:solidFill>
            <a:prstDash val="solid"/>
          </a:ln>
        </p:spPr>
        <p:txBody>
          <a:bodyPr/>
          <a:lstStyle/>
          <a:p>
            <a:endParaRPr lang="en-US"/>
          </a:p>
        </p:txBody>
      </p:sp>
      <p:sp>
        <p:nvSpPr>
          <p:cNvPr id="12" name="Text 8"/>
          <p:cNvSpPr txBox="1"/>
          <p:nvPr/>
        </p:nvSpPr>
        <p:spPr>
          <a:xfrm>
            <a:off x="7589520" y="1810512"/>
            <a:ext cx="3703320" cy="411480"/>
          </a:xfrm>
          <a:prstGeom prst="rect">
            <a:avLst/>
          </a:prstGeom>
          <a:noFill/>
          <a:ln/>
        </p:spPr>
        <p:txBody>
          <a:bodyPr wrap="square" lIns="0" tIns="0" rIns="0" bIns="0" rtlCol="0" anchor="t"/>
          <a:lstStyle/>
          <a:p>
            <a:pPr marL="0" indent="0">
              <a:buNone/>
            </a:pPr>
            <a:r>
              <a:rPr lang="en-US" sz="1600" b="1" dirty="0">
                <a:solidFill>
                  <a:srgbClr val="12394D"/>
                </a:solidFill>
                <a:latin typeface="Cambria" pitchFamily="34" charset="0"/>
                <a:ea typeface="Cambria" pitchFamily="34" charset="-122"/>
                <a:cs typeface="Cambria" pitchFamily="34" charset="-120"/>
              </a:rPr>
              <a:t>Distributed and federated</a:t>
            </a:r>
            <a:endParaRPr lang="en-US" sz="1600" dirty="0"/>
          </a:p>
        </p:txBody>
      </p:sp>
      <p:sp>
        <p:nvSpPr>
          <p:cNvPr id="13" name="Text 9"/>
          <p:cNvSpPr txBox="1"/>
          <p:nvPr/>
        </p:nvSpPr>
        <p:spPr>
          <a:xfrm>
            <a:off x="7589520" y="2194560"/>
            <a:ext cx="3703320" cy="1307592"/>
          </a:xfrm>
          <a:prstGeom prst="rect">
            <a:avLst/>
          </a:prstGeom>
          <a:noFill/>
          <a:ln/>
        </p:spPr>
        <p:txBody>
          <a:bodyPr wrap="square" lIns="0" tIns="0" rIns="0" bIns="0" rtlCol="0" anchor="t"/>
          <a:lstStyle/>
          <a:p>
            <a:pPr marL="0" indent="0">
              <a:buNone/>
            </a:pPr>
            <a:r>
              <a:rPr lang="en-US" sz="1250" dirty="0">
                <a:solidFill>
                  <a:srgbClr val="2A3F4C"/>
                </a:solidFill>
                <a:latin typeface="Calibri" pitchFamily="34" charset="0"/>
                <a:ea typeface="Calibri" pitchFamily="34" charset="-122"/>
                <a:cs typeface="Calibri" pitchFamily="34" charset="-120"/>
              </a:rPr>
              <a:t>URLLC at the edge, eMBB in the cloud; multi-agent actor-critic, mean-field DRL; FL slicing across gNBs and operators; faster convergence than centralised</a:t>
            </a:r>
            <a:endParaRPr lang="en-US" sz="1250" dirty="0"/>
          </a:p>
        </p:txBody>
      </p:sp>
      <p:sp>
        <p:nvSpPr>
          <p:cNvPr id="14" name="Shape 10"/>
          <p:cNvSpPr/>
          <p:nvPr/>
        </p:nvSpPr>
        <p:spPr>
          <a:xfrm>
            <a:off x="7360920" y="3749040"/>
            <a:ext cx="4160520" cy="1645920"/>
          </a:xfrm>
          <a:prstGeom prst="roundRect">
            <a:avLst>
              <a:gd name="adj" fmla="val 3333"/>
            </a:avLst>
          </a:prstGeom>
          <a:solidFill>
            <a:srgbClr val="12394D"/>
          </a:solidFill>
          <a:ln w="12700">
            <a:solidFill>
              <a:srgbClr val="12394D"/>
            </a:solidFill>
            <a:prstDash val="solid"/>
          </a:ln>
        </p:spPr>
        <p:txBody>
          <a:bodyPr/>
          <a:lstStyle/>
          <a:p>
            <a:endParaRPr lang="en-US"/>
          </a:p>
        </p:txBody>
      </p:sp>
      <p:sp>
        <p:nvSpPr>
          <p:cNvPr id="15" name="Text 11"/>
          <p:cNvSpPr txBox="1"/>
          <p:nvPr/>
        </p:nvSpPr>
        <p:spPr>
          <a:xfrm>
            <a:off x="7589520" y="3913632"/>
            <a:ext cx="3703320" cy="411480"/>
          </a:xfrm>
          <a:prstGeom prst="rect">
            <a:avLst/>
          </a:prstGeom>
          <a:noFill/>
          <a:ln/>
        </p:spPr>
        <p:txBody>
          <a:bodyPr wrap="square" lIns="0" tIns="0" rIns="0" bIns="0" rtlCol="0" anchor="t"/>
          <a:lstStyle/>
          <a:p>
            <a:pPr marL="0" indent="0">
              <a:buNone/>
            </a:pPr>
            <a:r>
              <a:rPr lang="en-US" sz="1600" b="1" dirty="0">
                <a:solidFill>
                  <a:srgbClr val="FFFFFF"/>
                </a:solidFill>
                <a:latin typeface="Cambria" pitchFamily="34" charset="0"/>
                <a:ea typeface="Cambria" pitchFamily="34" charset="-122"/>
                <a:cs typeface="Cambria" pitchFamily="34" charset="-120"/>
              </a:rPr>
              <a:t>Vocabulary check</a:t>
            </a:r>
            <a:endParaRPr lang="en-US" sz="1600" dirty="0"/>
          </a:p>
        </p:txBody>
      </p:sp>
      <p:sp>
        <p:nvSpPr>
          <p:cNvPr id="16" name="Text 12"/>
          <p:cNvSpPr txBox="1"/>
          <p:nvPr/>
        </p:nvSpPr>
        <p:spPr>
          <a:xfrm>
            <a:off x="7589520" y="4297680"/>
            <a:ext cx="3703320" cy="987552"/>
          </a:xfrm>
          <a:prstGeom prst="rect">
            <a:avLst/>
          </a:prstGeom>
          <a:noFill/>
          <a:ln/>
        </p:spPr>
        <p:txBody>
          <a:bodyPr wrap="square" lIns="0" tIns="0" rIns="0" bIns="0" rtlCol="0" anchor="t"/>
          <a:lstStyle/>
          <a:p>
            <a:pPr marL="0" indent="0">
              <a:buNone/>
            </a:pPr>
            <a:r>
              <a:rPr lang="en-US" sz="1350" dirty="0">
                <a:solidFill>
                  <a:srgbClr val="C3D3DD"/>
                </a:solidFill>
                <a:latin typeface="Calibri" pitchFamily="34" charset="0"/>
                <a:ea typeface="Calibri" pitchFamily="34" charset="-122"/>
                <a:cs typeface="Calibri" pitchFamily="34" charset="-120"/>
              </a:rPr>
              <a:t>"Offline" in this survey means offline optimisation with perfect CSI, not offline RL</a:t>
            </a:r>
            <a:endParaRPr lang="en-US" sz="13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320040"/>
          </a:xfrm>
          <a:prstGeom prst="rect">
            <a:avLst/>
          </a:prstGeom>
          <a:noFill/>
          <a:ln/>
        </p:spPr>
        <p:txBody>
          <a:bodyPr wrap="square" lIns="0" tIns="0" rIns="0" bIns="0" rtlCol="0" anchor="t"/>
          <a:lstStyle/>
          <a:p>
            <a:pPr marL="0" indent="0">
              <a:buNone/>
            </a:pPr>
            <a:r>
              <a:rPr lang="en-US" sz="1400" b="1" kern="0" spc="200" dirty="0">
                <a:solidFill>
                  <a:srgbClr val="2BB3A3"/>
                </a:solidFill>
                <a:latin typeface="Calibri" pitchFamily="34" charset="0"/>
                <a:ea typeface="Calibri" pitchFamily="34" charset="-122"/>
                <a:cs typeface="Calibri" pitchFamily="34" charset="-120"/>
              </a:rPr>
              <a:t>Survey 3 · Adhikari et al. · eMBB–URLLC coexistence</a:t>
            </a:r>
            <a:endParaRPr lang="en-US" sz="1400" dirty="0"/>
          </a:p>
        </p:txBody>
      </p:sp>
      <p:sp>
        <p:nvSpPr>
          <p:cNvPr id="3" name="Text 1"/>
          <p:cNvSpPr txBox="1"/>
          <p:nvPr/>
        </p:nvSpPr>
        <p:spPr>
          <a:xfrm>
            <a:off x="640080" y="786384"/>
            <a:ext cx="10881360" cy="640080"/>
          </a:xfrm>
          <a:prstGeom prst="rect">
            <a:avLst/>
          </a:prstGeom>
          <a:noFill/>
          <a:ln/>
        </p:spPr>
        <p:txBody>
          <a:bodyPr wrap="square" lIns="0" tIns="0" rIns="0" bIns="0" rtlCol="0" anchor="t">
            <a:normAutofit/>
          </a:bodyPr>
          <a:lstStyle/>
          <a:p>
            <a:pPr marL="0" indent="0">
              <a:buNone/>
            </a:pPr>
            <a:r>
              <a:rPr lang="en-US" sz="2700" b="1" dirty="0">
                <a:solidFill>
                  <a:srgbClr val="12394D"/>
                </a:solidFill>
                <a:latin typeface="Cambria" pitchFamily="34" charset="0"/>
                <a:ea typeface="Cambria" pitchFamily="34" charset="-122"/>
                <a:cs typeface="Cambria" pitchFamily="34" charset="-120"/>
              </a:rPr>
              <a:t>Better channels and target applications</a:t>
            </a:r>
            <a:endParaRPr lang="en-US" sz="2700" dirty="0"/>
          </a:p>
        </p:txBody>
      </p:sp>
      <p:sp>
        <p:nvSpPr>
          <p:cNvPr id="4" name="Shape 2"/>
          <p:cNvSpPr/>
          <p:nvPr/>
        </p:nvSpPr>
        <p:spPr>
          <a:xfrm>
            <a:off x="640080" y="5596128"/>
            <a:ext cx="10881360" cy="502920"/>
          </a:xfrm>
          <a:prstGeom prst="roundRect">
            <a:avLst>
              <a:gd name="adj" fmla="val 10909"/>
            </a:avLst>
          </a:prstGeom>
          <a:solidFill>
            <a:srgbClr val="E6F4F2"/>
          </a:solidFill>
          <a:ln w="12700">
            <a:solidFill>
              <a:srgbClr val="E6F4F2"/>
            </a:solidFill>
            <a:prstDash val="solid"/>
          </a:ln>
        </p:spPr>
        <p:txBody>
          <a:bodyPr/>
          <a:lstStyle/>
          <a:p>
            <a:endParaRPr lang="en-US"/>
          </a:p>
        </p:txBody>
      </p:sp>
      <p:sp>
        <p:nvSpPr>
          <p:cNvPr id="5" name="Text 3"/>
          <p:cNvSpPr txBox="1"/>
          <p:nvPr/>
        </p:nvSpPr>
        <p:spPr>
          <a:xfrm>
            <a:off x="868680" y="5596128"/>
            <a:ext cx="10469880" cy="502920"/>
          </a:xfrm>
          <a:prstGeom prst="rect">
            <a:avLst/>
          </a:prstGeom>
          <a:noFill/>
          <a:ln/>
        </p:spPr>
        <p:txBody>
          <a:bodyPr wrap="square" lIns="0" tIns="0" rIns="0" bIns="0" rtlCol="0" anchor="ctr"/>
          <a:lstStyle/>
          <a:p>
            <a:pPr marL="0" indent="0">
              <a:buNone/>
            </a:pPr>
            <a:r>
              <a:rPr lang="en-US" sz="1400" b="1" dirty="0">
                <a:solidFill>
                  <a:srgbClr val="1A8A99"/>
                </a:solidFill>
                <a:latin typeface="Calibri" pitchFamily="34" charset="0"/>
                <a:ea typeface="Calibri" pitchFamily="34" charset="-122"/>
                <a:cs typeface="Calibri" pitchFamily="34" charset="-120"/>
              </a:rPr>
              <a:t>Takeaway  </a:t>
            </a:r>
            <a:r>
              <a:rPr lang="en-US" sz="1400" dirty="0">
                <a:solidFill>
                  <a:srgbClr val="12394D"/>
                </a:solidFill>
                <a:latin typeface="Calibri" pitchFamily="34" charset="0"/>
                <a:ea typeface="Calibri" pitchFamily="34" charset="-122"/>
                <a:cs typeface="Calibri" pitchFamily="34" charset="-120"/>
              </a:rPr>
              <a:t>Channel improvement mainly helps eMBB: its URLLC latency cost is still unanalysed.</a:t>
            </a:r>
            <a:endParaRPr lang="en-US" sz="1400" dirty="0"/>
          </a:p>
        </p:txBody>
      </p:sp>
      <p:sp>
        <p:nvSpPr>
          <p:cNvPr id="6" name="Text 4"/>
          <p:cNvSpPr txBox="1"/>
          <p:nvPr/>
        </p:nvSpPr>
        <p:spPr>
          <a:xfrm>
            <a:off x="640080" y="6355080"/>
            <a:ext cx="6400800" cy="274320"/>
          </a:xfrm>
          <a:prstGeom prst="rect">
            <a:avLst/>
          </a:prstGeom>
          <a:noFill/>
          <a:ln/>
        </p:spPr>
        <p:txBody>
          <a:bodyPr wrap="square" lIns="0" tIns="0" rIns="0" bIns="0" rtlCol="0" anchor="t"/>
          <a:lstStyle/>
          <a:p>
            <a:pPr marL="0" indent="0">
              <a:buNone/>
            </a:pPr>
            <a:r>
              <a:rPr lang="en-US" sz="1100" dirty="0">
                <a:solidFill>
                  <a:srgbClr val="5F7A8A"/>
                </a:solidFill>
                <a:latin typeface="Calibri" pitchFamily="34" charset="0"/>
                <a:ea typeface="Calibri" pitchFamily="34" charset="-122"/>
                <a:cs typeface="Calibri" pitchFamily="34" charset="-120"/>
              </a:rPr>
              <a:t>RS2M Department · Télécom SudParis · Palaiseau, France</a:t>
            </a:r>
            <a:endParaRPr lang="en-US" sz="1100" dirty="0"/>
          </a:p>
        </p:txBody>
      </p:sp>
      <p:sp>
        <p:nvSpPr>
          <p:cNvPr id="7" name="Text 5"/>
          <p:cNvSpPr txBox="1"/>
          <p:nvPr/>
        </p:nvSpPr>
        <p:spPr>
          <a:xfrm>
            <a:off x="11064240" y="6355080"/>
            <a:ext cx="457200" cy="274320"/>
          </a:xfrm>
          <a:prstGeom prst="rect">
            <a:avLst/>
          </a:prstGeom>
          <a:noFill/>
          <a:ln/>
        </p:spPr>
        <p:txBody>
          <a:bodyPr wrap="square" lIns="0" tIns="0" rIns="0" bIns="0" rtlCol="0" anchor="t"/>
          <a:lstStyle/>
          <a:p>
            <a:pPr marL="0" indent="0" algn="r">
              <a:buNone/>
            </a:pPr>
            <a:r>
              <a:rPr lang="en-US" sz="1100" dirty="0">
                <a:solidFill>
                  <a:srgbClr val="5F7A8A"/>
                </a:solidFill>
                <a:latin typeface="Calibri" pitchFamily="34" charset="0"/>
                <a:ea typeface="Calibri" pitchFamily="34" charset="-122"/>
                <a:cs typeface="Calibri" pitchFamily="34" charset="-120"/>
              </a:rPr>
              <a:t>33</a:t>
            </a:r>
            <a:endParaRPr lang="en-US" sz="1100" dirty="0"/>
          </a:p>
        </p:txBody>
      </p:sp>
      <p:sp>
        <p:nvSpPr>
          <p:cNvPr id="11" name="Text 8"/>
          <p:cNvSpPr txBox="1"/>
          <p:nvPr/>
        </p:nvSpPr>
        <p:spPr>
          <a:xfrm>
            <a:off x="640080" y="3931920"/>
            <a:ext cx="4846320" cy="1508760"/>
          </a:xfrm>
          <a:prstGeom prst="rect">
            <a:avLst/>
          </a:prstGeom>
          <a:noFill/>
          <a:ln/>
        </p:spPr>
        <p:txBody>
          <a:bodyPr wrap="square" lIns="0" tIns="0" rIns="0" bIns="0" rtlCol="0" anchor="t"/>
          <a:lstStyle/>
          <a:p>
            <a:pPr marL="0" indent="0">
              <a:buNone/>
            </a:pPr>
            <a:r>
              <a:rPr lang="en-US" sz="1400" b="1" dirty="0">
                <a:solidFill>
                  <a:srgbClr val="12394D"/>
                </a:solidFill>
                <a:latin typeface="Calibri" pitchFamily="34" charset="0"/>
                <a:ea typeface="Calibri" pitchFamily="34" charset="-122"/>
                <a:cs typeface="Calibri" pitchFamily="34" charset="-120"/>
              </a:rPr>
              <a:t>RIS</a:t>
            </a:r>
            <a:endParaRPr lang="en-US" sz="1400" dirty="0"/>
          </a:p>
          <a:p>
            <a:pPr marL="0" indent="0">
              <a:spcAft>
                <a:spcPts val="600"/>
              </a:spcAft>
              <a:buNone/>
            </a:pPr>
            <a:r>
              <a:rPr lang="en-US" sz="1250" dirty="0">
                <a:solidFill>
                  <a:srgbClr val="5F7A8A"/>
                </a:solidFill>
                <a:latin typeface="Calibri" pitchFamily="34" charset="0"/>
                <a:ea typeface="Calibri" pitchFamily="34" charset="-122"/>
                <a:cs typeface="Calibri" pitchFamily="34" charset="-120"/>
              </a:rPr>
              <a:t>99.99 % URLLC admission (vs 95.6 % without), +70 % eMBB; phase optimisation adds URLLC delay</a:t>
            </a:r>
            <a:endParaRPr lang="en-US" sz="1400" dirty="0"/>
          </a:p>
          <a:p>
            <a:pPr marL="0" indent="0">
              <a:buNone/>
            </a:pPr>
            <a:r>
              <a:rPr lang="en-US" sz="1400" b="1" dirty="0">
                <a:solidFill>
                  <a:srgbClr val="12394D"/>
                </a:solidFill>
                <a:latin typeface="Calibri" pitchFamily="34" charset="0"/>
                <a:ea typeface="Calibri" pitchFamily="34" charset="-122"/>
                <a:cs typeface="Calibri" pitchFamily="34" charset="-120"/>
              </a:rPr>
              <a:t>UAV + RIS</a:t>
            </a:r>
            <a:endParaRPr lang="en-US" sz="1400" dirty="0"/>
          </a:p>
          <a:p>
            <a:pPr marL="0" indent="0">
              <a:spcAft>
                <a:spcPts val="600"/>
              </a:spcAft>
              <a:buNone/>
            </a:pPr>
            <a:r>
              <a:rPr lang="en-US" sz="1250" dirty="0">
                <a:solidFill>
                  <a:srgbClr val="5F7A8A"/>
                </a:solidFill>
                <a:latin typeface="Calibri" pitchFamily="34" charset="0"/>
                <a:ea typeface="Calibri" pitchFamily="34" charset="-122"/>
                <a:cs typeface="Calibri" pitchFamily="34" charset="-120"/>
              </a:rPr>
              <a:t>Line-of-sight coverage, finite-blocklength design, aerial RIS</a:t>
            </a:r>
            <a:endParaRPr lang="en-US" sz="1400" dirty="0"/>
          </a:p>
        </p:txBody>
      </p:sp>
      <p:sp>
        <p:nvSpPr>
          <p:cNvPr id="12" name="Text 9"/>
          <p:cNvSpPr txBox="1"/>
          <p:nvPr/>
        </p:nvSpPr>
        <p:spPr>
          <a:xfrm>
            <a:off x="5806440" y="1645920"/>
            <a:ext cx="5486400" cy="274320"/>
          </a:xfrm>
          <a:prstGeom prst="rect">
            <a:avLst/>
          </a:prstGeom>
          <a:noFill/>
          <a:ln/>
        </p:spPr>
        <p:txBody>
          <a:bodyPr wrap="square" lIns="0" tIns="0" rIns="0" bIns="0" rtlCol="0" anchor="t"/>
          <a:lstStyle/>
          <a:p>
            <a:pPr marL="0" indent="0">
              <a:buNone/>
            </a:pPr>
            <a:r>
              <a:rPr lang="en-US" sz="1200" b="1" kern="0" spc="100" dirty="0">
                <a:solidFill>
                  <a:srgbClr val="1A8A99"/>
                </a:solidFill>
                <a:latin typeface="Calibri" pitchFamily="34" charset="0"/>
                <a:ea typeface="Calibri" pitchFamily="34" charset="-122"/>
                <a:cs typeface="Calibri" pitchFamily="34" charset="-120"/>
              </a:rPr>
              <a:t>APPLICATION REQUIREMENTS (SECTION IV)</a:t>
            </a:r>
            <a:endParaRPr lang="en-US" sz="1200" dirty="0"/>
          </a:p>
        </p:txBody>
      </p:sp>
      <p:graphicFrame>
        <p:nvGraphicFramePr>
          <p:cNvPr id="28" name="Table 0"/>
          <p:cNvGraphicFramePr>
            <a:graphicFrameLocks noGrp="1"/>
          </p:cNvGraphicFramePr>
          <p:nvPr/>
        </p:nvGraphicFramePr>
        <p:xfrm>
          <a:off x="5806440" y="1965960"/>
          <a:ext cx="5715000" cy="2578608"/>
        </p:xfrm>
        <a:graphic>
          <a:graphicData uri="http://schemas.openxmlformats.org/drawingml/2006/table">
            <a:tbl>
              <a:tblPr/>
              <a:tblGrid>
                <a:gridCol w="242316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429768">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Application</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12394D"/>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Latency</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12394D"/>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Error rate</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12394D"/>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Rate</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12394D"/>
                    </a:solidFill>
                  </a:tcPr>
                </a:tc>
                <a:extLst>
                  <a:ext uri="{0D108BD9-81ED-4DB2-BD59-A6C34878D82A}">
                    <a16:rowId xmlns:a16="http://schemas.microsoft.com/office/drawing/2014/main" val="10000"/>
                  </a:ext>
                </a:extLst>
              </a:tr>
              <a:tr h="429768">
                <a:tc>
                  <a:txBody>
                    <a:bodyPr/>
                    <a:lstStyle/>
                    <a:p>
                      <a:pPr marL="0" indent="0" algn="l">
                        <a:buNone/>
                      </a:pPr>
                      <a:r>
                        <a:rPr lang="en-US" sz="1250" dirty="0">
                          <a:solidFill>
                            <a:srgbClr val="2A3F4C"/>
                          </a:solidFill>
                          <a:latin typeface="Calibri" pitchFamily="34" charset="0"/>
                          <a:ea typeface="Calibri" pitchFamily="34" charset="-122"/>
                          <a:cs typeface="Calibri" pitchFamily="34" charset="-120"/>
                        </a:rPr>
                        <a:t>Factory automation</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50" b="1" dirty="0">
                          <a:solidFill>
                            <a:srgbClr val="2A3F4C"/>
                          </a:solidFill>
                          <a:latin typeface="Calibri" pitchFamily="34" charset="0"/>
                          <a:ea typeface="Calibri" pitchFamily="34" charset="-122"/>
                          <a:cs typeface="Calibri" pitchFamily="34" charset="-120"/>
                        </a:rPr>
                        <a:t>1–10 ms</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50" b="1" dirty="0">
                          <a:solidFill>
                            <a:srgbClr val="2A3F4C"/>
                          </a:solidFill>
                          <a:latin typeface="Calibri" pitchFamily="34" charset="0"/>
                          <a:ea typeface="Calibri" pitchFamily="34" charset="-122"/>
                          <a:cs typeface="Calibri" pitchFamily="34" charset="-120"/>
                        </a:rPr>
                        <a:t>10⁻⁹</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50" b="1" dirty="0">
                          <a:solidFill>
                            <a:srgbClr val="2A3F4C"/>
                          </a:solidFill>
                          <a:latin typeface="Calibri" pitchFamily="34" charset="0"/>
                          <a:ea typeface="Calibri" pitchFamily="34" charset="-122"/>
                          <a:cs typeface="Calibri" pitchFamily="34" charset="-120"/>
                        </a:rPr>
                        <a:t>≤ 100 Mbps</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1"/>
                  </a:ext>
                </a:extLst>
              </a:tr>
              <a:tr h="429768">
                <a:tc>
                  <a:txBody>
                    <a:bodyPr/>
                    <a:lstStyle/>
                    <a:p>
                      <a:pPr marL="0" indent="0" algn="l">
                        <a:buNone/>
                      </a:pPr>
                      <a:r>
                        <a:rPr lang="en-US" sz="1250" dirty="0">
                          <a:solidFill>
                            <a:srgbClr val="2A3F4C"/>
                          </a:solidFill>
                          <a:latin typeface="Calibri" pitchFamily="34" charset="0"/>
                          <a:ea typeface="Calibri" pitchFamily="34" charset="-122"/>
                          <a:cs typeface="Calibri" pitchFamily="34" charset="-120"/>
                        </a:rPr>
                        <a:t>Robotic motion</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0F5F7"/>
                    </a:solidFill>
                  </a:tcPr>
                </a:tc>
                <a:tc>
                  <a:txBody>
                    <a:bodyPr/>
                    <a:lstStyle/>
                    <a:p>
                      <a:pPr marL="0" indent="0" algn="ctr">
                        <a:buNone/>
                      </a:pPr>
                      <a:r>
                        <a:rPr lang="en-US" sz="1250" b="1" dirty="0">
                          <a:solidFill>
                            <a:srgbClr val="2A3F4C"/>
                          </a:solidFill>
                          <a:latin typeface="Calibri" pitchFamily="34" charset="0"/>
                          <a:ea typeface="Calibri" pitchFamily="34" charset="-122"/>
                          <a:cs typeface="Calibri" pitchFamily="34" charset="-120"/>
                        </a:rPr>
                        <a:t>4–8 ms</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0F5F7"/>
                    </a:solidFill>
                  </a:tcPr>
                </a:tc>
                <a:tc>
                  <a:txBody>
                    <a:bodyPr/>
                    <a:lstStyle/>
                    <a:p>
                      <a:pPr marL="0" indent="0" algn="ctr">
                        <a:buNone/>
                      </a:pPr>
                      <a:r>
                        <a:rPr lang="en-US" sz="1250" b="1" dirty="0">
                          <a:solidFill>
                            <a:srgbClr val="2A3F4C"/>
                          </a:solidFill>
                          <a:latin typeface="Calibri" pitchFamily="34" charset="0"/>
                          <a:ea typeface="Calibri" pitchFamily="34" charset="-122"/>
                          <a:cs typeface="Calibri" pitchFamily="34" charset="-120"/>
                        </a:rPr>
                        <a:t>10⁻⁹</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0F5F7"/>
                    </a:solidFill>
                  </a:tcPr>
                </a:tc>
                <a:tc>
                  <a:txBody>
                    <a:bodyPr/>
                    <a:lstStyle/>
                    <a:p>
                      <a:pPr marL="0" indent="0" algn="ctr">
                        <a:buNone/>
                      </a:pPr>
                      <a:r>
                        <a:rPr lang="en-US" sz="1250" b="1" dirty="0">
                          <a:solidFill>
                            <a:srgbClr val="2A3F4C"/>
                          </a:solidFill>
                          <a:latin typeface="Calibri" pitchFamily="34" charset="0"/>
                          <a:ea typeface="Calibri" pitchFamily="34" charset="-122"/>
                          <a:cs typeface="Calibri" pitchFamily="34" charset="-120"/>
                        </a:rPr>
                        <a:t>≤ 100 Mbps</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0F5F7"/>
                    </a:solidFill>
                  </a:tcPr>
                </a:tc>
                <a:extLst>
                  <a:ext uri="{0D108BD9-81ED-4DB2-BD59-A6C34878D82A}">
                    <a16:rowId xmlns:a16="http://schemas.microsoft.com/office/drawing/2014/main" val="10002"/>
                  </a:ext>
                </a:extLst>
              </a:tr>
              <a:tr h="429768">
                <a:tc>
                  <a:txBody>
                    <a:bodyPr/>
                    <a:lstStyle/>
                    <a:p>
                      <a:pPr marL="0" indent="0" algn="l">
                        <a:buNone/>
                      </a:pPr>
                      <a:r>
                        <a:rPr lang="en-US" sz="1250" dirty="0">
                          <a:solidFill>
                            <a:srgbClr val="2A3F4C"/>
                          </a:solidFill>
                          <a:latin typeface="Calibri" pitchFamily="34" charset="0"/>
                          <a:ea typeface="Calibri" pitchFamily="34" charset="-122"/>
                          <a:cs typeface="Calibri" pitchFamily="34" charset="-120"/>
                        </a:rPr>
                        <a:t>Smart grid, high voltage</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50" b="1" dirty="0">
                          <a:solidFill>
                            <a:srgbClr val="2A3F4C"/>
                          </a:solidFill>
                          <a:latin typeface="Calibri" pitchFamily="34" charset="0"/>
                          <a:ea typeface="Calibri" pitchFamily="34" charset="-122"/>
                          <a:cs typeface="Calibri" pitchFamily="34" charset="-120"/>
                        </a:rPr>
                        <a:t>5 ms</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50" b="1" dirty="0">
                          <a:solidFill>
                            <a:srgbClr val="2A3F4C"/>
                          </a:solidFill>
                          <a:latin typeface="Calibri" pitchFamily="34" charset="0"/>
                          <a:ea typeface="Calibri" pitchFamily="34" charset="-122"/>
                          <a:cs typeface="Calibri" pitchFamily="34" charset="-120"/>
                        </a:rPr>
                        <a:t>10⁻⁶</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50" b="1" dirty="0">
                          <a:solidFill>
                            <a:srgbClr val="2A3F4C"/>
                          </a:solidFill>
                          <a:latin typeface="Calibri" pitchFamily="34" charset="0"/>
                          <a:ea typeface="Calibri" pitchFamily="34" charset="-122"/>
                          <a:cs typeface="Calibri" pitchFamily="34" charset="-120"/>
                        </a:rPr>
                        <a:t>≤ 10 Mbps</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3"/>
                  </a:ext>
                </a:extLst>
              </a:tr>
              <a:tr h="429768">
                <a:tc>
                  <a:txBody>
                    <a:bodyPr/>
                    <a:lstStyle/>
                    <a:p>
                      <a:pPr marL="0" indent="0" algn="l">
                        <a:buNone/>
                      </a:pPr>
                      <a:r>
                        <a:rPr lang="en-US" sz="1250" dirty="0">
                          <a:solidFill>
                            <a:srgbClr val="2A3F4C"/>
                          </a:solidFill>
                          <a:latin typeface="Calibri" pitchFamily="34" charset="0"/>
                          <a:ea typeface="Calibri" pitchFamily="34" charset="-122"/>
                          <a:cs typeface="Calibri" pitchFamily="34" charset="-120"/>
                        </a:rPr>
                        <a:t>Smart grid, medium voltage</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0F5F7"/>
                    </a:solidFill>
                  </a:tcPr>
                </a:tc>
                <a:tc>
                  <a:txBody>
                    <a:bodyPr/>
                    <a:lstStyle/>
                    <a:p>
                      <a:pPr marL="0" indent="0" algn="ctr">
                        <a:buNone/>
                      </a:pPr>
                      <a:r>
                        <a:rPr lang="en-US" sz="1250" b="1" dirty="0">
                          <a:solidFill>
                            <a:srgbClr val="2A3F4C"/>
                          </a:solidFill>
                          <a:latin typeface="Calibri" pitchFamily="34" charset="0"/>
                          <a:ea typeface="Calibri" pitchFamily="34" charset="-122"/>
                          <a:cs typeface="Calibri" pitchFamily="34" charset="-120"/>
                        </a:rPr>
                        <a:t>25 ms</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0F5F7"/>
                    </a:solidFill>
                  </a:tcPr>
                </a:tc>
                <a:tc>
                  <a:txBody>
                    <a:bodyPr/>
                    <a:lstStyle/>
                    <a:p>
                      <a:pPr marL="0" indent="0" algn="ctr">
                        <a:buNone/>
                      </a:pPr>
                      <a:r>
                        <a:rPr lang="en-US" sz="1250" b="1" dirty="0">
                          <a:solidFill>
                            <a:srgbClr val="2A3F4C"/>
                          </a:solidFill>
                          <a:latin typeface="Calibri" pitchFamily="34" charset="0"/>
                          <a:ea typeface="Calibri" pitchFamily="34" charset="-122"/>
                          <a:cs typeface="Calibri" pitchFamily="34" charset="-120"/>
                        </a:rPr>
                        <a:t>10⁻³</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0F5F7"/>
                    </a:solidFill>
                  </a:tcPr>
                </a:tc>
                <a:tc>
                  <a:txBody>
                    <a:bodyPr/>
                    <a:lstStyle/>
                    <a:p>
                      <a:pPr marL="0" indent="0" algn="ctr">
                        <a:buNone/>
                      </a:pPr>
                      <a:r>
                        <a:rPr lang="en-US" sz="1250" b="1" dirty="0">
                          <a:solidFill>
                            <a:srgbClr val="2A3F4C"/>
                          </a:solidFill>
                          <a:latin typeface="Calibri" pitchFamily="34" charset="0"/>
                          <a:ea typeface="Calibri" pitchFamily="34" charset="-122"/>
                          <a:cs typeface="Calibri" pitchFamily="34" charset="-120"/>
                        </a:rPr>
                        <a:t>≤ 10 Mbps</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0F5F7"/>
                    </a:solidFill>
                  </a:tcPr>
                </a:tc>
                <a:extLst>
                  <a:ext uri="{0D108BD9-81ED-4DB2-BD59-A6C34878D82A}">
                    <a16:rowId xmlns:a16="http://schemas.microsoft.com/office/drawing/2014/main" val="10004"/>
                  </a:ext>
                </a:extLst>
              </a:tr>
              <a:tr h="429768">
                <a:tc>
                  <a:txBody>
                    <a:bodyPr/>
                    <a:lstStyle/>
                    <a:p>
                      <a:pPr marL="0" indent="0" algn="l">
                        <a:buNone/>
                      </a:pPr>
                      <a:r>
                        <a:rPr lang="en-US" sz="1250" dirty="0">
                          <a:solidFill>
                            <a:srgbClr val="2A3F4C"/>
                          </a:solidFill>
                          <a:latin typeface="Calibri" pitchFamily="34" charset="0"/>
                          <a:ea typeface="Calibri" pitchFamily="34" charset="-122"/>
                          <a:cs typeface="Calibri" pitchFamily="34" charset="-120"/>
                        </a:rPr>
                        <a:t>Autonomous vehicles</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50" b="1" dirty="0">
                          <a:solidFill>
                            <a:srgbClr val="2A3F4C"/>
                          </a:solidFill>
                          <a:latin typeface="Calibri" pitchFamily="34" charset="0"/>
                          <a:ea typeface="Calibri" pitchFamily="34" charset="-122"/>
                          <a:cs typeface="Calibri" pitchFamily="34" charset="-120"/>
                        </a:rPr>
                        <a:t>&lt; 5 ms</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50" b="1" dirty="0">
                          <a:solidFill>
                            <a:srgbClr val="2A3F4C"/>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50" b="1" dirty="0">
                          <a:solidFill>
                            <a:srgbClr val="2A3F4C"/>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5"/>
                  </a:ext>
                </a:extLst>
              </a:tr>
            </a:tbl>
          </a:graphicData>
        </a:graphic>
      </p:graphicFrame>
      <p:sp>
        <p:nvSpPr>
          <p:cNvPr id="14" name="Text 10"/>
          <p:cNvSpPr txBox="1"/>
          <p:nvPr/>
        </p:nvSpPr>
        <p:spPr>
          <a:xfrm>
            <a:off x="5806440" y="4709160"/>
            <a:ext cx="5715000" cy="457200"/>
          </a:xfrm>
          <a:prstGeom prst="rect">
            <a:avLst/>
          </a:prstGeom>
          <a:noFill/>
          <a:ln/>
        </p:spPr>
        <p:txBody>
          <a:bodyPr wrap="square" lIns="0" tIns="0" rIns="0" bIns="0" rtlCol="0" anchor="t"/>
          <a:lstStyle/>
          <a:p>
            <a:pPr marL="0" indent="0">
              <a:buNone/>
            </a:pPr>
            <a:r>
              <a:rPr lang="en-US" sz="1250" i="1" dirty="0">
                <a:solidFill>
                  <a:srgbClr val="5F7A8A"/>
                </a:solidFill>
                <a:latin typeface="Calibri" pitchFamily="34" charset="0"/>
                <a:ea typeface="Calibri" pitchFamily="34" charset="-122"/>
                <a:cs typeface="Calibri" pitchFamily="34" charset="-120"/>
              </a:rPr>
              <a:t>Healthcare, mining and AR/VR also need both services at once.</a:t>
            </a:r>
            <a:endParaRPr lang="en-US" sz="1250" dirty="0"/>
          </a:p>
        </p:txBody>
      </p:sp>
      <p:pic>
        <p:nvPicPr>
          <p:cNvPr id="13" name="Image 12">
            <a:extLst>
              <a:ext uri="{FF2B5EF4-FFF2-40B4-BE49-F238E27FC236}">
                <a16:creationId xmlns:a16="http://schemas.microsoft.com/office/drawing/2014/main" id="{B7720C8D-D2A2-91DA-682A-BE34FBA16A71}"/>
              </a:ext>
            </a:extLst>
          </p:cNvPr>
          <p:cNvPicPr>
            <a:picLocks noChangeAspect="1"/>
          </p:cNvPicPr>
          <p:nvPr/>
        </p:nvPicPr>
        <p:blipFill>
          <a:blip r:embed="rId3"/>
          <a:stretch>
            <a:fillRect/>
          </a:stretch>
        </p:blipFill>
        <p:spPr>
          <a:xfrm>
            <a:off x="899160" y="1316564"/>
            <a:ext cx="3554076" cy="244162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320040"/>
          </a:xfrm>
          <a:prstGeom prst="rect">
            <a:avLst/>
          </a:prstGeom>
          <a:noFill/>
          <a:ln/>
        </p:spPr>
        <p:txBody>
          <a:bodyPr wrap="square" lIns="0" tIns="0" rIns="0" bIns="0" rtlCol="0" anchor="t"/>
          <a:lstStyle/>
          <a:p>
            <a:pPr marL="0" indent="0">
              <a:buNone/>
            </a:pPr>
            <a:r>
              <a:rPr lang="en-US" sz="1400" b="1" kern="0" spc="200" dirty="0">
                <a:solidFill>
                  <a:srgbClr val="2BB3A3"/>
                </a:solidFill>
                <a:latin typeface="Calibri" pitchFamily="34" charset="0"/>
                <a:ea typeface="Calibri" pitchFamily="34" charset="-122"/>
                <a:cs typeface="Calibri" pitchFamily="34" charset="-120"/>
              </a:rPr>
              <a:t>Survey 3 · Adhikari et al. · eMBB–URLLC coexistence</a:t>
            </a:r>
            <a:endParaRPr lang="en-US" sz="1400" dirty="0"/>
          </a:p>
        </p:txBody>
      </p:sp>
      <p:sp>
        <p:nvSpPr>
          <p:cNvPr id="3" name="Text 1"/>
          <p:cNvSpPr txBox="1"/>
          <p:nvPr/>
        </p:nvSpPr>
        <p:spPr>
          <a:xfrm>
            <a:off x="640080" y="786384"/>
            <a:ext cx="10881360" cy="640080"/>
          </a:xfrm>
          <a:prstGeom prst="rect">
            <a:avLst/>
          </a:prstGeom>
          <a:noFill/>
          <a:ln/>
        </p:spPr>
        <p:txBody>
          <a:bodyPr wrap="square" lIns="0" tIns="0" rIns="0" bIns="0" rtlCol="0" anchor="t">
            <a:normAutofit/>
          </a:bodyPr>
          <a:lstStyle/>
          <a:p>
            <a:pPr marL="0" indent="0">
              <a:buNone/>
            </a:pPr>
            <a:r>
              <a:rPr lang="en-US" sz="2700" b="1" dirty="0">
                <a:solidFill>
                  <a:srgbClr val="12394D"/>
                </a:solidFill>
                <a:latin typeface="Cambria" pitchFamily="34" charset="0"/>
                <a:ea typeface="Cambria" pitchFamily="34" charset="-122"/>
                <a:cs typeface="Cambria" pitchFamily="34" charset="-120"/>
              </a:rPr>
              <a:t>Open challenges, and the opening for my thesis</a:t>
            </a:r>
            <a:endParaRPr lang="en-US" sz="2700" dirty="0"/>
          </a:p>
        </p:txBody>
      </p:sp>
      <p:sp>
        <p:nvSpPr>
          <p:cNvPr id="4" name="Shape 2"/>
          <p:cNvSpPr/>
          <p:nvPr/>
        </p:nvSpPr>
        <p:spPr>
          <a:xfrm>
            <a:off x="640080" y="5596128"/>
            <a:ext cx="10881360" cy="502920"/>
          </a:xfrm>
          <a:prstGeom prst="roundRect">
            <a:avLst>
              <a:gd name="adj" fmla="val 10909"/>
            </a:avLst>
          </a:prstGeom>
          <a:solidFill>
            <a:srgbClr val="E6F4F2"/>
          </a:solidFill>
          <a:ln w="12700">
            <a:solidFill>
              <a:srgbClr val="E6F4F2"/>
            </a:solidFill>
            <a:prstDash val="solid"/>
          </a:ln>
        </p:spPr>
        <p:txBody>
          <a:bodyPr/>
          <a:lstStyle/>
          <a:p>
            <a:endParaRPr lang="en-US"/>
          </a:p>
        </p:txBody>
      </p:sp>
      <p:sp>
        <p:nvSpPr>
          <p:cNvPr id="5" name="Text 3"/>
          <p:cNvSpPr txBox="1"/>
          <p:nvPr/>
        </p:nvSpPr>
        <p:spPr>
          <a:xfrm>
            <a:off x="868680" y="5596128"/>
            <a:ext cx="10469880" cy="502920"/>
          </a:xfrm>
          <a:prstGeom prst="rect">
            <a:avLst/>
          </a:prstGeom>
          <a:noFill/>
          <a:ln/>
        </p:spPr>
        <p:txBody>
          <a:bodyPr wrap="square" lIns="0" tIns="0" rIns="0" bIns="0" rtlCol="0" anchor="ctr"/>
          <a:lstStyle/>
          <a:p>
            <a:pPr marL="0" indent="0">
              <a:buNone/>
            </a:pPr>
            <a:r>
              <a:rPr lang="en-US" sz="1400" b="1" dirty="0">
                <a:solidFill>
                  <a:srgbClr val="1A8A99"/>
                </a:solidFill>
                <a:latin typeface="Calibri" pitchFamily="34" charset="0"/>
                <a:ea typeface="Calibri" pitchFamily="34" charset="-122"/>
                <a:cs typeface="Calibri" pitchFamily="34" charset="-120"/>
              </a:rPr>
              <a:t>Takeaway  </a:t>
            </a:r>
            <a:r>
              <a:rPr lang="en-US" sz="1400" dirty="0">
                <a:solidFill>
                  <a:srgbClr val="12394D"/>
                </a:solidFill>
                <a:latin typeface="Calibri" pitchFamily="34" charset="0"/>
                <a:ea typeface="Calibri" pitchFamily="34" charset="-122"/>
                <a:cs typeface="Calibri" pitchFamily="34" charset="-120"/>
              </a:rPr>
              <a:t>Within these three surveys, no work learns an eMBB/URLLC policy from logs under explicit URLLC constraints.</a:t>
            </a:r>
            <a:endParaRPr lang="en-US" sz="1400" dirty="0"/>
          </a:p>
        </p:txBody>
      </p:sp>
      <p:sp>
        <p:nvSpPr>
          <p:cNvPr id="6" name="Text 4"/>
          <p:cNvSpPr txBox="1"/>
          <p:nvPr/>
        </p:nvSpPr>
        <p:spPr>
          <a:xfrm>
            <a:off x="640080" y="6355080"/>
            <a:ext cx="6400800" cy="274320"/>
          </a:xfrm>
          <a:prstGeom prst="rect">
            <a:avLst/>
          </a:prstGeom>
          <a:noFill/>
          <a:ln/>
        </p:spPr>
        <p:txBody>
          <a:bodyPr wrap="square" lIns="0" tIns="0" rIns="0" bIns="0" rtlCol="0" anchor="t"/>
          <a:lstStyle/>
          <a:p>
            <a:pPr marL="0" indent="0">
              <a:buNone/>
            </a:pPr>
            <a:r>
              <a:rPr lang="en-US" sz="1100" dirty="0">
                <a:solidFill>
                  <a:srgbClr val="5F7A8A"/>
                </a:solidFill>
                <a:latin typeface="Calibri" pitchFamily="34" charset="0"/>
                <a:ea typeface="Calibri" pitchFamily="34" charset="-122"/>
                <a:cs typeface="Calibri" pitchFamily="34" charset="-120"/>
              </a:rPr>
              <a:t>RS2M Department · Télécom SudParis · Palaiseau, France</a:t>
            </a:r>
            <a:endParaRPr lang="en-US" sz="1100" dirty="0"/>
          </a:p>
        </p:txBody>
      </p:sp>
      <p:sp>
        <p:nvSpPr>
          <p:cNvPr id="7" name="Text 5"/>
          <p:cNvSpPr txBox="1"/>
          <p:nvPr/>
        </p:nvSpPr>
        <p:spPr>
          <a:xfrm>
            <a:off x="11064240" y="6355080"/>
            <a:ext cx="457200" cy="274320"/>
          </a:xfrm>
          <a:prstGeom prst="rect">
            <a:avLst/>
          </a:prstGeom>
          <a:noFill/>
          <a:ln/>
        </p:spPr>
        <p:txBody>
          <a:bodyPr wrap="square" lIns="0" tIns="0" rIns="0" bIns="0" rtlCol="0" anchor="t"/>
          <a:lstStyle/>
          <a:p>
            <a:pPr marL="0" indent="0" algn="r">
              <a:buNone/>
            </a:pPr>
            <a:r>
              <a:rPr lang="en-US" sz="1100" dirty="0">
                <a:solidFill>
                  <a:srgbClr val="5F7A8A"/>
                </a:solidFill>
                <a:latin typeface="Calibri" pitchFamily="34" charset="0"/>
                <a:ea typeface="Calibri" pitchFamily="34" charset="-122"/>
                <a:cs typeface="Calibri" pitchFamily="34" charset="-120"/>
              </a:rPr>
              <a:t>34</a:t>
            </a:r>
            <a:endParaRPr lang="en-US" sz="1100" dirty="0"/>
          </a:p>
        </p:txBody>
      </p:sp>
      <p:sp>
        <p:nvSpPr>
          <p:cNvPr id="9" name="Text 6"/>
          <p:cNvSpPr txBox="1"/>
          <p:nvPr/>
        </p:nvSpPr>
        <p:spPr>
          <a:xfrm>
            <a:off x="640080" y="1645920"/>
            <a:ext cx="5760720" cy="274320"/>
          </a:xfrm>
          <a:prstGeom prst="rect">
            <a:avLst/>
          </a:prstGeom>
          <a:noFill/>
          <a:ln/>
        </p:spPr>
        <p:txBody>
          <a:bodyPr wrap="square" lIns="0" tIns="0" rIns="0" bIns="0" rtlCol="0" anchor="t"/>
          <a:lstStyle/>
          <a:p>
            <a:pPr marL="0" indent="0">
              <a:buNone/>
            </a:pPr>
            <a:r>
              <a:rPr lang="en-US" sz="1200" b="1" kern="0" spc="100" dirty="0">
                <a:solidFill>
                  <a:srgbClr val="1A8A99"/>
                </a:solidFill>
                <a:latin typeface="Calibri" pitchFamily="34" charset="0"/>
                <a:ea typeface="Calibri" pitchFamily="34" charset="-122"/>
                <a:cs typeface="Calibri" pitchFamily="34" charset="-120"/>
              </a:rPr>
              <a:t>CHALLENGES RAISED BY THE SURVEY</a:t>
            </a:r>
            <a:endParaRPr lang="en-US" sz="1200" dirty="0"/>
          </a:p>
        </p:txBody>
      </p:sp>
      <p:sp>
        <p:nvSpPr>
          <p:cNvPr id="10" name="Shape 7"/>
          <p:cNvSpPr/>
          <p:nvPr/>
        </p:nvSpPr>
        <p:spPr>
          <a:xfrm>
            <a:off x="640080" y="2011680"/>
            <a:ext cx="384048" cy="384048"/>
          </a:xfrm>
          <a:prstGeom prst="ellipse">
            <a:avLst/>
          </a:prstGeom>
          <a:solidFill>
            <a:srgbClr val="1A8A99"/>
          </a:solidFill>
          <a:ln w="12700">
            <a:solidFill>
              <a:srgbClr val="1A8A99"/>
            </a:solidFill>
            <a:prstDash val="solid"/>
          </a:ln>
        </p:spPr>
        <p:txBody>
          <a:bodyPr/>
          <a:lstStyle/>
          <a:p>
            <a:endParaRPr lang="en-US"/>
          </a:p>
        </p:txBody>
      </p:sp>
      <p:sp>
        <p:nvSpPr>
          <p:cNvPr id="11" name="Text 8"/>
          <p:cNvSpPr txBox="1"/>
          <p:nvPr/>
        </p:nvSpPr>
        <p:spPr>
          <a:xfrm>
            <a:off x="640080" y="20116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2" name="Text 9"/>
          <p:cNvSpPr txBox="1"/>
          <p:nvPr/>
        </p:nvSpPr>
        <p:spPr>
          <a:xfrm>
            <a:off x="1188720" y="1984248"/>
            <a:ext cx="5120640" cy="685800"/>
          </a:xfrm>
          <a:prstGeom prst="rect">
            <a:avLst/>
          </a:prstGeom>
          <a:noFill/>
          <a:ln/>
        </p:spPr>
        <p:txBody>
          <a:bodyPr wrap="square" lIns="0" tIns="0" rIns="0" bIns="0" rtlCol="0" anchor="t"/>
          <a:lstStyle/>
          <a:p>
            <a:pPr marL="0" indent="0">
              <a:buNone/>
            </a:pPr>
            <a:r>
              <a:rPr lang="en-US" sz="1450" b="1" dirty="0">
                <a:solidFill>
                  <a:srgbClr val="12394D"/>
                </a:solidFill>
                <a:latin typeface="Calibri" pitchFamily="34" charset="0"/>
                <a:ea typeface="Calibri" pitchFamily="34" charset="-122"/>
                <a:cs typeface="Calibri" pitchFamily="34" charset="-120"/>
              </a:rPr>
              <a:t>Under-utilisation</a:t>
            </a:r>
            <a:endParaRPr lang="en-US" sz="1450" dirty="0"/>
          </a:p>
          <a:p>
            <a:pPr marL="0" indent="0">
              <a:spcAft>
                <a:spcPts val="1000"/>
              </a:spcAft>
              <a:buNone/>
            </a:pPr>
            <a:r>
              <a:rPr lang="en-US" sz="1250" dirty="0">
                <a:solidFill>
                  <a:srgbClr val="5F7A8A"/>
                </a:solidFill>
                <a:latin typeface="Calibri" pitchFamily="34" charset="0"/>
                <a:ea typeface="Calibri" pitchFamily="34" charset="-122"/>
                <a:cs typeface="Calibri" pitchFamily="34" charset="-120"/>
              </a:rPr>
              <a:t>Reserving resources for sporadic URLLC wastes spectrum</a:t>
            </a:r>
            <a:endParaRPr lang="en-US" sz="1450" dirty="0"/>
          </a:p>
        </p:txBody>
      </p:sp>
      <p:sp>
        <p:nvSpPr>
          <p:cNvPr id="13" name="Shape 10"/>
          <p:cNvSpPr/>
          <p:nvPr/>
        </p:nvSpPr>
        <p:spPr>
          <a:xfrm>
            <a:off x="640080" y="2697480"/>
            <a:ext cx="384048" cy="384048"/>
          </a:xfrm>
          <a:prstGeom prst="ellipse">
            <a:avLst/>
          </a:prstGeom>
          <a:solidFill>
            <a:srgbClr val="1A8A99"/>
          </a:solidFill>
          <a:ln w="12700">
            <a:solidFill>
              <a:srgbClr val="1A8A99"/>
            </a:solidFill>
            <a:prstDash val="solid"/>
          </a:ln>
        </p:spPr>
        <p:txBody>
          <a:bodyPr/>
          <a:lstStyle/>
          <a:p>
            <a:endParaRPr lang="en-US"/>
          </a:p>
        </p:txBody>
      </p:sp>
      <p:sp>
        <p:nvSpPr>
          <p:cNvPr id="14" name="Text 11"/>
          <p:cNvSpPr txBox="1"/>
          <p:nvPr/>
        </p:nvSpPr>
        <p:spPr>
          <a:xfrm>
            <a:off x="640080" y="26974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5" name="Text 12"/>
          <p:cNvSpPr txBox="1"/>
          <p:nvPr/>
        </p:nvSpPr>
        <p:spPr>
          <a:xfrm>
            <a:off x="1188720" y="2670048"/>
            <a:ext cx="5120640" cy="685800"/>
          </a:xfrm>
          <a:prstGeom prst="rect">
            <a:avLst/>
          </a:prstGeom>
          <a:noFill/>
          <a:ln/>
        </p:spPr>
        <p:txBody>
          <a:bodyPr wrap="square" lIns="0" tIns="0" rIns="0" bIns="0" rtlCol="0" anchor="t"/>
          <a:lstStyle/>
          <a:p>
            <a:pPr marL="0" indent="0">
              <a:buNone/>
            </a:pPr>
            <a:r>
              <a:rPr lang="en-US" sz="1450" b="1" dirty="0">
                <a:solidFill>
                  <a:srgbClr val="12394D"/>
                </a:solidFill>
                <a:latin typeface="Calibri" pitchFamily="34" charset="0"/>
                <a:ea typeface="Calibri" pitchFamily="34" charset="-122"/>
                <a:cs typeface="Calibri" pitchFamily="34" charset="-120"/>
              </a:rPr>
              <a:t>Missing low-complexity models</a:t>
            </a:r>
            <a:endParaRPr lang="en-US" sz="1450" dirty="0"/>
          </a:p>
          <a:p>
            <a:pPr marL="0" indent="0">
              <a:spcAft>
                <a:spcPts val="1000"/>
              </a:spcAft>
              <a:buNone/>
            </a:pPr>
            <a:r>
              <a:rPr lang="en-US" sz="1250" dirty="0">
                <a:solidFill>
                  <a:srgbClr val="5F7A8A"/>
                </a:solidFill>
                <a:latin typeface="Calibri" pitchFamily="34" charset="0"/>
                <a:ea typeface="Calibri" pitchFamily="34" charset="-122"/>
                <a:cs typeface="Calibri" pitchFamily="34" charset="-120"/>
              </a:rPr>
              <a:t>Most proposals are framework-level or too complex to run</a:t>
            </a:r>
            <a:endParaRPr lang="en-US" sz="1450" dirty="0"/>
          </a:p>
        </p:txBody>
      </p:sp>
      <p:sp>
        <p:nvSpPr>
          <p:cNvPr id="16" name="Shape 13"/>
          <p:cNvSpPr/>
          <p:nvPr/>
        </p:nvSpPr>
        <p:spPr>
          <a:xfrm>
            <a:off x="640080" y="3383280"/>
            <a:ext cx="384048" cy="384048"/>
          </a:xfrm>
          <a:prstGeom prst="ellipse">
            <a:avLst/>
          </a:prstGeom>
          <a:solidFill>
            <a:srgbClr val="1A8A99"/>
          </a:solidFill>
          <a:ln w="12700">
            <a:solidFill>
              <a:srgbClr val="1A8A99"/>
            </a:solidFill>
            <a:prstDash val="solid"/>
          </a:ln>
        </p:spPr>
        <p:txBody>
          <a:bodyPr/>
          <a:lstStyle/>
          <a:p>
            <a:endParaRPr lang="en-US"/>
          </a:p>
        </p:txBody>
      </p:sp>
      <p:sp>
        <p:nvSpPr>
          <p:cNvPr id="17" name="Text 14"/>
          <p:cNvSpPr txBox="1"/>
          <p:nvPr/>
        </p:nvSpPr>
        <p:spPr>
          <a:xfrm>
            <a:off x="640080" y="33832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8" name="Text 15"/>
          <p:cNvSpPr txBox="1"/>
          <p:nvPr/>
        </p:nvSpPr>
        <p:spPr>
          <a:xfrm>
            <a:off x="1188720" y="3355848"/>
            <a:ext cx="5120640" cy="685800"/>
          </a:xfrm>
          <a:prstGeom prst="rect">
            <a:avLst/>
          </a:prstGeom>
          <a:noFill/>
          <a:ln/>
        </p:spPr>
        <p:txBody>
          <a:bodyPr wrap="square" lIns="0" tIns="0" rIns="0" bIns="0" rtlCol="0" anchor="t"/>
          <a:lstStyle/>
          <a:p>
            <a:pPr marL="0" indent="0">
              <a:buNone/>
            </a:pPr>
            <a:r>
              <a:rPr lang="en-US" sz="1450" b="1" dirty="0">
                <a:solidFill>
                  <a:srgbClr val="12394D"/>
                </a:solidFill>
                <a:latin typeface="Calibri" pitchFamily="34" charset="0"/>
                <a:ea typeface="Calibri" pitchFamily="34" charset="-122"/>
                <a:cs typeface="Calibri" pitchFamily="34" charset="-120"/>
              </a:rPr>
              <a:t>eMBB loss cannot be nullified</a:t>
            </a:r>
            <a:endParaRPr lang="en-US" sz="1450" dirty="0"/>
          </a:p>
          <a:p>
            <a:pPr marL="0" indent="0">
              <a:spcAft>
                <a:spcPts val="1000"/>
              </a:spcAft>
              <a:buNone/>
            </a:pPr>
            <a:r>
              <a:rPr lang="en-US" sz="1250" dirty="0">
                <a:solidFill>
                  <a:srgbClr val="5F7A8A"/>
                </a:solidFill>
                <a:latin typeface="Calibri" pitchFamily="34" charset="0"/>
                <a:ea typeface="Calibri" pitchFamily="34" charset="-122"/>
                <a:cs typeface="Calibri" pitchFamily="34" charset="-120"/>
              </a:rPr>
              <a:t>Only minimised: joint optimisation is required</a:t>
            </a:r>
            <a:endParaRPr lang="en-US" sz="1450" dirty="0"/>
          </a:p>
        </p:txBody>
      </p:sp>
      <p:sp>
        <p:nvSpPr>
          <p:cNvPr id="19" name="Shape 16"/>
          <p:cNvSpPr/>
          <p:nvPr/>
        </p:nvSpPr>
        <p:spPr>
          <a:xfrm>
            <a:off x="640080" y="4069080"/>
            <a:ext cx="384048" cy="384048"/>
          </a:xfrm>
          <a:prstGeom prst="ellipse">
            <a:avLst/>
          </a:prstGeom>
          <a:solidFill>
            <a:srgbClr val="1A8A99"/>
          </a:solidFill>
          <a:ln w="12700">
            <a:solidFill>
              <a:srgbClr val="1A8A99"/>
            </a:solidFill>
            <a:prstDash val="solid"/>
          </a:ln>
        </p:spPr>
        <p:txBody>
          <a:bodyPr/>
          <a:lstStyle/>
          <a:p>
            <a:endParaRPr lang="en-US"/>
          </a:p>
        </p:txBody>
      </p:sp>
      <p:sp>
        <p:nvSpPr>
          <p:cNvPr id="20" name="Text 17"/>
          <p:cNvSpPr txBox="1"/>
          <p:nvPr/>
        </p:nvSpPr>
        <p:spPr>
          <a:xfrm>
            <a:off x="640080" y="40690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1" name="Text 18"/>
          <p:cNvSpPr txBox="1"/>
          <p:nvPr/>
        </p:nvSpPr>
        <p:spPr>
          <a:xfrm>
            <a:off x="1188720" y="4041648"/>
            <a:ext cx="5120640" cy="685800"/>
          </a:xfrm>
          <a:prstGeom prst="rect">
            <a:avLst/>
          </a:prstGeom>
          <a:noFill/>
          <a:ln/>
        </p:spPr>
        <p:txBody>
          <a:bodyPr wrap="square" lIns="0" tIns="0" rIns="0" bIns="0" rtlCol="0" anchor="t"/>
          <a:lstStyle/>
          <a:p>
            <a:pPr marL="0" indent="0">
              <a:buNone/>
            </a:pPr>
            <a:r>
              <a:rPr lang="en-US" sz="1450" b="1" dirty="0">
                <a:solidFill>
                  <a:srgbClr val="12394D"/>
                </a:solidFill>
                <a:latin typeface="Calibri" pitchFamily="34" charset="0"/>
                <a:ea typeface="Calibri" pitchFamily="34" charset="-122"/>
                <a:cs typeface="Calibri" pitchFamily="34" charset="-120"/>
              </a:rPr>
              <a:t>Channel helpers have costs</a:t>
            </a:r>
            <a:endParaRPr lang="en-US" sz="1450" dirty="0"/>
          </a:p>
          <a:p>
            <a:pPr marL="0" indent="0">
              <a:spcAft>
                <a:spcPts val="1000"/>
              </a:spcAft>
              <a:buNone/>
            </a:pPr>
            <a:r>
              <a:rPr lang="en-US" sz="1250" dirty="0">
                <a:solidFill>
                  <a:srgbClr val="5F7A8A"/>
                </a:solidFill>
                <a:latin typeface="Calibri" pitchFamily="34" charset="0"/>
                <a:ea typeface="Calibri" pitchFamily="34" charset="-122"/>
                <a:cs typeface="Calibri" pitchFamily="34" charset="-120"/>
              </a:rPr>
              <a:t>RIS and UAV add delay, positioning and battery limits</a:t>
            </a:r>
            <a:endParaRPr lang="en-US" sz="1450" dirty="0"/>
          </a:p>
        </p:txBody>
      </p:sp>
      <p:sp>
        <p:nvSpPr>
          <p:cNvPr id="22" name="Shape 19"/>
          <p:cNvSpPr/>
          <p:nvPr/>
        </p:nvSpPr>
        <p:spPr>
          <a:xfrm>
            <a:off x="640080" y="4754880"/>
            <a:ext cx="384048" cy="384048"/>
          </a:xfrm>
          <a:prstGeom prst="ellipse">
            <a:avLst/>
          </a:prstGeom>
          <a:solidFill>
            <a:srgbClr val="1A8A99"/>
          </a:solidFill>
          <a:ln w="12700">
            <a:solidFill>
              <a:srgbClr val="1A8A99"/>
            </a:solidFill>
            <a:prstDash val="solid"/>
          </a:ln>
        </p:spPr>
        <p:txBody>
          <a:bodyPr/>
          <a:lstStyle/>
          <a:p>
            <a:endParaRPr lang="en-US"/>
          </a:p>
        </p:txBody>
      </p:sp>
      <p:sp>
        <p:nvSpPr>
          <p:cNvPr id="23" name="Text 20"/>
          <p:cNvSpPr txBox="1"/>
          <p:nvPr/>
        </p:nvSpPr>
        <p:spPr>
          <a:xfrm>
            <a:off x="640080" y="47548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4" name="Text 21"/>
          <p:cNvSpPr txBox="1"/>
          <p:nvPr/>
        </p:nvSpPr>
        <p:spPr>
          <a:xfrm>
            <a:off x="1188720" y="4727448"/>
            <a:ext cx="5120640" cy="685800"/>
          </a:xfrm>
          <a:prstGeom prst="rect">
            <a:avLst/>
          </a:prstGeom>
          <a:noFill/>
          <a:ln/>
        </p:spPr>
        <p:txBody>
          <a:bodyPr wrap="square" lIns="0" tIns="0" rIns="0" bIns="0" rtlCol="0" anchor="t"/>
          <a:lstStyle/>
          <a:p>
            <a:pPr marL="0" indent="0">
              <a:buNone/>
            </a:pPr>
            <a:r>
              <a:rPr lang="en-US" sz="1450" b="1" dirty="0">
                <a:solidFill>
                  <a:srgbClr val="12394D"/>
                </a:solidFill>
                <a:latin typeface="Calibri" pitchFamily="34" charset="0"/>
                <a:ea typeface="Calibri" pitchFamily="34" charset="-122"/>
                <a:cs typeface="Calibri" pitchFamily="34" charset="-120"/>
              </a:rPr>
              <a:t>ML validity</a:t>
            </a:r>
            <a:endParaRPr lang="en-US" sz="1450" dirty="0"/>
          </a:p>
          <a:p>
            <a:pPr marL="0" indent="0">
              <a:spcAft>
                <a:spcPts val="1000"/>
              </a:spcAft>
              <a:buNone/>
            </a:pPr>
            <a:r>
              <a:rPr lang="en-US" sz="1250" dirty="0">
                <a:solidFill>
                  <a:srgbClr val="5F7A8A"/>
                </a:solidFill>
                <a:latin typeface="Calibri" pitchFamily="34" charset="0"/>
                <a:ea typeface="Calibri" pitchFamily="34" charset="-122"/>
                <a:cs typeface="Calibri" pitchFamily="34" charset="-120"/>
              </a:rPr>
              <a:t>DRL beats NN predictors but is complex and simulator-bound</a:t>
            </a:r>
            <a:endParaRPr lang="en-US" sz="1450" dirty="0"/>
          </a:p>
        </p:txBody>
      </p:sp>
      <p:sp>
        <p:nvSpPr>
          <p:cNvPr id="27" name="Text 24"/>
          <p:cNvSpPr txBox="1"/>
          <p:nvPr/>
        </p:nvSpPr>
        <p:spPr>
          <a:xfrm>
            <a:off x="6949440" y="2194560"/>
            <a:ext cx="4343400" cy="1188720"/>
          </a:xfrm>
          <a:prstGeom prst="rect">
            <a:avLst/>
          </a:prstGeom>
          <a:noFill/>
          <a:ln/>
        </p:spPr>
        <p:txBody>
          <a:bodyPr wrap="square" lIns="0" tIns="0" rIns="0" bIns="0" rtlCol="0" anchor="t"/>
          <a:lstStyle/>
          <a:p>
            <a:pPr marL="0" indent="0">
              <a:buNone/>
            </a:pPr>
            <a:r>
              <a:rPr lang="en-US" sz="1600" b="1" dirty="0">
                <a:solidFill>
                  <a:srgbClr val="FFFFFF"/>
                </a:solidFill>
                <a:latin typeface="Cambria" pitchFamily="34" charset="0"/>
                <a:ea typeface="Cambria" pitchFamily="34" charset="-122"/>
                <a:cs typeface="Cambria" pitchFamily="34" charset="-120"/>
              </a:rPr>
              <a:t>Safe-CQL: a joint, low-complexity (8-action) policy, learned offline, with URLLC as an explicit constraint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3217</TotalTime>
  <Words>6076</Words>
  <Application>Microsoft Office PowerPoint</Application>
  <PresentationFormat>Grand écran</PresentationFormat>
  <Paragraphs>625</Paragraphs>
  <Slides>34</Slides>
  <Notes>30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34</vt:i4>
      </vt:variant>
    </vt:vector>
  </HeadingPairs>
  <TitlesOfParts>
    <vt:vector size="38" baseType="lpstr">
      <vt:lpstr>Arial</vt:lpstr>
      <vt:lpstr>Calibri</vt:lpstr>
      <vt:lpstr>Cambria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Offline Safe RL for eMBB/URLLC Resource Allocation in O-RAN</dc:title>
  <dc:subject>PptxGenJS Presentation</dc:subject>
  <dc:creator>Ben Cheikh Ali</dc:creator>
  <cp:lastModifiedBy>Ali BEN CHEIKH</cp:lastModifiedBy>
  <cp:revision>6</cp:revision>
  <dcterms:created xsi:type="dcterms:W3CDTF">2026-07-02T12:04:53Z</dcterms:created>
  <dcterms:modified xsi:type="dcterms:W3CDTF">2026-10-08T21:09:52Z</dcterms:modified>
</cp:coreProperties>
</file>